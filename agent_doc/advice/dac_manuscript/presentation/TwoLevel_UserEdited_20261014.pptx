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Relationship Id="rId10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6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LoDA-SA：低频距离感知稀疏注意力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Low-Frequency Distance-Aware Sparse 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距离区域候选准入 → 共享低频评分 → 统一 L2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LoDA-SA：有限预算下保留不同距离的候选入口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全局排名不预留位置区域入口；先明确候选覆盖，再控制筛选成本。
不假设近处总重要，也不假设注意力随距离单调衰减。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nl定义近区、nb预留L1近区页；两级共享32个低频RoPE坐标；合并候选统一L2，最终原维Q/K/V。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极值在两区的漏失均较低；混合配额诊断未胜全局极值（.135 / .121）。历史稀疏解码更慢，当前设计尚缺匹配质量—成本结果。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均值／极值同32维，参考为全维；实际词元数不同；(b) 各区漏失 ÷ 每查询参考集总质量，再取均值；
极值两区均较低；23种拆分最佳 .135，仍差于全局极值 .121；(c) 随机未配对；(d) 历史代理，非解码保证。</a:t>
            </a:r>
            <a:br/>
          </a:p>
        </p:txBody>
      </p:sp>
      <p:pic>
        <p:nvPicPr>
          <p:cNvPr id="112" name="Picture 1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LoDA-SA：先说明距离策略，再说明共享评分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距离区域与页预算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nl 指定近区范围；nb 预留近区页
远区获得剩余 L1 页预算</ns1:t>
            </ns1:r>
          </ns1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页准入不保证最终区域份额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共享低频 RoPE 评分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16完整旋转对，两级共用
合并候选统一L2，最终原维注意力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执行仍先准备表示，再进行区域选择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历史固定配额门控另行研究
当前统一 L2 设计关闭门控</ns4:t>
            </ns4:r>
          </ns4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LoDA-SA：同一时间序列上的两级筛选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分区参考路径：边界保送开启，门控／候选收集关闭；示例数字不是默认配置；归档评测不验证新路径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2087880" y="1873925"/>
            <a:ext cx="11064240" cy="3470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21">
                <a:solidFill>
                  <a:srgbClr val="243541"/>
                </a:solidFill>
                <a:latin typeface="Noto Sans CJK SC"/>
              </a:rPr>
              <a:t>LoDA-SA · 同一时间顺序，nl 确定近区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-1321917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远区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590800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近区（未保护中间区）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050889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保护滑窗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264109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82214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00319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318424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336529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354634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727399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90845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641092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-2166823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a: [0,8)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431078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4491837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467288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485394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5034991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5216042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5397093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5578144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310786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-49712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b: [8,16)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9804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616153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634258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523634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70468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688573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706678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24783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5980480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172565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c: [16,24)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65017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783122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012277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19332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3743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555431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3648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91753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650175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2842260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d: [24,32)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931986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950092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968197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986302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04407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22512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406176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7228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319869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4511954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e: [32,40)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1098956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1117061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11351666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3" name="Connector 422"/>
          <p:cNvCxnSpPr/>
          <p:nvPr/>
        </p:nvCxnSpPr>
        <p:spPr>
          <a:xfrm>
            <a:off x="11351666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4" name="Rectangle 423"/>
          <p:cNvSpPr/>
          <p:nvPr/>
        </p:nvSpPr>
        <p:spPr>
          <a:xfrm>
            <a:off x="11532717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5" name="Connector 424"/>
          <p:cNvCxnSpPr/>
          <p:nvPr/>
        </p:nvCxnSpPr>
        <p:spPr>
          <a:xfrm>
            <a:off x="11532717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" name="Rectangle 425"/>
          <p:cNvSpPr/>
          <p:nvPr/>
        </p:nvSpPr>
        <p:spPr>
          <a:xfrm>
            <a:off x="11713768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11713768" y="2629814"/>
            <a:ext cx="181052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8" name="Rectangle 427"/>
          <p:cNvSpPr/>
          <p:nvPr/>
        </p:nvSpPr>
        <p:spPr>
          <a:xfrm>
            <a:off x="11894820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9" name="Connector 428"/>
          <p:cNvCxnSpPr/>
          <p:nvPr/>
        </p:nvCxnSpPr>
        <p:spPr>
          <a:xfrm>
            <a:off x="11894820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0" name="Rectangle 429"/>
          <p:cNvSpPr/>
          <p:nvPr/>
        </p:nvSpPr>
        <p:spPr>
          <a:xfrm>
            <a:off x="12075871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1" name="Connector 430"/>
          <p:cNvCxnSpPr/>
          <p:nvPr/>
        </p:nvCxnSpPr>
        <p:spPr>
          <a:xfrm>
            <a:off x="12075871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Rectangle 431"/>
          <p:cNvSpPr/>
          <p:nvPr/>
        </p:nvSpPr>
        <p:spPr>
          <a:xfrm>
            <a:off x="12256922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3" name="Connector 432"/>
          <p:cNvCxnSpPr/>
          <p:nvPr/>
        </p:nvCxnSpPr>
        <p:spPr>
          <a:xfrm>
            <a:off x="12256922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ectangle 433"/>
          <p:cNvSpPr/>
          <p:nvPr/>
        </p:nvSpPr>
        <p:spPr>
          <a:xfrm>
            <a:off x="10989564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18164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f: [40,42)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-2709976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6714744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不读填充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5859780" y="2529230"/>
            <a:ext cx="0" cy="452628"/>
          </a:xfrm>
          <a:prstGeom prst="line">
            <a:avLst/>
          </a:prstGeom>
          <a:ln w="12700">
            <a:solidFill>
              <a:srgbClr val="1F34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9" name="TextBox 438"/>
          <p:cNvSpPr txBox="1"/>
          <p:nvPr/>
        </p:nvSpPr>
        <p:spPr>
          <a:xfrm>
            <a:off x="2087880" y="3546134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仅示例：页宽8，长度42，前缀4，滑窗8；近远分界16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2439924" y="4037990"/>
            <a:ext cx="3017520" cy="955547"/>
          </a:xfrm>
          <a:prstGeom prst="rect">
            <a:avLst/>
          </a:prstGeom>
          <a:solidFill>
            <a:srgbClr val="FAF0E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-1583435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L1 · 区域页竞争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-1583435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远区：K1-nb  |  近区：nb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-1583435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32维：远区极值／近区均值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5809488" y="4037990"/>
            <a:ext cx="3520439" cy="955547"/>
          </a:xfrm>
          <a:prstGeom prst="rect">
            <a:avLst/>
          </a:prstGeom>
          <a:solidFill>
            <a:srgbClr val="EDF5F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2037588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边界页 a、e → 候选资格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037588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在 K1／区域页配额之外追加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037588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前缀结束／滑窗起点位于页内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681972" y="4037990"/>
            <a:ext cx="3118103" cy="955547"/>
          </a:xfrm>
          <a:prstGeom prst="rect">
            <a:avLst/>
          </a:prstGeom>
          <a:solidFill>
            <a:srgbClr val="FCF7DF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5708904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保护词元 → 最终支持集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708904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[0,4) ∪ [34,42)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708904" y="4652558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计入最终词元上限 K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3948684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7569708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ectangle 453"/>
          <p:cNvSpPr/>
          <p:nvPr/>
        </p:nvSpPr>
        <p:spPr>
          <a:xfrm>
            <a:off x="2439924" y="5275173"/>
            <a:ext cx="6890003" cy="935431"/>
          </a:xfrm>
          <a:prstGeom prst="rect">
            <a:avLst/>
          </a:prstGeom>
          <a:solidFill>
            <a:srgbClr val="F5F8FA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47776" y="531490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共享32坐标 Q/K · L2 对全历史评分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347776" y="56382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页掩码 → 逐Q softmax → KV组概率均值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347776" y="588974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一次合并 L2 TopK · 无区域词元配额</a:t>
            </a:r>
          </a:p>
        </p:txBody>
      </p:sp>
      <p:cxnSp>
        <p:nvCxnSpPr>
          <p:cNvPr id="458" name="Connector 457"/>
          <p:cNvCxnSpPr/>
          <p:nvPr/>
        </p:nvCxnSpPr>
        <p:spPr>
          <a:xfrm>
            <a:off x="5879896" y="6210604"/>
            <a:ext cx="0" cy="30175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2629083" y="4993538"/>
            <a:ext cx="0" cy="175016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>
            <a:off x="9430512" y="6743700"/>
            <a:ext cx="3198571" cy="0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1" name="Rectangle 460"/>
          <p:cNvSpPr/>
          <p:nvPr/>
        </p:nvSpPr>
        <p:spPr>
          <a:xfrm>
            <a:off x="2439924" y="6512356"/>
            <a:ext cx="6990588" cy="482803"/>
          </a:xfrm>
          <a:prstGeom prst="rect">
            <a:avLst/>
          </a:prstGeom>
          <a:solidFill>
            <a:srgbClr val="EDF2F5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398068" y="6602379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入选 ∪ 保护 ID · 去重 · 支持集大小 ≤ K</a:t>
            </a:r>
          </a:p>
        </p:txBody>
      </p:sp>
      <p:cxnSp>
        <p:nvCxnSpPr>
          <p:cNvPr id="463" name="Connector 462"/>
          <p:cNvCxnSpPr/>
          <p:nvPr/>
        </p:nvCxnSpPr>
        <p:spPr>
          <a:xfrm>
            <a:off x="5930188" y="6995159"/>
            <a:ext cx="0" cy="331928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ectangle 463"/>
          <p:cNvSpPr/>
          <p:nvPr/>
        </p:nvSpPr>
        <p:spPr>
          <a:xfrm>
            <a:off x="2439924" y="7327087"/>
            <a:ext cx="10360152" cy="402335"/>
          </a:xfrm>
          <a:prstGeom prst="rect">
            <a:avLst/>
          </a:prstGeom>
          <a:solidFill>
            <a:srgbClr val="F4F6F7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2087880" y="7376876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原维 Q、K、V → 在合并支持集上进行一次注意力 softmax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5708904" y="537525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分区路径 · 边界保送开启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5708904" y="5698632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门控／候选收集关闭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708904" y="5990325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候选资格 ≠ 最终保留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LoDA-SA：两级共享完整低频 RoPE 对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16完整旋转对，两级共用；图示QDQ为历史量化变体，主文bf16配置不以该量化为必要条件；最终为原维注意力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LoDA-SA：nl / nb 页准入与统一词元竞争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保护不重叠的长历史；4/128保护，K=1024；无近远词元配额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Rounded Rectangle 21"/>
          <p:cNvSpPr/>
          <p:nvPr/>
        </p:nvSpPr>
        <p:spPr>
          <a:xfrm>
            <a:off x="64008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1  近区范围 nl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同一时间序列按页对齐切分近远；nl 为请求的近区词元长度，至少一页。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2  页预算 nb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近区 nb 页，远区 K1 − nb 页；非对齐保护边界页另行加入。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3  统一 L2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两区与边界页的候选合并；逐查询 softmax → KV组概率平均 → 一次 TopK。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676656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候选资格 ≠ 最终保护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边界页内未保护词元仍须竞争；仅 sink4 与近期128词元强制进入最终支持集。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97680"/>
            <a:ext cx="676656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名义892个共享中间槽位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无预定近远词元份额；部分sink页可重复选中保护位置，去重后未保护数量可能更少。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历史数值词元配额门控：非当前统一 L2 算法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当前 nl/nb 设计关闭门控；下图回填属于历史固定词元配额分支，不移用于当前方法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OFF：移除远区竞争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k=0；远区无L2配额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LoDA-SA：统一 L2 与原维注意力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统一 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历史记录：Q1：缩小评分宽度能否保留任务质量？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
Qwen3-8B，固定128输出词元
127个首输出后间隔，逐步同步
历史稀疏配置 α=.125 / β=.375 / γ=.625
不同于当前nl/nb统一L2设计；
运行路径未独立核验
32K/64K/128K稀疏／稠密中位数比：
3.38 / 2.46 / 1.78
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历史记录：区域访问与门控：证据支持到哪里？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 xmlns:a="http://schemas.openxmlformats.org/drawingml/2006/main"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14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777240" y="841248"/>
            <a:ext cx="1371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3449"/>
                </a:solidFill>
                <a:latin typeface="Noto Sans CJK SC"/>
              </a:defRPr>
            </a:pPr>
            <a:r>
              <a:t>历史记录：Qwen3-8B：RULER 32K／64K 与稠密 FullKV 的 AVG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68680" y="5806440"/>
            <a:ext cx="13533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11任务 × 100例／任务／臂；32K比较跨机器、评分器不同。
64K稀疏两臂报告同机、评分器相同，生成脚本／有效配置不同；稠密锚另次运行、不同评分器、legacy-partial。
仅稀疏臂 K=1024、4/128保护；门控与评分维数未核，不证非劣或匹配质量—成本收益。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68680" y="7360920"/>
            <a:ext cx="1335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55555"/>
                </a:solidFill>
                <a:latin typeface="Noto Sans CJK SC"/>
              </a:defRPr>
            </a:pPr>
            <a:r>
              <a:t>保留历史负例：128K FullKV 46.43／稀疏23.98（−22.45）；旧128/128保护配置，不验证当前4/128。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691640"/>
            <a:ext cx="13716000" cy="405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历史记录：共享子空间评分未显示一致计时优势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371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93449"/>
                </a:solidFill>
                <a:latin typeface="Noto Sans CJK SC"/>
              </a:defRPr>
            </a:pPr>
            <a:r>
              <a:t>历史记录：32K／64K逐任务差异解释 AVG，不另设逐项零损门槛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680960"/>
            <a:ext cx="1280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64K：三臂MultiKey-3均为0、CWE均低于1；稀疏臂评分器哈希相同，生成脚本／有效配置不同。</a:t>
            </a:r>
          </a:p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稠密锚另次运行、不同评分器、legacy-partial；预测未重放，无配对区间；门控与实际维数未核。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417320"/>
            <a:ext cx="9784080" cy="620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LoDA-SA：距离准入、共享评分与完整请求成本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nb 控制候选页准入，不保证最终区域份额
nl/nb统一L2仍缺匹配质量与完整请求成本</ns6:t>
            </ns6:r>
          </ns6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