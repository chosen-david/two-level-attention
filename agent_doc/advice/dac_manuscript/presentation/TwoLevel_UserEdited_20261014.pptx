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dac_layout_decode_tpot_current_zh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ruler32_64_slide14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dac_layout_ruler128k_current_zh.png"/><Relationship Id="rId10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ruler32_64_slide16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均值与极值刻画不同评分目标，页注意力和另作参照。
全局TopK不提供区域容量保证。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观察与边界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极值在两区的漏失均较低；混合配额诊断未胜全局极值（.135 / .121）。历史稀疏解码更慢，当前设计尚缺匹配质量—成本结果。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均值／极值同32维，参考为全维；实际词元数不同；(b) 各区漏失 ÷ 每查询参考集总质量，再取均值；
极值两区均较低；23种拆分最佳 .135，仍差于全局极值 .121；(c) 随机未配对；(d) 历史代理，非解码保证。</a:t>
            </a:r>
            <a:br/>
          </a:p>
        </p:txBody>
      </p:sp>
      <p:pic>
        <p:nvPicPr>
          <p:cNvPr id="109" name="Picture 10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级联、坐标选择与量化评分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逐查询概率聚合；原维KV最终注意力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显式近区页／词元配额，远区按差值
最终使用原128维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总架构：共享索引与原维注意力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分区参考路径：边界保送开启，门控／候选收集关闭；示例数字不是默认配置；归档评测不验证新路径</a:t>
            </a:r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2087880" y="1873925"/>
            <a:ext cx="11064240" cy="3470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821">
                <a:solidFill>
                  <a:srgbClr val="243541"/>
                </a:solidFill>
                <a:latin typeface="Noto Sans CJK SC"/>
              </a:rPr>
              <a:t>同一时间顺序 · 页面 ID 始终不变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-1321917" y="2216917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远区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590800" y="2216917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近区（未保护中间区）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6050889" y="2216917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保护滑窗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2641092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822143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3003194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3184245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3365296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3546348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3727399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3908450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641092" y="2629814"/>
            <a:ext cx="1448409" cy="291693"/>
          </a:xfrm>
          <a:prstGeom prst="rect">
            <a:avLst/>
          </a:prstGeom>
          <a:noFill/>
          <a:ln w="20116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-2166823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a: [0,8)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4310786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4491837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4672888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4853940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5034991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5216042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5397093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5578144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4310786" y="2629814"/>
            <a:ext cx="1448409" cy="291693"/>
          </a:xfrm>
          <a:prstGeom prst="rect">
            <a:avLst/>
          </a:prstGeom>
          <a:noFill/>
          <a:ln w="10058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-497128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b: [8,16)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5980480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6161532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6342583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6523634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6704685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6885736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7066788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7247839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5980480" y="2629814"/>
            <a:ext cx="1448409" cy="291693"/>
          </a:xfrm>
          <a:prstGeom prst="rect">
            <a:avLst/>
          </a:prstGeom>
          <a:noFill/>
          <a:ln w="10058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1172565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c: [16,24)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650175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7831226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012277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193328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374380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555431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36482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917533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7650175" y="2629814"/>
            <a:ext cx="1448409" cy="291693"/>
          </a:xfrm>
          <a:prstGeom prst="rect">
            <a:avLst/>
          </a:prstGeom>
          <a:noFill/>
          <a:ln w="10058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2842260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d: [24,32)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9319869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9500920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9681972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9863023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10044074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10225125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10406176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10587228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319869" y="2629814"/>
            <a:ext cx="1448409" cy="291693"/>
          </a:xfrm>
          <a:prstGeom prst="rect">
            <a:avLst/>
          </a:prstGeom>
          <a:noFill/>
          <a:ln w="20116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4511954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e: [32,40)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10989564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11170615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11351666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3" name="Connector 422"/>
          <p:cNvCxnSpPr/>
          <p:nvPr/>
        </p:nvCxnSpPr>
        <p:spPr>
          <a:xfrm>
            <a:off x="11351666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4" name="Rectangle 423"/>
          <p:cNvSpPr/>
          <p:nvPr/>
        </p:nvSpPr>
        <p:spPr>
          <a:xfrm>
            <a:off x="11532717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5" name="Connector 424"/>
          <p:cNvCxnSpPr/>
          <p:nvPr/>
        </p:nvCxnSpPr>
        <p:spPr>
          <a:xfrm>
            <a:off x="11532717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6" name="Rectangle 425"/>
          <p:cNvSpPr/>
          <p:nvPr/>
        </p:nvSpPr>
        <p:spPr>
          <a:xfrm>
            <a:off x="11713768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7" name="Connector 426"/>
          <p:cNvCxnSpPr/>
          <p:nvPr/>
        </p:nvCxnSpPr>
        <p:spPr>
          <a:xfrm>
            <a:off x="11713768" y="2629814"/>
            <a:ext cx="181052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8" name="Rectangle 427"/>
          <p:cNvSpPr/>
          <p:nvPr/>
        </p:nvSpPr>
        <p:spPr>
          <a:xfrm>
            <a:off x="11894820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9" name="Connector 428"/>
          <p:cNvCxnSpPr/>
          <p:nvPr/>
        </p:nvCxnSpPr>
        <p:spPr>
          <a:xfrm>
            <a:off x="11894820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0" name="Rectangle 429"/>
          <p:cNvSpPr/>
          <p:nvPr/>
        </p:nvSpPr>
        <p:spPr>
          <a:xfrm>
            <a:off x="12075871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1" name="Connector 430"/>
          <p:cNvCxnSpPr/>
          <p:nvPr/>
        </p:nvCxnSpPr>
        <p:spPr>
          <a:xfrm>
            <a:off x="12075871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2" name="Rectangle 431"/>
          <p:cNvSpPr/>
          <p:nvPr/>
        </p:nvSpPr>
        <p:spPr>
          <a:xfrm>
            <a:off x="12256922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3" name="Connector 432"/>
          <p:cNvCxnSpPr/>
          <p:nvPr/>
        </p:nvCxnSpPr>
        <p:spPr>
          <a:xfrm>
            <a:off x="12256922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4" name="Rectangle 433"/>
          <p:cNvSpPr/>
          <p:nvPr/>
        </p:nvSpPr>
        <p:spPr>
          <a:xfrm>
            <a:off x="10989564" y="2629814"/>
            <a:ext cx="1448409" cy="291693"/>
          </a:xfrm>
          <a:prstGeom prst="rect">
            <a:avLst/>
          </a:prstGeom>
          <a:noFill/>
          <a:ln w="10058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6181648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f: [40,42)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-2709976" y="3265002"/>
            <a:ext cx="11064240" cy="2564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46">
                <a:solidFill>
                  <a:srgbClr val="243541"/>
                </a:solidFill>
                <a:latin typeface="Noto Sans CJK SC"/>
              </a:rPr>
              <a:t>前缀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6714744" y="3265002"/>
            <a:ext cx="11064240" cy="2564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46">
                <a:solidFill>
                  <a:srgbClr val="243541"/>
                </a:solidFill>
                <a:latin typeface="Noto Sans CJK SC"/>
              </a:rPr>
              <a:t>不读填充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5859780" y="2529230"/>
            <a:ext cx="0" cy="452628"/>
          </a:xfrm>
          <a:prstGeom prst="line">
            <a:avLst/>
          </a:prstGeom>
          <a:ln w="12700">
            <a:solidFill>
              <a:srgbClr val="1F34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9" name="TextBox 438"/>
          <p:cNvSpPr txBox="1"/>
          <p:nvPr/>
        </p:nvSpPr>
        <p:spPr>
          <a:xfrm>
            <a:off x="2087880" y="3546134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仅示例：页宽8，长度42，前缀4，滑窗8；近远分界16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2439924" y="4037990"/>
            <a:ext cx="3017520" cy="955547"/>
          </a:xfrm>
          <a:prstGeom prst="rect">
            <a:avLst/>
          </a:prstGeom>
          <a:solidFill>
            <a:srgbClr val="FAF0E9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TextBox 440"/>
          <p:cNvSpPr txBox="1"/>
          <p:nvPr/>
        </p:nvSpPr>
        <p:spPr>
          <a:xfrm>
            <a:off x="-1583435" y="4077721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L1 · 区域页竞争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-1583435" y="4380478"/>
            <a:ext cx="11064240" cy="286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4">
                <a:solidFill>
                  <a:srgbClr val="243541"/>
                </a:solidFill>
                <a:latin typeface="Noto Sans CJK SC"/>
              </a:rPr>
              <a:t>远区：b   |   近区：c、d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-1583435" y="4663119"/>
            <a:ext cx="11064240" cy="2564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46">
                <a:solidFill>
                  <a:srgbClr val="243541"/>
                </a:solidFill>
                <a:latin typeface="Noto Sans CJK SC"/>
              </a:rPr>
              <a:t>32维：远区极值／近区均值</a:t>
            </a:r>
          </a:p>
        </p:txBody>
      </p:sp>
      <p:sp>
        <p:nvSpPr>
          <p:cNvPr id="444" name="Rectangle 443"/>
          <p:cNvSpPr/>
          <p:nvPr/>
        </p:nvSpPr>
        <p:spPr>
          <a:xfrm>
            <a:off x="5809488" y="4037990"/>
            <a:ext cx="3520439" cy="955547"/>
          </a:xfrm>
          <a:prstGeom prst="rect">
            <a:avLst/>
          </a:prstGeom>
          <a:solidFill>
            <a:srgbClr val="EDF5F9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TextBox 444"/>
          <p:cNvSpPr txBox="1"/>
          <p:nvPr/>
        </p:nvSpPr>
        <p:spPr>
          <a:xfrm>
            <a:off x="2037588" y="4077721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边界页 a、e → 候选资格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2037588" y="4380478"/>
            <a:ext cx="11064240" cy="286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4">
                <a:solidFill>
                  <a:srgbClr val="243541"/>
                </a:solidFill>
                <a:latin typeface="Noto Sans CJK SC"/>
              </a:rPr>
              <a:t>在 K1／区域页配额之外追加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2037588" y="4663119"/>
            <a:ext cx="11064240" cy="2564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46">
                <a:solidFill>
                  <a:srgbClr val="243541"/>
                </a:solidFill>
                <a:latin typeface="Noto Sans CJK SC"/>
              </a:rPr>
              <a:t>前缀结束／滑窗起点位于页内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9681972" y="4037990"/>
            <a:ext cx="3118103" cy="955547"/>
          </a:xfrm>
          <a:prstGeom prst="rect">
            <a:avLst/>
          </a:prstGeom>
          <a:solidFill>
            <a:srgbClr val="FCF7DF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TextBox 448"/>
          <p:cNvSpPr txBox="1"/>
          <p:nvPr/>
        </p:nvSpPr>
        <p:spPr>
          <a:xfrm>
            <a:off x="5708904" y="4077721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保护词元 → 最终支持集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5708904" y="4380478"/>
            <a:ext cx="11064240" cy="286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4">
                <a:solidFill>
                  <a:srgbClr val="243541"/>
                </a:solidFill>
                <a:latin typeface="Noto Sans CJK SC"/>
              </a:rPr>
              <a:t>[0,4) ∪ [34,42)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5708904" y="4652558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计入最终词元上限 K</a:t>
            </a:r>
          </a:p>
        </p:txBody>
      </p:sp>
      <p:cxnSp>
        <p:nvCxnSpPr>
          <p:cNvPr id="452" name="Connector 451"/>
          <p:cNvCxnSpPr/>
          <p:nvPr/>
        </p:nvCxnSpPr>
        <p:spPr>
          <a:xfrm>
            <a:off x="3948684" y="4993538"/>
            <a:ext cx="0" cy="281635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7569708" y="4993538"/>
            <a:ext cx="0" cy="281635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4" name="Rectangle 453"/>
          <p:cNvSpPr/>
          <p:nvPr/>
        </p:nvSpPr>
        <p:spPr>
          <a:xfrm>
            <a:off x="2439924" y="5275173"/>
            <a:ext cx="6890003" cy="935431"/>
          </a:xfrm>
          <a:prstGeom prst="rect">
            <a:avLst/>
          </a:prstGeom>
          <a:solidFill>
            <a:srgbClr val="F5F8FA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347776" y="5314904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共享32坐标 Q/K · L2 对全历史评分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347776" y="56382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页掩码 → 逐Q softmax → KV组概率均值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347776" y="588974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未保护词元仍按区域词元配额竞争</a:t>
            </a:r>
          </a:p>
        </p:txBody>
      </p:sp>
      <p:cxnSp>
        <p:nvCxnSpPr>
          <p:cNvPr id="458" name="Connector 457"/>
          <p:cNvCxnSpPr/>
          <p:nvPr/>
        </p:nvCxnSpPr>
        <p:spPr>
          <a:xfrm>
            <a:off x="5879896" y="6210604"/>
            <a:ext cx="0" cy="301752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12629083" y="4993538"/>
            <a:ext cx="0" cy="1750162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 flipH="1">
            <a:off x="9430512" y="6743700"/>
            <a:ext cx="3198571" cy="0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1" name="Rectangle 460"/>
          <p:cNvSpPr/>
          <p:nvPr/>
        </p:nvSpPr>
        <p:spPr>
          <a:xfrm>
            <a:off x="2439924" y="6512356"/>
            <a:ext cx="6990588" cy="482803"/>
          </a:xfrm>
          <a:prstGeom prst="rect">
            <a:avLst/>
          </a:prstGeom>
          <a:solidFill>
            <a:srgbClr val="EDF2F5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TextBox 461"/>
          <p:cNvSpPr txBox="1"/>
          <p:nvPr/>
        </p:nvSpPr>
        <p:spPr>
          <a:xfrm>
            <a:off x="398068" y="6602379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入选 ∪ 保护 ID · 去重 · 支持集大小 ≤ K</a:t>
            </a:r>
          </a:p>
        </p:txBody>
      </p:sp>
      <p:cxnSp>
        <p:nvCxnSpPr>
          <p:cNvPr id="463" name="Connector 462"/>
          <p:cNvCxnSpPr/>
          <p:nvPr/>
        </p:nvCxnSpPr>
        <p:spPr>
          <a:xfrm>
            <a:off x="5930188" y="6995159"/>
            <a:ext cx="0" cy="331928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4" name="Rectangle 463"/>
          <p:cNvSpPr/>
          <p:nvPr/>
        </p:nvSpPr>
        <p:spPr>
          <a:xfrm>
            <a:off x="2439924" y="7327087"/>
            <a:ext cx="10360152" cy="402335"/>
          </a:xfrm>
          <a:prstGeom prst="rect">
            <a:avLst/>
          </a:prstGeom>
          <a:solidFill>
            <a:srgbClr val="F4F6F7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TextBox 464"/>
          <p:cNvSpPr txBox="1"/>
          <p:nvPr/>
        </p:nvSpPr>
        <p:spPr>
          <a:xfrm>
            <a:off x="2087880" y="7376876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原维 Q、K、V → 在合并支持集上进行一次注意力 softmax</a:t>
            </a:r>
          </a:p>
        </p:txBody>
      </p:sp>
      <p:sp>
        <p:nvSpPr>
          <p:cNvPr id="466" name="TextBox 465"/>
          <p:cNvSpPr txBox="1"/>
          <p:nvPr/>
        </p:nvSpPr>
        <p:spPr>
          <a:xfrm>
            <a:off x="5708904" y="5375254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分区路径 · 边界保送开启</a:t>
            </a:r>
          </a:p>
        </p:txBody>
      </p:sp>
      <p:sp>
        <p:nvSpPr>
          <p:cNvPr id="467" name="TextBox 466"/>
          <p:cNvSpPr txBox="1"/>
          <p:nvPr/>
        </p:nvSpPr>
        <p:spPr>
          <a:xfrm>
            <a:off x="5708904" y="5698632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门控／候选收集关闭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5708904" y="5990325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候选资格 ≠ 最终保留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16完整旋转对，两级共用；图示QDQ为历史量化变体，主文bf16配置不以该量化为必要条件；最终为原维注意力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本页展示另一组近区配额(16,640)，非主表(8,320)；边界页额外获L2资格，非整页最终必选（见第6页）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近区L2∩P=∅；|Pₜ|=132示例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门控默认关闭；边界页仍可能进入评分，不能笼统声称省去全部远区点积；统计量非解码保证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代理统计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标定区注意力求和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OFF：移除远区竞争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k=0；远区无L2配额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Q1：缩小评分宽度能否保留任务质量？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共享子空间臂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关联代码：L2宽128／有效32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固定任务集AVG
逐任务解释差异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</a:t>
            </a:r>
            <a:br/>
            <a:r>
              <a:t>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32K/64K/128K稀疏／稠密中位数比：</a:t>
            </a:r>
            <a:br/>
            <a:r>
              <a:t>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左栏共享子空间臂：关联代码128/128保护，L2宽128／有效32；非当前4/128候选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五任务均值；相对名义全维页评分
低0.322分，相对名义全维词元评分
低0.078分；配置未确认匹配，
不能隔离阶段效应。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/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/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/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47.876 / 47.692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965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阈值.05/.10；参考AVG 47.910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AVG变化 −.034 / −.218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各3项下降；Hotpot降1.05/1.26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逐任务仅诊断，AVG为主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配置/配对/成本缺失；不证非劣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 xmlns:a="http://schemas.openxmlformats.org/drawingml/2006/main">
        <p:nvSpPr>
          <p:cNvPr id="2" name="TextBox 1"/>
          <p:cNvSpPr txBox="1"/>
          <p:nvPr/>
        </p:nvSpPr>
        <p:spPr>
          <a:xfrm>
            <a:off x="777240" y="27432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6E9E"/>
                </a:solidFill>
                <a:latin typeface="Noto Sans CJK SC"/>
              </a:defRPr>
            </a:pPr>
            <a:r>
              <a:t>Results &amp; Ablation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3898880" y="818387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93449"/>
                </a:solidFill>
                <a:latin typeface="Noto Sans CJK SC"/>
              </a:defRPr>
            </a:pPr>
            <a:r>
              <a:t>14</a:t>
            </a:r>
          </a:p>
        </p:txBody>
      </p:sp>
      <p:sp xmlns:a="http://schemas.openxmlformats.org/drawingml/2006/main">
        <p:nvSpPr>
          <p:cNvPr id="4" name="TextBox 3"/>
          <p:cNvSpPr txBox="1"/>
          <p:nvPr/>
        </p:nvSpPr>
        <p:spPr>
          <a:xfrm>
            <a:off x="777240" y="841248"/>
            <a:ext cx="1371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93449"/>
                </a:solidFill>
                <a:latin typeface="Noto Sans CJK SC"/>
              </a:defRPr>
            </a:pPr>
            <a:r>
              <a:t>Qwen3-8B：RULER 32K／64K 与稠密 FullKV 的 AVG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868680" y="5806440"/>
            <a:ext cx="13533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3449"/>
                </a:solidFill>
                <a:latin typeface="Noto Sans CJK SC"/>
              </a:defRPr>
            </a:pPr>
            <a:r>
              <a:t>11任务 × 100例／任务／臂；32K比较跨机器、评分器不同。
64K稀疏两臂报告同机、评分器相同，生成脚本／有效配置不同；稠密锚另次运行、不同评分器、legacy-partial。
仅稀疏臂 K=1024、4/128保护；门控与评分维数未核，不证非劣或匹配质量—成本收益。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868680" y="7360920"/>
            <a:ext cx="1335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55555"/>
                </a:solidFill>
                <a:latin typeface="Noto Sans CJK SC"/>
              </a:defRPr>
            </a:pPr>
            <a:r>
              <a:t>保留历史负例：128K FullKV 46.43／稀疏23.98（−22.45）；旧128/128保护配置，不验证当前4/128。</a:t>
            </a:r>
          </a:p>
        </p:txBody>
      </p:sp>
      <p:pic xmlns:a="http://schemas.openxmlformats.org/drawingml/2006/main" xmlns:r="http://schemas.openxmlformats.org/officeDocument/2006/relationships"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1691640"/>
            <a:ext cx="13716000" cy="4056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共享子空间评分未显示一致计时优势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相对名义页评分，两轮慢0.0237／快0.0046 ms，汇总仍较高。原始样本缺失、协议差异未解，不能认定等价或定位瓶颈。未与质量配对，未测完整请求成本。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432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6E9E"/>
                </a:solidFill>
                <a:latin typeface="Noto Sans CJK SC"/>
              </a:defRPr>
            </a:pPr>
            <a:r>
              <a:t>Results &amp; 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898880" y="818387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93449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371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93449"/>
                </a:solidFill>
                <a:latin typeface="Noto Sans CJK SC"/>
              </a:defRPr>
            </a:pPr>
            <a:r>
              <a:t>32K／64K逐任务差异解释 AVG，不另设逐项零损门槛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680960"/>
            <a:ext cx="1280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55555"/>
                </a:solidFill>
                <a:latin typeface="Noto Sans CJK SC"/>
              </a:defRPr>
            </a:pPr>
            <a:r>
              <a:t>64K：三臂MultiKey-3均为0、CWE均低于1；稀疏臂评分器哈希相同，生成脚本／有效配置不同。</a:t>
            </a:r>
          </a:p>
          <a:p>
            <a:pPr>
              <a:spcAft>
                <a:spcPts val="500"/>
              </a:spcAft>
              <a:defRPr sz="1500" b="0">
                <a:solidFill>
                  <a:srgbClr val="555555"/>
                </a:solidFill>
                <a:latin typeface="Noto Sans CJK SC"/>
              </a:defRPr>
            </a:pPr>
            <a:r>
              <a:t>稠密锚另次运行、不同评分器、legacy-partial；预测未重放，无配对区间；门控与实际维数未核。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1417320"/>
            <a:ext cx="9784080" cy="620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评分表示、区域访问与执行成本的取舍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保留远区页，不保证留有远区词元配额
当前4/128尚缺匹配质量—成本验证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