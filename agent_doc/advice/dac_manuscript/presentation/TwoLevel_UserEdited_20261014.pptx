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75" r:id="rId3"/>
    <p:sldId id="257" r:id="rId4"/>
    <p:sldId id="265" r:id="rId5"/>
    <p:sldId id="258" r:id="rId6"/>
    <p:sldId id="259" r:id="rId7"/>
    <p:sldId id="261" r:id="rId8"/>
    <p:sldId id="260" r:id="rId9"/>
    <p:sldId id="274" r:id="rId10"/>
    <p:sldId id="262" r:id="rId11"/>
    <p:sldId id="266" r:id="rId12"/>
    <p:sldId id="273" r:id="rId13"/>
    <p:sldId id="421" r:id="rId14"/>
    <p:sldId id="267" r:id="rId15"/>
    <p:sldId id="269" r:id="rId16"/>
    <p:sldId id="422" r:id="rId17"/>
    <p:sldId id="272" r:id="rId18"/>
  </p:sldIdLst>
  <p:sldSz cx="15240000" cy="8572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62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2B61033-2AF7-4E00-94EE-9CC8E9E5B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238500"/>
            <a:ext cx="12192000" cy="12382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6D883A37-55AB-4A5C-A55A-27BAE96E90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4714875"/>
            <a:ext cx="10668000" cy="9525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959DB46-D723-49A9-8993-59B0BF11E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571875"/>
            <a:ext cx="12192000" cy="1428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47F26E3-2047-4FD0-81F1-53F029AC4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938BF65-4BCD-4D6E-9E89-18D46787BF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13525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19E97CB9-610D-4C99-A42C-B4951EE45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3F972A4-6208-494A-8FCA-C7F1AA474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BD0352C-B551-4656-A533-E9F9AFCED11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096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64380FF-1840-4B5E-900E-FE8A89C2A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96268BA-6992-4D64-93D0-C456840F9A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9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image19.png"/><Relationship Id="rId12" Type="http://schemas.openxmlformats.org/officeDocument/2006/relationships/image" Target="../media/image20.png"/><Relationship Id="rId13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dac_layout_decode_tpot_current_zh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8.png"/><Relationship Id="rId6" Type="http://schemas.openxmlformats.org/officeDocument/2006/relationships/image" Target="../media/image11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dac_layout_ruler128k_current_zh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31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0294330-3708-4963-8B33-AAD826889466}"/>
              </a:ext>
            </a:extLst>
          </p:cNvPr>
          <p:cNvSpPr>
            <a:spLocks noGrp="1"/>
          </p:cNvSpPr>
          <p:nvPr/>
        </p:nvSpPr>
        <p:spPr>
          <a:xfrm>
            <a:off x="762000" y="333375"/>
            <a:ext cx="1238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论文汇报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EB6A43-4826-4445-8545-F539BD5AB407}"/>
              </a:ext>
            </a:extLst>
          </p:cNvPr>
          <p:cNvSpPr>
            <a:spLocks noGrp="1"/>
          </p:cNvSpPr>
          <p:nvPr/>
        </p:nvSpPr>
        <p:spPr>
          <a:xfrm>
            <a:off x="762000" y="904875"/>
            <a:ext cx="137160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子空间</a:t>
            </a:r>
            <a:r>
              <a:rPr lang="zh-CN" altLang="en-US" sz="3600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下</a:t>
            </a: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的近远两级注意力</a:t>
            </a:r>
            <a:endParaRPr sz="3600" b="1" dirty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A625E53-7225-4AD5-BE94-C38C1FACD558}"/>
              </a:ext>
            </a:extLst>
          </p:cNvPr>
          <p:cNvSpPr>
            <a:spLocks noGrp="1"/>
          </p:cNvSpPr>
          <p:nvPr/>
        </p:nvSpPr>
        <p:spPr>
          <a:xfrm>
            <a:off x="762000" y="8096250"/>
            <a:ext cx="114300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2026年10月13日</a:t>
            </a:r>
            <a:r>
              <a:rPr 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 </a:t>
            </a:r>
            <a:r>
              <a:rPr lang="en-US" altLang="zh-CN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SA25225</a:t>
            </a:r>
            <a:r>
              <a:rPr lang="zh-CN" alt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汪袁烁</a:t>
            </a:r>
            <a:endParaRPr sz="1425" b="0" dirty="0">
              <a:solidFill>
                <a:srgbClr val="A9C4D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A68BC73-4E49-49BA-BD75-481C9C60E0AF}"/>
              </a:ext>
            </a:extLst>
          </p:cNvPr>
          <p:cNvSpPr>
            <a:spLocks noGrp="1"/>
          </p:cNvSpPr>
          <p:nvPr/>
        </p:nvSpPr>
        <p:spPr>
          <a:xfrm>
            <a:off x="762000" y="2047875"/>
            <a:ext cx="131445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rPr>
              <a:t>共享低维索引，保留原维注意力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CD1CE02-4EF0-4125-A5CD-B44863D8D879}"/>
              </a:ext>
            </a:extLst>
          </p:cNvPr>
          <p:cNvSpPr>
            <a:spLocks noGrp="1"/>
          </p:cNvSpPr>
          <p:nvPr/>
        </p:nvSpPr>
        <p:spPr>
          <a:xfrm>
            <a:off x="1047750" y="3314700"/>
            <a:ext cx="2857500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32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842E020-7091-4325-8177-C4FA56F5ABF5}"/>
              </a:ext>
            </a:extLst>
          </p:cNvPr>
          <p:cNvSpPr>
            <a:spLocks noGrp="1"/>
          </p:cNvSpPr>
          <p:nvPr/>
        </p:nvSpPr>
        <p:spPr>
          <a:xfrm>
            <a:off x="1047750" y="4524375"/>
            <a:ext cx="4191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维 / 16完整旋转对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D1C3AB8-BA58-4189-B040-6AE7710641EC}"/>
              </a:ext>
            </a:extLst>
          </p:cNvPr>
          <p:cNvSpPr>
            <a:spLocks noGrp="1"/>
          </p:cNvSpPr>
          <p:nvPr/>
        </p:nvSpPr>
        <p:spPr>
          <a:xfrm>
            <a:off x="5810250" y="3381375"/>
            <a:ext cx="5429250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rPr>
              <a:t>近区 / 远区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09A12B3-036C-44AA-BC5F-9E360974A72D}"/>
              </a:ext>
            </a:extLst>
          </p:cNvPr>
          <p:cNvSpPr>
            <a:spLocks noGrp="1"/>
          </p:cNvSpPr>
          <p:nvPr/>
        </p:nvSpPr>
        <p:spPr>
          <a:xfrm>
            <a:off x="5810250" y="4524375"/>
            <a:ext cx="5429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rPr>
              <a:t>共享表示，两级选择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B5BFEF8-C5C8-4BCC-9467-D200D5C1C395}"/>
              </a:ext>
            </a:extLst>
          </p:cNvPr>
          <p:cNvSpPr>
            <a:spLocks noGrp="1"/>
          </p:cNvSpPr>
          <p:nvPr/>
        </p:nvSpPr>
        <p:spPr>
          <a:xfrm>
            <a:off x="11430000" y="3314700"/>
            <a:ext cx="3000375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 dirty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128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942DCA-C62C-4CAD-B2D4-B7DEA75929D9}"/>
              </a:ext>
            </a:extLst>
          </p:cNvPr>
          <p:cNvSpPr>
            <a:spLocks noGrp="1"/>
          </p:cNvSpPr>
          <p:nvPr/>
        </p:nvSpPr>
        <p:spPr>
          <a:xfrm>
            <a:off x="11430000" y="4524375"/>
            <a:ext cx="3143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维原始 Q / K / V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6CE2CD-3DB1-46B0-96E7-4D566445D8AF}"/>
              </a:ext>
            </a:extLst>
          </p:cNvPr>
          <p:cNvSpPr>
            <a:spLocks noGrp="1"/>
          </p:cNvSpPr>
          <p:nvPr/>
        </p:nvSpPr>
        <p:spPr>
          <a:xfrm>
            <a:off x="762000" y="5695950"/>
            <a:ext cx="13716000" cy="19050"/>
          </a:xfrm>
          <a:prstGeom prst="rect">
            <a:avLst/>
          </a:prstGeom>
          <a:solidFill>
            <a:srgbClr val="D5E0E6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1BE2DBE-62FB-4B0A-9A52-BBE5B588BFE7}"/>
              </a:ext>
            </a:extLst>
          </p:cNvPr>
          <p:cNvSpPr>
            <a:spLocks noGrp="1"/>
          </p:cNvSpPr>
          <p:nvPr/>
        </p:nvSpPr>
        <p:spPr>
          <a:xfrm>
            <a:off x="762000" y="6172200"/>
            <a:ext cx="2809875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方法设置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4F499C7-B54E-4D86-BD6F-1DA3433919C3}"/>
              </a:ext>
            </a:extLst>
          </p:cNvPr>
          <p:cNvSpPr>
            <a:spLocks noGrp="1"/>
          </p:cNvSpPr>
          <p:nvPr/>
        </p:nvSpPr>
        <p:spPr>
          <a:xfrm>
            <a:off x="3714750" y="6105525"/>
            <a:ext cx="10715625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625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共享低频坐标与区域页配额</a:t>
            </a:r>
          </a:p>
        </p:txBody>
      </p:sp>
      <p:sp>
        <p:nvSpPr>
          <p:cNvPr id="17" name="native17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58714192"/>
      </p:ext>
    </p:extLst>
  </p:cSld>
  <p:clrMapOvr>
    <a:masterClrMapping/>
  </p:clrMapOvr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053CC5C-6B1A-4196-BFE1-B2AF2473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Abstract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44CA1E5-125F-49C0-934F-2CF9E826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固定词元预算下：候选访问与选择成本</a:t>
            </a:r>
            <a:endParaRPr sz="3225" b="1">
              <a:solidFill>
                <a:srgbClr val="18314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38EE5A33-411D-4DD2-A06B-05DB1E29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0B8CC4B-F7EC-4366-877A-9CE762AB8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19075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均值与极值刻画不同评分目标，页注意力和另作参照。
全局TopK不提供区域容量保证。</a:t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5107B27-D1F7-4789-B1FD-B92D2451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方法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B9F6202-DF97-419B-AE08-417EE1F2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57187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共享32坐标映射与区域页配额协同选择，
最终在选集上使用原128维 Q / K / V。</a:t>
            </a:r>
          </a:p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F6EB6E5-97D4-4B4D-93B0-1AAAE43A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观察与边界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5ADA7C0-326F-4A27-A150-86FFBDED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95300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区域预留改变远区覆盖，43/128条观测下降；历史稀疏解码更慢，当前4/128尚缺匹配质量—成本结果。</ns0:t>
            </ns0:r>
          </ns0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E892D90-A11A-4BEF-911C-624D2215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341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可选远区门控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AFE233E-0402-4295-AFD9-0B8F0B42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633412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远区门控在预填充阶段逐层标定，在解码入口固定后复用，默认关闭。低预填充概率不保证后续任务质量。</ns1:t>
            </ns1:r>
          </ns1:p>
        </p:txBody>
      </p:sp>
      <p:sp>
        <p:nvSpPr>
          <p:cNvPr id="14" name="native14">
            <a:extLst xmlns:a="http://schemas.openxmlformats.org/drawingml/2006/main">
              <a:ext uri="{FF2B5EF4-FFF2-40B4-BE49-F238E27FC236}">
                <a16:creationId xmlns:a16="http://schemas.microsoft.com/office/drawing/2014/main" id="{778291A5-0F74-440E-9C51-5187136C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57030310"/>
      </p:ext>
    </p:extLst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DC4006A1-5865-48A6-B5F3-361F315B905E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Introduction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92856D-6AE8-4A24-895E-49773396C61B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r>
              <a:t>四项观察：区域选集、紧凑坐标与历史层差异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3</a:t>
            </a:r>
          </a:p>
        </p:txBody>
      </p:sp>
      <p:pic>
        <p:nvPicPr>
          <p:cNvPr id="101" name="Picture 10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51760" y="1691640"/>
            <a:ext cx="8296259" cy="598932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822960" y="7744968"/>
            <a:ext cx="1362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43746"/>
                </a:solidFill>
                <a:latin typeface="Noto Sans CJK SC"/>
              </a:defRPr>
            </a:pPr>
            <a:r>
              <a:t>(a) 页权重排序≠词元TopK；实际1989/1989/2048词元；均值／极值同32维，参考为全维；不能证明区域分工；</a:t>
            </a:r>
            <a:br/>
            <a:r>
              <a:t>(b) 43/128条下降；(c) 随机未配对；(d) 历史代理，不是当前门控或解码保证。</a:t>
            </a:r>
          </a:p>
        </p:txBody>
      </p:sp>
    </p:spTree>
    <p:extLst>
      <p:ext uri="{BB962C8B-B14F-4D97-AF65-F5344CB8AC3E}">
        <p14:creationId xmlns:p14="http://schemas.microsoft.com/office/powerpoint/2010/main" val="1438406342"/>
      </p:ext>
    </p:extLst>
  </p:cSld>
  <p:clrMapOvr>
    <a:masterClrMapping/>
  </p:clrMapOvr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E63E8345-2ED8-4E8F-A48D-279FB455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Related Work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166C6F1-CAFF-41BC-A42D-BF6FDF330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检索机制与本方法的设计位置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4E37252E-755C-4978-AB4D-DB4142F7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FullKV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C83B973-DAE5-4F20-ACD4-384896390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5270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36574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FC556D5-DBE0-45EE-AA23-C47B58C4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23837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稠密注意力</ns0:t>
            </ns0:r>
          </ns0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BAB85AD-7BC3-4EBE-A678-6026B862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16217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同输入、精度与生成协议的质量 / 成本参照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32973AB-356E-4359-8C74-E92920E31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0517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A8BD247C-8F18-4981-8409-C4EA0F41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AsyncTLS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EB2DEC2-3B6E-44A3-9BA2-666083E3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85762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9B4122C-5FF4-4AC6-B5CC-D9A224E2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54330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级联、坐标选择与量化评分</ns1:t>
            </ns1:r>
          </ns1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5A39776-7A2F-47FE-9C42-0B9213BB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46710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逐查询概率聚合；原维KV最终注意力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2AB8051F-E10C-48E1-93E3-56C51161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6BCDE593-A5CC-4592-B6B4-D0265A71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4822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Quest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F508DEE-8C3B-4E04-BB92-05754D00E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16255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F5B046B-3410-45FA-BC78-890F01BD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84822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页级选择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9B996A44-A5E9-4DC7-B696-671C32AB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77202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用页内坐标极值估计候选页相关性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15886EBC-0E92-4562-98BB-CE29F488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1502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27EAF6E2-5029-4E9A-80B0-914933C7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5315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ClusterKV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5ADD02EE-6559-4B6A-A0AD-7C5A5FA4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6747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210873C3-C719-4658-AD3F-50D97031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615315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聚类选择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8B688AF7-9547-42A0-AE2E-D49BC13E4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607695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通过聚类组织KV，建簇与维护构成额外成本</a:t>
            </a:r>
            <a:endParaRPr sz="1875" b="0">
              <a:solidFill>
                <a:srgbClr val="536574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84188627-A6C8-471E-957B-E087435BB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933836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E979A68-A9E0-4F07-8D8A-AE860024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8E1E0DB-2679-4228-9855-597B50D6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两项核心机制，一个可选扩展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91079914-22B9-4E5A-9731-AFCBBEE5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0B1172DA-35D0-450C-AFD1-4D144820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383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共享低频RoPE坐标</ns0:t>
            </ns0:r>
          </ns0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6ACB42B-70D0-4D86-A5A9-39EE80B3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rPr>
              <ns1:t>同层同KV头的16完整旋转对</ns1:t>
            </ns1:r>
          </ns1:p>
          <ns2:p xmlns:ns2="http://schemas.openxmlformats.org/drawingml/2006/main">
            <ns2:pPr>
              <ns2:buNone/>
              <ns2:def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rPr>
              <ns2:t>近区 / 远区、L1 / L2共用坐标</ns2:t>
            </ns2:r>
          </ns2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A2312E0-B9A9-4717-A653-BF9F8E72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9051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共享坐标映射，不要求共享物理缓冲区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E87C7F4-81BF-45FB-AE3D-B4BC3E9C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5623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F22FF05-ECBD-4EA6-9F3B-7FDBEFB6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24FD39-2F4C-48CC-A3D7-779676DA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8385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近远两级分配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5D3A72F-AE39-41C4-BD2D-D45AA78E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100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固定 α / β / γ 定义区域和配额</a:t>
            </a:r>
          </a:p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最终仍用原128维 Q / K / V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AEE35CBC-1632-4785-BEBC-1391E5B4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5053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区域配额保留近端与远端候选入口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E464D7B-9EE2-4642-A89F-C3D4E9A6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1625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D48C4B8-56F9-4945-8857-EAFC7C68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B724F55-0042-4D39-9806-FC0C7078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4387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可选远区门控</ns3:t>
            </ns3:r>
          </ns3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C4EEEE4-A472-424B-A7D8-349A0E6F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410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预填充阶段为各输入确定逐层决策</ns4:t>
            </ns4:r>
          </ns4:p>
          <ns5:p xmlns:ns5="http://schemas.openxmlformats.org/drawingml/2006/main">
            <ns5:pPr>
              <ns5:buNone/>
              <ns5:def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解码复用，关闭远区时回填近区配额</ns5:t>
            </ns5:r>
          </ns5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F9B18C1E-A4AF-4F1F-B540-22C192C9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61055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rPr>
              <ns6:t>默认关闭；低预填充概率不约束解码误差</ns6:t>
            </ns6:r>
          </ns6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91D2EC03-CBAC-4A88-893F-B27861B0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01464977"/>
      </p:ext>
    </p:extLst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总架构：共享索引与原维注意力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门控未启用的普通路径；近区不含保护滑窗，KV物理访问由后端决定</a:t>
            </a:r>
          </a:p>
        </p:txBody>
      </p:sp>
      <p:sp>
        <p:nvSpPr>
          <p:cNvPr id="365" name="native365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6</a:t>
            </a:r>
          </a:p>
        </p:txBody>
      </p:sp>
      <p:grpSp>
        <p:nvGrpSpPr>
          <p:cNvPr id="5001" name="Shared indexer architecture — editable"/>
          <p:cNvGrpSpPr/>
          <p:nvPr/>
        </p:nvGrpSpPr>
        <p:grpSpPr>
          <a:xfrm>
            <a:off x="822960" y="1874520"/>
            <a:ext cx="13533120" cy="6377214"/>
            <a:chOff x="0" y="0"/>
            <a:chExt cx="9601200" cy="4524375"/>
          </a:xfrm>
        </p:grpSpPr>
        <p:sp>
          <p:nvSpPr>
            <p:cNvPr id="5002" name="R3-zh-1-text">
              <a:extLst>
                <a:ext uri="{FF2B5EF4-FFF2-40B4-BE49-F238E27FC236}">
                  <a16:creationId xmlns:a16="http://schemas.microsoft.com/office/drawing/2014/main" id="{8436A63F-3675-419C-A6E1-2883622DA55F}"/>
                </a:ext>
              </a:extLst>
            </p:cNvPr>
            <p:cNvSpPr>
              <a:spLocks noGrp="1"/>
            </p:cNvSpPr>
            <p:nvPr/>
          </p:nvSpPr>
          <p:spPr>
            <a:xfrm>
              <a:off x="406051" y="53912"/>
              <a:ext cx="921449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原始KV存储</a:t>
              </a:r>
            </a:p>
          </p:txBody>
        </p:sp>
        <p:sp>
          <p:nvSpPr>
            <p:cNvPr id="5003" name="R3-zh-2-text">
              <a:extLst>
                <a:ext uri="{FF2B5EF4-FFF2-40B4-BE49-F238E27FC236}">
                  <a16:creationId xmlns:a16="http://schemas.microsoft.com/office/drawing/2014/main" id="{E5FC2B9D-7383-4C98-B16E-91A6B81F4FE7}"/>
                </a:ext>
              </a:extLst>
            </p:cNvPr>
            <p:cNvSpPr>
              <a:spLocks noGrp="1"/>
            </p:cNvSpPr>
            <p:nvPr/>
          </p:nvSpPr>
          <p:spPr>
            <a:xfrm>
              <a:off x="4263866" y="53912"/>
              <a:ext cx="902018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共享索引器</a:t>
              </a:r>
            </a:p>
          </p:txBody>
        </p:sp>
        <p:sp>
          <p:nvSpPr>
            <p:cNvPr id="5004" name="R3-zh-3-text">
              <a:extLst>
                <a:ext uri="{FF2B5EF4-FFF2-40B4-BE49-F238E27FC236}">
                  <a16:creationId xmlns:a16="http://schemas.microsoft.com/office/drawing/2014/main" id="{FF0E6F46-61A6-42AC-9B24-D1C19E5DBA04}"/>
                </a:ext>
              </a:extLst>
            </p:cNvPr>
            <p:cNvSpPr>
              <a:spLocks noGrp="1"/>
            </p:cNvSpPr>
            <p:nvPr/>
          </p:nvSpPr>
          <p:spPr>
            <a:xfrm>
              <a:off x="8245316" y="53912"/>
              <a:ext cx="902018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最终注意力</a:t>
              </a:r>
            </a:p>
          </p:txBody>
        </p:sp>
        <p:sp>
          <p:nvSpPr>
            <p:cNvPr id="5005" name="R3-zh-4-rect">
              <a:extLst>
                <a:ext uri="{FF2B5EF4-FFF2-40B4-BE49-F238E27FC236}">
                  <a16:creationId xmlns:a16="http://schemas.microsoft.com/office/drawing/2014/main" id="{DCDE1892-7B93-4937-AC26-09FC8C24F336}"/>
                </a:ext>
              </a:extLst>
            </p:cNvPr>
            <p:cNvSpPr>
              <a:spLocks noGrp="1"/>
            </p:cNvSpPr>
            <p:nvPr/>
          </p:nvSpPr>
          <p:spPr>
            <a:xfrm>
              <a:off x="2076450" y="647700"/>
              <a:ext cx="5353050" cy="3143250"/>
            </a:xfrm>
            <a:prstGeom prst="rect">
              <a:avLst/>
            </a:prstGeom>
            <a:solidFill>
              <a:srgbClr val="FAFBFC"/>
            </a:solidFill>
            <a:ln w="9525">
              <a:solidFill>
                <a:srgbClr val="AEB9C0"/>
              </a:solidFill>
            </a:ln>
          </p:spPr>
        </p:sp>
        <p:sp>
          <p:nvSpPr>
            <p:cNvPr id="5006" name="R3-zh-5-text">
              <a:extLst>
                <a:ext uri="{FF2B5EF4-FFF2-40B4-BE49-F238E27FC236}">
                  <a16:creationId xmlns:a16="http://schemas.microsoft.com/office/drawing/2014/main" id="{06F7DE75-8929-4AF3-9B9D-F110E4BC7FC2}"/>
                </a:ext>
              </a:extLst>
            </p:cNvPr>
            <p:cNvSpPr>
              <a:spLocks noGrp="1"/>
            </p:cNvSpPr>
            <p:nvPr/>
          </p:nvSpPr>
          <p:spPr>
            <a:xfrm>
              <a:off x="114300" y="339471"/>
              <a:ext cx="209550" cy="24003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Q</a:t>
              </a:r>
            </a:p>
          </p:txBody>
        </p:sp>
        <p:sp>
          <p:nvSpPr>
            <p:cNvPr id="5007" name="R3-zh-6-polyline">
              <a:extLst>
                <a:ext uri="{FF2B5EF4-FFF2-40B4-BE49-F238E27FC236}">
                  <a16:creationId xmlns:a16="http://schemas.microsoft.com/office/drawing/2014/main" id="{16360B7B-6FA1-4332-A568-7EA848E8B5F5}"/>
                </a:ext>
              </a:extLst>
            </p:cNvPr>
            <p:cNvSpPr>
              <a:spLocks noGrp="1"/>
            </p:cNvSpPr>
            <p:nvPr/>
          </p:nvSpPr>
          <p:spPr>
            <a:xfrm>
              <a:off x="371475" y="466725"/>
              <a:ext cx="9134475" cy="2752725"/>
            </a:xfrm>
            <a:custGeom>
              <a:pathLst>
                <a:path w="9134475" h="2752725">
                  <a:moveTo>
                    <a:pt x="0" y="0"/>
                  </a:moveTo>
                  <a:lnTo>
                    <a:pt x="9134475" y="0"/>
                  </a:lnTo>
                  <a:lnTo>
                    <a:pt x="9134475" y="2600325"/>
                  </a:lnTo>
                  <a:lnTo>
                    <a:pt x="8915400" y="2600325"/>
                  </a:lnTo>
                  <a:lnTo>
                    <a:pt x="8915400" y="2752725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008" name="R3-zh-6-polyline-arrow">
              <a:extLst>
                <a:ext uri="{FF2B5EF4-FFF2-40B4-BE49-F238E27FC236}">
                  <a16:creationId xmlns:a16="http://schemas.microsoft.com/office/drawing/2014/main" id="{0A022EF4-CE5B-4B4E-8377-DAEB6E4E91F6}"/>
                </a:ext>
              </a:extLst>
            </p:cNvPr>
            <p:cNvSpPr>
              <a:spLocks noGrp="1"/>
            </p:cNvSpPr>
            <p:nvPr/>
          </p:nvSpPr>
          <p:spPr>
            <a:xfrm>
              <a:off x="9264015" y="3171825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009" name="R3-zh-7-text">
              <a:extLst>
                <a:ext uri="{FF2B5EF4-FFF2-40B4-BE49-F238E27FC236}">
                  <a16:creationId xmlns:a16="http://schemas.microsoft.com/office/drawing/2014/main" id="{D2E084CF-1A0A-410E-A9E1-FC2A631B698B}"/>
                </a:ext>
              </a:extLst>
            </p:cNvPr>
            <p:cNvSpPr>
              <a:spLocks noGrp="1"/>
            </p:cNvSpPr>
            <p:nvPr/>
          </p:nvSpPr>
          <p:spPr>
            <a:xfrm>
              <a:off x="8283035" y="273558"/>
              <a:ext cx="712280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原始128维</a:t>
              </a:r>
            </a:p>
          </p:txBody>
        </p:sp>
        <p:sp>
          <p:nvSpPr>
            <p:cNvPr id="5010" name="R3-zh-8-text">
              <a:extLst>
                <a:ext uri="{FF2B5EF4-FFF2-40B4-BE49-F238E27FC236}">
                  <a16:creationId xmlns:a16="http://schemas.microsoft.com/office/drawing/2014/main" id="{0E887329-B716-4850-928A-F27DB81EC8B8}"/>
                </a:ext>
              </a:extLst>
            </p:cNvPr>
            <p:cNvSpPr>
              <a:spLocks noGrp="1"/>
            </p:cNvSpPr>
            <p:nvPr/>
          </p:nvSpPr>
          <p:spPr>
            <a:xfrm>
              <a:off x="0" y="1292162"/>
              <a:ext cx="209550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K</a:t>
              </a:r>
            </a:p>
          </p:txBody>
        </p:sp>
        <p:sp>
          <p:nvSpPr>
            <p:cNvPr id="5011" name="R3-zh-9-text">
              <a:extLst>
                <a:ext uri="{FF2B5EF4-FFF2-40B4-BE49-F238E27FC236}">
                  <a16:creationId xmlns:a16="http://schemas.microsoft.com/office/drawing/2014/main" id="{671DFFB5-96C6-4A7A-901B-2BB24F7CE5AE}"/>
                </a:ext>
              </a:extLst>
            </p:cNvPr>
            <p:cNvSpPr>
              <a:spLocks noGrp="1"/>
            </p:cNvSpPr>
            <p:nvPr/>
          </p:nvSpPr>
          <p:spPr>
            <a:xfrm>
              <a:off x="1076325" y="730187"/>
              <a:ext cx="209550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V</a:t>
              </a:r>
            </a:p>
          </p:txBody>
        </p:sp>
        <p:sp>
          <p:nvSpPr>
            <p:cNvPr id="5012" name="R3-zh-10-rect">
              <a:extLst>
                <a:ext uri="{FF2B5EF4-FFF2-40B4-BE49-F238E27FC236}">
                  <a16:creationId xmlns:a16="http://schemas.microsoft.com/office/drawing/2014/main" id="{E09497EA-C9BF-4642-A452-F4DB8EA1B76D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3" name="R3-zh-11-rect">
              <a:extLst>
                <a:ext uri="{FF2B5EF4-FFF2-40B4-BE49-F238E27FC236}">
                  <a16:creationId xmlns:a16="http://schemas.microsoft.com/office/drawing/2014/main" id="{24187CF1-0A89-4FD3-9C5B-0F2B488E5842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4" name="R3-zh-12-rect">
              <a:extLst>
                <a:ext uri="{FF2B5EF4-FFF2-40B4-BE49-F238E27FC236}">
                  <a16:creationId xmlns:a16="http://schemas.microsoft.com/office/drawing/2014/main" id="{2E2450B7-3772-4385-96A7-7842A748D616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5" name="R3-zh-13-rect">
              <a:extLst>
                <a:ext uri="{FF2B5EF4-FFF2-40B4-BE49-F238E27FC236}">
                  <a16:creationId xmlns:a16="http://schemas.microsoft.com/office/drawing/2014/main" id="{05FBAF4B-20C8-4AF2-9232-924C40E59B9B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6" name="R3-zh-14-rect">
              <a:extLst>
                <a:ext uri="{FF2B5EF4-FFF2-40B4-BE49-F238E27FC236}">
                  <a16:creationId xmlns:a16="http://schemas.microsoft.com/office/drawing/2014/main" id="{2F4B1768-0DEB-4CE8-82D4-5BBA945CB67D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7" name="R3-zh-15-rect">
              <a:extLst>
                <a:ext uri="{FF2B5EF4-FFF2-40B4-BE49-F238E27FC236}">
                  <a16:creationId xmlns:a16="http://schemas.microsoft.com/office/drawing/2014/main" id="{9E2EDDF4-28FE-4854-9B49-7D9C2C82F619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8" name="R3-zh-16-rect">
              <a:extLst>
                <a:ext uri="{FF2B5EF4-FFF2-40B4-BE49-F238E27FC236}">
                  <a16:creationId xmlns:a16="http://schemas.microsoft.com/office/drawing/2014/main" id="{07CD0E19-3966-4866-A679-ADFF98D19642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9" name="R3-zh-17-rect">
              <a:extLst>
                <a:ext uri="{FF2B5EF4-FFF2-40B4-BE49-F238E27FC236}">
                  <a16:creationId xmlns:a16="http://schemas.microsoft.com/office/drawing/2014/main" id="{D9DB85C2-B2AF-4B89-BF89-905F9F0CF4F6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0" name="R3-zh-18-rect">
              <a:extLst>
                <a:ext uri="{FF2B5EF4-FFF2-40B4-BE49-F238E27FC236}">
                  <a16:creationId xmlns:a16="http://schemas.microsoft.com/office/drawing/2014/main" id="{B530DDE5-32EC-4EF1-8C1E-33B68825CAD6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1" name="R3-zh-19-rect">
              <a:extLst>
                <a:ext uri="{FF2B5EF4-FFF2-40B4-BE49-F238E27FC236}">
                  <a16:creationId xmlns:a16="http://schemas.microsoft.com/office/drawing/2014/main" id="{7AC5BF54-D80E-44E3-B2AA-5B79F89D63E1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2" name="R3-zh-20-rect">
              <a:extLst>
                <a:ext uri="{FF2B5EF4-FFF2-40B4-BE49-F238E27FC236}">
                  <a16:creationId xmlns:a16="http://schemas.microsoft.com/office/drawing/2014/main" id="{C9EB59E0-8FB7-4B30-9E38-5B0E8D160D87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3" name="R3-zh-21-rect">
              <a:extLst>
                <a:ext uri="{FF2B5EF4-FFF2-40B4-BE49-F238E27FC236}">
                  <a16:creationId xmlns:a16="http://schemas.microsoft.com/office/drawing/2014/main" id="{55DD5C77-958B-41A2-9A73-0B3692CA59AF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4" name="R3-zh-22-rect">
              <a:extLst>
                <a:ext uri="{FF2B5EF4-FFF2-40B4-BE49-F238E27FC236}">
                  <a16:creationId xmlns:a16="http://schemas.microsoft.com/office/drawing/2014/main" id="{4CD43444-9047-4C55-8CA8-C25BADAB5945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5" name="R3-zh-23-rect">
              <a:extLst>
                <a:ext uri="{FF2B5EF4-FFF2-40B4-BE49-F238E27FC236}">
                  <a16:creationId xmlns:a16="http://schemas.microsoft.com/office/drawing/2014/main" id="{B732F720-896C-4DBE-B7FD-915F3F5C8F2B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6" name="R3-zh-24-rect">
              <a:extLst>
                <a:ext uri="{FF2B5EF4-FFF2-40B4-BE49-F238E27FC236}">
                  <a16:creationId xmlns:a16="http://schemas.microsoft.com/office/drawing/2014/main" id="{DA3C4F88-ABD7-49EB-B4FD-974020416196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7" name="R3-zh-25-rect">
              <a:extLst>
                <a:ext uri="{FF2B5EF4-FFF2-40B4-BE49-F238E27FC236}">
                  <a16:creationId xmlns:a16="http://schemas.microsoft.com/office/drawing/2014/main" id="{5FB68B1A-68C8-498C-9FA2-540C1DC414FE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8" name="R3-zh-26-rect">
              <a:extLst>
                <a:ext uri="{FF2B5EF4-FFF2-40B4-BE49-F238E27FC236}">
                  <a16:creationId xmlns:a16="http://schemas.microsoft.com/office/drawing/2014/main" id="{658C0CA4-C8A7-4E5A-A965-BCAE81976AB3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9" name="R3-zh-27-rect">
              <a:extLst>
                <a:ext uri="{FF2B5EF4-FFF2-40B4-BE49-F238E27FC236}">
                  <a16:creationId xmlns:a16="http://schemas.microsoft.com/office/drawing/2014/main" id="{293C5313-E50B-407C-8312-2F0B1B54A98F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0" name="R3-zh-28-rect">
              <a:extLst>
                <a:ext uri="{FF2B5EF4-FFF2-40B4-BE49-F238E27FC236}">
                  <a16:creationId xmlns:a16="http://schemas.microsoft.com/office/drawing/2014/main" id="{DA0B598E-B434-484D-A87F-3C4615B7AB2C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1" name="R3-zh-29-rect">
              <a:extLst>
                <a:ext uri="{FF2B5EF4-FFF2-40B4-BE49-F238E27FC236}">
                  <a16:creationId xmlns:a16="http://schemas.microsoft.com/office/drawing/2014/main" id="{497B4AFE-A23B-4505-94DE-6D30BA115504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2" name="R3-zh-30-rect">
              <a:extLst>
                <a:ext uri="{FF2B5EF4-FFF2-40B4-BE49-F238E27FC236}">
                  <a16:creationId xmlns:a16="http://schemas.microsoft.com/office/drawing/2014/main" id="{F1ADF53E-E0E0-494D-83F8-3BED948BE56A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3" name="R3-zh-31-rect">
              <a:extLst>
                <a:ext uri="{FF2B5EF4-FFF2-40B4-BE49-F238E27FC236}">
                  <a16:creationId xmlns:a16="http://schemas.microsoft.com/office/drawing/2014/main" id="{06DD169B-8D51-4FBF-9CB2-DF176FB2C5BE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4" name="R3-zh-32-rect">
              <a:extLst>
                <a:ext uri="{FF2B5EF4-FFF2-40B4-BE49-F238E27FC236}">
                  <a16:creationId xmlns:a16="http://schemas.microsoft.com/office/drawing/2014/main" id="{79F9E82A-5BD9-44D1-ACDC-A21AC538846F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5" name="R3-zh-33-rect">
              <a:extLst>
                <a:ext uri="{FF2B5EF4-FFF2-40B4-BE49-F238E27FC236}">
                  <a16:creationId xmlns:a16="http://schemas.microsoft.com/office/drawing/2014/main" id="{C3ABE13A-31DD-48B2-8C0D-02845C371846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6" name="R3-zh-34-rect">
              <a:extLst>
                <a:ext uri="{FF2B5EF4-FFF2-40B4-BE49-F238E27FC236}">
                  <a16:creationId xmlns:a16="http://schemas.microsoft.com/office/drawing/2014/main" id="{3E45AAF5-E81C-411E-9B1D-DAFD8AE50A83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7" name="R3-zh-35-rect">
              <a:extLst>
                <a:ext uri="{FF2B5EF4-FFF2-40B4-BE49-F238E27FC236}">
                  <a16:creationId xmlns:a16="http://schemas.microsoft.com/office/drawing/2014/main" id="{221A8248-8911-46EE-8622-F27056715CE1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8" name="R3-zh-36-rect">
              <a:extLst>
                <a:ext uri="{FF2B5EF4-FFF2-40B4-BE49-F238E27FC236}">
                  <a16:creationId xmlns:a16="http://schemas.microsoft.com/office/drawing/2014/main" id="{4ABA9C8A-D4C8-4B73-96F2-242C86D668AF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9" name="R3-zh-37-rect">
              <a:extLst>
                <a:ext uri="{FF2B5EF4-FFF2-40B4-BE49-F238E27FC236}">
                  <a16:creationId xmlns:a16="http://schemas.microsoft.com/office/drawing/2014/main" id="{8CB758AD-3F48-4E31-A437-D235414556F4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0" name="R3-zh-38-rect">
              <a:extLst>
                <a:ext uri="{FF2B5EF4-FFF2-40B4-BE49-F238E27FC236}">
                  <a16:creationId xmlns:a16="http://schemas.microsoft.com/office/drawing/2014/main" id="{E58163F2-B7AB-4D2A-B02C-DF2464802DCB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1" name="R3-zh-39-rect">
              <a:extLst>
                <a:ext uri="{FF2B5EF4-FFF2-40B4-BE49-F238E27FC236}">
                  <a16:creationId xmlns:a16="http://schemas.microsoft.com/office/drawing/2014/main" id="{159D3D12-83A3-4A29-AF25-C3870E0390AD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2" name="R3-zh-40-rect">
              <a:extLst>
                <a:ext uri="{FF2B5EF4-FFF2-40B4-BE49-F238E27FC236}">
                  <a16:creationId xmlns:a16="http://schemas.microsoft.com/office/drawing/2014/main" id="{80FBDFBA-D797-4152-95CF-4265110EFAC0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3" name="R3-zh-41-rect">
              <a:extLst>
                <a:ext uri="{FF2B5EF4-FFF2-40B4-BE49-F238E27FC236}">
                  <a16:creationId xmlns:a16="http://schemas.microsoft.com/office/drawing/2014/main" id="{D5F25A41-9D2A-4323-95AC-88C52A00786E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4" name="R3-zh-42-rect">
              <a:extLst>
                <a:ext uri="{FF2B5EF4-FFF2-40B4-BE49-F238E27FC236}">
                  <a16:creationId xmlns:a16="http://schemas.microsoft.com/office/drawing/2014/main" id="{30BF3D7E-5B27-43A6-AE8C-021478198DB2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5" name="R3-zh-43-rect">
              <a:extLst>
                <a:ext uri="{FF2B5EF4-FFF2-40B4-BE49-F238E27FC236}">
                  <a16:creationId xmlns:a16="http://schemas.microsoft.com/office/drawing/2014/main" id="{DB7D7960-712E-4888-B7BC-03D065840D46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6" name="R3-zh-44-rect">
              <a:extLst>
                <a:ext uri="{FF2B5EF4-FFF2-40B4-BE49-F238E27FC236}">
                  <a16:creationId xmlns:a16="http://schemas.microsoft.com/office/drawing/2014/main" id="{80A823AD-34EC-478E-A132-57C70358122A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7" name="R3-zh-45-rect">
              <a:extLst>
                <a:ext uri="{FF2B5EF4-FFF2-40B4-BE49-F238E27FC236}">
                  <a16:creationId xmlns:a16="http://schemas.microsoft.com/office/drawing/2014/main" id="{361EBC46-2568-4676-8EF2-EE335AC97023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8" name="R3-zh-46-rect">
              <a:extLst>
                <a:ext uri="{FF2B5EF4-FFF2-40B4-BE49-F238E27FC236}">
                  <a16:creationId xmlns:a16="http://schemas.microsoft.com/office/drawing/2014/main" id="{1746C996-4A6F-482C-927A-80635F03A4E1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9" name="R3-zh-47-rect">
              <a:extLst>
                <a:ext uri="{FF2B5EF4-FFF2-40B4-BE49-F238E27FC236}">
                  <a16:creationId xmlns:a16="http://schemas.microsoft.com/office/drawing/2014/main" id="{4548FF2C-5170-481F-9C66-2ADAD4559BF9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0" name="R3-zh-48-rect">
              <a:extLst>
                <a:ext uri="{FF2B5EF4-FFF2-40B4-BE49-F238E27FC236}">
                  <a16:creationId xmlns:a16="http://schemas.microsoft.com/office/drawing/2014/main" id="{FDAF44D7-94DA-4D27-9ECE-38D26F0B71E4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1" name="R3-zh-49-rect">
              <a:extLst>
                <a:ext uri="{FF2B5EF4-FFF2-40B4-BE49-F238E27FC236}">
                  <a16:creationId xmlns:a16="http://schemas.microsoft.com/office/drawing/2014/main" id="{EC612661-4353-4219-AEA0-E98CFB585E83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2" name="R3-zh-50-rect">
              <a:extLst>
                <a:ext uri="{FF2B5EF4-FFF2-40B4-BE49-F238E27FC236}">
                  <a16:creationId xmlns:a16="http://schemas.microsoft.com/office/drawing/2014/main" id="{E6AA5708-5DD2-412A-BC56-4F0C24E73BD1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3" name="R3-zh-51-rect">
              <a:extLst>
                <a:ext uri="{FF2B5EF4-FFF2-40B4-BE49-F238E27FC236}">
                  <a16:creationId xmlns:a16="http://schemas.microsoft.com/office/drawing/2014/main" id="{647E857B-B9D7-42EA-8A79-DCFE7CEB9543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4" name="R3-zh-52-rect">
              <a:extLst>
                <a:ext uri="{FF2B5EF4-FFF2-40B4-BE49-F238E27FC236}">
                  <a16:creationId xmlns:a16="http://schemas.microsoft.com/office/drawing/2014/main" id="{8533BB74-475E-4CBA-A272-5A14DAF1002B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5" name="R3-zh-53-rect">
              <a:extLst>
                <a:ext uri="{FF2B5EF4-FFF2-40B4-BE49-F238E27FC236}">
                  <a16:creationId xmlns:a16="http://schemas.microsoft.com/office/drawing/2014/main" id="{C4ABB446-CA51-402F-8BEA-04D2FD95AA4D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6" name="R3-zh-54-rect">
              <a:extLst>
                <a:ext uri="{FF2B5EF4-FFF2-40B4-BE49-F238E27FC236}">
                  <a16:creationId xmlns:a16="http://schemas.microsoft.com/office/drawing/2014/main" id="{91360A6E-99A4-40B8-A3D2-63485D24355E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7" name="R3-zh-55-rect">
              <a:extLst>
                <a:ext uri="{FF2B5EF4-FFF2-40B4-BE49-F238E27FC236}">
                  <a16:creationId xmlns:a16="http://schemas.microsoft.com/office/drawing/2014/main" id="{AA50DE3A-29D3-4C58-82B7-F0CA2857AE68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8" name="R3-zh-56-rect">
              <a:extLst>
                <a:ext uri="{FF2B5EF4-FFF2-40B4-BE49-F238E27FC236}">
                  <a16:creationId xmlns:a16="http://schemas.microsoft.com/office/drawing/2014/main" id="{37F94C0E-3EF5-4987-981F-01EFBC4CF74C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9" name="R3-zh-57-rect">
              <a:extLst>
                <a:ext uri="{FF2B5EF4-FFF2-40B4-BE49-F238E27FC236}">
                  <a16:creationId xmlns:a16="http://schemas.microsoft.com/office/drawing/2014/main" id="{AC091153-67F6-43D3-B9A4-597BB7DF3D07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0" name="R3-zh-58-rect">
              <a:extLst>
                <a:ext uri="{FF2B5EF4-FFF2-40B4-BE49-F238E27FC236}">
                  <a16:creationId xmlns:a16="http://schemas.microsoft.com/office/drawing/2014/main" id="{37CFB2C9-28AF-4C65-8271-210638161BDB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1" name="R3-zh-59-rect">
              <a:extLst>
                <a:ext uri="{FF2B5EF4-FFF2-40B4-BE49-F238E27FC236}">
                  <a16:creationId xmlns:a16="http://schemas.microsoft.com/office/drawing/2014/main" id="{4D12F7E1-BD2B-4029-9DAA-4C8792658AA5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2" name="R3-zh-60-rect">
              <a:extLst>
                <a:ext uri="{FF2B5EF4-FFF2-40B4-BE49-F238E27FC236}">
                  <a16:creationId xmlns:a16="http://schemas.microsoft.com/office/drawing/2014/main" id="{F91262E1-82B0-4786-96FF-D808AC672D26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3" name="R3-zh-61-rect">
              <a:extLst>
                <a:ext uri="{FF2B5EF4-FFF2-40B4-BE49-F238E27FC236}">
                  <a16:creationId xmlns:a16="http://schemas.microsoft.com/office/drawing/2014/main" id="{920FEAF7-6044-4840-99A5-8020E7CBB9C5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4" name="R3-zh-62-rect">
              <a:extLst>
                <a:ext uri="{FF2B5EF4-FFF2-40B4-BE49-F238E27FC236}">
                  <a16:creationId xmlns:a16="http://schemas.microsoft.com/office/drawing/2014/main" id="{3617C16F-5DE0-4D2C-9DBF-A59529CEB7CF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5" name="R3-zh-63-rect">
              <a:extLst>
                <a:ext uri="{FF2B5EF4-FFF2-40B4-BE49-F238E27FC236}">
                  <a16:creationId xmlns:a16="http://schemas.microsoft.com/office/drawing/2014/main" id="{806CAAF5-DA64-49A3-A052-DB24A7D26D05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6" name="R3-zh-64-rect">
              <a:extLst>
                <a:ext uri="{FF2B5EF4-FFF2-40B4-BE49-F238E27FC236}">
                  <a16:creationId xmlns:a16="http://schemas.microsoft.com/office/drawing/2014/main" id="{899AED00-E11B-461C-97AE-062DF567E88B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7" name="R3-zh-65-rect">
              <a:extLst>
                <a:ext uri="{FF2B5EF4-FFF2-40B4-BE49-F238E27FC236}">
                  <a16:creationId xmlns:a16="http://schemas.microsoft.com/office/drawing/2014/main" id="{CFAF4396-3B76-46E2-ADCD-9D47AFE8F631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8" name="R3-zh-66-rect">
              <a:extLst>
                <a:ext uri="{FF2B5EF4-FFF2-40B4-BE49-F238E27FC236}">
                  <a16:creationId xmlns:a16="http://schemas.microsoft.com/office/drawing/2014/main" id="{3DF9A549-2C08-4980-9B62-9E6554A35423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9" name="R3-zh-67-rect">
              <a:extLst>
                <a:ext uri="{FF2B5EF4-FFF2-40B4-BE49-F238E27FC236}">
                  <a16:creationId xmlns:a16="http://schemas.microsoft.com/office/drawing/2014/main" id="{0DD1FEC9-0A23-4F26-AD90-FBC0B262D35A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0" name="R3-zh-68-rect">
              <a:extLst>
                <a:ext uri="{FF2B5EF4-FFF2-40B4-BE49-F238E27FC236}">
                  <a16:creationId xmlns:a16="http://schemas.microsoft.com/office/drawing/2014/main" id="{9F997B96-1C4D-4D4A-A47C-492DA3D5BFCC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1" name="R3-zh-69-rect">
              <a:extLst>
                <a:ext uri="{FF2B5EF4-FFF2-40B4-BE49-F238E27FC236}">
                  <a16:creationId xmlns:a16="http://schemas.microsoft.com/office/drawing/2014/main" id="{05752C7A-F400-4897-A818-6B7919B074B4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2" name="R3-zh-70-rect">
              <a:extLst>
                <a:ext uri="{FF2B5EF4-FFF2-40B4-BE49-F238E27FC236}">
                  <a16:creationId xmlns:a16="http://schemas.microsoft.com/office/drawing/2014/main" id="{82DD0519-4799-408F-81F0-719812650B98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3" name="R3-zh-71-rect">
              <a:extLst>
                <a:ext uri="{FF2B5EF4-FFF2-40B4-BE49-F238E27FC236}">
                  <a16:creationId xmlns:a16="http://schemas.microsoft.com/office/drawing/2014/main" id="{B5F59844-346C-4E62-86F6-4EEA59F7F0A2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4" name="R3-zh-72-rect">
              <a:extLst>
                <a:ext uri="{FF2B5EF4-FFF2-40B4-BE49-F238E27FC236}">
                  <a16:creationId xmlns:a16="http://schemas.microsoft.com/office/drawing/2014/main" id="{179C6F00-4260-4E08-8308-271B5B9292DC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5" name="R3-zh-73-rect">
              <a:extLst>
                <a:ext uri="{FF2B5EF4-FFF2-40B4-BE49-F238E27FC236}">
                  <a16:creationId xmlns:a16="http://schemas.microsoft.com/office/drawing/2014/main" id="{98D71385-8F1F-479D-B9EF-8588B67EBE97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6" name="R3-zh-74-rect">
              <a:extLst>
                <a:ext uri="{FF2B5EF4-FFF2-40B4-BE49-F238E27FC236}">
                  <a16:creationId xmlns:a16="http://schemas.microsoft.com/office/drawing/2014/main" id="{5762DC84-161B-430F-8F32-F28DFD2C662A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7" name="R3-zh-75-rect">
              <a:extLst>
                <a:ext uri="{FF2B5EF4-FFF2-40B4-BE49-F238E27FC236}">
                  <a16:creationId xmlns:a16="http://schemas.microsoft.com/office/drawing/2014/main" id="{5575520F-DACD-4B3E-AEDC-63BC7826289B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8" name="R3-zh-76-rect">
              <a:extLst>
                <a:ext uri="{FF2B5EF4-FFF2-40B4-BE49-F238E27FC236}">
                  <a16:creationId xmlns:a16="http://schemas.microsoft.com/office/drawing/2014/main" id="{97B7DE59-E94F-42CB-B91E-9EF173A356C4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9" name="R3-zh-77-rect">
              <a:extLst>
                <a:ext uri="{FF2B5EF4-FFF2-40B4-BE49-F238E27FC236}">
                  <a16:creationId xmlns:a16="http://schemas.microsoft.com/office/drawing/2014/main" id="{FFD99E79-2E23-422D-AAC4-B57156B2E160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0" name="R3-zh-78-rect">
              <a:extLst>
                <a:ext uri="{FF2B5EF4-FFF2-40B4-BE49-F238E27FC236}">
                  <a16:creationId xmlns:a16="http://schemas.microsoft.com/office/drawing/2014/main" id="{481EE441-0870-4B57-BB90-0852C3B76A83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1" name="R3-zh-79-rect">
              <a:extLst>
                <a:ext uri="{FF2B5EF4-FFF2-40B4-BE49-F238E27FC236}">
                  <a16:creationId xmlns:a16="http://schemas.microsoft.com/office/drawing/2014/main" id="{134B2CDF-7703-4566-85C1-5BC0169528AC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2" name="R3-zh-80-rect">
              <a:extLst>
                <a:ext uri="{FF2B5EF4-FFF2-40B4-BE49-F238E27FC236}">
                  <a16:creationId xmlns:a16="http://schemas.microsoft.com/office/drawing/2014/main" id="{BC179B9E-9112-485B-9EB3-38051390DA52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3" name="R3-zh-81-rect">
              <a:extLst>
                <a:ext uri="{FF2B5EF4-FFF2-40B4-BE49-F238E27FC236}">
                  <a16:creationId xmlns:a16="http://schemas.microsoft.com/office/drawing/2014/main" id="{B57C335E-8A98-4C1D-AD09-86BBDF8413E9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4" name="R3-zh-82-rect">
              <a:extLst>
                <a:ext uri="{FF2B5EF4-FFF2-40B4-BE49-F238E27FC236}">
                  <a16:creationId xmlns:a16="http://schemas.microsoft.com/office/drawing/2014/main" id="{9B4EF74A-B02F-4E13-AA75-F22A2716BC45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5" name="R3-zh-83-rect">
              <a:extLst>
                <a:ext uri="{FF2B5EF4-FFF2-40B4-BE49-F238E27FC236}">
                  <a16:creationId xmlns:a16="http://schemas.microsoft.com/office/drawing/2014/main" id="{EF53CB19-6F49-4888-89B9-D8CABC2C282E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6" name="R3-zh-84-rect">
              <a:extLst>
                <a:ext uri="{FF2B5EF4-FFF2-40B4-BE49-F238E27FC236}">
                  <a16:creationId xmlns:a16="http://schemas.microsoft.com/office/drawing/2014/main" id="{6C60C98D-EE8D-4F30-BB24-61E7C69B7D52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7" name="R3-zh-85-rect">
              <a:extLst>
                <a:ext uri="{FF2B5EF4-FFF2-40B4-BE49-F238E27FC236}">
                  <a16:creationId xmlns:a16="http://schemas.microsoft.com/office/drawing/2014/main" id="{20E25815-3281-4A70-B641-2593CC1288DE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8" name="R3-zh-86-rect">
              <a:extLst>
                <a:ext uri="{FF2B5EF4-FFF2-40B4-BE49-F238E27FC236}">
                  <a16:creationId xmlns:a16="http://schemas.microsoft.com/office/drawing/2014/main" id="{3CBB306A-C5CB-4A91-9699-8C76330FE94B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9" name="R3-zh-87-rect">
              <a:extLst>
                <a:ext uri="{FF2B5EF4-FFF2-40B4-BE49-F238E27FC236}">
                  <a16:creationId xmlns:a16="http://schemas.microsoft.com/office/drawing/2014/main" id="{815CFBD9-AA27-45EE-AC5D-FB3B5CDAFE70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90" name="R3-zh-88-rect">
              <a:extLst>
                <a:ext uri="{FF2B5EF4-FFF2-40B4-BE49-F238E27FC236}">
                  <a16:creationId xmlns:a16="http://schemas.microsoft.com/office/drawing/2014/main" id="{CC56D938-6170-4F2A-B8AF-A641E455E428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91" name="R3-zh-89-rect">
              <a:extLst>
                <a:ext uri="{FF2B5EF4-FFF2-40B4-BE49-F238E27FC236}">
                  <a16:creationId xmlns:a16="http://schemas.microsoft.com/office/drawing/2014/main" id="{8E444C2B-11A8-43E0-A250-BF4E349260E4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92" name="R3-zh-90-text">
              <a:extLst>
                <a:ext uri="{FF2B5EF4-FFF2-40B4-BE49-F238E27FC236}">
                  <a16:creationId xmlns:a16="http://schemas.microsoft.com/office/drawing/2014/main" id="{22670D4C-287A-4564-949E-38A015AB21CF}"/>
                </a:ext>
              </a:extLst>
            </p:cNvPr>
            <p:cNvSpPr>
              <a:spLocks noGrp="1"/>
            </p:cNvSpPr>
            <p:nvPr/>
          </p:nvSpPr>
          <p:spPr>
            <a:xfrm>
              <a:off x="304514" y="1997583"/>
              <a:ext cx="1048322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token × 128维</a:t>
              </a:r>
            </a:p>
          </p:txBody>
        </p:sp>
        <p:sp>
          <p:nvSpPr>
            <p:cNvPr id="5093" name="R3-zh-91-text">
              <a:extLst>
                <a:ext uri="{FF2B5EF4-FFF2-40B4-BE49-F238E27FC236}">
                  <a16:creationId xmlns:a16="http://schemas.microsoft.com/office/drawing/2014/main" id="{762DFF37-9744-4A26-AD30-77A112C9A0BF}"/>
                </a:ext>
              </a:extLst>
            </p:cNvPr>
            <p:cNvSpPr>
              <a:spLocks noGrp="1"/>
            </p:cNvSpPr>
            <p:nvPr/>
          </p:nvSpPr>
          <p:spPr>
            <a:xfrm>
              <a:off x="382524" y="2216658"/>
              <a:ext cx="892302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缓存保持原维</a:t>
              </a:r>
            </a:p>
          </p:txBody>
        </p:sp>
        <p:sp>
          <p:nvSpPr>
            <p:cNvPr id="5094" name="R3-zh-92-polyline">
              <a:extLst>
                <a:ext uri="{FF2B5EF4-FFF2-40B4-BE49-F238E27FC236}">
                  <a16:creationId xmlns:a16="http://schemas.microsoft.com/office/drawing/2014/main" id="{7C9533D7-F118-4C64-B45F-AD854B097493}"/>
                </a:ext>
              </a:extLst>
            </p:cNvPr>
            <p:cNvSpPr>
              <a:spLocks noGrp="1"/>
            </p:cNvSpPr>
            <p:nvPr/>
          </p:nvSpPr>
          <p:spPr>
            <a:xfrm>
              <a:off x="476250" y="695325"/>
              <a:ext cx="1800225" cy="447675"/>
            </a:xfrm>
            <a:custGeom>
              <a:pathLst>
                <a:path w="1800225" h="447675">
                  <a:moveTo>
                    <a:pt x="0" y="266700"/>
                  </a:moveTo>
                  <a:lnTo>
                    <a:pt x="0" y="0"/>
                  </a:lnTo>
                  <a:lnTo>
                    <a:pt x="1171575" y="0"/>
                  </a:lnTo>
                  <a:lnTo>
                    <a:pt x="1171575" y="447675"/>
                  </a:lnTo>
                  <a:lnTo>
                    <a:pt x="1800225" y="447675"/>
                  </a:lnTo>
                </a:path>
              </a:pathLst>
            </a:custGeom>
            <a:noFill/>
            <a:ln w="13335">
              <a:solidFill>
                <a:srgbClr val="424A50"/>
              </a:solidFill>
              <a:prstDash val="solid"/>
            </a:ln>
          </p:spPr>
        </p:sp>
        <p:sp>
          <p:nvSpPr>
            <p:cNvPr id="5095" name="R3-zh-92-polyline-arrow">
              <a:extLst>
                <a:ext uri="{FF2B5EF4-FFF2-40B4-BE49-F238E27FC236}">
                  <a16:creationId xmlns:a16="http://schemas.microsoft.com/office/drawing/2014/main" id="{84E980FB-BF6C-4BAA-8B92-F3508E342F14}"/>
                </a:ext>
              </a:extLst>
            </p:cNvPr>
            <p:cNvSpPr>
              <a:spLocks noGrp="1"/>
            </p:cNvSpPr>
            <p:nvPr/>
          </p:nvSpPr>
          <p:spPr>
            <a:xfrm>
              <a:off x="2228850" y="1120140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096" name="R3-zh-93-polyline">
              <a:extLst>
                <a:ext uri="{FF2B5EF4-FFF2-40B4-BE49-F238E27FC236}">
                  <a16:creationId xmlns:a16="http://schemas.microsoft.com/office/drawing/2014/main" id="{50A8AEBD-112F-4937-AD9B-870565022EF2}"/>
                </a:ext>
              </a:extLst>
            </p:cNvPr>
            <p:cNvSpPr>
              <a:spLocks noGrp="1"/>
            </p:cNvSpPr>
            <p:nvPr/>
          </p:nvSpPr>
          <p:spPr>
            <a:xfrm>
              <a:off x="1876425" y="466725"/>
              <a:ext cx="400050" cy="466725"/>
            </a:xfrm>
            <a:custGeom>
              <a:pathLst>
                <a:path w="400050" h="466725">
                  <a:moveTo>
                    <a:pt x="0" y="0"/>
                  </a:moveTo>
                  <a:lnTo>
                    <a:pt x="0" y="466725"/>
                  </a:lnTo>
                  <a:lnTo>
                    <a:pt x="400050" y="46672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097" name="R3-zh-93-polyline-arrow">
              <a:extLst>
                <a:ext uri="{FF2B5EF4-FFF2-40B4-BE49-F238E27FC236}">
                  <a16:creationId xmlns:a16="http://schemas.microsoft.com/office/drawing/2014/main" id="{2D265DEF-623A-4C41-9390-8220697F885D}"/>
                </a:ext>
              </a:extLst>
            </p:cNvPr>
            <p:cNvSpPr>
              <a:spLocks noGrp="1"/>
            </p:cNvSpPr>
            <p:nvPr/>
          </p:nvSpPr>
          <p:spPr>
            <a:xfrm>
              <a:off x="2228850" y="910590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098" name="R3-zh-94-text">
              <a:extLst>
                <a:ext uri="{FF2B5EF4-FFF2-40B4-BE49-F238E27FC236}">
                  <a16:creationId xmlns:a16="http://schemas.microsoft.com/office/drawing/2014/main" id="{494B2A8B-2A74-4ADD-88ED-F09DC1A2C260}"/>
                </a:ext>
              </a:extLst>
            </p:cNvPr>
            <p:cNvSpPr>
              <a:spLocks noGrp="1"/>
            </p:cNvSpPr>
            <p:nvPr/>
          </p:nvSpPr>
          <p:spPr>
            <a:xfrm>
              <a:off x="2361438" y="720852"/>
              <a:ext cx="1182624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共享32坐标表示</a:t>
              </a:r>
            </a:p>
          </p:txBody>
        </p:sp>
        <p:sp>
          <p:nvSpPr>
            <p:cNvPr id="5099" name="R3-zh-95-rect">
              <a:extLst>
                <a:ext uri="{FF2B5EF4-FFF2-40B4-BE49-F238E27FC236}">
                  <a16:creationId xmlns:a16="http://schemas.microsoft.com/office/drawing/2014/main" id="{343AEEF0-E598-40EC-BCE9-EFEDBA042C33}"/>
                </a:ext>
              </a:extLst>
            </p:cNvPr>
            <p:cNvSpPr>
              <a:spLocks noGrp="1"/>
            </p:cNvSpPr>
            <p:nvPr/>
          </p:nvSpPr>
          <p:spPr>
            <a:xfrm>
              <a:off x="2400300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0" name="R3-zh-96-rect">
              <a:extLst>
                <a:ext uri="{FF2B5EF4-FFF2-40B4-BE49-F238E27FC236}">
                  <a16:creationId xmlns:a16="http://schemas.microsoft.com/office/drawing/2014/main" id="{2EACB1A7-D78D-4FD1-B6C4-E808EA93B7EB}"/>
                </a:ext>
              </a:extLst>
            </p:cNvPr>
            <p:cNvSpPr>
              <a:spLocks noGrp="1"/>
            </p:cNvSpPr>
            <p:nvPr/>
          </p:nvSpPr>
          <p:spPr>
            <a:xfrm>
              <a:off x="2524125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1" name="R3-zh-97-rect">
              <a:extLst>
                <a:ext uri="{FF2B5EF4-FFF2-40B4-BE49-F238E27FC236}">
                  <a16:creationId xmlns:a16="http://schemas.microsoft.com/office/drawing/2014/main" id="{99284100-622D-44EA-9CFF-94BB800E4FD2}"/>
                </a:ext>
              </a:extLst>
            </p:cNvPr>
            <p:cNvSpPr>
              <a:spLocks noGrp="1"/>
            </p:cNvSpPr>
            <p:nvPr/>
          </p:nvSpPr>
          <p:spPr>
            <a:xfrm>
              <a:off x="2647950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2" name="R3-zh-98-rect">
              <a:extLst>
                <a:ext uri="{FF2B5EF4-FFF2-40B4-BE49-F238E27FC236}">
                  <a16:creationId xmlns:a16="http://schemas.microsoft.com/office/drawing/2014/main" id="{D02498DA-B8E8-4E04-98CB-A966A3FBD693}"/>
                </a:ext>
              </a:extLst>
            </p:cNvPr>
            <p:cNvSpPr>
              <a:spLocks noGrp="1"/>
            </p:cNvSpPr>
            <p:nvPr/>
          </p:nvSpPr>
          <p:spPr>
            <a:xfrm>
              <a:off x="2771775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3" name="R3-zh-99-rect">
              <a:extLst>
                <a:ext uri="{FF2B5EF4-FFF2-40B4-BE49-F238E27FC236}">
                  <a16:creationId xmlns:a16="http://schemas.microsoft.com/office/drawing/2014/main" id="{4879BF1A-0F83-4241-9FE3-C7440A4A25C5}"/>
                </a:ext>
              </a:extLst>
            </p:cNvPr>
            <p:cNvSpPr>
              <a:spLocks noGrp="1"/>
            </p:cNvSpPr>
            <p:nvPr/>
          </p:nvSpPr>
          <p:spPr>
            <a:xfrm>
              <a:off x="2895600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4" name="R3-zh-100-rect">
              <a:extLst>
                <a:ext uri="{FF2B5EF4-FFF2-40B4-BE49-F238E27FC236}">
                  <a16:creationId xmlns:a16="http://schemas.microsoft.com/office/drawing/2014/main" id="{D9D48AA1-94B0-4845-B883-3075391E2538}"/>
                </a:ext>
              </a:extLst>
            </p:cNvPr>
            <p:cNvSpPr>
              <a:spLocks noGrp="1"/>
            </p:cNvSpPr>
            <p:nvPr/>
          </p:nvSpPr>
          <p:spPr>
            <a:xfrm>
              <a:off x="3019425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5" name="R3-zh-101-rect">
              <a:extLst>
                <a:ext uri="{FF2B5EF4-FFF2-40B4-BE49-F238E27FC236}">
                  <a16:creationId xmlns:a16="http://schemas.microsoft.com/office/drawing/2014/main" id="{DE64E6B7-0B68-4A24-B4E2-64C6F1BE2DF5}"/>
                </a:ext>
              </a:extLst>
            </p:cNvPr>
            <p:cNvSpPr>
              <a:spLocks noGrp="1"/>
            </p:cNvSpPr>
            <p:nvPr/>
          </p:nvSpPr>
          <p:spPr>
            <a:xfrm>
              <a:off x="3143250" y="1000125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06" name="R3-zh-102-rect">
              <a:extLst>
                <a:ext uri="{FF2B5EF4-FFF2-40B4-BE49-F238E27FC236}">
                  <a16:creationId xmlns:a16="http://schemas.microsoft.com/office/drawing/2014/main" id="{150E6759-26D0-4253-836C-B720A6978833}"/>
                </a:ext>
              </a:extLst>
            </p:cNvPr>
            <p:cNvSpPr>
              <a:spLocks noGrp="1"/>
            </p:cNvSpPr>
            <p:nvPr/>
          </p:nvSpPr>
          <p:spPr>
            <a:xfrm>
              <a:off x="3267075" y="1000125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07" name="R3-zh-103-rect">
              <a:extLst>
                <a:ext uri="{FF2B5EF4-FFF2-40B4-BE49-F238E27FC236}">
                  <a16:creationId xmlns:a16="http://schemas.microsoft.com/office/drawing/2014/main" id="{9F8F277D-42E5-49C5-9B79-11DB6F08AE3A}"/>
                </a:ext>
              </a:extLst>
            </p:cNvPr>
            <p:cNvSpPr>
              <a:spLocks noGrp="1"/>
            </p:cNvSpPr>
            <p:nvPr/>
          </p:nvSpPr>
          <p:spPr>
            <a:xfrm>
              <a:off x="2400300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8" name="R3-zh-104-rect">
              <a:extLst>
                <a:ext uri="{FF2B5EF4-FFF2-40B4-BE49-F238E27FC236}">
                  <a16:creationId xmlns:a16="http://schemas.microsoft.com/office/drawing/2014/main" id="{C7C2FA88-F2BE-4AF7-AF85-F6C25A02C5D0}"/>
                </a:ext>
              </a:extLst>
            </p:cNvPr>
            <p:cNvSpPr>
              <a:spLocks noGrp="1"/>
            </p:cNvSpPr>
            <p:nvPr/>
          </p:nvSpPr>
          <p:spPr>
            <a:xfrm>
              <a:off x="2524125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9" name="R3-zh-105-rect">
              <a:extLst>
                <a:ext uri="{FF2B5EF4-FFF2-40B4-BE49-F238E27FC236}">
                  <a16:creationId xmlns:a16="http://schemas.microsoft.com/office/drawing/2014/main" id="{FB33DE6A-3E41-4944-9144-201F821ADE82}"/>
                </a:ext>
              </a:extLst>
            </p:cNvPr>
            <p:cNvSpPr>
              <a:spLocks noGrp="1"/>
            </p:cNvSpPr>
            <p:nvPr/>
          </p:nvSpPr>
          <p:spPr>
            <a:xfrm>
              <a:off x="2647950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0" name="R3-zh-106-rect">
              <a:extLst>
                <a:ext uri="{FF2B5EF4-FFF2-40B4-BE49-F238E27FC236}">
                  <a16:creationId xmlns:a16="http://schemas.microsoft.com/office/drawing/2014/main" id="{80A79A24-01B8-43CF-8120-5AFB55E28368}"/>
                </a:ext>
              </a:extLst>
            </p:cNvPr>
            <p:cNvSpPr>
              <a:spLocks noGrp="1"/>
            </p:cNvSpPr>
            <p:nvPr/>
          </p:nvSpPr>
          <p:spPr>
            <a:xfrm>
              <a:off x="2771775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1" name="R3-zh-107-rect">
              <a:extLst>
                <a:ext uri="{FF2B5EF4-FFF2-40B4-BE49-F238E27FC236}">
                  <a16:creationId xmlns:a16="http://schemas.microsoft.com/office/drawing/2014/main" id="{714E0699-072F-4926-A8C6-5710CCF236DF}"/>
                </a:ext>
              </a:extLst>
            </p:cNvPr>
            <p:cNvSpPr>
              <a:spLocks noGrp="1"/>
            </p:cNvSpPr>
            <p:nvPr/>
          </p:nvSpPr>
          <p:spPr>
            <a:xfrm>
              <a:off x="2895600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2" name="R3-zh-108-rect">
              <a:extLst>
                <a:ext uri="{FF2B5EF4-FFF2-40B4-BE49-F238E27FC236}">
                  <a16:creationId xmlns:a16="http://schemas.microsoft.com/office/drawing/2014/main" id="{C61D3E16-6A87-4EB8-9913-AE211E9E4748}"/>
                </a:ext>
              </a:extLst>
            </p:cNvPr>
            <p:cNvSpPr>
              <a:spLocks noGrp="1"/>
            </p:cNvSpPr>
            <p:nvPr/>
          </p:nvSpPr>
          <p:spPr>
            <a:xfrm>
              <a:off x="3019425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3" name="R3-zh-109-rect">
              <a:extLst>
                <a:ext uri="{FF2B5EF4-FFF2-40B4-BE49-F238E27FC236}">
                  <a16:creationId xmlns:a16="http://schemas.microsoft.com/office/drawing/2014/main" id="{D64D5B4B-9D4F-455B-83EC-85757F13C887}"/>
                </a:ext>
              </a:extLst>
            </p:cNvPr>
            <p:cNvSpPr>
              <a:spLocks noGrp="1"/>
            </p:cNvSpPr>
            <p:nvPr/>
          </p:nvSpPr>
          <p:spPr>
            <a:xfrm>
              <a:off x="3143250" y="1200150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14" name="R3-zh-110-rect">
              <a:extLst>
                <a:ext uri="{FF2B5EF4-FFF2-40B4-BE49-F238E27FC236}">
                  <a16:creationId xmlns:a16="http://schemas.microsoft.com/office/drawing/2014/main" id="{9CE50274-9E9F-497D-A5D3-6C42880FF990}"/>
                </a:ext>
              </a:extLst>
            </p:cNvPr>
            <p:cNvSpPr>
              <a:spLocks noGrp="1"/>
            </p:cNvSpPr>
            <p:nvPr/>
          </p:nvSpPr>
          <p:spPr>
            <a:xfrm>
              <a:off x="3267075" y="1200150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15" name="R3-zh-111-polyline">
              <a:extLst>
                <a:ext uri="{FF2B5EF4-FFF2-40B4-BE49-F238E27FC236}">
                  <a16:creationId xmlns:a16="http://schemas.microsoft.com/office/drawing/2014/main" id="{31B4E87C-9371-4B5F-8DA6-D0E4F322BBE1}"/>
                </a:ext>
              </a:extLst>
            </p:cNvPr>
            <p:cNvSpPr>
              <a:spLocks noGrp="1"/>
            </p:cNvSpPr>
            <p:nvPr/>
          </p:nvSpPr>
          <p:spPr>
            <a:xfrm>
              <a:off x="3190875" y="1095375"/>
              <a:ext cx="9525" cy="104775"/>
            </a:xfrm>
            <a:custGeom>
              <a:pathLst>
                <a:path w="9525" h="104775">
                  <a:moveTo>
                    <a:pt x="0" y="0"/>
                  </a:moveTo>
                  <a:lnTo>
                    <a:pt x="0" y="104775"/>
                  </a:lnTo>
                </a:path>
              </a:pathLst>
            </a:custGeom>
            <a:noFill/>
            <a:ln w="7620">
              <a:solidFill>
                <a:srgbClr val="424A50"/>
              </a:solidFill>
              <a:prstDash val="solid"/>
            </a:ln>
          </p:spPr>
        </p:sp>
        <p:sp>
          <p:nvSpPr>
            <p:cNvPr id="5116" name="R3-zh-112-polyline">
              <a:extLst>
                <a:ext uri="{FF2B5EF4-FFF2-40B4-BE49-F238E27FC236}">
                  <a16:creationId xmlns:a16="http://schemas.microsoft.com/office/drawing/2014/main" id="{89E5C7AF-485A-47E5-8825-FB5A44D22788}"/>
                </a:ext>
              </a:extLst>
            </p:cNvPr>
            <p:cNvSpPr>
              <a:spLocks noGrp="1"/>
            </p:cNvSpPr>
            <p:nvPr/>
          </p:nvSpPr>
          <p:spPr>
            <a:xfrm>
              <a:off x="3314700" y="1095375"/>
              <a:ext cx="9525" cy="104775"/>
            </a:xfrm>
            <a:custGeom>
              <a:pathLst>
                <a:path w="9525" h="104775">
                  <a:moveTo>
                    <a:pt x="0" y="0"/>
                  </a:moveTo>
                  <a:lnTo>
                    <a:pt x="0" y="104775"/>
                  </a:lnTo>
                </a:path>
              </a:pathLst>
            </a:custGeom>
            <a:noFill/>
            <a:ln w="7620">
              <a:solidFill>
                <a:srgbClr val="424A50"/>
              </a:solidFill>
              <a:prstDash val="solid"/>
            </a:ln>
          </p:spPr>
        </p:sp>
        <p:sp>
          <p:nvSpPr>
            <p:cNvPr id="5117" name="R3-zh-113-text">
              <a:extLst>
                <a:ext uri="{FF2B5EF4-FFF2-40B4-BE49-F238E27FC236}">
                  <a16:creationId xmlns:a16="http://schemas.microsoft.com/office/drawing/2014/main" id="{C6729CB7-58AA-4E02-9B5E-D69439EA05A1}"/>
                </a:ext>
              </a:extLst>
            </p:cNvPr>
            <p:cNvSpPr>
              <a:spLocks noGrp="1"/>
            </p:cNvSpPr>
            <p:nvPr/>
          </p:nvSpPr>
          <p:spPr>
            <a:xfrm>
              <a:off x="2387156" y="1340549"/>
              <a:ext cx="1131189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16对完整RoPE坐标</a:t>
              </a:r>
            </a:p>
          </p:txBody>
        </p:sp>
        <p:sp>
          <p:nvSpPr>
            <p:cNvPr id="5118" name="R3-zh-114-text">
              <a:extLst>
                <a:ext uri="{FF2B5EF4-FFF2-40B4-BE49-F238E27FC236}">
                  <a16:creationId xmlns:a16="http://schemas.microsoft.com/office/drawing/2014/main" id="{02E8D129-85CA-40E7-9CF1-124BE6CC0F91}"/>
                </a:ext>
              </a:extLst>
            </p:cNvPr>
            <p:cNvSpPr>
              <a:spLocks noGrp="1"/>
            </p:cNvSpPr>
            <p:nvPr/>
          </p:nvSpPr>
          <p:spPr>
            <a:xfrm>
              <a:off x="4369308" y="739902"/>
              <a:ext cx="976884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L1 · 页预算</a:t>
              </a:r>
            </a:p>
          </p:txBody>
        </p:sp>
        <p:sp>
          <p:nvSpPr>
            <p:cNvPr id="5119" name="R3-zh-115-text">
              <a:extLst>
                <a:ext uri="{FF2B5EF4-FFF2-40B4-BE49-F238E27FC236}">
                  <a16:creationId xmlns:a16="http://schemas.microsoft.com/office/drawing/2014/main" id="{C32345D4-B639-4185-99EC-A5404D5B4676}"/>
                </a:ext>
              </a:extLst>
            </p:cNvPr>
            <p:cNvSpPr>
              <a:spLocks noGrp="1"/>
            </p:cNvSpPr>
            <p:nvPr/>
          </p:nvSpPr>
          <p:spPr>
            <a:xfrm>
              <a:off x="4225862" y="987362"/>
              <a:ext cx="406527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近区</a:t>
              </a:r>
            </a:p>
          </p:txBody>
        </p:sp>
        <p:sp>
          <p:nvSpPr>
            <p:cNvPr id="5120" name="R3-zh-116-text">
              <a:extLst>
                <a:ext uri="{FF2B5EF4-FFF2-40B4-BE49-F238E27FC236}">
                  <a16:creationId xmlns:a16="http://schemas.microsoft.com/office/drawing/2014/main" id="{FF76D77C-12A2-42EA-9564-6C0FA2284260}"/>
                </a:ext>
              </a:extLst>
            </p:cNvPr>
            <p:cNvSpPr>
              <a:spLocks noGrp="1"/>
            </p:cNvSpPr>
            <p:nvPr/>
          </p:nvSpPr>
          <p:spPr>
            <a:xfrm>
              <a:off x="6111812" y="987362"/>
              <a:ext cx="406527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远区</a:t>
              </a:r>
            </a:p>
          </p:txBody>
        </p:sp>
        <p:sp>
          <p:nvSpPr>
            <p:cNvPr id="5121" name="R3-zh-117-polyline">
              <a:extLst>
                <a:ext uri="{FF2B5EF4-FFF2-40B4-BE49-F238E27FC236}">
                  <a16:creationId xmlns:a16="http://schemas.microsoft.com/office/drawing/2014/main" id="{06533083-85C4-4537-A916-C8ED20E9F44B}"/>
                </a:ext>
              </a:extLst>
            </p:cNvPr>
            <p:cNvSpPr>
              <a:spLocks noGrp="1"/>
            </p:cNvSpPr>
            <p:nvPr/>
          </p:nvSpPr>
          <p:spPr>
            <a:xfrm>
              <a:off x="3467100" y="1095375"/>
              <a:ext cx="476250" cy="342900"/>
            </a:xfrm>
            <a:custGeom>
              <a:pathLst>
                <a:path w="476250" h="342900">
                  <a:moveTo>
                    <a:pt x="0" y="0"/>
                  </a:moveTo>
                  <a:lnTo>
                    <a:pt x="314325" y="0"/>
                  </a:lnTo>
                  <a:lnTo>
                    <a:pt x="314325" y="342900"/>
                  </a:lnTo>
                  <a:lnTo>
                    <a:pt x="476250" y="34290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22" name="R3-zh-117-polyline-arrow">
              <a:extLst>
                <a:ext uri="{FF2B5EF4-FFF2-40B4-BE49-F238E27FC236}">
                  <a16:creationId xmlns:a16="http://schemas.microsoft.com/office/drawing/2014/main" id="{050BC48A-B1D8-413C-AC93-E6C474621B96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14154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23" name="R3-zh-118-polyline">
              <a:extLst>
                <a:ext uri="{FF2B5EF4-FFF2-40B4-BE49-F238E27FC236}">
                  <a16:creationId xmlns:a16="http://schemas.microsoft.com/office/drawing/2014/main" id="{86283A2B-7606-4068-8287-4D32E3DC3500}"/>
                </a:ext>
              </a:extLst>
            </p:cNvPr>
            <p:cNvSpPr>
              <a:spLocks noGrp="1"/>
            </p:cNvSpPr>
            <p:nvPr/>
          </p:nvSpPr>
          <p:spPr>
            <a:xfrm>
              <a:off x="3781425" y="971550"/>
              <a:ext cx="2038350" cy="466725"/>
            </a:xfrm>
            <a:custGeom>
              <a:pathLst>
                <a:path w="2038350" h="466725">
                  <a:moveTo>
                    <a:pt x="0" y="123825"/>
                  </a:moveTo>
                  <a:lnTo>
                    <a:pt x="0" y="0"/>
                  </a:lnTo>
                  <a:lnTo>
                    <a:pt x="1895475" y="0"/>
                  </a:lnTo>
                  <a:lnTo>
                    <a:pt x="1895475" y="466725"/>
                  </a:lnTo>
                  <a:lnTo>
                    <a:pt x="2038350" y="46672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24" name="R3-zh-118-polyline-arrow">
              <a:extLst>
                <a:ext uri="{FF2B5EF4-FFF2-40B4-BE49-F238E27FC236}">
                  <a16:creationId xmlns:a16="http://schemas.microsoft.com/office/drawing/2014/main" id="{0F093FF2-A275-4F68-8108-E9063435764D}"/>
                </a:ext>
              </a:extLst>
            </p:cNvPr>
            <p:cNvSpPr>
              <a:spLocks noGrp="1"/>
            </p:cNvSpPr>
            <p:nvPr/>
          </p:nvSpPr>
          <p:spPr>
            <a:xfrm>
              <a:off x="5772150" y="14154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25" name="R3-zh-119-rect">
              <a:extLst>
                <a:ext uri="{FF2B5EF4-FFF2-40B4-BE49-F238E27FC236}">
                  <a16:creationId xmlns:a16="http://schemas.microsoft.com/office/drawing/2014/main" id="{93F01F6C-D4BA-41B7-A6FB-6A48CB335FD4}"/>
                </a:ext>
              </a:extLst>
            </p:cNvPr>
            <p:cNvSpPr>
              <a:spLocks noGrp="1"/>
            </p:cNvSpPr>
            <p:nvPr/>
          </p:nvSpPr>
          <p:spPr>
            <a:xfrm>
              <a:off x="394335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26" name="R3-zh-120-polyline">
              <a:extLst>
                <a:ext uri="{FF2B5EF4-FFF2-40B4-BE49-F238E27FC236}">
                  <a16:creationId xmlns:a16="http://schemas.microsoft.com/office/drawing/2014/main" id="{E6A922B4-39D5-4F81-A892-F8306CC54056}"/>
                </a:ext>
              </a:extLst>
            </p:cNvPr>
            <p:cNvSpPr>
              <a:spLocks noGrp="1"/>
            </p:cNvSpPr>
            <p:nvPr/>
          </p:nvSpPr>
          <p:spPr>
            <a:xfrm>
              <a:off x="398145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27" name="R3-zh-121-polyline">
              <a:extLst>
                <a:ext uri="{FF2B5EF4-FFF2-40B4-BE49-F238E27FC236}">
                  <a16:creationId xmlns:a16="http://schemas.microsoft.com/office/drawing/2014/main" id="{18801370-D52A-4B04-BA77-069A1059E3AF}"/>
                </a:ext>
              </a:extLst>
            </p:cNvPr>
            <p:cNvSpPr>
              <a:spLocks noGrp="1"/>
            </p:cNvSpPr>
            <p:nvPr/>
          </p:nvSpPr>
          <p:spPr>
            <a:xfrm>
              <a:off x="398145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28" name="R3-zh-122-polyline">
              <a:extLst>
                <a:ext uri="{FF2B5EF4-FFF2-40B4-BE49-F238E27FC236}">
                  <a16:creationId xmlns:a16="http://schemas.microsoft.com/office/drawing/2014/main" id="{EA0F5DC5-C5B3-48C5-BF4E-694995E544FE}"/>
                </a:ext>
              </a:extLst>
            </p:cNvPr>
            <p:cNvSpPr>
              <a:spLocks noGrp="1"/>
            </p:cNvSpPr>
            <p:nvPr/>
          </p:nvSpPr>
          <p:spPr>
            <a:xfrm>
              <a:off x="398145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29" name="R3-zh-123-rect">
              <a:extLst>
                <a:ext uri="{FF2B5EF4-FFF2-40B4-BE49-F238E27FC236}">
                  <a16:creationId xmlns:a16="http://schemas.microsoft.com/office/drawing/2014/main" id="{5F0B08CD-F3D6-453C-A6FF-554B4E11B548}"/>
                </a:ext>
              </a:extLst>
            </p:cNvPr>
            <p:cNvSpPr>
              <a:spLocks noGrp="1"/>
            </p:cNvSpPr>
            <p:nvPr/>
          </p:nvSpPr>
          <p:spPr>
            <a:xfrm>
              <a:off x="421957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30" name="R3-zh-124-polyline">
              <a:extLst>
                <a:ext uri="{FF2B5EF4-FFF2-40B4-BE49-F238E27FC236}">
                  <a16:creationId xmlns:a16="http://schemas.microsoft.com/office/drawing/2014/main" id="{06A7567A-C024-4A6E-AA1B-B81B81D5EB99}"/>
                </a:ext>
              </a:extLst>
            </p:cNvPr>
            <p:cNvSpPr>
              <a:spLocks noGrp="1"/>
            </p:cNvSpPr>
            <p:nvPr/>
          </p:nvSpPr>
          <p:spPr>
            <a:xfrm>
              <a:off x="425767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1" name="R3-zh-125-polyline">
              <a:extLst>
                <a:ext uri="{FF2B5EF4-FFF2-40B4-BE49-F238E27FC236}">
                  <a16:creationId xmlns:a16="http://schemas.microsoft.com/office/drawing/2014/main" id="{E082FDA4-CB41-40D1-A7A6-CC6FFC67F2E6}"/>
                </a:ext>
              </a:extLst>
            </p:cNvPr>
            <p:cNvSpPr>
              <a:spLocks noGrp="1"/>
            </p:cNvSpPr>
            <p:nvPr/>
          </p:nvSpPr>
          <p:spPr>
            <a:xfrm>
              <a:off x="425767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2" name="R3-zh-126-polyline">
              <a:extLst>
                <a:ext uri="{FF2B5EF4-FFF2-40B4-BE49-F238E27FC236}">
                  <a16:creationId xmlns:a16="http://schemas.microsoft.com/office/drawing/2014/main" id="{3A444E82-98FA-4BF3-B10B-E2BC33232A71}"/>
                </a:ext>
              </a:extLst>
            </p:cNvPr>
            <p:cNvSpPr>
              <a:spLocks noGrp="1"/>
            </p:cNvSpPr>
            <p:nvPr/>
          </p:nvSpPr>
          <p:spPr>
            <a:xfrm>
              <a:off x="425767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3" name="R3-zh-127-rect">
              <a:extLst>
                <a:ext uri="{FF2B5EF4-FFF2-40B4-BE49-F238E27FC236}">
                  <a16:creationId xmlns:a16="http://schemas.microsoft.com/office/drawing/2014/main" id="{333C3ACB-EB1C-4201-9BBC-A25616ED0058}"/>
                </a:ext>
              </a:extLst>
            </p:cNvPr>
            <p:cNvSpPr>
              <a:spLocks noGrp="1"/>
            </p:cNvSpPr>
            <p:nvPr/>
          </p:nvSpPr>
          <p:spPr>
            <a:xfrm>
              <a:off x="449580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34" name="R3-zh-128-polyline">
              <a:extLst>
                <a:ext uri="{FF2B5EF4-FFF2-40B4-BE49-F238E27FC236}">
                  <a16:creationId xmlns:a16="http://schemas.microsoft.com/office/drawing/2014/main" id="{EF0327CA-1860-4DA5-8E02-9D57E903AE4D}"/>
                </a:ext>
              </a:extLst>
            </p:cNvPr>
            <p:cNvSpPr>
              <a:spLocks noGrp="1"/>
            </p:cNvSpPr>
            <p:nvPr/>
          </p:nvSpPr>
          <p:spPr>
            <a:xfrm>
              <a:off x="453390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35" name="R3-zh-129-polyline">
              <a:extLst>
                <a:ext uri="{FF2B5EF4-FFF2-40B4-BE49-F238E27FC236}">
                  <a16:creationId xmlns:a16="http://schemas.microsoft.com/office/drawing/2014/main" id="{3E4DAE1F-A0BB-4F6A-8C7F-2FEEA445F04B}"/>
                </a:ext>
              </a:extLst>
            </p:cNvPr>
            <p:cNvSpPr>
              <a:spLocks noGrp="1"/>
            </p:cNvSpPr>
            <p:nvPr/>
          </p:nvSpPr>
          <p:spPr>
            <a:xfrm>
              <a:off x="453390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36" name="R3-zh-130-polyline">
              <a:extLst>
                <a:ext uri="{FF2B5EF4-FFF2-40B4-BE49-F238E27FC236}">
                  <a16:creationId xmlns:a16="http://schemas.microsoft.com/office/drawing/2014/main" id="{0B5ECEAC-E1C5-4042-9999-A3A09E71D42B}"/>
                </a:ext>
              </a:extLst>
            </p:cNvPr>
            <p:cNvSpPr>
              <a:spLocks noGrp="1"/>
            </p:cNvSpPr>
            <p:nvPr/>
          </p:nvSpPr>
          <p:spPr>
            <a:xfrm>
              <a:off x="453390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37" name="R3-zh-131-rect">
              <a:extLst>
                <a:ext uri="{FF2B5EF4-FFF2-40B4-BE49-F238E27FC236}">
                  <a16:creationId xmlns:a16="http://schemas.microsoft.com/office/drawing/2014/main" id="{3AAF348A-9EC4-47AF-8988-9E3F1B45297D}"/>
                </a:ext>
              </a:extLst>
            </p:cNvPr>
            <p:cNvSpPr>
              <a:spLocks noGrp="1"/>
            </p:cNvSpPr>
            <p:nvPr/>
          </p:nvSpPr>
          <p:spPr>
            <a:xfrm>
              <a:off x="477202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38" name="R3-zh-132-polyline">
              <a:extLst>
                <a:ext uri="{FF2B5EF4-FFF2-40B4-BE49-F238E27FC236}">
                  <a16:creationId xmlns:a16="http://schemas.microsoft.com/office/drawing/2014/main" id="{03A0242B-795C-4D75-AD69-21F1F5382D4B}"/>
                </a:ext>
              </a:extLst>
            </p:cNvPr>
            <p:cNvSpPr>
              <a:spLocks noGrp="1"/>
            </p:cNvSpPr>
            <p:nvPr/>
          </p:nvSpPr>
          <p:spPr>
            <a:xfrm>
              <a:off x="481012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9" name="R3-zh-133-polyline">
              <a:extLst>
                <a:ext uri="{FF2B5EF4-FFF2-40B4-BE49-F238E27FC236}">
                  <a16:creationId xmlns:a16="http://schemas.microsoft.com/office/drawing/2014/main" id="{6215F088-DAF7-4E83-AA0F-E462FE621BB2}"/>
                </a:ext>
              </a:extLst>
            </p:cNvPr>
            <p:cNvSpPr>
              <a:spLocks noGrp="1"/>
            </p:cNvSpPr>
            <p:nvPr/>
          </p:nvSpPr>
          <p:spPr>
            <a:xfrm>
              <a:off x="481012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0" name="R3-zh-134-polyline">
              <a:extLst>
                <a:ext uri="{FF2B5EF4-FFF2-40B4-BE49-F238E27FC236}">
                  <a16:creationId xmlns:a16="http://schemas.microsoft.com/office/drawing/2014/main" id="{4A353F07-3CFC-4CD9-8896-C2FEF0187D09}"/>
                </a:ext>
              </a:extLst>
            </p:cNvPr>
            <p:cNvSpPr>
              <a:spLocks noGrp="1"/>
            </p:cNvSpPr>
            <p:nvPr/>
          </p:nvSpPr>
          <p:spPr>
            <a:xfrm>
              <a:off x="481012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1" name="R3-zh-135-rect">
              <a:extLst>
                <a:ext uri="{FF2B5EF4-FFF2-40B4-BE49-F238E27FC236}">
                  <a16:creationId xmlns:a16="http://schemas.microsoft.com/office/drawing/2014/main" id="{2FBFF225-C637-407D-8A3C-7F9E0E59F6DC}"/>
                </a:ext>
              </a:extLst>
            </p:cNvPr>
            <p:cNvSpPr>
              <a:spLocks noGrp="1"/>
            </p:cNvSpPr>
            <p:nvPr/>
          </p:nvSpPr>
          <p:spPr>
            <a:xfrm>
              <a:off x="581977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42" name="R3-zh-136-polyline">
              <a:extLst>
                <a:ext uri="{FF2B5EF4-FFF2-40B4-BE49-F238E27FC236}">
                  <a16:creationId xmlns:a16="http://schemas.microsoft.com/office/drawing/2014/main" id="{C9B91A7D-7D84-4A52-874B-CCFE49A332CE}"/>
                </a:ext>
              </a:extLst>
            </p:cNvPr>
            <p:cNvSpPr>
              <a:spLocks noGrp="1"/>
            </p:cNvSpPr>
            <p:nvPr/>
          </p:nvSpPr>
          <p:spPr>
            <a:xfrm>
              <a:off x="585787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3" name="R3-zh-137-polyline">
              <a:extLst>
                <a:ext uri="{FF2B5EF4-FFF2-40B4-BE49-F238E27FC236}">
                  <a16:creationId xmlns:a16="http://schemas.microsoft.com/office/drawing/2014/main" id="{E4B7A50D-8BFA-43EC-80EC-D32EB8690821}"/>
                </a:ext>
              </a:extLst>
            </p:cNvPr>
            <p:cNvSpPr>
              <a:spLocks noGrp="1"/>
            </p:cNvSpPr>
            <p:nvPr/>
          </p:nvSpPr>
          <p:spPr>
            <a:xfrm>
              <a:off x="585787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4" name="R3-zh-138-polyline">
              <a:extLst>
                <a:ext uri="{FF2B5EF4-FFF2-40B4-BE49-F238E27FC236}">
                  <a16:creationId xmlns:a16="http://schemas.microsoft.com/office/drawing/2014/main" id="{9A937375-898B-4AF5-9CA2-0F0C842514BD}"/>
                </a:ext>
              </a:extLst>
            </p:cNvPr>
            <p:cNvSpPr>
              <a:spLocks noGrp="1"/>
            </p:cNvSpPr>
            <p:nvPr/>
          </p:nvSpPr>
          <p:spPr>
            <a:xfrm>
              <a:off x="585787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5" name="R3-zh-139-rect">
              <a:extLst>
                <a:ext uri="{FF2B5EF4-FFF2-40B4-BE49-F238E27FC236}">
                  <a16:creationId xmlns:a16="http://schemas.microsoft.com/office/drawing/2014/main" id="{27D6DC40-7F1D-42A4-B10E-A701DDD2A1D2}"/>
                </a:ext>
              </a:extLst>
            </p:cNvPr>
            <p:cNvSpPr>
              <a:spLocks noGrp="1"/>
            </p:cNvSpPr>
            <p:nvPr/>
          </p:nvSpPr>
          <p:spPr>
            <a:xfrm>
              <a:off x="609600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46" name="R3-zh-140-polyline">
              <a:extLst>
                <a:ext uri="{FF2B5EF4-FFF2-40B4-BE49-F238E27FC236}">
                  <a16:creationId xmlns:a16="http://schemas.microsoft.com/office/drawing/2014/main" id="{9C1EF6C0-6000-447E-84C1-998E79CA1E28}"/>
                </a:ext>
              </a:extLst>
            </p:cNvPr>
            <p:cNvSpPr>
              <a:spLocks noGrp="1"/>
            </p:cNvSpPr>
            <p:nvPr/>
          </p:nvSpPr>
          <p:spPr>
            <a:xfrm>
              <a:off x="613410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47" name="R3-zh-141-polyline">
              <a:extLst>
                <a:ext uri="{FF2B5EF4-FFF2-40B4-BE49-F238E27FC236}">
                  <a16:creationId xmlns:a16="http://schemas.microsoft.com/office/drawing/2014/main" id="{B7E0DBE0-5A9F-4902-8777-1285067FCDDF}"/>
                </a:ext>
              </a:extLst>
            </p:cNvPr>
            <p:cNvSpPr>
              <a:spLocks noGrp="1"/>
            </p:cNvSpPr>
            <p:nvPr/>
          </p:nvSpPr>
          <p:spPr>
            <a:xfrm>
              <a:off x="613410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48" name="R3-zh-142-polyline">
              <a:extLst>
                <a:ext uri="{FF2B5EF4-FFF2-40B4-BE49-F238E27FC236}">
                  <a16:creationId xmlns:a16="http://schemas.microsoft.com/office/drawing/2014/main" id="{C891FE4D-F21D-4E92-AF32-E4F93727AFFB}"/>
                </a:ext>
              </a:extLst>
            </p:cNvPr>
            <p:cNvSpPr>
              <a:spLocks noGrp="1"/>
            </p:cNvSpPr>
            <p:nvPr/>
          </p:nvSpPr>
          <p:spPr>
            <a:xfrm>
              <a:off x="613410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49" name="R3-zh-143-rect">
              <a:extLst>
                <a:ext uri="{FF2B5EF4-FFF2-40B4-BE49-F238E27FC236}">
                  <a16:creationId xmlns:a16="http://schemas.microsoft.com/office/drawing/2014/main" id="{DAA5EDA7-96E1-4407-8BE9-C57FEC4135BB}"/>
                </a:ext>
              </a:extLst>
            </p:cNvPr>
            <p:cNvSpPr>
              <a:spLocks noGrp="1"/>
            </p:cNvSpPr>
            <p:nvPr/>
          </p:nvSpPr>
          <p:spPr>
            <a:xfrm>
              <a:off x="637222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50" name="R3-zh-144-polyline">
              <a:extLst>
                <a:ext uri="{FF2B5EF4-FFF2-40B4-BE49-F238E27FC236}">
                  <a16:creationId xmlns:a16="http://schemas.microsoft.com/office/drawing/2014/main" id="{AA354094-57D1-43BA-8357-786B894B8659}"/>
                </a:ext>
              </a:extLst>
            </p:cNvPr>
            <p:cNvSpPr>
              <a:spLocks noGrp="1"/>
            </p:cNvSpPr>
            <p:nvPr/>
          </p:nvSpPr>
          <p:spPr>
            <a:xfrm>
              <a:off x="641032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51" name="R3-zh-145-polyline">
              <a:extLst>
                <a:ext uri="{FF2B5EF4-FFF2-40B4-BE49-F238E27FC236}">
                  <a16:creationId xmlns:a16="http://schemas.microsoft.com/office/drawing/2014/main" id="{22CAE100-D235-4709-9125-288EAF88B0F6}"/>
                </a:ext>
              </a:extLst>
            </p:cNvPr>
            <p:cNvSpPr>
              <a:spLocks noGrp="1"/>
            </p:cNvSpPr>
            <p:nvPr/>
          </p:nvSpPr>
          <p:spPr>
            <a:xfrm>
              <a:off x="641032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52" name="R3-zh-146-polyline">
              <a:extLst>
                <a:ext uri="{FF2B5EF4-FFF2-40B4-BE49-F238E27FC236}">
                  <a16:creationId xmlns:a16="http://schemas.microsoft.com/office/drawing/2014/main" id="{2359CAF2-CD0D-4D43-8A1A-D47F1711C68B}"/>
                </a:ext>
              </a:extLst>
            </p:cNvPr>
            <p:cNvSpPr>
              <a:spLocks noGrp="1"/>
            </p:cNvSpPr>
            <p:nvPr/>
          </p:nvSpPr>
          <p:spPr>
            <a:xfrm>
              <a:off x="641032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53" name="R3-zh-147-rect">
              <a:extLst>
                <a:ext uri="{FF2B5EF4-FFF2-40B4-BE49-F238E27FC236}">
                  <a16:creationId xmlns:a16="http://schemas.microsoft.com/office/drawing/2014/main" id="{9DECE9F2-BAF9-472E-9B1C-B0E3E9A41E4A}"/>
                </a:ext>
              </a:extLst>
            </p:cNvPr>
            <p:cNvSpPr>
              <a:spLocks noGrp="1"/>
            </p:cNvSpPr>
            <p:nvPr/>
          </p:nvSpPr>
          <p:spPr>
            <a:xfrm>
              <a:off x="664845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54" name="R3-zh-148-polyline">
              <a:extLst>
                <a:ext uri="{FF2B5EF4-FFF2-40B4-BE49-F238E27FC236}">
                  <a16:creationId xmlns:a16="http://schemas.microsoft.com/office/drawing/2014/main" id="{05A2FF47-6EB5-4B1A-8CF6-14BF1ECC1B4D}"/>
                </a:ext>
              </a:extLst>
            </p:cNvPr>
            <p:cNvSpPr>
              <a:spLocks noGrp="1"/>
            </p:cNvSpPr>
            <p:nvPr/>
          </p:nvSpPr>
          <p:spPr>
            <a:xfrm>
              <a:off x="668655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55" name="R3-zh-149-polyline">
              <a:extLst>
                <a:ext uri="{FF2B5EF4-FFF2-40B4-BE49-F238E27FC236}">
                  <a16:creationId xmlns:a16="http://schemas.microsoft.com/office/drawing/2014/main" id="{6D12CB0D-7085-442E-914A-7511F77AD269}"/>
                </a:ext>
              </a:extLst>
            </p:cNvPr>
            <p:cNvSpPr>
              <a:spLocks noGrp="1"/>
            </p:cNvSpPr>
            <p:nvPr/>
          </p:nvSpPr>
          <p:spPr>
            <a:xfrm>
              <a:off x="668655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56" name="R3-zh-150-polyline">
              <a:extLst>
                <a:ext uri="{FF2B5EF4-FFF2-40B4-BE49-F238E27FC236}">
                  <a16:creationId xmlns:a16="http://schemas.microsoft.com/office/drawing/2014/main" id="{1615FA8A-A97B-4269-9D32-199C92E9741D}"/>
                </a:ext>
              </a:extLst>
            </p:cNvPr>
            <p:cNvSpPr>
              <a:spLocks noGrp="1"/>
            </p:cNvSpPr>
            <p:nvPr/>
          </p:nvSpPr>
          <p:spPr>
            <a:xfrm>
              <a:off x="668655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57" name="R3-zh-151-text">
              <a:extLst>
                <a:ext uri="{FF2B5EF4-FFF2-40B4-BE49-F238E27FC236}">
                  <a16:creationId xmlns:a16="http://schemas.microsoft.com/office/drawing/2014/main" id="{369B8213-BB15-4C17-BE24-7EC7BBF21CC5}"/>
                </a:ext>
              </a:extLst>
            </p:cNvPr>
            <p:cNvSpPr>
              <a:spLocks noGrp="1"/>
            </p:cNvSpPr>
            <p:nvPr/>
          </p:nvSpPr>
          <p:spPr>
            <a:xfrm>
              <a:off x="4098608" y="1740408"/>
              <a:ext cx="756285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均值键打分</a:t>
              </a:r>
            </a:p>
          </p:txBody>
        </p:sp>
        <p:sp>
          <p:nvSpPr>
            <p:cNvPr id="5158" name="R3-zh-152-text">
              <a:extLst>
                <a:ext uri="{FF2B5EF4-FFF2-40B4-BE49-F238E27FC236}">
                  <a16:creationId xmlns:a16="http://schemas.microsoft.com/office/drawing/2014/main" id="{492AC1D5-C4E0-4BDC-B867-6554E2F45C7E}"/>
                </a:ext>
              </a:extLst>
            </p:cNvPr>
            <p:cNvSpPr>
              <a:spLocks noGrp="1"/>
            </p:cNvSpPr>
            <p:nvPr/>
          </p:nvSpPr>
          <p:spPr>
            <a:xfrm>
              <a:off x="5916549" y="1740408"/>
              <a:ext cx="892302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符号感知极值</a:t>
              </a:r>
            </a:p>
          </p:txBody>
        </p:sp>
        <p:sp>
          <p:nvSpPr>
            <p:cNvPr id="5159" name="R3-zh-153-text">
              <a:extLst>
                <a:ext uri="{FF2B5EF4-FFF2-40B4-BE49-F238E27FC236}">
                  <a16:creationId xmlns:a16="http://schemas.microsoft.com/office/drawing/2014/main" id="{9A57548C-B874-48D6-BF9E-716C3699A3BF}"/>
                </a:ext>
              </a:extLst>
            </p:cNvPr>
            <p:cNvSpPr>
              <a:spLocks noGrp="1"/>
            </p:cNvSpPr>
            <p:nvPr/>
          </p:nvSpPr>
          <p:spPr>
            <a:xfrm>
              <a:off x="3748564" y="1940433"/>
              <a:ext cx="1456373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组均值 → TopK(P_n)</a:t>
              </a:r>
            </a:p>
          </p:txBody>
        </p:sp>
        <p:sp>
          <p:nvSpPr>
            <p:cNvPr id="5160" name="R3-zh-154-text">
              <a:extLst>
                <a:ext uri="{FF2B5EF4-FFF2-40B4-BE49-F238E27FC236}">
                  <a16:creationId xmlns:a16="http://schemas.microsoft.com/office/drawing/2014/main" id="{8523B38A-C31D-473F-8F16-0EADE4DB8706}"/>
                </a:ext>
              </a:extLst>
            </p:cNvPr>
            <p:cNvSpPr>
              <a:spLocks noGrp="1"/>
            </p:cNvSpPr>
            <p:nvPr/>
          </p:nvSpPr>
          <p:spPr>
            <a:xfrm>
              <a:off x="5634514" y="1940433"/>
              <a:ext cx="1456373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组均值 → TopK(P_f)</a:t>
              </a:r>
            </a:p>
          </p:txBody>
        </p:sp>
        <p:sp>
          <p:nvSpPr>
            <p:cNvPr id="5161" name="R3-zh-155-polyline">
              <a:extLst>
                <a:ext uri="{FF2B5EF4-FFF2-40B4-BE49-F238E27FC236}">
                  <a16:creationId xmlns:a16="http://schemas.microsoft.com/office/drawing/2014/main" id="{BA8C4095-7F53-442C-9E4A-1E228CB338DC}"/>
                </a:ext>
              </a:extLst>
            </p:cNvPr>
            <p:cNvSpPr>
              <a:spLocks noGrp="1"/>
            </p:cNvSpPr>
            <p:nvPr/>
          </p:nvSpPr>
          <p:spPr>
            <a:xfrm>
              <a:off x="4476750" y="2152650"/>
              <a:ext cx="590550" cy="180975"/>
            </a:xfrm>
            <a:custGeom>
              <a:pathLst>
                <a:path w="590550" h="180975">
                  <a:moveTo>
                    <a:pt x="0" y="0"/>
                  </a:moveTo>
                  <a:lnTo>
                    <a:pt x="0" y="180975"/>
                  </a:lnTo>
                  <a:lnTo>
                    <a:pt x="590550" y="18097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62" name="R3-zh-155-polyline-arrow">
              <a:extLst>
                <a:ext uri="{FF2B5EF4-FFF2-40B4-BE49-F238E27FC236}">
                  <a16:creationId xmlns:a16="http://schemas.microsoft.com/office/drawing/2014/main" id="{5A20638B-DE5B-499B-9E8B-A6E0127196D6}"/>
                </a:ext>
              </a:extLst>
            </p:cNvPr>
            <p:cNvSpPr>
              <a:spLocks noGrp="1"/>
            </p:cNvSpPr>
            <p:nvPr/>
          </p:nvSpPr>
          <p:spPr>
            <a:xfrm>
              <a:off x="5019675" y="231076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63" name="R3-zh-156-polyline">
              <a:extLst>
                <a:ext uri="{FF2B5EF4-FFF2-40B4-BE49-F238E27FC236}">
                  <a16:creationId xmlns:a16="http://schemas.microsoft.com/office/drawing/2014/main" id="{A111A5FA-A2B2-4565-875B-12FF2386A02E}"/>
                </a:ext>
              </a:extLst>
            </p:cNvPr>
            <p:cNvSpPr>
              <a:spLocks noGrp="1"/>
            </p:cNvSpPr>
            <p:nvPr/>
          </p:nvSpPr>
          <p:spPr>
            <a:xfrm>
              <a:off x="5667375" y="2152650"/>
              <a:ext cx="695325" cy="180975"/>
            </a:xfrm>
            <a:custGeom>
              <a:pathLst>
                <a:path w="695325" h="180975">
                  <a:moveTo>
                    <a:pt x="695325" y="0"/>
                  </a:moveTo>
                  <a:lnTo>
                    <a:pt x="695325" y="180975"/>
                  </a:lnTo>
                  <a:lnTo>
                    <a:pt x="0" y="18097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64" name="R3-zh-156-polyline-arrow">
              <a:extLst>
                <a:ext uri="{FF2B5EF4-FFF2-40B4-BE49-F238E27FC236}">
                  <a16:creationId xmlns:a16="http://schemas.microsoft.com/office/drawing/2014/main" id="{683D6C9C-20B5-4968-BDF9-0EF8EC070C75}"/>
                </a:ext>
              </a:extLst>
            </p:cNvPr>
            <p:cNvSpPr>
              <a:spLocks noGrp="1"/>
            </p:cNvSpPr>
            <p:nvPr/>
          </p:nvSpPr>
          <p:spPr>
            <a:xfrm>
              <a:off x="5667375" y="2310765"/>
              <a:ext cx="47625" cy="45720"/>
            </a:xfrm>
            <a:custGeom>
              <a:pathLst>
                <a:path w="47625" h="45720">
                  <a:moveTo>
                    <a:pt x="0" y="22860"/>
                  </a:moveTo>
                  <a:lnTo>
                    <a:pt x="47625" y="45720"/>
                  </a:lnTo>
                  <a:lnTo>
                    <a:pt x="47625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65" name="R3-zh-157-rect">
              <a:extLst>
                <a:ext uri="{FF2B5EF4-FFF2-40B4-BE49-F238E27FC236}">
                  <a16:creationId xmlns:a16="http://schemas.microsoft.com/office/drawing/2014/main" id="{C39BF332-F169-41AA-9394-4B9E40CEB889}"/>
                </a:ext>
              </a:extLst>
            </p:cNvPr>
            <p:cNvSpPr>
              <a:spLocks noGrp="1"/>
            </p:cNvSpPr>
            <p:nvPr/>
          </p:nvSpPr>
          <p:spPr>
            <a:xfrm>
              <a:off x="50673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66" name="R3-zh-158-rect">
              <a:extLst>
                <a:ext uri="{FF2B5EF4-FFF2-40B4-BE49-F238E27FC236}">
                  <a16:creationId xmlns:a16="http://schemas.microsoft.com/office/drawing/2014/main" id="{A221B949-765A-40AF-9F65-2CC7C86AA1CA}"/>
                </a:ext>
              </a:extLst>
            </p:cNvPr>
            <p:cNvSpPr>
              <a:spLocks noGrp="1"/>
            </p:cNvSpPr>
            <p:nvPr/>
          </p:nvSpPr>
          <p:spPr>
            <a:xfrm>
              <a:off x="51435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67" name="R3-zh-159-rect">
              <a:extLst>
                <a:ext uri="{FF2B5EF4-FFF2-40B4-BE49-F238E27FC236}">
                  <a16:creationId xmlns:a16="http://schemas.microsoft.com/office/drawing/2014/main" id="{B89510BB-24F3-4D7B-A7E0-7B35F45990EF}"/>
                </a:ext>
              </a:extLst>
            </p:cNvPr>
            <p:cNvSpPr>
              <a:spLocks noGrp="1"/>
            </p:cNvSpPr>
            <p:nvPr/>
          </p:nvSpPr>
          <p:spPr>
            <a:xfrm>
              <a:off x="52197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68" name="R3-zh-160-rect">
              <a:extLst>
                <a:ext uri="{FF2B5EF4-FFF2-40B4-BE49-F238E27FC236}">
                  <a16:creationId xmlns:a16="http://schemas.microsoft.com/office/drawing/2014/main" id="{905757F8-8BC8-4A6B-BB89-59173B2B6EAF}"/>
                </a:ext>
              </a:extLst>
            </p:cNvPr>
            <p:cNvSpPr>
              <a:spLocks noGrp="1"/>
            </p:cNvSpPr>
            <p:nvPr/>
          </p:nvSpPr>
          <p:spPr>
            <a:xfrm>
              <a:off x="52959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69" name="R3-zh-161-rect">
              <a:extLst>
                <a:ext uri="{FF2B5EF4-FFF2-40B4-BE49-F238E27FC236}">
                  <a16:creationId xmlns:a16="http://schemas.microsoft.com/office/drawing/2014/main" id="{0F9E2EB7-8427-47E1-A72A-F59562CC562C}"/>
                </a:ext>
              </a:extLst>
            </p:cNvPr>
            <p:cNvSpPr>
              <a:spLocks noGrp="1"/>
            </p:cNvSpPr>
            <p:nvPr/>
          </p:nvSpPr>
          <p:spPr>
            <a:xfrm>
              <a:off x="53721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70" name="R3-zh-162-rect">
              <a:extLst>
                <a:ext uri="{FF2B5EF4-FFF2-40B4-BE49-F238E27FC236}">
                  <a16:creationId xmlns:a16="http://schemas.microsoft.com/office/drawing/2014/main" id="{BF13846D-82CA-448C-87D6-33ADE2C620D1}"/>
                </a:ext>
              </a:extLst>
            </p:cNvPr>
            <p:cNvSpPr>
              <a:spLocks noGrp="1"/>
            </p:cNvSpPr>
            <p:nvPr/>
          </p:nvSpPr>
          <p:spPr>
            <a:xfrm>
              <a:off x="54483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71" name="R3-zh-163-rect">
              <a:extLst>
                <a:ext uri="{FF2B5EF4-FFF2-40B4-BE49-F238E27FC236}">
                  <a16:creationId xmlns:a16="http://schemas.microsoft.com/office/drawing/2014/main" id="{37BBE0B0-3F48-4BC5-A26A-B4881196BF4E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72" name="R3-zh-164-rect">
              <a:extLst>
                <a:ext uri="{FF2B5EF4-FFF2-40B4-BE49-F238E27FC236}">
                  <a16:creationId xmlns:a16="http://schemas.microsoft.com/office/drawing/2014/main" id="{A870E8CB-895F-4553-A964-16C67753C129}"/>
                </a:ext>
              </a:extLst>
            </p:cNvPr>
            <p:cNvSpPr>
              <a:spLocks noGrp="1"/>
            </p:cNvSpPr>
            <p:nvPr/>
          </p:nvSpPr>
          <p:spPr>
            <a:xfrm>
              <a:off x="56007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73" name="R3-zh-165-text">
              <a:extLst>
                <a:ext uri="{FF2B5EF4-FFF2-40B4-BE49-F238E27FC236}">
                  <a16:creationId xmlns:a16="http://schemas.microsoft.com/office/drawing/2014/main" id="{2BB9FAA2-EA0F-421C-9131-8DD1BE1099B3}"/>
                </a:ext>
              </a:extLst>
            </p:cNvPr>
            <p:cNvSpPr>
              <a:spLocks noGrp="1"/>
            </p:cNvSpPr>
            <p:nvPr/>
          </p:nvSpPr>
          <p:spPr>
            <a:xfrm>
              <a:off x="4984433" y="2464308"/>
              <a:ext cx="756285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共享页掩码</a:t>
              </a:r>
            </a:p>
          </p:txBody>
        </p:sp>
        <p:sp>
          <p:nvSpPr>
            <p:cNvPr id="5174" name="R3-zh-166-text">
              <a:extLst>
                <a:ext uri="{FF2B5EF4-FFF2-40B4-BE49-F238E27FC236}">
                  <a16:creationId xmlns:a16="http://schemas.microsoft.com/office/drawing/2014/main" id="{008BDF24-8E93-4BA3-B68E-B3B26E5A27C5}"/>
                </a:ext>
              </a:extLst>
            </p:cNvPr>
            <p:cNvSpPr>
              <a:spLocks noGrp="1"/>
            </p:cNvSpPr>
            <p:nvPr/>
          </p:nvSpPr>
          <p:spPr>
            <a:xfrm>
              <a:off x="4993577" y="2655189"/>
              <a:ext cx="737997" cy="16002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实色 = 保留</a:t>
              </a:r>
            </a:p>
          </p:txBody>
        </p:sp>
        <p:sp>
          <p:nvSpPr>
            <p:cNvPr id="5175" name="R3-zh-167-polyline">
              <a:extLst>
                <a:ext uri="{FF2B5EF4-FFF2-40B4-BE49-F238E27FC236}">
                  <a16:creationId xmlns:a16="http://schemas.microsoft.com/office/drawing/2014/main" id="{DCD26B91-8870-4A6E-99F1-D4AE34B84A9F}"/>
                </a:ext>
              </a:extLst>
            </p:cNvPr>
            <p:cNvSpPr>
              <a:spLocks noGrp="1"/>
            </p:cNvSpPr>
            <p:nvPr/>
          </p:nvSpPr>
          <p:spPr>
            <a:xfrm>
              <a:off x="2952750" y="1533525"/>
              <a:ext cx="9525" cy="1247775"/>
            </a:xfrm>
            <a:custGeom>
              <a:pathLst>
                <a:path w="9525" h="1247775">
                  <a:moveTo>
                    <a:pt x="0" y="0"/>
                  </a:moveTo>
                  <a:lnTo>
                    <a:pt x="0" y="124777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76" name="R3-zh-167-polyline-arrow">
              <a:extLst>
                <a:ext uri="{FF2B5EF4-FFF2-40B4-BE49-F238E27FC236}">
                  <a16:creationId xmlns:a16="http://schemas.microsoft.com/office/drawing/2014/main" id="{0081B6B6-3977-41DA-B0A8-0615B21E5B59}"/>
                </a:ext>
              </a:extLst>
            </p:cNvPr>
            <p:cNvSpPr>
              <a:spLocks noGrp="1"/>
            </p:cNvSpPr>
            <p:nvPr/>
          </p:nvSpPr>
          <p:spPr>
            <a:xfrm>
              <a:off x="2929890" y="2733675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77" name="R3-zh-168-text">
              <a:extLst>
                <a:ext uri="{FF2B5EF4-FFF2-40B4-BE49-F238E27FC236}">
                  <a16:creationId xmlns:a16="http://schemas.microsoft.com/office/drawing/2014/main" id="{0DA2E3FE-93C9-4429-AD22-0718F8B32C7E}"/>
                </a:ext>
              </a:extLst>
            </p:cNvPr>
            <p:cNvSpPr>
              <a:spLocks noGrp="1"/>
            </p:cNvSpPr>
            <p:nvPr/>
          </p:nvSpPr>
          <p:spPr>
            <a:xfrm>
              <a:off x="2248138" y="2797493"/>
              <a:ext cx="1409224" cy="2000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L2 · 全历史logits</a:t>
              </a:r>
            </a:p>
          </p:txBody>
        </p:sp>
        <p:sp>
          <p:nvSpPr>
            <p:cNvPr id="5178" name="R3-zh-169-text">
              <a:extLst>
                <a:ext uri="{FF2B5EF4-FFF2-40B4-BE49-F238E27FC236}">
                  <a16:creationId xmlns:a16="http://schemas.microsoft.com/office/drawing/2014/main" id="{50608302-3006-451E-8E40-396C23C4F5B3}"/>
                </a:ext>
              </a:extLst>
            </p:cNvPr>
            <p:cNvSpPr>
              <a:spLocks noGrp="1"/>
            </p:cNvSpPr>
            <p:nvPr/>
          </p:nvSpPr>
          <p:spPr>
            <a:xfrm>
              <a:off x="2337006" y="3007424"/>
              <a:ext cx="1231487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浮点QDQ · 1/√128</a:t>
              </a:r>
            </a:p>
          </p:txBody>
        </p:sp>
        <p:sp>
          <p:nvSpPr>
            <p:cNvPr id="5179" name="R3-zh-170-polyline">
              <a:extLst>
                <a:ext uri="{FF2B5EF4-FFF2-40B4-BE49-F238E27FC236}">
                  <a16:creationId xmlns:a16="http://schemas.microsoft.com/office/drawing/2014/main" id="{83E80924-7253-4E00-BD24-9D107B3E7D2E}"/>
                </a:ext>
              </a:extLst>
            </p:cNvPr>
            <p:cNvSpPr>
              <a:spLocks noGrp="1"/>
            </p:cNvSpPr>
            <p:nvPr/>
          </p:nvSpPr>
          <p:spPr>
            <a:xfrm>
              <a:off x="3762375" y="2943225"/>
              <a:ext cx="285750" cy="9525"/>
            </a:xfrm>
            <a:custGeom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0" name="R3-zh-170-polyline-arrow">
              <a:extLst>
                <a:ext uri="{FF2B5EF4-FFF2-40B4-BE49-F238E27FC236}">
                  <a16:creationId xmlns:a16="http://schemas.microsoft.com/office/drawing/2014/main" id="{4853E0AF-F86C-47B0-B240-02D3175534F1}"/>
                </a:ext>
              </a:extLst>
            </p:cNvPr>
            <p:cNvSpPr>
              <a:spLocks noGrp="1"/>
            </p:cNvSpPr>
            <p:nvPr/>
          </p:nvSpPr>
          <p:spPr>
            <a:xfrm>
              <a:off x="4000500" y="292036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81" name="R3-zh-171-text">
              <a:extLst>
                <a:ext uri="{FF2B5EF4-FFF2-40B4-BE49-F238E27FC236}">
                  <a16:creationId xmlns:a16="http://schemas.microsoft.com/office/drawing/2014/main" id="{29A75793-0C93-4C2F-AB1C-22D9C7AEB631}"/>
                </a:ext>
              </a:extLst>
            </p:cNvPr>
            <p:cNvSpPr>
              <a:spLocks noGrp="1"/>
            </p:cNvSpPr>
            <p:nvPr/>
          </p:nvSpPr>
          <p:spPr>
            <a:xfrm>
              <a:off x="4172236" y="2845308"/>
              <a:ext cx="2304478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掩码 → 逐Q softmax → KV组均值</a:t>
              </a:r>
            </a:p>
          </p:txBody>
        </p:sp>
        <p:sp>
          <p:nvSpPr>
            <p:cNvPr id="5182" name="R3-zh-172-polyline">
              <a:extLst>
                <a:ext uri="{FF2B5EF4-FFF2-40B4-BE49-F238E27FC236}">
                  <a16:creationId xmlns:a16="http://schemas.microsoft.com/office/drawing/2014/main" id="{F5872D7B-8415-4A75-B708-7AC13BD53905}"/>
                </a:ext>
              </a:extLst>
            </p:cNvPr>
            <p:cNvSpPr>
              <a:spLocks noGrp="1"/>
            </p:cNvSpPr>
            <p:nvPr/>
          </p:nvSpPr>
          <p:spPr>
            <a:xfrm>
              <a:off x="4095750" y="2409825"/>
              <a:ext cx="1266825" cy="438150"/>
            </a:xfrm>
            <a:custGeom>
              <a:pathLst>
                <a:path w="1266825" h="438150">
                  <a:moveTo>
                    <a:pt x="1266825" y="0"/>
                  </a:moveTo>
                  <a:lnTo>
                    <a:pt x="1266825" y="47625"/>
                  </a:lnTo>
                  <a:lnTo>
                    <a:pt x="0" y="47625"/>
                  </a:lnTo>
                  <a:lnTo>
                    <a:pt x="0" y="43815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3" name="R3-zh-172-polyline-arrow">
              <a:extLst>
                <a:ext uri="{FF2B5EF4-FFF2-40B4-BE49-F238E27FC236}">
                  <a16:creationId xmlns:a16="http://schemas.microsoft.com/office/drawing/2014/main" id="{4AE7C712-8530-47AE-9C5B-75B3831B9635}"/>
                </a:ext>
              </a:extLst>
            </p:cNvPr>
            <p:cNvSpPr>
              <a:spLocks noGrp="1"/>
            </p:cNvSpPr>
            <p:nvPr/>
          </p:nvSpPr>
          <p:spPr>
            <a:xfrm>
              <a:off x="4072890" y="2800350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84" name="R3-zh-173-polyline">
              <a:extLst>
                <a:ext uri="{FF2B5EF4-FFF2-40B4-BE49-F238E27FC236}">
                  <a16:creationId xmlns:a16="http://schemas.microsoft.com/office/drawing/2014/main" id="{5FD4CD1A-AEB2-4468-BE6F-307D570802AD}"/>
                </a:ext>
              </a:extLst>
            </p:cNvPr>
            <p:cNvSpPr>
              <a:spLocks noGrp="1"/>
            </p:cNvSpPr>
            <p:nvPr/>
          </p:nvSpPr>
          <p:spPr>
            <a:xfrm>
              <a:off x="5324475" y="3057525"/>
              <a:ext cx="9525" cy="190500"/>
            </a:xfrm>
            <a:custGeom>
              <a:pathLst>
                <a:path w="9525" h="190500">
                  <a:moveTo>
                    <a:pt x="0" y="0"/>
                  </a:moveTo>
                  <a:lnTo>
                    <a:pt x="0" y="19050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5" name="R3-zh-173-polyline-arrow">
              <a:extLst>
                <a:ext uri="{FF2B5EF4-FFF2-40B4-BE49-F238E27FC236}">
                  <a16:creationId xmlns:a16="http://schemas.microsoft.com/office/drawing/2014/main" id="{9EA985D1-4F17-481E-8F14-09A444405E07}"/>
                </a:ext>
              </a:extLst>
            </p:cNvPr>
            <p:cNvSpPr>
              <a:spLocks noGrp="1"/>
            </p:cNvSpPr>
            <p:nvPr/>
          </p:nvSpPr>
          <p:spPr>
            <a:xfrm>
              <a:off x="5301615" y="3200400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86" name="R3-zh-174-text">
              <a:extLst>
                <a:ext uri="{FF2B5EF4-FFF2-40B4-BE49-F238E27FC236}">
                  <a16:creationId xmlns:a16="http://schemas.microsoft.com/office/drawing/2014/main" id="{F6F77D4F-1278-4A5B-B7BF-7FA8ADBE08E7}"/>
                </a:ext>
              </a:extLst>
            </p:cNvPr>
            <p:cNvSpPr>
              <a:spLocks noGrp="1"/>
            </p:cNvSpPr>
            <p:nvPr/>
          </p:nvSpPr>
          <p:spPr>
            <a:xfrm>
              <a:off x="4262247" y="3254502"/>
              <a:ext cx="2124456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分区token TopK(k_n, k_f)</a:t>
              </a:r>
            </a:p>
          </p:txBody>
        </p:sp>
        <p:sp>
          <p:nvSpPr>
            <p:cNvPr id="5187" name="R3-zh-175-text">
              <a:extLst>
                <a:ext uri="{FF2B5EF4-FFF2-40B4-BE49-F238E27FC236}">
                  <a16:creationId xmlns:a16="http://schemas.microsoft.com/office/drawing/2014/main" id="{E0BD4592-1778-4DE4-A324-E2A4F1D25637}"/>
                </a:ext>
              </a:extLst>
            </p:cNvPr>
            <p:cNvSpPr>
              <a:spLocks noGrp="1"/>
            </p:cNvSpPr>
            <p:nvPr/>
          </p:nvSpPr>
          <p:spPr>
            <a:xfrm>
              <a:off x="2422589" y="3426333"/>
              <a:ext cx="1060323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前缀 ∪ 滑窗ID</a:t>
              </a:r>
            </a:p>
          </p:txBody>
        </p:sp>
        <p:sp>
          <p:nvSpPr>
            <p:cNvPr id="5188" name="R3-zh-176-polyline">
              <a:extLst>
                <a:ext uri="{FF2B5EF4-FFF2-40B4-BE49-F238E27FC236}">
                  <a16:creationId xmlns:a16="http://schemas.microsoft.com/office/drawing/2014/main" id="{860BE6B6-DF86-4E36-9AF4-90093484AE77}"/>
                </a:ext>
              </a:extLst>
            </p:cNvPr>
            <p:cNvSpPr>
              <a:spLocks noGrp="1"/>
            </p:cNvSpPr>
            <p:nvPr/>
          </p:nvSpPr>
          <p:spPr>
            <a:xfrm>
              <a:off x="3781425" y="3495675"/>
              <a:ext cx="2867025" cy="161925"/>
            </a:xfrm>
            <a:custGeom>
              <a:pathLst>
                <a:path w="2867025" h="161925">
                  <a:moveTo>
                    <a:pt x="0" y="28575"/>
                  </a:moveTo>
                  <a:lnTo>
                    <a:pt x="552450" y="28575"/>
                  </a:lnTo>
                  <a:lnTo>
                    <a:pt x="552450" y="161925"/>
                  </a:lnTo>
                  <a:lnTo>
                    <a:pt x="2867025" y="161925"/>
                  </a:lnTo>
                  <a:lnTo>
                    <a:pt x="2867025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9" name="R3-zh-176-polyline-arrow">
              <a:extLst>
                <a:ext uri="{FF2B5EF4-FFF2-40B4-BE49-F238E27FC236}">
                  <a16:creationId xmlns:a16="http://schemas.microsoft.com/office/drawing/2014/main" id="{CD0C548B-741B-4007-906B-1EEB9EDA60B3}"/>
                </a:ext>
              </a:extLst>
            </p:cNvPr>
            <p:cNvSpPr>
              <a:spLocks noGrp="1"/>
            </p:cNvSpPr>
            <p:nvPr/>
          </p:nvSpPr>
          <p:spPr>
            <a:xfrm>
              <a:off x="6625590" y="3495675"/>
              <a:ext cx="45720" cy="47625"/>
            </a:xfrm>
            <a:custGeom>
              <a:pathLst>
                <a:path w="45720" h="47625">
                  <a:moveTo>
                    <a:pt x="22860" y="0"/>
                  </a:moveTo>
                  <a:lnTo>
                    <a:pt x="0" y="47625"/>
                  </a:lnTo>
                  <a:lnTo>
                    <a:pt x="45720" y="47625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90" name="R3-zh-177-polyline">
              <a:extLst>
                <a:ext uri="{FF2B5EF4-FFF2-40B4-BE49-F238E27FC236}">
                  <a16:creationId xmlns:a16="http://schemas.microsoft.com/office/drawing/2014/main" id="{1FFB77A2-CFEF-4678-BCFC-7B449B215888}"/>
                </a:ext>
              </a:extLst>
            </p:cNvPr>
            <p:cNvSpPr>
              <a:spLocks noGrp="1"/>
            </p:cNvSpPr>
            <p:nvPr/>
          </p:nvSpPr>
          <p:spPr>
            <a:xfrm>
              <a:off x="6457950" y="3343275"/>
              <a:ext cx="142875" cy="9525"/>
            </a:xfrm>
            <a:custGeom>
              <a:pathLst>
                <a:path w="142875" h="9525">
                  <a:moveTo>
                    <a:pt x="0" y="0"/>
                  </a:moveTo>
                  <a:lnTo>
                    <a:pt x="142875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91" name="R3-zh-177-polyline-arrow">
              <a:extLst>
                <a:ext uri="{FF2B5EF4-FFF2-40B4-BE49-F238E27FC236}">
                  <a16:creationId xmlns:a16="http://schemas.microsoft.com/office/drawing/2014/main" id="{A39BA2B7-A68F-4096-A270-ED3FB650205E}"/>
                </a:ext>
              </a:extLst>
            </p:cNvPr>
            <p:cNvSpPr>
              <a:spLocks noGrp="1"/>
            </p:cNvSpPr>
            <p:nvPr/>
          </p:nvSpPr>
          <p:spPr>
            <a:xfrm>
              <a:off x="6553200" y="33204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92" name="R3-zh-178-text">
              <a:extLst>
                <a:ext uri="{FF2B5EF4-FFF2-40B4-BE49-F238E27FC236}">
                  <a16:creationId xmlns:a16="http://schemas.microsoft.com/office/drawing/2014/main" id="{B426F7B1-A75C-4177-97F0-659D5A324927}"/>
                </a:ext>
              </a:extLst>
            </p:cNvPr>
            <p:cNvSpPr>
              <a:spLocks noGrp="1"/>
            </p:cNvSpPr>
            <p:nvPr/>
          </p:nvSpPr>
          <p:spPr>
            <a:xfrm>
              <a:off x="6643116" y="3254883"/>
              <a:ext cx="620268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合并去重</a:t>
              </a:r>
            </a:p>
          </p:txBody>
        </p:sp>
        <p:sp>
          <p:nvSpPr>
            <p:cNvPr id="5193" name="R3-zh-179-text">
              <a:extLst>
                <a:ext uri="{FF2B5EF4-FFF2-40B4-BE49-F238E27FC236}">
                  <a16:creationId xmlns:a16="http://schemas.microsoft.com/office/drawing/2014/main" id="{EA4C5C30-F01F-44F5-B107-B32DD6281BD7}"/>
                </a:ext>
              </a:extLst>
            </p:cNvPr>
            <p:cNvSpPr>
              <a:spLocks noGrp="1"/>
            </p:cNvSpPr>
            <p:nvPr/>
          </p:nvSpPr>
          <p:spPr>
            <a:xfrm>
              <a:off x="6569678" y="3464624"/>
              <a:ext cx="767143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|IDs| ≤ K</a:t>
              </a:r>
            </a:p>
          </p:txBody>
        </p:sp>
        <p:sp>
          <p:nvSpPr>
            <p:cNvPr id="5194" name="R3-zh-180-polyline">
              <a:extLst>
                <a:ext uri="{FF2B5EF4-FFF2-40B4-BE49-F238E27FC236}">
                  <a16:creationId xmlns:a16="http://schemas.microsoft.com/office/drawing/2014/main" id="{29499C2A-452D-4379-B8CD-0771332A62ED}"/>
                </a:ext>
              </a:extLst>
            </p:cNvPr>
            <p:cNvSpPr>
              <a:spLocks noGrp="1"/>
            </p:cNvSpPr>
            <p:nvPr/>
          </p:nvSpPr>
          <p:spPr>
            <a:xfrm>
              <a:off x="7419975" y="1971675"/>
              <a:ext cx="561975" cy="1371600"/>
            </a:xfrm>
            <a:custGeom>
              <a:pathLst>
                <a:path w="561975" h="1371600">
                  <a:moveTo>
                    <a:pt x="0" y="1371600"/>
                  </a:moveTo>
                  <a:lnTo>
                    <a:pt x="266700" y="1371600"/>
                  </a:lnTo>
                  <a:lnTo>
                    <a:pt x="266700" y="0"/>
                  </a:lnTo>
                  <a:lnTo>
                    <a:pt x="561975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95" name="R3-zh-180-polyline-arrow">
              <a:extLst>
                <a:ext uri="{FF2B5EF4-FFF2-40B4-BE49-F238E27FC236}">
                  <a16:creationId xmlns:a16="http://schemas.microsoft.com/office/drawing/2014/main" id="{BA288E65-173D-480B-B398-894A7BAC4DE1}"/>
                </a:ext>
              </a:extLst>
            </p:cNvPr>
            <p:cNvSpPr>
              <a:spLocks noGrp="1"/>
            </p:cNvSpPr>
            <p:nvPr/>
          </p:nvSpPr>
          <p:spPr>
            <a:xfrm>
              <a:off x="7934325" y="19488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96" name="R3-zh-181-text">
              <a:extLst>
                <a:ext uri="{FF2B5EF4-FFF2-40B4-BE49-F238E27FC236}">
                  <a16:creationId xmlns:a16="http://schemas.microsoft.com/office/drawing/2014/main" id="{1CAC85C0-ABA9-4850-9643-1A8B6A8EBEE1}"/>
                </a:ext>
              </a:extLst>
            </p:cNvPr>
            <p:cNvSpPr>
              <a:spLocks noGrp="1"/>
            </p:cNvSpPr>
            <p:nvPr/>
          </p:nvSpPr>
          <p:spPr>
            <a:xfrm>
              <a:off x="7654195" y="1712024"/>
              <a:ext cx="217361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ID</a:t>
              </a:r>
            </a:p>
          </p:txBody>
        </p:sp>
        <p:sp>
          <p:nvSpPr>
            <p:cNvPr id="5197" name="R3-zh-182-rect">
              <a:extLst>
                <a:ext uri="{FF2B5EF4-FFF2-40B4-BE49-F238E27FC236}">
                  <a16:creationId xmlns:a16="http://schemas.microsoft.com/office/drawing/2014/main" id="{AD9ECAA2-7496-4505-B39B-F03C2683DA90}"/>
                </a:ext>
              </a:extLst>
            </p:cNvPr>
            <p:cNvSpPr>
              <a:spLocks noGrp="1"/>
            </p:cNvSpPr>
            <p:nvPr/>
          </p:nvSpPr>
          <p:spPr>
            <a:xfrm>
              <a:off x="7981950" y="1809750"/>
              <a:ext cx="1419225" cy="100012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88949D"/>
              </a:solidFill>
            </a:ln>
          </p:spPr>
        </p:sp>
        <p:sp>
          <p:nvSpPr>
            <p:cNvPr id="5198" name="R3-zh-183-text">
              <a:extLst>
                <a:ext uri="{FF2B5EF4-FFF2-40B4-BE49-F238E27FC236}">
                  <a16:creationId xmlns:a16="http://schemas.microsoft.com/office/drawing/2014/main" id="{1B92A9E6-3152-4A9D-87C1-382C8E219E9A}"/>
                </a:ext>
              </a:extLst>
            </p:cNvPr>
            <p:cNvSpPr>
              <a:spLocks noGrp="1"/>
            </p:cNvSpPr>
            <p:nvPr/>
          </p:nvSpPr>
          <p:spPr>
            <a:xfrm>
              <a:off x="8124111" y="1873568"/>
              <a:ext cx="1049179" cy="2000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所选K/V支持集</a:t>
              </a:r>
            </a:p>
          </p:txBody>
        </p:sp>
        <p:sp>
          <p:nvSpPr>
            <p:cNvPr id="5199" name="R3-zh-184-rect">
              <a:extLst>
                <a:ext uri="{FF2B5EF4-FFF2-40B4-BE49-F238E27FC236}">
                  <a16:creationId xmlns:a16="http://schemas.microsoft.com/office/drawing/2014/main" id="{5E250ACC-FDA6-469A-8823-F2A130F30270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0" name="R3-zh-185-rect">
              <a:extLst>
                <a:ext uri="{FF2B5EF4-FFF2-40B4-BE49-F238E27FC236}">
                  <a16:creationId xmlns:a16="http://schemas.microsoft.com/office/drawing/2014/main" id="{0C5FCD38-BBD2-43F2-B4DF-54E54E2FD3BE}"/>
                </a:ext>
              </a:extLst>
            </p:cNvPr>
            <p:cNvSpPr>
              <a:spLocks noGrp="1"/>
            </p:cNvSpPr>
            <p:nvPr/>
          </p:nvSpPr>
          <p:spPr>
            <a:xfrm>
              <a:off x="820102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1" name="R3-zh-186-rect">
              <a:extLst>
                <a:ext uri="{FF2B5EF4-FFF2-40B4-BE49-F238E27FC236}">
                  <a16:creationId xmlns:a16="http://schemas.microsoft.com/office/drawing/2014/main" id="{D4E06A39-7906-4C1B-8528-6D264482D24B}"/>
                </a:ext>
              </a:extLst>
            </p:cNvPr>
            <p:cNvSpPr>
              <a:spLocks noGrp="1"/>
            </p:cNvSpPr>
            <p:nvPr/>
          </p:nvSpPr>
          <p:spPr>
            <a:xfrm>
              <a:off x="830580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2" name="R3-zh-187-rect">
              <a:extLst>
                <a:ext uri="{FF2B5EF4-FFF2-40B4-BE49-F238E27FC236}">
                  <a16:creationId xmlns:a16="http://schemas.microsoft.com/office/drawing/2014/main" id="{112F5B52-E134-4598-8887-094246BEB2FC}"/>
                </a:ext>
              </a:extLst>
            </p:cNvPr>
            <p:cNvSpPr>
              <a:spLocks noGrp="1"/>
            </p:cNvSpPr>
            <p:nvPr/>
          </p:nvSpPr>
          <p:spPr>
            <a:xfrm>
              <a:off x="841057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3" name="R3-zh-188-rect">
              <a:extLst>
                <a:ext uri="{FF2B5EF4-FFF2-40B4-BE49-F238E27FC236}">
                  <a16:creationId xmlns:a16="http://schemas.microsoft.com/office/drawing/2014/main" id="{D2E5EC3B-4BE8-4B9C-A2F2-D5E0BC934EC6}"/>
                </a:ext>
              </a:extLst>
            </p:cNvPr>
            <p:cNvSpPr>
              <a:spLocks noGrp="1"/>
            </p:cNvSpPr>
            <p:nvPr/>
          </p:nvSpPr>
          <p:spPr>
            <a:xfrm>
              <a:off x="851535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4" name="R3-zh-189-rect">
              <a:extLst>
                <a:ext uri="{FF2B5EF4-FFF2-40B4-BE49-F238E27FC236}">
                  <a16:creationId xmlns:a16="http://schemas.microsoft.com/office/drawing/2014/main" id="{3CDB4166-5286-4B74-A00D-72B92B3FFCE2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5" name="R3-zh-190-rect">
              <a:extLst>
                <a:ext uri="{FF2B5EF4-FFF2-40B4-BE49-F238E27FC236}">
                  <a16:creationId xmlns:a16="http://schemas.microsoft.com/office/drawing/2014/main" id="{AF0E98F0-8C10-4BAC-9328-25A9C7A8167E}"/>
                </a:ext>
              </a:extLst>
            </p:cNvPr>
            <p:cNvSpPr>
              <a:spLocks noGrp="1"/>
            </p:cNvSpPr>
            <p:nvPr/>
          </p:nvSpPr>
          <p:spPr>
            <a:xfrm>
              <a:off x="820102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6" name="R3-zh-191-rect">
              <a:extLst>
                <a:ext uri="{FF2B5EF4-FFF2-40B4-BE49-F238E27FC236}">
                  <a16:creationId xmlns:a16="http://schemas.microsoft.com/office/drawing/2014/main" id="{2152FAF3-6EB6-49E7-A483-D4BFDE510E3C}"/>
                </a:ext>
              </a:extLst>
            </p:cNvPr>
            <p:cNvSpPr>
              <a:spLocks noGrp="1"/>
            </p:cNvSpPr>
            <p:nvPr/>
          </p:nvSpPr>
          <p:spPr>
            <a:xfrm>
              <a:off x="830580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7" name="R3-zh-192-rect">
              <a:extLst>
                <a:ext uri="{FF2B5EF4-FFF2-40B4-BE49-F238E27FC236}">
                  <a16:creationId xmlns:a16="http://schemas.microsoft.com/office/drawing/2014/main" id="{3DDDE0D2-66CB-415C-A9B3-670414CC0CEF}"/>
                </a:ext>
              </a:extLst>
            </p:cNvPr>
            <p:cNvSpPr>
              <a:spLocks noGrp="1"/>
            </p:cNvSpPr>
            <p:nvPr/>
          </p:nvSpPr>
          <p:spPr>
            <a:xfrm>
              <a:off x="841057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8" name="R3-zh-193-rect">
              <a:extLst>
                <a:ext uri="{FF2B5EF4-FFF2-40B4-BE49-F238E27FC236}">
                  <a16:creationId xmlns:a16="http://schemas.microsoft.com/office/drawing/2014/main" id="{D5A67BFF-E745-46AE-9CD5-BAB6426BFBCD}"/>
                </a:ext>
              </a:extLst>
            </p:cNvPr>
            <p:cNvSpPr>
              <a:spLocks noGrp="1"/>
            </p:cNvSpPr>
            <p:nvPr/>
          </p:nvSpPr>
          <p:spPr>
            <a:xfrm>
              <a:off x="851535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9" name="R3-zh-194-rect">
              <a:extLst>
                <a:ext uri="{FF2B5EF4-FFF2-40B4-BE49-F238E27FC236}">
                  <a16:creationId xmlns:a16="http://schemas.microsoft.com/office/drawing/2014/main" id="{4BA47C2E-3604-4C38-A441-817A5137B6AF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0" name="R3-zh-195-rect">
              <a:extLst>
                <a:ext uri="{FF2B5EF4-FFF2-40B4-BE49-F238E27FC236}">
                  <a16:creationId xmlns:a16="http://schemas.microsoft.com/office/drawing/2014/main" id="{0AFDDF25-DD0C-42A4-9824-571B7617ED72}"/>
                </a:ext>
              </a:extLst>
            </p:cNvPr>
            <p:cNvSpPr>
              <a:spLocks noGrp="1"/>
            </p:cNvSpPr>
            <p:nvPr/>
          </p:nvSpPr>
          <p:spPr>
            <a:xfrm>
              <a:off x="820102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1" name="R3-zh-196-rect">
              <a:extLst>
                <a:ext uri="{FF2B5EF4-FFF2-40B4-BE49-F238E27FC236}">
                  <a16:creationId xmlns:a16="http://schemas.microsoft.com/office/drawing/2014/main" id="{9D776A1F-9568-4D13-8DBC-22EF88168B6E}"/>
                </a:ext>
              </a:extLst>
            </p:cNvPr>
            <p:cNvSpPr>
              <a:spLocks noGrp="1"/>
            </p:cNvSpPr>
            <p:nvPr/>
          </p:nvSpPr>
          <p:spPr>
            <a:xfrm>
              <a:off x="830580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2" name="R3-zh-197-rect">
              <a:extLst>
                <a:ext uri="{FF2B5EF4-FFF2-40B4-BE49-F238E27FC236}">
                  <a16:creationId xmlns:a16="http://schemas.microsoft.com/office/drawing/2014/main" id="{BDBDE1C0-F683-4B16-8408-D57244F236A4}"/>
                </a:ext>
              </a:extLst>
            </p:cNvPr>
            <p:cNvSpPr>
              <a:spLocks noGrp="1"/>
            </p:cNvSpPr>
            <p:nvPr/>
          </p:nvSpPr>
          <p:spPr>
            <a:xfrm>
              <a:off x="841057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3" name="R3-zh-198-rect">
              <a:extLst>
                <a:ext uri="{FF2B5EF4-FFF2-40B4-BE49-F238E27FC236}">
                  <a16:creationId xmlns:a16="http://schemas.microsoft.com/office/drawing/2014/main" id="{45CFEB4E-BE26-45FD-AAE5-D92436963FA8}"/>
                </a:ext>
              </a:extLst>
            </p:cNvPr>
            <p:cNvSpPr>
              <a:spLocks noGrp="1"/>
            </p:cNvSpPr>
            <p:nvPr/>
          </p:nvSpPr>
          <p:spPr>
            <a:xfrm>
              <a:off x="851535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4" name="R3-zh-199-rect">
              <a:extLst>
                <a:ext uri="{FF2B5EF4-FFF2-40B4-BE49-F238E27FC236}">
                  <a16:creationId xmlns:a16="http://schemas.microsoft.com/office/drawing/2014/main" id="{E8C5FF1C-8962-483E-BEE5-ADB9243C59B2}"/>
                </a:ext>
              </a:extLst>
            </p:cNvPr>
            <p:cNvSpPr>
              <a:spLocks noGrp="1"/>
            </p:cNvSpPr>
            <p:nvPr/>
          </p:nvSpPr>
          <p:spPr>
            <a:xfrm>
              <a:off x="869632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5" name="R3-zh-200-rect">
              <a:extLst>
                <a:ext uri="{FF2B5EF4-FFF2-40B4-BE49-F238E27FC236}">
                  <a16:creationId xmlns:a16="http://schemas.microsoft.com/office/drawing/2014/main" id="{BCAEAAD5-3730-44EB-BC69-DF58FDC2EB2A}"/>
                </a:ext>
              </a:extLst>
            </p:cNvPr>
            <p:cNvSpPr>
              <a:spLocks noGrp="1"/>
            </p:cNvSpPr>
            <p:nvPr/>
          </p:nvSpPr>
          <p:spPr>
            <a:xfrm>
              <a:off x="880110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6" name="R3-zh-201-rect">
              <a:extLst>
                <a:ext uri="{FF2B5EF4-FFF2-40B4-BE49-F238E27FC236}">
                  <a16:creationId xmlns:a16="http://schemas.microsoft.com/office/drawing/2014/main" id="{3821B01C-5101-4EA3-813B-936E9DA75EE6}"/>
                </a:ext>
              </a:extLst>
            </p:cNvPr>
            <p:cNvSpPr>
              <a:spLocks noGrp="1"/>
            </p:cNvSpPr>
            <p:nvPr/>
          </p:nvSpPr>
          <p:spPr>
            <a:xfrm>
              <a:off x="890587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7" name="R3-zh-202-rect">
              <a:extLst>
                <a:ext uri="{FF2B5EF4-FFF2-40B4-BE49-F238E27FC236}">
                  <a16:creationId xmlns:a16="http://schemas.microsoft.com/office/drawing/2014/main" id="{A78BA368-3C9B-4AB3-8AEF-ED5DFE9549C1}"/>
                </a:ext>
              </a:extLst>
            </p:cNvPr>
            <p:cNvSpPr>
              <a:spLocks noGrp="1"/>
            </p:cNvSpPr>
            <p:nvPr/>
          </p:nvSpPr>
          <p:spPr>
            <a:xfrm>
              <a:off x="901065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8" name="R3-zh-203-rect">
              <a:extLst>
                <a:ext uri="{FF2B5EF4-FFF2-40B4-BE49-F238E27FC236}">
                  <a16:creationId xmlns:a16="http://schemas.microsoft.com/office/drawing/2014/main" id="{B9C3802A-3331-4310-9244-845ABBB35238}"/>
                </a:ext>
              </a:extLst>
            </p:cNvPr>
            <p:cNvSpPr>
              <a:spLocks noGrp="1"/>
            </p:cNvSpPr>
            <p:nvPr/>
          </p:nvSpPr>
          <p:spPr>
            <a:xfrm>
              <a:off x="911542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9" name="R3-zh-204-rect">
              <a:extLst>
                <a:ext uri="{FF2B5EF4-FFF2-40B4-BE49-F238E27FC236}">
                  <a16:creationId xmlns:a16="http://schemas.microsoft.com/office/drawing/2014/main" id="{F5F77CCA-FF51-4139-9E22-0DA31E10F6AA}"/>
                </a:ext>
              </a:extLst>
            </p:cNvPr>
            <p:cNvSpPr>
              <a:spLocks noGrp="1"/>
            </p:cNvSpPr>
            <p:nvPr/>
          </p:nvSpPr>
          <p:spPr>
            <a:xfrm>
              <a:off x="869632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0" name="R3-zh-205-rect">
              <a:extLst>
                <a:ext uri="{FF2B5EF4-FFF2-40B4-BE49-F238E27FC236}">
                  <a16:creationId xmlns:a16="http://schemas.microsoft.com/office/drawing/2014/main" id="{117F0EF9-63C8-4DC9-B233-8E24B9C91622}"/>
                </a:ext>
              </a:extLst>
            </p:cNvPr>
            <p:cNvSpPr>
              <a:spLocks noGrp="1"/>
            </p:cNvSpPr>
            <p:nvPr/>
          </p:nvSpPr>
          <p:spPr>
            <a:xfrm>
              <a:off x="880110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1" name="R3-zh-206-rect">
              <a:extLst>
                <a:ext uri="{FF2B5EF4-FFF2-40B4-BE49-F238E27FC236}">
                  <a16:creationId xmlns:a16="http://schemas.microsoft.com/office/drawing/2014/main" id="{47F7DC80-D32B-4D6B-99F9-0DB6E390C76A}"/>
                </a:ext>
              </a:extLst>
            </p:cNvPr>
            <p:cNvSpPr>
              <a:spLocks noGrp="1"/>
            </p:cNvSpPr>
            <p:nvPr/>
          </p:nvSpPr>
          <p:spPr>
            <a:xfrm>
              <a:off x="890587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2" name="R3-zh-207-rect">
              <a:extLst>
                <a:ext uri="{FF2B5EF4-FFF2-40B4-BE49-F238E27FC236}">
                  <a16:creationId xmlns:a16="http://schemas.microsoft.com/office/drawing/2014/main" id="{8B057486-0DDD-4ABA-8C3D-466A83510484}"/>
                </a:ext>
              </a:extLst>
            </p:cNvPr>
            <p:cNvSpPr>
              <a:spLocks noGrp="1"/>
            </p:cNvSpPr>
            <p:nvPr/>
          </p:nvSpPr>
          <p:spPr>
            <a:xfrm>
              <a:off x="901065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3" name="R3-zh-208-rect">
              <a:extLst>
                <a:ext uri="{FF2B5EF4-FFF2-40B4-BE49-F238E27FC236}">
                  <a16:creationId xmlns:a16="http://schemas.microsoft.com/office/drawing/2014/main" id="{FF882B13-3970-44F1-B0D7-DDA3679960D6}"/>
                </a:ext>
              </a:extLst>
            </p:cNvPr>
            <p:cNvSpPr>
              <a:spLocks noGrp="1"/>
            </p:cNvSpPr>
            <p:nvPr/>
          </p:nvSpPr>
          <p:spPr>
            <a:xfrm>
              <a:off x="911542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4" name="R3-zh-209-rect">
              <a:extLst>
                <a:ext uri="{FF2B5EF4-FFF2-40B4-BE49-F238E27FC236}">
                  <a16:creationId xmlns:a16="http://schemas.microsoft.com/office/drawing/2014/main" id="{B6B52A13-ACC0-4820-B87E-3BB0BF092D21}"/>
                </a:ext>
              </a:extLst>
            </p:cNvPr>
            <p:cNvSpPr>
              <a:spLocks noGrp="1"/>
            </p:cNvSpPr>
            <p:nvPr/>
          </p:nvSpPr>
          <p:spPr>
            <a:xfrm>
              <a:off x="869632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5" name="R3-zh-210-rect">
              <a:extLst>
                <a:ext uri="{FF2B5EF4-FFF2-40B4-BE49-F238E27FC236}">
                  <a16:creationId xmlns:a16="http://schemas.microsoft.com/office/drawing/2014/main" id="{12568314-56CA-4583-A086-2A0BFA2FE6D7}"/>
                </a:ext>
              </a:extLst>
            </p:cNvPr>
            <p:cNvSpPr>
              <a:spLocks noGrp="1"/>
            </p:cNvSpPr>
            <p:nvPr/>
          </p:nvSpPr>
          <p:spPr>
            <a:xfrm>
              <a:off x="880110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6" name="R3-zh-211-rect">
              <a:extLst>
                <a:ext uri="{FF2B5EF4-FFF2-40B4-BE49-F238E27FC236}">
                  <a16:creationId xmlns:a16="http://schemas.microsoft.com/office/drawing/2014/main" id="{F4020872-F3F9-4649-93F4-BF4E7BD79907}"/>
                </a:ext>
              </a:extLst>
            </p:cNvPr>
            <p:cNvSpPr>
              <a:spLocks noGrp="1"/>
            </p:cNvSpPr>
            <p:nvPr/>
          </p:nvSpPr>
          <p:spPr>
            <a:xfrm>
              <a:off x="890587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7" name="R3-zh-212-rect">
              <a:extLst>
                <a:ext uri="{FF2B5EF4-FFF2-40B4-BE49-F238E27FC236}">
                  <a16:creationId xmlns:a16="http://schemas.microsoft.com/office/drawing/2014/main" id="{83673C7B-7629-44CD-863C-21265A6D438E}"/>
                </a:ext>
              </a:extLst>
            </p:cNvPr>
            <p:cNvSpPr>
              <a:spLocks noGrp="1"/>
            </p:cNvSpPr>
            <p:nvPr/>
          </p:nvSpPr>
          <p:spPr>
            <a:xfrm>
              <a:off x="901065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8" name="R3-zh-213-rect">
              <a:extLst>
                <a:ext uri="{FF2B5EF4-FFF2-40B4-BE49-F238E27FC236}">
                  <a16:creationId xmlns:a16="http://schemas.microsoft.com/office/drawing/2014/main" id="{D8D275CE-937F-43F4-88DE-D23B9AAD4E8C}"/>
                </a:ext>
              </a:extLst>
            </p:cNvPr>
            <p:cNvSpPr>
              <a:spLocks noGrp="1"/>
            </p:cNvSpPr>
            <p:nvPr/>
          </p:nvSpPr>
          <p:spPr>
            <a:xfrm>
              <a:off x="911542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9" name="R3-zh-214-text">
              <a:extLst>
                <a:ext uri="{FF2B5EF4-FFF2-40B4-BE49-F238E27FC236}">
                  <a16:creationId xmlns:a16="http://schemas.microsoft.com/office/drawing/2014/main" id="{48AAC740-5CFE-4D13-8CAE-64B6E1EFB81B}"/>
                </a:ext>
              </a:extLst>
            </p:cNvPr>
            <p:cNvSpPr>
              <a:spLocks noGrp="1"/>
            </p:cNvSpPr>
            <p:nvPr/>
          </p:nvSpPr>
          <p:spPr>
            <a:xfrm>
              <a:off x="8248650" y="2502027"/>
              <a:ext cx="209550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K</a:t>
              </a:r>
            </a:p>
          </p:txBody>
        </p:sp>
        <p:sp>
          <p:nvSpPr>
            <p:cNvPr id="5230" name="R3-zh-215-text">
              <a:extLst>
                <a:ext uri="{FF2B5EF4-FFF2-40B4-BE49-F238E27FC236}">
                  <a16:creationId xmlns:a16="http://schemas.microsoft.com/office/drawing/2014/main" id="{92668516-3F69-43BC-9FF6-5A3AF892064C}"/>
                </a:ext>
              </a:extLst>
            </p:cNvPr>
            <p:cNvSpPr>
              <a:spLocks noGrp="1"/>
            </p:cNvSpPr>
            <p:nvPr/>
          </p:nvSpPr>
          <p:spPr>
            <a:xfrm>
              <a:off x="8848725" y="2502027"/>
              <a:ext cx="209550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V</a:t>
              </a:r>
            </a:p>
          </p:txBody>
        </p:sp>
        <p:sp>
          <p:nvSpPr>
            <p:cNvPr id="5231" name="R3-zh-216-polyline">
              <a:extLst>
                <a:ext uri="{FF2B5EF4-FFF2-40B4-BE49-F238E27FC236}">
                  <a16:creationId xmlns:a16="http://schemas.microsoft.com/office/drawing/2014/main" id="{FA662589-86CF-4DAA-9400-10750B2AEABD}"/>
                </a:ext>
              </a:extLst>
            </p:cNvPr>
            <p:cNvSpPr>
              <a:spLocks noGrp="1"/>
            </p:cNvSpPr>
            <p:nvPr/>
          </p:nvSpPr>
          <p:spPr>
            <a:xfrm>
              <a:off x="828675" y="2428875"/>
              <a:ext cx="7153275" cy="1590675"/>
            </a:xfrm>
            <a:custGeom>
              <a:pathLst>
                <a:path w="7153275" h="1590675">
                  <a:moveTo>
                    <a:pt x="0" y="0"/>
                  </a:moveTo>
                  <a:lnTo>
                    <a:pt x="0" y="1590675"/>
                  </a:lnTo>
                  <a:lnTo>
                    <a:pt x="6991350" y="1590675"/>
                  </a:lnTo>
                  <a:lnTo>
                    <a:pt x="6991350" y="190500"/>
                  </a:lnTo>
                  <a:lnTo>
                    <a:pt x="7153275" y="190500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32" name="R3-zh-216-polyline-arrow">
              <a:extLst>
                <a:ext uri="{FF2B5EF4-FFF2-40B4-BE49-F238E27FC236}">
                  <a16:creationId xmlns:a16="http://schemas.microsoft.com/office/drawing/2014/main" id="{1CFEE1DF-D6EB-4D51-AE27-B3ECE7E93D40}"/>
                </a:ext>
              </a:extLst>
            </p:cNvPr>
            <p:cNvSpPr>
              <a:spLocks noGrp="1"/>
            </p:cNvSpPr>
            <p:nvPr/>
          </p:nvSpPr>
          <p:spPr>
            <a:xfrm>
              <a:off x="7934325" y="25965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233" name="R3-zh-217-text">
              <a:extLst>
                <a:ext uri="{FF2B5EF4-FFF2-40B4-BE49-F238E27FC236}">
                  <a16:creationId xmlns:a16="http://schemas.microsoft.com/office/drawing/2014/main" id="{71214488-D58C-4E9B-A842-A50572866A41}"/>
                </a:ext>
              </a:extLst>
            </p:cNvPr>
            <p:cNvSpPr>
              <a:spLocks noGrp="1"/>
            </p:cNvSpPr>
            <p:nvPr/>
          </p:nvSpPr>
          <p:spPr>
            <a:xfrm>
              <a:off x="3711607" y="4064508"/>
              <a:ext cx="1168337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原始K/V · 128维</a:t>
              </a:r>
            </a:p>
          </p:txBody>
        </p:sp>
        <p:sp>
          <p:nvSpPr>
            <p:cNvPr id="5234" name="R3-zh-218-polyline">
              <a:extLst>
                <a:ext uri="{FF2B5EF4-FFF2-40B4-BE49-F238E27FC236}">
                  <a16:creationId xmlns:a16="http://schemas.microsoft.com/office/drawing/2014/main" id="{360C8A47-5B08-4362-BB89-D93CC1BFF0A1}"/>
                </a:ext>
              </a:extLst>
            </p:cNvPr>
            <p:cNvSpPr>
              <a:spLocks noGrp="1"/>
            </p:cNvSpPr>
            <p:nvPr/>
          </p:nvSpPr>
          <p:spPr>
            <a:xfrm>
              <a:off x="8353425" y="2809875"/>
              <a:ext cx="200025" cy="409575"/>
            </a:xfrm>
            <a:custGeom>
              <a:pathLst>
                <a:path w="200025" h="409575">
                  <a:moveTo>
                    <a:pt x="0" y="0"/>
                  </a:moveTo>
                  <a:lnTo>
                    <a:pt x="0" y="238125"/>
                  </a:lnTo>
                  <a:lnTo>
                    <a:pt x="200025" y="238125"/>
                  </a:lnTo>
                  <a:lnTo>
                    <a:pt x="200025" y="409575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35" name="R3-zh-218-polyline-arrow">
              <a:extLst>
                <a:ext uri="{FF2B5EF4-FFF2-40B4-BE49-F238E27FC236}">
                  <a16:creationId xmlns:a16="http://schemas.microsoft.com/office/drawing/2014/main" id="{119FCB01-BC8D-4D75-91D4-F8E05749BAF1}"/>
                </a:ext>
              </a:extLst>
            </p:cNvPr>
            <p:cNvSpPr>
              <a:spLocks noGrp="1"/>
            </p:cNvSpPr>
            <p:nvPr/>
          </p:nvSpPr>
          <p:spPr>
            <a:xfrm>
              <a:off x="8530590" y="3171825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236" name="R3-zh-219-polyline">
              <a:extLst>
                <a:ext uri="{FF2B5EF4-FFF2-40B4-BE49-F238E27FC236}">
                  <a16:creationId xmlns:a16="http://schemas.microsoft.com/office/drawing/2014/main" id="{08ACCAEC-317E-404B-A88E-AE8B9A4F53A2}"/>
                </a:ext>
              </a:extLst>
            </p:cNvPr>
            <p:cNvSpPr>
              <a:spLocks noGrp="1"/>
            </p:cNvSpPr>
            <p:nvPr/>
          </p:nvSpPr>
          <p:spPr>
            <a:xfrm>
              <a:off x="8553450" y="2809875"/>
              <a:ext cx="400050" cy="238125"/>
            </a:xfrm>
            <a:custGeom>
              <a:pathLst>
                <a:path w="400050" h="238125">
                  <a:moveTo>
                    <a:pt x="400050" y="0"/>
                  </a:moveTo>
                  <a:lnTo>
                    <a:pt x="400050" y="238125"/>
                  </a:lnTo>
                  <a:lnTo>
                    <a:pt x="0" y="238125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37" name="R3-zh-220-rect">
              <a:extLst>
                <a:ext uri="{FF2B5EF4-FFF2-40B4-BE49-F238E27FC236}">
                  <a16:creationId xmlns:a16="http://schemas.microsoft.com/office/drawing/2014/main" id="{7861F695-65AC-4E17-BFF0-49D98591EFA8}"/>
                </a:ext>
              </a:extLst>
            </p:cNvPr>
            <p:cNvSpPr>
              <a:spLocks noGrp="1"/>
            </p:cNvSpPr>
            <p:nvPr/>
          </p:nvSpPr>
          <p:spPr>
            <a:xfrm>
              <a:off x="7981950" y="3219450"/>
              <a:ext cx="1419225" cy="533400"/>
            </a:xfrm>
            <a:prstGeom prst="rect">
              <a:avLst/>
            </a:prstGeom>
            <a:solidFill>
              <a:srgbClr val="EDF2F5"/>
            </a:solidFill>
            <a:ln w="11430">
              <a:solidFill>
                <a:srgbClr val="424A50"/>
              </a:solidFill>
            </a:ln>
          </p:spPr>
        </p:sp>
        <p:sp>
          <p:nvSpPr>
            <p:cNvPr id="5238" name="R3-zh-221-text">
              <a:extLst>
                <a:ext uri="{FF2B5EF4-FFF2-40B4-BE49-F238E27FC236}">
                  <a16:creationId xmlns:a16="http://schemas.microsoft.com/office/drawing/2014/main" id="{84281B36-FAEC-4B4E-8F5A-D626C3BA1870}"/>
                </a:ext>
              </a:extLst>
            </p:cNvPr>
            <p:cNvSpPr>
              <a:spLocks noGrp="1"/>
            </p:cNvSpPr>
            <p:nvPr/>
          </p:nvSpPr>
          <p:spPr>
            <a:xfrm>
              <a:off x="7912608" y="3292983"/>
              <a:ext cx="1548384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QKᵀ → softmax → V</a:t>
              </a:r>
            </a:p>
          </p:txBody>
        </p:sp>
        <p:sp>
          <p:nvSpPr>
            <p:cNvPr id="5239" name="R3-zh-222-text">
              <a:extLst>
                <a:ext uri="{FF2B5EF4-FFF2-40B4-BE49-F238E27FC236}">
                  <a16:creationId xmlns:a16="http://schemas.microsoft.com/office/drawing/2014/main" id="{AA97A68E-954A-4893-9DA1-B52F8BACD134}"/>
                </a:ext>
              </a:extLst>
            </p:cNvPr>
            <p:cNvSpPr>
              <a:spLocks noGrp="1"/>
            </p:cNvSpPr>
            <p:nvPr/>
          </p:nvSpPr>
          <p:spPr>
            <a:xfrm>
              <a:off x="8330660" y="3493008"/>
              <a:ext cx="712280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原始128维</a:t>
              </a:r>
            </a:p>
          </p:txBody>
        </p:sp>
        <p:sp>
          <p:nvSpPr>
            <p:cNvPr id="5240" name="R3-zh-223-polyline">
              <a:extLst>
                <a:ext uri="{FF2B5EF4-FFF2-40B4-BE49-F238E27FC236}">
                  <a16:creationId xmlns:a16="http://schemas.microsoft.com/office/drawing/2014/main" id="{7BD23CD0-3534-4C27-B65E-13A304042A65}"/>
                </a:ext>
              </a:extLst>
            </p:cNvPr>
            <p:cNvSpPr>
              <a:spLocks noGrp="1"/>
            </p:cNvSpPr>
            <p:nvPr/>
          </p:nvSpPr>
          <p:spPr>
            <a:xfrm>
              <a:off x="9401175" y="3476625"/>
              <a:ext cx="171450" cy="9525"/>
            </a:xfrm>
            <a:custGeom>
              <a:pathLst>
                <a:path w="171450" h="9525">
                  <a:moveTo>
                    <a:pt x="0" y="0"/>
                  </a:moveTo>
                  <a:lnTo>
                    <a:pt x="171450" y="0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41" name="R3-zh-223-polyline-arrow">
              <a:extLst>
                <a:ext uri="{FF2B5EF4-FFF2-40B4-BE49-F238E27FC236}">
                  <a16:creationId xmlns:a16="http://schemas.microsoft.com/office/drawing/2014/main" id="{4C5D184C-940F-4E59-8D3A-9DC43BDF2223}"/>
                </a:ext>
              </a:extLst>
            </p:cNvPr>
            <p:cNvSpPr>
              <a:spLocks noGrp="1"/>
            </p:cNvSpPr>
            <p:nvPr/>
          </p:nvSpPr>
          <p:spPr>
            <a:xfrm>
              <a:off x="9525000" y="345376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242" name="R3-zh-224-text">
              <a:extLst>
                <a:ext uri="{FF2B5EF4-FFF2-40B4-BE49-F238E27FC236}">
                  <a16:creationId xmlns:a16="http://schemas.microsoft.com/office/drawing/2014/main" id="{A62DE08F-E186-4B27-82D5-4C47D20153F2}"/>
                </a:ext>
              </a:extLst>
            </p:cNvPr>
            <p:cNvSpPr>
              <a:spLocks noGrp="1"/>
            </p:cNvSpPr>
            <p:nvPr/>
          </p:nvSpPr>
          <p:spPr>
            <a:xfrm>
              <a:off x="9382125" y="3711321"/>
              <a:ext cx="209550" cy="24003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低频子空间：16个完整旋转对，共32维</a:t>
            </a:r>
            <a:endParaRPr lang="zh-CN" sz="3000"/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16完整旋转对，两级共用；L2用浮点16级量化–反量化，最终为原维注意力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61150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102298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952500" y="1952625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完整低频 RoPE 对</a:t>
            </a:r>
            <a:endParaRPr lang="zh-CN" sz="1875"/>
          </a:p>
        </p:txBody>
      </p:sp>
      <p:sp>
        <p:nvSpPr>
          <p:cNvPr id="25" name="native25"/>
          <p:cNvSpPr/>
          <p:nvPr/>
        </p:nvSpPr>
        <p:spPr>
          <a:xfrm>
            <a:off x="6343650" y="195262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固定坐标选择视图</a:t>
            </a:r>
            <a:endParaRPr lang="zh-CN" sz="1875"/>
          </a:p>
        </p:txBody>
      </p:sp>
      <p:sp>
        <p:nvSpPr>
          <p:cNvPr id="26" name="native26"/>
          <p:cNvSpPr/>
          <p:nvPr/>
        </p:nvSpPr>
        <p:spPr>
          <a:xfrm>
            <a:off x="10439400" y="1952625"/>
            <a:ext cx="28575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 dirty="0">
                <a:solidFill>
                  <a:srgbClr val="193247"/>
                </a:solidFill>
                <a:latin typeface="Noto Sans CJK SC"/>
                <a:ea typeface="Noto Sans CJK SC"/>
              </a:rPr>
              <a:t>c  两级复用与原维计算</a:t>
            </a:r>
            <a:endParaRPr lang="zh-CN" sz="1875" dirty="0"/>
          </a:p>
        </p:txBody>
      </p:sp>
      <p:sp>
        <p:nvSpPr>
          <p:cNvPr id="27" name="native27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478786"/>
            <a:ext cx="350520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RoPE 后 · D = 128</a:t>
            </a:r>
            <a:endParaRPr lang="zh-CN" sz="1725"/>
          </a:p>
        </p:txBody>
      </p:sp>
      <p:sp>
        <p:nvSpPr>
          <p:cNvPr id="29" name="native29"/>
          <p:cNvSpPr/>
          <p:nvPr/>
        </p:nvSpPr>
        <p:spPr>
          <a:xfrm>
            <a:off x="952500" y="2797683"/>
            <a:ext cx="5429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32 个 Q 头 / 8 个 KV 头；每组 4Q + 1K</a:t>
            </a:r>
            <a:endParaRPr lang="zh-CN" sz="1425"/>
          </a:p>
        </p:txBody>
      </p:sp>
      <p:sp>
        <p:nvSpPr>
          <p:cNvPr id="30" name="native30"/>
          <p:cNvSpPr/>
          <p:nvPr/>
        </p:nvSpPr>
        <p:spPr>
          <a:xfrm>
            <a:off x="1238250" y="3189351"/>
            <a:ext cx="13716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旋转频率由高到低</a:t>
            </a:r>
            <a:endParaRPr lang="zh-CN" sz="1350"/>
          </a:p>
        </p:txBody>
      </p:sp>
      <p:sp>
        <p:nvSpPr>
          <p:cNvPr id="31" name="native31"/>
          <p:cNvSpPr/>
          <p:nvPr/>
        </p:nvSpPr>
        <p:spPr>
          <a:xfrm>
            <a:off x="3781425" y="3324225"/>
            <a:ext cx="1724025" cy="952"/>
          </a:xfrm>
          <a:custGeom>
            <a:avLst/>
            <a:gdLst/>
            <a:ahLst/>
            <a:cxnLst/>
            <a:rect l="0" t="0" r="r" b="b"/>
            <a:pathLst>
              <a:path w="1724025" h="952" fill="none">
                <a:moveTo>
                  <a:pt x="0" y="0"/>
                </a:moveTo>
                <a:lnTo>
                  <a:pt x="1724025" y="0"/>
                </a:lnTo>
              </a:path>
            </a:pathLst>
          </a:custGeom>
          <a:noFill/>
          <a:ln w="1238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native32"/>
          <p:cNvSpPr/>
          <p:nvPr/>
        </p:nvSpPr>
        <p:spPr>
          <a:xfrm>
            <a:off x="4400550" y="3609975"/>
            <a:ext cx="1123950" cy="1628775"/>
          </a:xfrm>
          <a:prstGeom prst="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235267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0…47</a:t>
            </a:r>
            <a:endParaRPr lang="zh-CN" sz="1350"/>
          </a:p>
        </p:txBody>
      </p:sp>
      <p:sp>
        <p:nvSpPr>
          <p:cNvPr id="34" name="native34"/>
          <p:cNvSpPr/>
          <p:nvPr/>
        </p:nvSpPr>
        <p:spPr>
          <a:xfrm>
            <a:off x="454342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48…63</a:t>
            </a:r>
            <a:endParaRPr lang="zh-CN" sz="1350"/>
          </a:p>
        </p:txBody>
      </p:sp>
      <p:sp>
        <p:nvSpPr>
          <p:cNvPr id="35" name="native35"/>
          <p:cNvSpPr/>
          <p:nvPr/>
        </p:nvSpPr>
        <p:spPr>
          <a:xfrm>
            <a:off x="238125" y="37025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</a:t>
            </a:r>
            <a:endParaRPr lang="zh-CN" sz="1425"/>
          </a:p>
        </p:txBody>
      </p:sp>
      <p:sp>
        <p:nvSpPr>
          <p:cNvPr id="36" name="native36"/>
          <p:cNvSpPr/>
          <p:nvPr/>
        </p:nvSpPr>
        <p:spPr>
          <a:xfrm>
            <a:off x="952500" y="46668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j+64</a:t>
            </a:r>
            <a:endParaRPr lang="zh-CN" sz="1275"/>
          </a:p>
        </p:txBody>
      </p:sp>
      <p:sp>
        <p:nvSpPr>
          <p:cNvPr id="37" name="native37"/>
          <p:cNvSpPr/>
          <p:nvPr/>
        </p:nvSpPr>
        <p:spPr>
          <a:xfrm>
            <a:off x="1238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1238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304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304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71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371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1438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1438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1504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1504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1571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571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638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638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1704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704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7716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7716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8383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383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9050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9050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9716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716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383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0383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1050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1050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1717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1717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22383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2383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3050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3050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3717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3717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4384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4384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5050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5050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5717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717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6384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384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051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7051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7717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7717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8384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8384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051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051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9718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718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30384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30384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31051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31051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31718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1718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32385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32385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33051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3051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3718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33718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34385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4385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35052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35052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5718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35718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36385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36385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37052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7052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37719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37719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38385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38385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3905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3905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3971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3971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4038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4038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4105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4105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4171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4171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4238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4238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4305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4305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4371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4371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44386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44386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44643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45053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45053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45310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45720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45720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5977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6386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46386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46643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7053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7053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47310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47720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7720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7977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48387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48387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8644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9053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9053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49310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9720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720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49977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50387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50387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50644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054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51054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51311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51720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720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51977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52387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2387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2644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53054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53054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53311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3721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53721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53978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54387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4387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54644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12639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3976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571625" y="4107561"/>
            <a:ext cx="28479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split-half 配对</a:t>
            </a:r>
            <a:endParaRPr lang="zh-CN" sz="1725"/>
          </a:p>
        </p:txBody>
      </p:sp>
      <p:sp>
        <p:nvSpPr>
          <p:cNvPr id="184" name="native184"/>
          <p:cNvSpPr/>
          <p:nvPr/>
        </p:nvSpPr>
        <p:spPr>
          <a:xfrm>
            <a:off x="1571625" y="44016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0">
                <a:solidFill>
                  <a:srgbClr val="193247"/>
                </a:solidFill>
                <a:latin typeface="Noto Sans CJK SC"/>
                <a:ea typeface="Noto Sans CJK SC"/>
              </a:rPr>
              <a:t>(j, j + 64)</a:t>
            </a:r>
            <a:endParaRPr lang="zh-CN" sz="1800"/>
          </a:p>
        </p:txBody>
      </p:sp>
      <p:sp>
        <p:nvSpPr>
          <p:cNvPr id="185" name="native185"/>
          <p:cNvSpPr/>
          <p:nvPr/>
        </p:nvSpPr>
        <p:spPr>
          <a:xfrm>
            <a:off x="2266950" y="5208651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64…111</a:t>
            </a:r>
            <a:endParaRPr lang="zh-CN" sz="1350"/>
          </a:p>
        </p:txBody>
      </p:sp>
      <p:sp>
        <p:nvSpPr>
          <p:cNvPr id="186" name="native186"/>
          <p:cNvSpPr/>
          <p:nvPr/>
        </p:nvSpPr>
        <p:spPr>
          <a:xfrm>
            <a:off x="4371975" y="5208651"/>
            <a:ext cx="1200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112…127</a:t>
            </a:r>
            <a:endParaRPr lang="zh-CN" sz="1350"/>
          </a:p>
        </p:txBody>
      </p:sp>
      <p:sp>
        <p:nvSpPr>
          <p:cNvPr id="187" name="native187"/>
          <p:cNvSpPr/>
          <p:nvPr/>
        </p:nvSpPr>
        <p:spPr>
          <a:xfrm>
            <a:off x="4438650" y="5505450"/>
            <a:ext cx="1066800" cy="114300"/>
          </a:xfrm>
          <a:custGeom>
            <a:avLst/>
            <a:gdLst/>
            <a:ahLst/>
            <a:cxnLst/>
            <a:rect l="0" t="0" r="r" b="b"/>
            <a:pathLst>
              <a:path w="1066800" h="114300" fill="none">
                <a:moveTo>
                  <a:pt x="0" y="0"/>
                </a:moveTo>
                <a:lnTo>
                  <a:pt x="0" y="114300"/>
                </a:lnTo>
                <a:lnTo>
                  <a:pt x="1066800" y="114300"/>
                </a:lnTo>
                <a:lnTo>
                  <a:pt x="1066800" y="0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681038" y="5734050"/>
            <a:ext cx="547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75" b="1">
                <a:solidFill>
                  <a:srgbClr val="78628F"/>
                </a:solidFill>
                <a:latin typeface="Noto Sans CJK SC"/>
                <a:ea typeface="Noto Sans CJK SC"/>
              </a:rPr>
              <a:t>I = [48…63] ∪ [112…127]</a:t>
            </a:r>
            <a:endParaRPr lang="zh-CN" sz="1875"/>
          </a:p>
        </p:txBody>
      </p:sp>
      <p:sp>
        <p:nvSpPr>
          <p:cNvPr id="189" name="native189"/>
          <p:cNvSpPr/>
          <p:nvPr/>
        </p:nvSpPr>
        <p:spPr>
          <a:xfrm>
            <a:off x="1119188" y="6100572"/>
            <a:ext cx="46005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0">
                <a:solidFill>
                  <a:srgbClr val="193247"/>
                </a:solidFill>
                <a:latin typeface="Noto Sans CJK SC"/>
                <a:ea typeface="Noto Sans CJK SC"/>
              </a:rPr>
              <a:t>32 坐标 = 16 个完整低频 RoPE 对</a:t>
            </a:r>
            <a:endParaRPr lang="zh-CN" sz="1575"/>
          </a:p>
        </p:txBody>
      </p:sp>
      <p:sp>
        <p:nvSpPr>
          <p:cNvPr id="190" name="native190"/>
          <p:cNvSpPr/>
          <p:nvPr/>
        </p:nvSpPr>
        <p:spPr>
          <a:xfrm>
            <a:off x="6343650" y="2500122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同一索引 I 作用于每个 Q / K</a:t>
            </a:r>
            <a:endParaRPr lang="zh-CN" sz="1575"/>
          </a:p>
        </p:txBody>
      </p:sp>
      <p:sp>
        <p:nvSpPr>
          <p:cNvPr id="191" name="native191"/>
          <p:cNvSpPr/>
          <p:nvPr/>
        </p:nvSpPr>
        <p:spPr>
          <a:xfrm>
            <a:off x="6343650" y="279768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以下示意一个 KV 组</a:t>
            </a:r>
            <a:endParaRPr lang="zh-CN" sz="1425"/>
          </a:p>
        </p:txBody>
      </p:sp>
      <p:sp>
        <p:nvSpPr>
          <p:cNvPr id="192" name="native192"/>
          <p:cNvSpPr/>
          <p:nvPr/>
        </p:nvSpPr>
        <p:spPr>
          <a:xfrm>
            <a:off x="6172200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Q_I · 4 × 32</a:t>
            </a:r>
            <a:endParaRPr lang="zh-CN" sz="1650"/>
          </a:p>
        </p:txBody>
      </p:sp>
      <p:sp>
        <p:nvSpPr>
          <p:cNvPr id="193" name="native193"/>
          <p:cNvSpPr/>
          <p:nvPr/>
        </p:nvSpPr>
        <p:spPr>
          <a:xfrm>
            <a:off x="7991475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K_I · S × 32</a:t>
            </a:r>
            <a:endParaRPr lang="zh-CN" sz="1650"/>
          </a:p>
        </p:txBody>
      </p:sp>
      <p:sp>
        <p:nvSpPr>
          <p:cNvPr id="194" name="native194"/>
          <p:cNvSpPr/>
          <p:nvPr/>
        </p:nvSpPr>
        <p:spPr>
          <a:xfrm>
            <a:off x="5762625" y="355244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q1</a:t>
            </a:r>
            <a:endParaRPr lang="zh-CN" sz="1275"/>
          </a:p>
        </p:txBody>
      </p:sp>
      <p:sp>
        <p:nvSpPr>
          <p:cNvPr id="195" name="native195"/>
          <p:cNvSpPr/>
          <p:nvPr/>
        </p:nvSpPr>
        <p:spPr>
          <a:xfrm>
            <a:off x="6705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751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797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842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888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934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979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70256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0713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71170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71628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72085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72542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2999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3456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914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371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4828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5285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5742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76200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76657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77114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77571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78028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7848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7894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940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7985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031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077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8122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5762625" y="37905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q2</a:t>
            </a:r>
            <a:endParaRPr lang="zh-CN" sz="1275"/>
          </a:p>
        </p:txBody>
      </p:sp>
      <p:sp>
        <p:nvSpPr>
          <p:cNvPr id="228" name="native228"/>
          <p:cNvSpPr/>
          <p:nvPr/>
        </p:nvSpPr>
        <p:spPr>
          <a:xfrm>
            <a:off x="6705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751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797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842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888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934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79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70256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70713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71170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28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085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2542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2999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3456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914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371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74828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75285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75742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76200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76657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77114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77571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78028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7848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7894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7940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7985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8031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8077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8122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5762625" y="4028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q3</a:t>
            </a:r>
            <a:endParaRPr lang="zh-CN" sz="1275"/>
          </a:p>
        </p:txBody>
      </p:sp>
      <p:sp>
        <p:nvSpPr>
          <p:cNvPr id="261" name="native261"/>
          <p:cNvSpPr/>
          <p:nvPr/>
        </p:nvSpPr>
        <p:spPr>
          <a:xfrm>
            <a:off x="6705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6751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6797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6842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6888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6934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6979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70256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70713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71170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71628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72085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72542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999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73456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73914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7" name="native277"/>
          <p:cNvSpPr/>
          <p:nvPr/>
        </p:nvSpPr>
        <p:spPr>
          <a:xfrm>
            <a:off x="74371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4828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5285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75742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76200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76657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77114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77571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78028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7848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7894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7940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7985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8031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8077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8122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5762625" y="426681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q4</a:t>
            </a:r>
            <a:endParaRPr lang="zh-CN" sz="1275"/>
          </a:p>
        </p:txBody>
      </p:sp>
      <p:sp>
        <p:nvSpPr>
          <p:cNvPr id="294" name="native294"/>
          <p:cNvSpPr/>
          <p:nvPr/>
        </p:nvSpPr>
        <p:spPr>
          <a:xfrm>
            <a:off x="6705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6751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6797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6842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6888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6934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6979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70256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70713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71170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71628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72085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72542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72999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73456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73914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74371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74828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75285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75742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6200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76657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14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7571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78028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7848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7894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7940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7985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031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8077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8122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8524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8570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8616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8662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8707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8753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8799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88449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4" name="native334"/>
          <p:cNvSpPr/>
          <p:nvPr/>
        </p:nvSpPr>
        <p:spPr>
          <a:xfrm>
            <a:off x="88906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89363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89820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90277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90735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91192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91649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92106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92563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3021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3478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935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4392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4849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5307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95764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96221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9667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713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3" name="native353"/>
          <p:cNvSpPr/>
          <p:nvPr/>
        </p:nvSpPr>
        <p:spPr>
          <a:xfrm>
            <a:off x="9759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9805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9850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9896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9942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8524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570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616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662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707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753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799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8449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906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9363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89820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0277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0735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1192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1649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2106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2563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3021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3478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93935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94392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94849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95307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95764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96221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3" name="native383"/>
          <p:cNvSpPr/>
          <p:nvPr/>
        </p:nvSpPr>
        <p:spPr>
          <a:xfrm>
            <a:off x="9667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4" name="native384"/>
          <p:cNvSpPr/>
          <p:nvPr/>
        </p:nvSpPr>
        <p:spPr>
          <a:xfrm>
            <a:off x="9713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9759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9805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9850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9896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9942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524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70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8616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8662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8707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8753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799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8449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8906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9363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89820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90277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90735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91192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91649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92106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92563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93021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93478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93935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94392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94849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95307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95764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96221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9667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9713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759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805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850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896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942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8524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8570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8616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8662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8707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7" name="native427"/>
          <p:cNvSpPr/>
          <p:nvPr/>
        </p:nvSpPr>
        <p:spPr>
          <a:xfrm>
            <a:off x="8753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8" name="native428"/>
          <p:cNvSpPr/>
          <p:nvPr/>
        </p:nvSpPr>
        <p:spPr>
          <a:xfrm>
            <a:off x="8799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9" name="native429"/>
          <p:cNvSpPr/>
          <p:nvPr/>
        </p:nvSpPr>
        <p:spPr>
          <a:xfrm>
            <a:off x="88449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88906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89363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89820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90277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90735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91192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91649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92106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2563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3021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3478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3935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4392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94849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95307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95764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6" name="native446"/>
          <p:cNvSpPr/>
          <p:nvPr/>
        </p:nvSpPr>
        <p:spPr>
          <a:xfrm>
            <a:off x="96221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7" name="native447"/>
          <p:cNvSpPr/>
          <p:nvPr/>
        </p:nvSpPr>
        <p:spPr>
          <a:xfrm>
            <a:off x="9667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8" name="native448"/>
          <p:cNvSpPr/>
          <p:nvPr/>
        </p:nvSpPr>
        <p:spPr>
          <a:xfrm>
            <a:off x="9713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9" name="native449"/>
          <p:cNvSpPr/>
          <p:nvPr/>
        </p:nvSpPr>
        <p:spPr>
          <a:xfrm>
            <a:off x="9759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9805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9850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9896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9942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8524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8570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8616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8662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8707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8753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8799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88449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88906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89363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89820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90277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90735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91192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91649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92106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92563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93021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93478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93935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94392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94849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95307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95764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96221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9667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9713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9759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9805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9850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9896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9942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8524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8570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8616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8662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8707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8753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8799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88449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88906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89363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89820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90277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90735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91192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91649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92106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92563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93021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93478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93935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94392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94849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95307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95764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96221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9667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9713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9759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9805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9850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9896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9942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8524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8570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8616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8662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8707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8753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8799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88449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88906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89363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89820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90277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90735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91192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91649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92106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92563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93021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93478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93935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94392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94849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95307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95764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96221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9667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9713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9759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9805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9850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9896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9942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8524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8570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8616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8662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8707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8753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8799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88449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88906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89363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89820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90277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90735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91192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91649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92106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92563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93021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93478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93935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94392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94849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95307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95764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96221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9667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9713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9759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9805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9" name="native579"/>
          <p:cNvSpPr/>
          <p:nvPr/>
        </p:nvSpPr>
        <p:spPr>
          <a:xfrm>
            <a:off x="9850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9896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9942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2" name="native582"/>
          <p:cNvSpPr/>
          <p:nvPr/>
        </p:nvSpPr>
        <p:spPr>
          <a:xfrm>
            <a:off x="8543925" y="4267200"/>
            <a:ext cx="1428750" cy="40957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3" name="native583"/>
          <p:cNvSpPr/>
          <p:nvPr/>
        </p:nvSpPr>
        <p:spPr>
          <a:xfrm>
            <a:off x="8820150" y="4222242"/>
            <a:ext cx="857250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325" b="0">
                <a:solidFill>
                  <a:srgbClr val="78628F"/>
                </a:solidFill>
                <a:latin typeface="Noto Sans CJK SC"/>
                <a:ea typeface="Noto Sans CJK SC"/>
              </a:rPr>
              <a:t>⋮</a:t>
            </a:r>
            <a:endParaRPr lang="zh-CN" sz="2325"/>
          </a:p>
        </p:txBody>
      </p:sp>
      <p:sp>
        <p:nvSpPr>
          <p:cNvPr id="584" name="native584"/>
          <p:cNvSpPr/>
          <p:nvPr/>
        </p:nvSpPr>
        <p:spPr>
          <a:xfrm>
            <a:off x="10058400" y="3581400"/>
            <a:ext cx="38100" cy="1676400"/>
          </a:xfrm>
          <a:custGeom>
            <a:avLst/>
            <a:gdLst/>
            <a:ahLst/>
            <a:cxnLst/>
            <a:rect l="0" t="0" r="r" b="b"/>
            <a:pathLst>
              <a:path w="38100" h="1676400" fill="none">
                <a:moveTo>
                  <a:pt x="0" y="0"/>
                </a:moveTo>
                <a:lnTo>
                  <a:pt x="38100" y="0"/>
                </a:lnTo>
                <a:lnTo>
                  <a:pt x="38100" y="1676400"/>
                </a:lnTo>
                <a:lnTo>
                  <a:pt x="0" y="1676400"/>
                </a:lnTo>
              </a:path>
            </a:pathLst>
          </a:custGeom>
          <a:noFill/>
          <a:ln w="11430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8315325" y="532409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S 个历史 词元</a:t>
            </a:r>
          </a:p>
        </p:txBody>
      </p:sp>
      <p:sp>
        <p:nvSpPr>
          <p:cNvPr id="586" name="native586"/>
          <p:cNvSpPr/>
          <p:nvPr/>
        </p:nvSpPr>
        <p:spPr>
          <a:xfrm>
            <a:off x="6538912" y="454304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 个 Q 头各自保留</a:t>
            </a:r>
            <a:endParaRPr lang="zh-CN" sz="1275"/>
          </a:p>
        </p:txBody>
      </p:sp>
      <p:sp>
        <p:nvSpPr>
          <p:cNvPr id="587" name="native587"/>
          <p:cNvSpPr/>
          <p:nvPr/>
        </p:nvSpPr>
        <p:spPr>
          <a:xfrm>
            <a:off x="5600700" y="5781675"/>
            <a:ext cx="1095375" cy="952"/>
          </a:xfrm>
          <a:custGeom>
            <a:avLst/>
            <a:gdLst/>
            <a:ahLst/>
            <a:cxnLst/>
            <a:rect l="0" t="0" r="r" b="b"/>
            <a:pathLst>
              <a:path w="1095375" h="952" fill="none">
                <a:moveTo>
                  <a:pt x="0" y="0"/>
                </a:moveTo>
                <a:lnTo>
                  <a:pt x="10953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8" name="native588"/>
          <p:cNvSpPr/>
          <p:nvPr/>
        </p:nvSpPr>
        <p:spPr>
          <a:xfrm>
            <a:off x="5591175" y="5466969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坐标选取</a:t>
            </a:r>
          </a:p>
        </p:txBody>
      </p:sp>
      <p:sp>
        <p:nvSpPr>
          <p:cNvPr id="589" name="native589"/>
          <p:cNvSpPr/>
          <p:nvPr/>
        </p:nvSpPr>
        <p:spPr>
          <a:xfrm>
            <a:off x="6705600" y="4514850"/>
            <a:ext cx="1819275" cy="1257300"/>
          </a:xfrm>
          <a:custGeom>
            <a:avLst/>
            <a:gdLst/>
            <a:ahLst/>
            <a:cxnLst/>
            <a:rect l="0" t="0" r="r" b="b"/>
            <a:pathLst>
              <a:path w="1819275" h="1257300" fill="none">
                <a:moveTo>
                  <a:pt x="0" y="0"/>
                </a:moveTo>
                <a:lnTo>
                  <a:pt x="0" y="1257300"/>
                </a:lnTo>
                <a:lnTo>
                  <a:pt x="1819275" y="1257300"/>
                </a:lnTo>
                <a:lnTo>
                  <a:pt x="1819275" y="809625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7600950" y="5772150"/>
            <a:ext cx="2581275" cy="952"/>
          </a:xfrm>
          <a:custGeom>
            <a:avLst/>
            <a:gdLst/>
            <a:ahLst/>
            <a:cxnLst/>
            <a:rect l="0" t="0" r="r" b="b"/>
            <a:pathLst>
              <a:path w="2581275" h="952" fill="none">
                <a:moveTo>
                  <a:pt x="0" y="0"/>
                </a:moveTo>
                <a:lnTo>
                  <a:pt x="25812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7115175" y="5873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无学习投影；维度索引固定</a:t>
            </a:r>
            <a:endParaRPr lang="zh-CN" sz="1500"/>
          </a:p>
        </p:txBody>
      </p:sp>
      <p:sp>
        <p:nvSpPr>
          <p:cNvPr id="592" name="native592"/>
          <p:cNvSpPr/>
          <p:nvPr/>
        </p:nvSpPr>
        <p:spPr>
          <a:xfrm>
            <a:off x="6810375" y="6198108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Q 头独立 · K 视图组内共享</a:t>
            </a:r>
            <a:endParaRPr lang="zh-CN" sz="1425"/>
          </a:p>
        </p:txBody>
      </p:sp>
      <p:sp>
        <p:nvSpPr>
          <p:cNvPr id="593" name="native593"/>
          <p:cNvSpPr/>
          <p:nvPr/>
        </p:nvSpPr>
        <p:spPr>
          <a:xfrm>
            <a:off x="10439400" y="252145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表示共享先于 近区 / 远区 分区</a:t>
            </a:r>
          </a:p>
        </p:txBody>
      </p:sp>
      <p:sp>
        <p:nvSpPr>
          <p:cNvPr id="594" name="native594"/>
          <p:cNvSpPr/>
          <p:nvPr/>
        </p:nvSpPr>
        <p:spPr>
          <a:xfrm>
            <a:off x="10201275" y="3590925"/>
            <a:ext cx="409575" cy="2181225"/>
          </a:xfrm>
          <a:custGeom>
            <a:avLst/>
            <a:gdLst/>
            <a:ahLst/>
            <a:cxnLst/>
            <a:rect l="0" t="0" r="r" b="b"/>
            <a:pathLst>
              <a:path w="409575" h="2181225" fill="none">
                <a:moveTo>
                  <a:pt x="0" y="2181225"/>
                </a:moveTo>
                <a:lnTo>
                  <a:pt x="161925" y="2181225"/>
                </a:lnTo>
                <a:lnTo>
                  <a:pt x="161925" y="0"/>
                </a:lnTo>
                <a:lnTo>
                  <a:pt x="4095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5" name="native595"/>
          <p:cNvSpPr/>
          <p:nvPr/>
        </p:nvSpPr>
        <p:spPr>
          <a:xfrm>
            <a:off x="10363200" y="5010150"/>
            <a:ext cx="247650" cy="952"/>
          </a:xfrm>
          <a:custGeom>
            <a:avLst/>
            <a:gdLst/>
            <a:ahLst/>
            <a:cxnLst/>
            <a:rect l="0" t="0" r="r" b="b"/>
            <a:pathLst>
              <a:path w="247650" h="952" fill="none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0629900" y="3276600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0953750" y="3278886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L1</a:t>
            </a:r>
            <a:endParaRPr lang="zh-CN" sz="1725"/>
          </a:p>
        </p:txBody>
      </p:sp>
      <p:sp>
        <p:nvSpPr>
          <p:cNvPr id="598" name="native598"/>
          <p:cNvSpPr/>
          <p:nvPr/>
        </p:nvSpPr>
        <p:spPr>
          <a:xfrm>
            <a:off x="10953750" y="35692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页评分</a:t>
            </a:r>
            <a:endParaRPr lang="zh-CN" sz="1425"/>
          </a:p>
        </p:txBody>
      </p:sp>
      <p:sp>
        <p:nvSpPr>
          <p:cNvPr id="599" name="native599"/>
          <p:cNvSpPr/>
          <p:nvPr/>
        </p:nvSpPr>
        <p:spPr>
          <a:xfrm>
            <a:off x="10629900" y="4695825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0953750" y="4698111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L2</a:t>
            </a:r>
            <a:endParaRPr lang="zh-CN" sz="1725"/>
          </a:p>
        </p:txBody>
      </p:sp>
      <p:sp>
        <p:nvSpPr>
          <p:cNvPr id="601" name="native601"/>
          <p:cNvSpPr/>
          <p:nvPr/>
        </p:nvSpPr>
        <p:spPr>
          <a:xfrm>
            <a:off x="10296525" y="4988433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全 S 词元 评分</a:t>
            </a:r>
          </a:p>
        </p:txBody>
      </p:sp>
      <p:sp>
        <p:nvSpPr>
          <p:cNvPr id="602" name="native602"/>
          <p:cNvSpPr/>
          <p:nvPr/>
        </p:nvSpPr>
        <p:spPr>
          <a:xfrm>
            <a:off x="12163425" y="3590925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2287250" y="3314700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2287250" y="3590925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2382500" y="3438525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6" name="native606"/>
          <p:cNvSpPr/>
          <p:nvPr/>
        </p:nvSpPr>
        <p:spPr>
          <a:xfrm>
            <a:off x="1232535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07" name="native607"/>
          <p:cNvSpPr/>
          <p:nvPr/>
        </p:nvSpPr>
        <p:spPr>
          <a:xfrm>
            <a:off x="13392150" y="3438525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8" name="native608"/>
          <p:cNvSpPr/>
          <p:nvPr/>
        </p:nvSpPr>
        <p:spPr>
          <a:xfrm>
            <a:off x="1333500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09" name="native609"/>
          <p:cNvSpPr/>
          <p:nvPr/>
        </p:nvSpPr>
        <p:spPr>
          <a:xfrm>
            <a:off x="12163425" y="5010150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2287250" y="4733925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2287250" y="5010150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2382500" y="4857750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3" name="native613"/>
          <p:cNvSpPr/>
          <p:nvPr/>
        </p:nvSpPr>
        <p:spPr>
          <a:xfrm>
            <a:off x="1232535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14" name="native614"/>
          <p:cNvSpPr/>
          <p:nvPr/>
        </p:nvSpPr>
        <p:spPr>
          <a:xfrm>
            <a:off x="13392150" y="4857750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5" name="native615"/>
          <p:cNvSpPr/>
          <p:nvPr/>
        </p:nvSpPr>
        <p:spPr>
          <a:xfrm>
            <a:off x="1333500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16" name="native616"/>
          <p:cNvSpPr/>
          <p:nvPr/>
        </p:nvSpPr>
        <p:spPr>
          <a:xfrm>
            <a:off x="11382375" y="3762375"/>
            <a:ext cx="1371600" cy="904875"/>
          </a:xfrm>
          <a:custGeom>
            <a:avLst/>
            <a:gdLst/>
            <a:ahLst/>
            <a:cxnLst/>
            <a:rect l="0" t="0" r="r" b="b"/>
            <a:pathLst>
              <a:path w="1371600" h="904875" fill="none">
                <a:moveTo>
                  <a:pt x="1371600" y="0"/>
                </a:moveTo>
                <a:lnTo>
                  <a:pt x="1371600" y="495300"/>
                </a:lnTo>
                <a:lnTo>
                  <a:pt x="0" y="495300"/>
                </a:lnTo>
                <a:lnTo>
                  <a:pt x="0" y="904875"/>
                </a:lnTo>
              </a:path>
            </a:pathLst>
          </a:custGeom>
          <a:noFill/>
          <a:ln w="13335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12753975" y="3762375"/>
            <a:ext cx="1009650" cy="495300"/>
          </a:xfrm>
          <a:custGeom>
            <a:avLst/>
            <a:gdLst/>
            <a:ahLst/>
            <a:cxnLst/>
            <a:rect l="0" t="0" r="r" b="b"/>
            <a:pathLst>
              <a:path w="1009650" h="495300" fill="none">
                <a:moveTo>
                  <a:pt x="1009650" y="0"/>
                </a:moveTo>
                <a:lnTo>
                  <a:pt x="1009650" y="495300"/>
                </a:lnTo>
                <a:lnTo>
                  <a:pt x="0" y="495300"/>
                </a:lnTo>
              </a:path>
            </a:pathLst>
          </a:custGeom>
          <a:noFill/>
          <a:ln w="13335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8" name="native618"/>
          <p:cNvSpPr/>
          <p:nvPr/>
        </p:nvSpPr>
        <p:spPr>
          <a:xfrm>
            <a:off x="12134850" y="4095750"/>
            <a:ext cx="1924050" cy="2381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9" name="native619"/>
          <p:cNvSpPr/>
          <p:nvPr/>
        </p:nvSpPr>
        <p:spPr>
          <a:xfrm>
            <a:off x="12449175" y="4095369"/>
            <a:ext cx="12954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评分后 掩码</a:t>
            </a:r>
          </a:p>
        </p:txBody>
      </p:sp>
      <p:sp>
        <p:nvSpPr>
          <p:cNvPr id="620" name="native620"/>
          <p:cNvSpPr/>
          <p:nvPr/>
        </p:nvSpPr>
        <p:spPr>
          <a:xfrm>
            <a:off x="12753975" y="5191125"/>
            <a:ext cx="504825" cy="657225"/>
          </a:xfrm>
          <a:custGeom>
            <a:avLst/>
            <a:gdLst/>
            <a:ahLst/>
            <a:cxnLst/>
            <a:rect l="0" t="0" r="r" b="b"/>
            <a:pathLst>
              <a:path w="504825" h="657225" fill="none">
                <a:moveTo>
                  <a:pt x="0" y="0"/>
                </a:moveTo>
                <a:lnTo>
                  <a:pt x="0" y="495300"/>
                </a:lnTo>
                <a:lnTo>
                  <a:pt x="504825" y="495300"/>
                </a:lnTo>
                <a:lnTo>
                  <a:pt x="504825" y="657225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1" name="native621"/>
          <p:cNvSpPr/>
          <p:nvPr/>
        </p:nvSpPr>
        <p:spPr>
          <a:xfrm>
            <a:off x="13258800" y="5191125"/>
            <a:ext cx="504825" cy="495300"/>
          </a:xfrm>
          <a:custGeom>
            <a:avLst/>
            <a:gdLst/>
            <a:ahLst/>
            <a:cxnLst/>
            <a:rect l="0" t="0" r="r" b="b"/>
            <a:pathLst>
              <a:path w="504825" h="495300" fill="none">
                <a:moveTo>
                  <a:pt x="504825" y="0"/>
                </a:moveTo>
                <a:lnTo>
                  <a:pt x="504825" y="495300"/>
                </a:lnTo>
                <a:lnTo>
                  <a:pt x="0" y="495300"/>
                </a:lnTo>
              </a:path>
            </a:pathLst>
          </a:custGeom>
          <a:noFill/>
          <a:ln w="15240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2" name="native622"/>
          <p:cNvSpPr/>
          <p:nvPr/>
        </p:nvSpPr>
        <p:spPr>
          <a:xfrm>
            <a:off x="12058650" y="5862447"/>
            <a:ext cx="24003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共享词元索引</a:t>
            </a:r>
          </a:p>
        </p:txBody>
      </p:sp>
      <p:sp>
        <p:nvSpPr>
          <p:cNvPr id="623" name="native623"/>
          <p:cNvSpPr/>
          <p:nvPr/>
        </p:nvSpPr>
        <p:spPr>
          <a:xfrm>
            <a:off x="13258800" y="6143625"/>
            <a:ext cx="952" cy="152400"/>
          </a:xfrm>
          <a:custGeom>
            <a:avLst/>
            <a:gdLst/>
            <a:ahLst/>
            <a:cxnLst/>
            <a:rect l="0" t="0" r="r" b="b"/>
            <a:pathLst>
              <a:path w="952" h="152400" fill="none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4" name="native624"/>
          <p:cNvSpPr/>
          <p:nvPr/>
        </p:nvSpPr>
        <p:spPr>
          <a:xfrm>
            <a:off x="12163425" y="6334125"/>
            <a:ext cx="2076450" cy="514350"/>
          </a:xfrm>
          <a:prstGeom prst="roundRect">
            <a:avLst/>
          </a:prstGeom>
          <a:solidFill>
            <a:srgbClr val="F5F7F9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5" name="native625"/>
          <p:cNvSpPr/>
          <p:nvPr/>
        </p:nvSpPr>
        <p:spPr>
          <a:xfrm>
            <a:off x="11701462" y="6329172"/>
            <a:ext cx="30003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26" name="native626"/>
          <p:cNvSpPr/>
          <p:nvPr/>
        </p:nvSpPr>
        <p:spPr>
          <a:xfrm>
            <a:off x="12668250" y="6582537"/>
            <a:ext cx="1066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4Q 独立计算</a:t>
            </a:r>
            <a:endParaRPr lang="zh-CN" sz="1200"/>
          </a:p>
        </p:txBody>
      </p:sp>
      <p:sp>
        <p:nvSpPr>
          <p:cNvPr id="627" name="native627"/>
          <p:cNvSpPr/>
          <p:nvPr/>
        </p:nvSpPr>
        <p:spPr>
          <a:xfrm>
            <a:off x="952500" y="676465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125"/>
          </a:p>
        </p:txBody>
      </p:sp>
      <p:sp>
        <p:nvSpPr>
          <p:cNvPr id="628" name="native628"/>
          <p:cNvSpPr/>
          <p:nvPr/>
        </p:nvSpPr>
        <p:spPr>
          <a:xfrm>
            <a:off x="1171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9" name="native629"/>
          <p:cNvSpPr/>
          <p:nvPr/>
        </p:nvSpPr>
        <p:spPr>
          <a:xfrm>
            <a:off x="1247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0" name="native630"/>
          <p:cNvSpPr/>
          <p:nvPr/>
        </p:nvSpPr>
        <p:spPr>
          <a:xfrm>
            <a:off x="1323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1" name="native631"/>
          <p:cNvSpPr/>
          <p:nvPr/>
        </p:nvSpPr>
        <p:spPr>
          <a:xfrm>
            <a:off x="1400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2" name="native632"/>
          <p:cNvSpPr/>
          <p:nvPr/>
        </p:nvSpPr>
        <p:spPr>
          <a:xfrm>
            <a:off x="1476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3" name="native633"/>
          <p:cNvSpPr/>
          <p:nvPr/>
        </p:nvSpPr>
        <p:spPr>
          <a:xfrm>
            <a:off x="1552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4" name="native634"/>
          <p:cNvSpPr/>
          <p:nvPr/>
        </p:nvSpPr>
        <p:spPr>
          <a:xfrm>
            <a:off x="1628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5" name="native635"/>
          <p:cNvSpPr/>
          <p:nvPr/>
        </p:nvSpPr>
        <p:spPr>
          <a:xfrm>
            <a:off x="1704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6" name="native636"/>
          <p:cNvSpPr/>
          <p:nvPr/>
        </p:nvSpPr>
        <p:spPr>
          <a:xfrm>
            <a:off x="1781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7" name="native637"/>
          <p:cNvSpPr/>
          <p:nvPr/>
        </p:nvSpPr>
        <p:spPr>
          <a:xfrm>
            <a:off x="1857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8" name="native638"/>
          <p:cNvSpPr/>
          <p:nvPr/>
        </p:nvSpPr>
        <p:spPr>
          <a:xfrm>
            <a:off x="1933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9" name="native639"/>
          <p:cNvSpPr/>
          <p:nvPr/>
        </p:nvSpPr>
        <p:spPr>
          <a:xfrm>
            <a:off x="2009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0" name="native640"/>
          <p:cNvSpPr/>
          <p:nvPr/>
        </p:nvSpPr>
        <p:spPr>
          <a:xfrm>
            <a:off x="952500" y="6981580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125"/>
          </a:p>
        </p:txBody>
      </p:sp>
      <p:sp>
        <p:nvSpPr>
          <p:cNvPr id="641" name="native641"/>
          <p:cNvSpPr/>
          <p:nvPr/>
        </p:nvSpPr>
        <p:spPr>
          <a:xfrm>
            <a:off x="1171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2" name="native642"/>
          <p:cNvSpPr/>
          <p:nvPr/>
        </p:nvSpPr>
        <p:spPr>
          <a:xfrm>
            <a:off x="1247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3" name="native643"/>
          <p:cNvSpPr/>
          <p:nvPr/>
        </p:nvSpPr>
        <p:spPr>
          <a:xfrm>
            <a:off x="1323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4" name="native644"/>
          <p:cNvSpPr/>
          <p:nvPr/>
        </p:nvSpPr>
        <p:spPr>
          <a:xfrm>
            <a:off x="1400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5" name="native645"/>
          <p:cNvSpPr/>
          <p:nvPr/>
        </p:nvSpPr>
        <p:spPr>
          <a:xfrm>
            <a:off x="1476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6" name="native646"/>
          <p:cNvSpPr/>
          <p:nvPr/>
        </p:nvSpPr>
        <p:spPr>
          <a:xfrm>
            <a:off x="1552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7" name="native647"/>
          <p:cNvSpPr/>
          <p:nvPr/>
        </p:nvSpPr>
        <p:spPr>
          <a:xfrm>
            <a:off x="1628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8" name="native648"/>
          <p:cNvSpPr/>
          <p:nvPr/>
        </p:nvSpPr>
        <p:spPr>
          <a:xfrm>
            <a:off x="1704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9" name="native649"/>
          <p:cNvSpPr/>
          <p:nvPr/>
        </p:nvSpPr>
        <p:spPr>
          <a:xfrm>
            <a:off x="1781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0" name="native650"/>
          <p:cNvSpPr/>
          <p:nvPr/>
        </p:nvSpPr>
        <p:spPr>
          <a:xfrm>
            <a:off x="1857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1" name="native651"/>
          <p:cNvSpPr/>
          <p:nvPr/>
        </p:nvSpPr>
        <p:spPr>
          <a:xfrm>
            <a:off x="1933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2" name="native652"/>
          <p:cNvSpPr/>
          <p:nvPr/>
        </p:nvSpPr>
        <p:spPr>
          <a:xfrm>
            <a:off x="2009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3" name="native653"/>
          <p:cNvSpPr/>
          <p:nvPr/>
        </p:nvSpPr>
        <p:spPr>
          <a:xfrm>
            <a:off x="952500" y="719850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V</a:t>
            </a:r>
            <a:endParaRPr lang="zh-CN" sz="1125"/>
          </a:p>
        </p:txBody>
      </p:sp>
      <p:sp>
        <p:nvSpPr>
          <p:cNvPr id="654" name="native654"/>
          <p:cNvSpPr/>
          <p:nvPr/>
        </p:nvSpPr>
        <p:spPr>
          <a:xfrm>
            <a:off x="1171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5" name="native655"/>
          <p:cNvSpPr/>
          <p:nvPr/>
        </p:nvSpPr>
        <p:spPr>
          <a:xfrm>
            <a:off x="1247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6" name="native656"/>
          <p:cNvSpPr/>
          <p:nvPr/>
        </p:nvSpPr>
        <p:spPr>
          <a:xfrm>
            <a:off x="1323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7" name="native657"/>
          <p:cNvSpPr/>
          <p:nvPr/>
        </p:nvSpPr>
        <p:spPr>
          <a:xfrm>
            <a:off x="1400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8" name="native658"/>
          <p:cNvSpPr/>
          <p:nvPr/>
        </p:nvSpPr>
        <p:spPr>
          <a:xfrm>
            <a:off x="1476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9" name="native659"/>
          <p:cNvSpPr/>
          <p:nvPr/>
        </p:nvSpPr>
        <p:spPr>
          <a:xfrm>
            <a:off x="1552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0" name="native660"/>
          <p:cNvSpPr/>
          <p:nvPr/>
        </p:nvSpPr>
        <p:spPr>
          <a:xfrm>
            <a:off x="1628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1" name="native661"/>
          <p:cNvSpPr/>
          <p:nvPr/>
        </p:nvSpPr>
        <p:spPr>
          <a:xfrm>
            <a:off x="1704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2" name="native662"/>
          <p:cNvSpPr/>
          <p:nvPr/>
        </p:nvSpPr>
        <p:spPr>
          <a:xfrm>
            <a:off x="1781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3" name="native663"/>
          <p:cNvSpPr/>
          <p:nvPr/>
        </p:nvSpPr>
        <p:spPr>
          <a:xfrm>
            <a:off x="1857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4" name="native664"/>
          <p:cNvSpPr/>
          <p:nvPr/>
        </p:nvSpPr>
        <p:spPr>
          <a:xfrm>
            <a:off x="1933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5" name="native665"/>
          <p:cNvSpPr/>
          <p:nvPr/>
        </p:nvSpPr>
        <p:spPr>
          <a:xfrm>
            <a:off x="2009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6" name="native666"/>
          <p:cNvSpPr/>
          <p:nvPr/>
        </p:nvSpPr>
        <p:spPr>
          <a:xfrm>
            <a:off x="2362200" y="6843522"/>
            <a:ext cx="40005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原始 Q / K / V · 128 维</a:t>
            </a:r>
            <a:endParaRPr lang="zh-CN" sz="1575"/>
          </a:p>
        </p:txBody>
      </p:sp>
      <p:sp>
        <p:nvSpPr>
          <p:cNvPr id="667" name="native667"/>
          <p:cNvSpPr/>
          <p:nvPr/>
        </p:nvSpPr>
        <p:spPr>
          <a:xfrm>
            <a:off x="5314950" y="6591300"/>
            <a:ext cx="6819900" cy="409575"/>
          </a:xfrm>
          <a:custGeom>
            <a:avLst/>
            <a:gdLst/>
            <a:ahLst/>
            <a:cxnLst/>
            <a:rect l="0" t="0" r="r" b="b"/>
            <a:pathLst>
              <a:path w="6819900" h="409575" fill="none">
                <a:moveTo>
                  <a:pt x="0" y="409575"/>
                </a:moveTo>
                <a:lnTo>
                  <a:pt x="6572250" y="409575"/>
                </a:lnTo>
                <a:lnTo>
                  <a:pt x="6572250" y="0"/>
                </a:lnTo>
                <a:lnTo>
                  <a:pt x="6819900" y="0"/>
                </a:lnTo>
              </a:path>
            </a:pathLst>
          </a:custGeom>
          <a:noFill/>
          <a:ln w="2381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8" name="native668"/>
          <p:cNvSpPr/>
          <p:nvPr/>
        </p:nvSpPr>
        <p:spPr>
          <a:xfrm>
            <a:off x="7448550" y="6848475"/>
            <a:ext cx="3771900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9" name="native669"/>
          <p:cNvSpPr/>
          <p:nvPr/>
        </p:nvSpPr>
        <p:spPr>
          <a:xfrm>
            <a:off x="7362825" y="6866001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绕过选择视图，按共享词元索引读取原始 K / V</a:t>
            </a:r>
          </a:p>
        </p:txBody>
      </p:sp>
      <p:sp>
        <p:nvSpPr>
          <p:cNvPr id="674" name="native67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近远两级筛选：位置、页预算与词元预算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4/128候选充足示例；摘要按完整物理页计算，远区可重复选中至多4个前缀词元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365760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702945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10715625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native25"/>
          <p:cNvSpPr/>
          <p:nvPr/>
        </p:nvSpPr>
        <p:spPr>
          <a:xfrm>
            <a:off x="895350" y="1963293"/>
            <a:ext cx="2743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a  共享 RoPE32</a:t>
            </a:r>
            <a:endParaRPr lang="zh-CN" sz="1800"/>
          </a:p>
        </p:txBody>
      </p:sp>
      <p:sp>
        <p:nvSpPr>
          <p:cNvPr id="26" name="native26"/>
          <p:cNvSpPr/>
          <p:nvPr/>
        </p:nvSpPr>
        <p:spPr>
          <a:xfrm>
            <a:off x="3867150" y="19632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b  L1：区域页筛选</a:t>
            </a:r>
            <a:endParaRPr lang="zh-CN" sz="1800"/>
          </a:p>
        </p:txBody>
      </p:sp>
      <p:sp>
        <p:nvSpPr>
          <p:cNvPr id="27" name="native27"/>
          <p:cNvSpPr/>
          <p:nvPr/>
        </p:nvSpPr>
        <p:spPr>
          <a:xfrm>
            <a:off x="7239000" y="1963293"/>
            <a:ext cx="3886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c  L2：区域 词元 筛选</a:t>
            </a:r>
          </a:p>
        </p:txBody>
      </p:sp>
      <p:sp>
        <p:nvSpPr>
          <p:cNvPr id="28" name="native28"/>
          <p:cNvSpPr/>
          <p:nvPr/>
        </p:nvSpPr>
        <p:spPr>
          <a:xfrm>
            <a:off x="10944225" y="1963293"/>
            <a:ext cx="18288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d  原维注意力</a:t>
            </a:r>
            <a:endParaRPr lang="zh-CN" sz="1800"/>
          </a:p>
        </p:txBody>
      </p:sp>
      <p:sp>
        <p:nvSpPr>
          <p:cNvPr id="29" name="native29"/>
          <p:cNvSpPr/>
          <p:nvPr/>
        </p:nvSpPr>
        <p:spPr>
          <a:xfrm>
            <a:off x="895350" y="23622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895350" y="2472690"/>
            <a:ext cx="3429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RoPE 后：4Q / 1 KV 组</a:t>
            </a:r>
            <a:endParaRPr lang="zh-CN" sz="1500"/>
          </a:p>
        </p:txBody>
      </p:sp>
      <p:sp>
        <p:nvSpPr>
          <p:cNvPr id="31" name="native31"/>
          <p:cNvSpPr/>
          <p:nvPr/>
        </p:nvSpPr>
        <p:spPr>
          <a:xfrm>
            <a:off x="923925" y="2928747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575"/>
          </a:p>
        </p:txBody>
      </p:sp>
      <p:sp>
        <p:nvSpPr>
          <p:cNvPr id="32" name="native32"/>
          <p:cNvSpPr/>
          <p:nvPr/>
        </p:nvSpPr>
        <p:spPr>
          <a:xfrm>
            <a:off x="12287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14954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native34"/>
          <p:cNvSpPr/>
          <p:nvPr/>
        </p:nvSpPr>
        <p:spPr>
          <a:xfrm>
            <a:off x="17621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native35"/>
          <p:cNvSpPr/>
          <p:nvPr/>
        </p:nvSpPr>
        <p:spPr>
          <a:xfrm>
            <a:off x="20288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native36"/>
          <p:cNvSpPr/>
          <p:nvPr/>
        </p:nvSpPr>
        <p:spPr>
          <a:xfrm>
            <a:off x="22955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native37"/>
          <p:cNvSpPr/>
          <p:nvPr/>
        </p:nvSpPr>
        <p:spPr>
          <a:xfrm>
            <a:off x="25622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28289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30956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2287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4954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7621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288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955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5622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8289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30956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2287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4954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7621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0288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22955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25622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28289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30956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2287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4954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7621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0288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2955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5622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8289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30956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923925" y="390982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575"/>
          </a:p>
        </p:txBody>
      </p:sp>
      <p:sp>
        <p:nvSpPr>
          <p:cNvPr id="65" name="native65"/>
          <p:cNvSpPr/>
          <p:nvPr/>
        </p:nvSpPr>
        <p:spPr>
          <a:xfrm>
            <a:off x="12287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4954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7621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0288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2955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5622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8289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30956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12287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14954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17621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0288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2955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622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8289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30956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2287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14954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17621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0288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2955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5622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8289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30956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954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7621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20288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2955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5622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8289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0956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12287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4954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17621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20288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22955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25622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28289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0956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12287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14954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17621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20288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22955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25622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28289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0956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2143125" y="2876550"/>
            <a:ext cx="1066800" cy="85725"/>
          </a:xfrm>
          <a:custGeom>
            <a:avLst/>
            <a:gdLst/>
            <a:ahLst/>
            <a:cxnLst/>
            <a:rect l="0" t="0" r="r" b="b"/>
            <a:pathLst>
              <a:path w="1066800" h="85725" fill="none">
                <a:moveTo>
                  <a:pt x="0" y="85725"/>
                </a:moveTo>
                <a:lnTo>
                  <a:pt x="0" y="0"/>
                </a:lnTo>
                <a:lnTo>
                  <a:pt x="1066800" y="0"/>
                </a:lnTo>
                <a:lnTo>
                  <a:pt x="1066800" y="85725"/>
                </a:lnTo>
              </a:path>
            </a:pathLst>
          </a:custGeom>
          <a:noFill/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1266825" y="35916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0…63</a:t>
            </a:r>
            <a:endParaRPr lang="zh-CN" sz="1200"/>
          </a:p>
        </p:txBody>
      </p:sp>
      <p:sp>
        <p:nvSpPr>
          <p:cNvPr id="115" name="native115"/>
          <p:cNvSpPr/>
          <p:nvPr/>
        </p:nvSpPr>
        <p:spPr>
          <a:xfrm>
            <a:off x="2409825" y="3591687"/>
            <a:ext cx="9144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64…127</a:t>
            </a:r>
            <a:endParaRPr lang="zh-CN" sz="1200"/>
          </a:p>
        </p:txBody>
      </p:sp>
      <p:sp>
        <p:nvSpPr>
          <p:cNvPr id="116" name="native116"/>
          <p:cNvSpPr/>
          <p:nvPr/>
        </p:nvSpPr>
        <p:spPr>
          <a:xfrm>
            <a:off x="628650" y="49229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[48…63] ∪ [112…127]</a:t>
            </a:r>
            <a:endParaRPr lang="zh-CN" sz="1350"/>
          </a:p>
        </p:txBody>
      </p:sp>
      <p:sp>
        <p:nvSpPr>
          <p:cNvPr id="117" name="native117"/>
          <p:cNvSpPr/>
          <p:nvPr/>
        </p:nvSpPr>
        <p:spPr>
          <a:xfrm>
            <a:off x="990600" y="5150358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16 对完整 RoPE 坐标</a:t>
            </a:r>
            <a:endParaRPr lang="zh-CN" sz="1425"/>
          </a:p>
        </p:txBody>
      </p:sp>
      <p:sp>
        <p:nvSpPr>
          <p:cNvPr id="118" name="native118"/>
          <p:cNvSpPr/>
          <p:nvPr/>
        </p:nvSpPr>
        <p:spPr>
          <a:xfrm>
            <a:off x="2238375" y="5467350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1000125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4 × 32</a:t>
            </a:r>
            <a:endParaRPr lang="zh-CN" sz="1350"/>
          </a:p>
        </p:txBody>
      </p:sp>
      <p:sp>
        <p:nvSpPr>
          <p:cNvPr id="120" name="native120"/>
          <p:cNvSpPr/>
          <p:nvPr/>
        </p:nvSpPr>
        <p:spPr>
          <a:xfrm>
            <a:off x="2343150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 × 32</a:t>
            </a:r>
            <a:endParaRPr lang="zh-CN" sz="1350"/>
          </a:p>
        </p:txBody>
      </p:sp>
      <p:sp>
        <p:nvSpPr>
          <p:cNvPr id="121" name="native121"/>
          <p:cNvSpPr/>
          <p:nvPr/>
        </p:nvSpPr>
        <p:spPr>
          <a:xfrm>
            <a:off x="11620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13430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15240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17049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11620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13430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15240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17049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11620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13430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15240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17049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11620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13430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15240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17049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25146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26955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28765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30575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25146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26955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28765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30575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25146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26955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28765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30575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25146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26955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28765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30575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251460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269557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287655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305752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251460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269557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287655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305752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1071562" y="6550533"/>
            <a:ext cx="9048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q₁…q₄</a:t>
            </a:r>
            <a:endParaRPr lang="zh-CN" sz="1425"/>
          </a:p>
        </p:txBody>
      </p:sp>
      <p:sp>
        <p:nvSpPr>
          <p:cNvPr id="162" name="native162"/>
          <p:cNvSpPr/>
          <p:nvPr/>
        </p:nvSpPr>
        <p:spPr>
          <a:xfrm>
            <a:off x="2428875" y="67303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Kₛ</a:t>
            </a:r>
            <a:endParaRPr lang="zh-CN" sz="1500"/>
          </a:p>
        </p:txBody>
      </p:sp>
      <p:sp>
        <p:nvSpPr>
          <p:cNvPr id="163" name="native163"/>
          <p:cNvSpPr/>
          <p:nvPr/>
        </p:nvSpPr>
        <p:spPr>
          <a:xfrm>
            <a:off x="3371850" y="2800350"/>
            <a:ext cx="447675" cy="3409950"/>
          </a:xfrm>
          <a:custGeom>
            <a:avLst/>
            <a:gdLst/>
            <a:ahLst/>
            <a:cxnLst/>
            <a:rect l="0" t="0" r="r" b="b"/>
            <a:pathLst>
              <a:path w="447675" h="3409950" fill="none">
                <a:moveTo>
                  <a:pt x="0" y="3409950"/>
                </a:moveTo>
                <a:lnTo>
                  <a:pt x="171450" y="3409950"/>
                </a:lnTo>
                <a:lnTo>
                  <a:pt x="171450" y="0"/>
                </a:lnTo>
                <a:lnTo>
                  <a:pt x="447675" y="0"/>
                </a:lnTo>
              </a:path>
            </a:pathLst>
          </a:custGeom>
          <a:noFill/>
          <a:ln w="15716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3867150" y="2483358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按位置划分未保护中间历史</a:t>
            </a:r>
            <a:endParaRPr lang="zh-CN" sz="1425"/>
          </a:p>
        </p:txBody>
      </p:sp>
      <p:sp>
        <p:nvSpPr>
          <p:cNvPr id="165" name="native165"/>
          <p:cNvSpPr/>
          <p:nvPr/>
        </p:nvSpPr>
        <p:spPr>
          <a:xfrm>
            <a:off x="386715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360045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67" name="native167"/>
          <p:cNvSpPr/>
          <p:nvPr/>
        </p:nvSpPr>
        <p:spPr>
          <a:xfrm>
            <a:off x="4219575" y="2867025"/>
            <a:ext cx="1571625" cy="2667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4576762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69" name="native169"/>
          <p:cNvSpPr/>
          <p:nvPr/>
        </p:nvSpPr>
        <p:spPr>
          <a:xfrm>
            <a:off x="5819775" y="2867025"/>
            <a:ext cx="666750" cy="2667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724525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171" name="native171"/>
          <p:cNvSpPr/>
          <p:nvPr/>
        </p:nvSpPr>
        <p:spPr>
          <a:xfrm>
            <a:off x="651510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624840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73" name="native173"/>
          <p:cNvSpPr/>
          <p:nvPr/>
        </p:nvSpPr>
        <p:spPr>
          <a:xfrm>
            <a:off x="4219575" y="3190875"/>
            <a:ext cx="2266950" cy="57150"/>
          </a:xfrm>
          <a:custGeom>
            <a:avLst/>
            <a:gdLst/>
            <a:ahLst/>
            <a:cxnLst/>
            <a:rect l="0" t="0" r="r" b="b"/>
            <a:pathLst>
              <a:path w="2266950" h="57150" fill="none">
                <a:moveTo>
                  <a:pt x="0" y="0"/>
                </a:moveTo>
                <a:lnTo>
                  <a:pt x="0" y="57150"/>
                </a:lnTo>
                <a:lnTo>
                  <a:pt x="2266950" y="57150"/>
                </a:lnTo>
                <a:lnTo>
                  <a:pt x="2266950" y="0"/>
                </a:lnTo>
              </a:path>
            </a:pathLst>
          </a:custGeom>
          <a:noFill/>
          <a:ln w="10478">
            <a:solidFill>
              <a:srgbClr val="52677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3552825" y="3256026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|Mₜ| = S − |Pₜ|</a:t>
            </a:r>
          </a:p>
        </p:txBody>
      </p:sp>
      <p:sp>
        <p:nvSpPr>
          <p:cNvPr id="175" name="native175"/>
          <p:cNvSpPr/>
          <p:nvPr/>
        </p:nvSpPr>
        <p:spPr>
          <a:xfrm>
            <a:off x="3867150" y="35132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α=.25 定边界；页对齐，近区≥64</a:t>
            </a:r>
          </a:p>
        </p:txBody>
      </p:sp>
      <p:sp>
        <p:nvSpPr>
          <p:cNvPr id="176" name="native176"/>
          <p:cNvSpPr/>
          <p:nvPr/>
        </p:nvSpPr>
        <p:spPr>
          <a:xfrm>
            <a:off x="3867150" y="3760851"/>
            <a:ext cx="29146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近区L2∩P=∅；|Pₜ|=132示例</a:t>
            </a:r>
          </a:p>
        </p:txBody>
      </p:sp>
      <p:sp>
        <p:nvSpPr>
          <p:cNvPr id="177" name="native177"/>
          <p:cNvSpPr/>
          <p:nvPr/>
        </p:nvSpPr>
        <p:spPr>
          <a:xfrm>
            <a:off x="3867150" y="4056126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每 Q 页分 → 组内 均值 → TopK</a:t>
            </a:r>
          </a:p>
        </p:txBody>
      </p:sp>
      <p:sp>
        <p:nvSpPr>
          <p:cNvPr id="178" name="native178"/>
          <p:cNvSpPr/>
          <p:nvPr/>
        </p:nvSpPr>
        <p:spPr>
          <a:xfrm>
            <a:off x="3867150" y="43300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· 极值</a:t>
            </a:r>
          </a:p>
        </p:txBody>
      </p:sp>
      <p:sp>
        <p:nvSpPr>
          <p:cNvPr id="179" name="native179"/>
          <p:cNvSpPr/>
          <p:nvPr/>
        </p:nvSpPr>
        <p:spPr>
          <a:xfrm>
            <a:off x="3924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3971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4095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219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3971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4095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4219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4495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4543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4667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4791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4543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4667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4791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5067300" y="4667250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511492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5238750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536257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511492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5238750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536257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5638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5686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5810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5934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5686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5810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5934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6210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6257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6381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6505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6257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6381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6505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4852988" y="5033772"/>
            <a:ext cx="10001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2817B"/>
                </a:solidFill>
                <a:latin typeface="Noto Sans CJK SC"/>
                <a:ea typeface="Noto Sans CJK SC"/>
              </a:rPr>
              <a:t>112 页</a:t>
            </a:r>
            <a:endParaRPr lang="zh-CN" sz="1575"/>
          </a:p>
        </p:txBody>
      </p:sp>
      <p:sp>
        <p:nvSpPr>
          <p:cNvPr id="215" name="native215"/>
          <p:cNvSpPr/>
          <p:nvPr/>
        </p:nvSpPr>
        <p:spPr>
          <a:xfrm>
            <a:off x="3867150" y="536829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· 均值</a:t>
            </a:r>
          </a:p>
        </p:txBody>
      </p:sp>
      <p:sp>
        <p:nvSpPr>
          <p:cNvPr id="216" name="native216"/>
          <p:cNvSpPr/>
          <p:nvPr/>
        </p:nvSpPr>
        <p:spPr>
          <a:xfrm>
            <a:off x="3924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3971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4095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4219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3971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4095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4219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4495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4543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4667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4791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4543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4667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4791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5067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5114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5238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5362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5114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5238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5362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5638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5686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5810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5934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5686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5810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5934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6210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6257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6381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6505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6257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6381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6505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4924425" y="606247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32689F"/>
                </a:solidFill>
                <a:latin typeface="Noto Sans CJK SC"/>
                <a:ea typeface="Noto Sans CJK SC"/>
              </a:rPr>
              <a:t>16 页</a:t>
            </a:r>
            <a:endParaRPr lang="zh-CN" sz="1575"/>
          </a:p>
        </p:txBody>
      </p:sp>
      <p:sp>
        <p:nvSpPr>
          <p:cNvPr id="252" name="native252"/>
          <p:cNvSpPr/>
          <p:nvPr/>
        </p:nvSpPr>
        <p:spPr>
          <a:xfrm>
            <a:off x="6172200" y="5200650"/>
            <a:ext cx="647700" cy="1409700"/>
          </a:xfrm>
          <a:custGeom>
            <a:avLst/>
            <a:gdLst/>
            <a:ahLst/>
            <a:cxnLst/>
            <a:rect l="0" t="0" r="r" b="b"/>
            <a:pathLst>
              <a:path w="647700" h="1409700" fill="none">
                <a:moveTo>
                  <a:pt x="0" y="0"/>
                </a:moveTo>
                <a:lnTo>
                  <a:pt x="647700" y="0"/>
                </a:lnTo>
                <a:lnTo>
                  <a:pt x="647700" y="1409700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6172200" y="6219825"/>
            <a:ext cx="495300" cy="390525"/>
          </a:xfrm>
          <a:custGeom>
            <a:avLst/>
            <a:gdLst/>
            <a:ahLst/>
            <a:cxnLst/>
            <a:rect l="0" t="0" r="r" b="b"/>
            <a:pathLst>
              <a:path w="495300" h="390525" fill="none">
                <a:moveTo>
                  <a:pt x="0" y="0"/>
                </a:moveTo>
                <a:lnTo>
                  <a:pt x="495300" y="0"/>
                </a:lnTo>
                <a:lnTo>
                  <a:pt x="495300" y="390525"/>
                </a:lnTo>
              </a:path>
            </a:pathLst>
          </a:custGeom>
          <a:noFill/>
          <a:ln w="1524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3867150" y="639813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 候选页 掩码</a:t>
            </a:r>
          </a:p>
        </p:txBody>
      </p:sp>
      <p:sp>
        <p:nvSpPr>
          <p:cNvPr id="255" name="native255"/>
          <p:cNvSpPr/>
          <p:nvPr/>
        </p:nvSpPr>
        <p:spPr>
          <a:xfrm>
            <a:off x="386715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403193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419671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436149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452628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469106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485584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5020628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5185410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535019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5514975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567975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584454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600932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617410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6338888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6503670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666845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6867525" y="4505325"/>
            <a:ext cx="342900" cy="2305050"/>
          </a:xfrm>
          <a:custGeom>
            <a:avLst/>
            <a:gdLst/>
            <a:ahLst/>
            <a:cxnLst/>
            <a:rect l="0" t="0" r="r" b="b"/>
            <a:pathLst>
              <a:path w="342900" h="2305050" fill="none">
                <a:moveTo>
                  <a:pt x="0" y="2305050"/>
                </a:moveTo>
                <a:lnTo>
                  <a:pt x="76200" y="2305050"/>
                </a:lnTo>
                <a:lnTo>
                  <a:pt x="76200" y="0"/>
                </a:lnTo>
                <a:lnTo>
                  <a:pt x="342900" y="0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39000" y="2472690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普通 L2：32 维全 S 评分</a:t>
            </a:r>
            <a:endParaRPr lang="zh-CN" sz="1500"/>
          </a:p>
        </p:txBody>
      </p:sp>
      <p:sp>
        <p:nvSpPr>
          <p:cNvPr id="275" name="native275"/>
          <p:cNvSpPr/>
          <p:nvPr/>
        </p:nvSpPr>
        <p:spPr>
          <a:xfrm>
            <a:off x="9667875" y="27153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</a:t>
            </a:r>
            <a:endParaRPr lang="zh-CN" sz="1200"/>
          </a:p>
        </p:txBody>
      </p:sp>
      <p:sp>
        <p:nvSpPr>
          <p:cNvPr id="276" name="native276"/>
          <p:cNvSpPr/>
          <p:nvPr/>
        </p:nvSpPr>
        <p:spPr>
          <a:xfrm>
            <a:off x="7239000" y="297256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q1</a:t>
            </a:r>
            <a:endParaRPr lang="zh-CN" sz="1200"/>
          </a:p>
        </p:txBody>
      </p:sp>
      <p:sp>
        <p:nvSpPr>
          <p:cNvPr id="277" name="native277"/>
          <p:cNvSpPr/>
          <p:nvPr/>
        </p:nvSpPr>
        <p:spPr>
          <a:xfrm>
            <a:off x="75438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71048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87717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80438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821055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837723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85439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8710612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88773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90439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9210675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93773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954405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971073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98774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1004411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1021080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4" name="native294"/>
          <p:cNvSpPr/>
          <p:nvPr/>
        </p:nvSpPr>
        <p:spPr>
          <a:xfrm>
            <a:off x="103774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7239000" y="31916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q2</a:t>
            </a:r>
            <a:endParaRPr lang="zh-CN" sz="1200"/>
          </a:p>
        </p:txBody>
      </p:sp>
      <p:sp>
        <p:nvSpPr>
          <p:cNvPr id="296" name="native296"/>
          <p:cNvSpPr/>
          <p:nvPr/>
        </p:nvSpPr>
        <p:spPr>
          <a:xfrm>
            <a:off x="754380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7710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78771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804386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821055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83772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8543925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871061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88773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9043988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92106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937736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954405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97107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987742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1004411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102108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10377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239000" y="34107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q3</a:t>
            </a:r>
            <a:endParaRPr lang="zh-CN" sz="1200"/>
          </a:p>
        </p:txBody>
      </p:sp>
      <p:sp>
        <p:nvSpPr>
          <p:cNvPr id="315" name="native315"/>
          <p:cNvSpPr/>
          <p:nvPr/>
        </p:nvSpPr>
        <p:spPr>
          <a:xfrm>
            <a:off x="7543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04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87717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804386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82105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837723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854392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87106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877300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90439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921067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9377362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95440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971073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987742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100441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10210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1037748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7239000" y="36297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q4</a:t>
            </a:r>
            <a:endParaRPr lang="zh-CN" sz="1200"/>
          </a:p>
        </p:txBody>
      </p:sp>
      <p:sp>
        <p:nvSpPr>
          <p:cNvPr id="334" name="native334"/>
          <p:cNvSpPr/>
          <p:nvPr/>
        </p:nvSpPr>
        <p:spPr>
          <a:xfrm>
            <a:off x="75438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771048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787717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80438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821055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837723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85439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8710612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88773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0439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210675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773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54405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71073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8774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1004411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1021080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103774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544050" y="3800094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[4, S]</a:t>
            </a:r>
            <a:endParaRPr lang="zh-CN" sz="1275"/>
          </a:p>
        </p:txBody>
      </p:sp>
      <p:sp>
        <p:nvSpPr>
          <p:cNvPr id="353" name="native353"/>
          <p:cNvSpPr/>
          <p:nvPr/>
        </p:nvSpPr>
        <p:spPr>
          <a:xfrm>
            <a:off x="8982075" y="395287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7239000" y="41109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加 L1 掩码</a:t>
            </a:r>
          </a:p>
        </p:txBody>
      </p:sp>
      <p:sp>
        <p:nvSpPr>
          <p:cNvPr id="355" name="native355"/>
          <p:cNvSpPr/>
          <p:nvPr/>
        </p:nvSpPr>
        <p:spPr>
          <a:xfrm>
            <a:off x="754380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77104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787717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788670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0438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0533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2105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37723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5439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5534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710612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77300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886825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90439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210675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3773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3868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5440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71073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72026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8774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8869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10044112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10210800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1037748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1038701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8982075" y="466725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7239000" y="486460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每 Q softmax</a:t>
            </a:r>
            <a:endParaRPr lang="zh-CN" sz="1425"/>
          </a:p>
        </p:txBody>
      </p:sp>
      <p:sp>
        <p:nvSpPr>
          <p:cNvPr id="383" name="native383"/>
          <p:cNvSpPr/>
          <p:nvPr/>
        </p:nvSpPr>
        <p:spPr>
          <a:xfrm>
            <a:off x="8872538" y="4864608"/>
            <a:ext cx="12668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组内 均值</a:t>
            </a:r>
          </a:p>
        </p:txBody>
      </p:sp>
      <p:sp>
        <p:nvSpPr>
          <p:cNvPr id="384" name="native384"/>
          <p:cNvSpPr/>
          <p:nvPr/>
        </p:nvSpPr>
        <p:spPr>
          <a:xfrm>
            <a:off x="739140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755332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7715250" y="51911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7877175" y="51911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8039100" y="51911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8201025" y="51911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36295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2487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739140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755332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7715250" y="53435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7877175" y="53435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039100" y="53435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201025" y="53435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36295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52487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739140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755332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7715250" y="54959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7877175" y="54959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8039100" y="54959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8201025" y="54959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836295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852487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739140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755332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7715250" y="56483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7877175" y="56483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8039100" y="56483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8201025" y="56483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836295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852487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8743950" y="5448300"/>
            <a:ext cx="352425" cy="952"/>
          </a:xfrm>
          <a:custGeom>
            <a:avLst/>
            <a:gdLst/>
            <a:ahLst/>
            <a:cxnLst/>
            <a:rect l="0" t="0" r="r" b="b"/>
            <a:pathLst>
              <a:path w="352425" h="952" fill="none">
                <a:moveTo>
                  <a:pt x="0" y="0"/>
                </a:moveTo>
                <a:lnTo>
                  <a:pt x="352425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2392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4011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5631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7250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8869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100488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102108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103727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9839325" y="557212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7239000" y="57397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区域 词元 TopK</a:t>
            </a:r>
          </a:p>
        </p:txBody>
      </p:sp>
      <p:sp>
        <p:nvSpPr>
          <p:cNvPr id="427" name="native427"/>
          <p:cNvSpPr/>
          <p:nvPr/>
        </p:nvSpPr>
        <p:spPr>
          <a:xfrm>
            <a:off x="7239000" y="6019419"/>
            <a:ext cx="51816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= min(892, ⌊γ·16·64⌋) = 640</a:t>
            </a:r>
          </a:p>
        </p:txBody>
      </p:sp>
      <p:sp>
        <p:nvSpPr>
          <p:cNvPr id="428" name="native428"/>
          <p:cNvSpPr/>
          <p:nvPr/>
        </p:nvSpPr>
        <p:spPr>
          <a:xfrm>
            <a:off x="7239000" y="62564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远区名义配额 = 892 − 640 = 252</a:t>
            </a:r>
          </a:p>
        </p:txBody>
      </p:sp>
      <p:sp>
        <p:nvSpPr>
          <p:cNvPr id="429" name="native429"/>
          <p:cNvSpPr/>
          <p:nvPr/>
        </p:nvSpPr>
        <p:spPr>
          <a:xfrm>
            <a:off x="726757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7467600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766762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78676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80676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82677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84677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86677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88677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0678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2678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4678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6678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8679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100679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102679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6757988" y="6757797"/>
            <a:ext cx="42005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区域名义槽位：892</a:t>
            </a:r>
          </a:p>
        </p:txBody>
      </p:sp>
      <p:sp>
        <p:nvSpPr>
          <p:cNvPr id="446" name="native446"/>
          <p:cNvSpPr/>
          <p:nvPr/>
        </p:nvSpPr>
        <p:spPr>
          <a:xfrm>
            <a:off x="10944225" y="2483358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原始 128 维 Q / K / V 保留</a:t>
            </a:r>
            <a:endParaRPr lang="zh-CN" sz="1425"/>
          </a:p>
        </p:txBody>
      </p:sp>
      <p:sp>
        <p:nvSpPr>
          <p:cNvPr id="447" name="native447"/>
          <p:cNvSpPr/>
          <p:nvPr/>
        </p:nvSpPr>
        <p:spPr>
          <a:xfrm>
            <a:off x="112585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K</a:t>
            </a:r>
            <a:endParaRPr lang="zh-CN" sz="1350"/>
          </a:p>
        </p:txBody>
      </p:sp>
      <p:sp>
        <p:nvSpPr>
          <p:cNvPr id="448" name="native448"/>
          <p:cNvSpPr/>
          <p:nvPr/>
        </p:nvSpPr>
        <p:spPr>
          <a:xfrm>
            <a:off x="129730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V</a:t>
            </a:r>
            <a:endParaRPr lang="zh-CN" sz="1350"/>
          </a:p>
        </p:txBody>
      </p:sp>
      <p:sp>
        <p:nvSpPr>
          <p:cNvPr id="449" name="native449"/>
          <p:cNvSpPr/>
          <p:nvPr/>
        </p:nvSpPr>
        <p:spPr>
          <a:xfrm>
            <a:off x="109918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111633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113347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115062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116776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118491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120205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121920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123634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109918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111633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113347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115062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116776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118491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120205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121920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123634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109918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111633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113347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115062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116776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118491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120205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121920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123634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109918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111633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113347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115062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116776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118491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120205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121920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123634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109918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111633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113347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115062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116776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118491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120205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121920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123634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109918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111633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113347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115062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116776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118491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120205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121920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123634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109918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111633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113347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115062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116776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118491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120205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121920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123634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126968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128682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130397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132111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133826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135540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137255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138969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140684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126968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128682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130397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132111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133826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135540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137255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138969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140684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126968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128682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130397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132111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133826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135540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137255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138969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140684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126968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128682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130397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132111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133826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135540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137255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138969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140684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126968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128682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130397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132111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133826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135540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137255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138969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140684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126968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128682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130397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132111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133826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135540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137255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138969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140684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126968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128682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130397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132111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133826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135540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137255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138969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140684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11696700" y="4019550"/>
            <a:ext cx="2590800" cy="1352550"/>
          </a:xfrm>
          <a:custGeom>
            <a:avLst/>
            <a:gdLst/>
            <a:ahLst/>
            <a:cxnLst/>
            <a:rect l="0" t="0" r="r" b="b"/>
            <a:pathLst>
              <a:path w="2590800" h="1352550" fill="none">
                <a:moveTo>
                  <a:pt x="0" y="0"/>
                </a:moveTo>
                <a:lnTo>
                  <a:pt x="0" y="66675"/>
                </a:lnTo>
                <a:lnTo>
                  <a:pt x="2590800" y="66675"/>
                </a:lnTo>
                <a:lnTo>
                  <a:pt x="2590800" y="1352550"/>
                </a:lnTo>
                <a:lnTo>
                  <a:pt x="2333625" y="13525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13401675" y="4019550"/>
            <a:ext cx="952" cy="66675"/>
          </a:xfrm>
          <a:custGeom>
            <a:avLst/>
            <a:gdLst/>
            <a:ahLst/>
            <a:cxnLst/>
            <a:rect l="0" t="0" r="r" b="b"/>
            <a:pathLst>
              <a:path w="952" h="66675" fill="none">
                <a:moveTo>
                  <a:pt x="0" y="0"/>
                </a:moveTo>
                <a:lnTo>
                  <a:pt x="0" y="66675"/>
                </a:lnTo>
              </a:path>
            </a:pathLst>
          </a:custGeom>
          <a:noFill/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11125200" y="4248150"/>
            <a:ext cx="2943225" cy="29527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10782300" y="42550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前缀4 ∪ 近期窗口128</a:t>
            </a:r>
          </a:p>
        </p:txBody>
      </p:sp>
      <p:sp>
        <p:nvSpPr>
          <p:cNvPr id="579" name="native579"/>
          <p:cNvSpPr/>
          <p:nvPr/>
        </p:nvSpPr>
        <p:spPr>
          <a:xfrm>
            <a:off x="12592050" y="4562475"/>
            <a:ext cx="952" cy="142875"/>
          </a:xfrm>
          <a:custGeom>
            <a:avLst/>
            <a:gdLst/>
            <a:ahLst/>
            <a:cxnLst/>
            <a:rect l="0" t="0" r="r" b="b"/>
            <a:pathLst>
              <a:path w="952" h="142875" fill="none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/>
          <a:ln w="15240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10944225" y="4752975"/>
            <a:ext cx="3257550" cy="438150"/>
          </a:xfrm>
          <a:prstGeom prst="roundRect">
            <a:avLst/>
          </a:prstGeom>
          <a:solidFill>
            <a:srgbClr val="F5F7F9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10772775" y="47384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Sₕ = I_F ∪ I_N ∪ P</a:t>
            </a:r>
            <a:endParaRPr lang="zh-CN" sz="1575"/>
          </a:p>
        </p:txBody>
      </p:sp>
      <p:sp>
        <p:nvSpPr>
          <p:cNvPr id="582" name="native582"/>
          <p:cNvSpPr/>
          <p:nvPr/>
        </p:nvSpPr>
        <p:spPr>
          <a:xfrm>
            <a:off x="10515600" y="4982337"/>
            <a:ext cx="4114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名义1024 = 252 + 640 + 132</a:t>
            </a:r>
          </a:p>
        </p:txBody>
      </p:sp>
      <p:sp>
        <p:nvSpPr>
          <p:cNvPr id="583" name="native583"/>
          <p:cNvSpPr/>
          <p:nvPr/>
        </p:nvSpPr>
        <p:spPr>
          <a:xfrm>
            <a:off x="10487025" y="4962525"/>
            <a:ext cx="419100" cy="1704975"/>
          </a:xfrm>
          <a:custGeom>
            <a:avLst/>
            <a:gdLst/>
            <a:ahLst/>
            <a:cxnLst/>
            <a:rect l="0" t="0" r="r" b="b"/>
            <a:pathLst>
              <a:path w="419100" h="1704975" fill="none">
                <a:moveTo>
                  <a:pt x="0" y="1704975"/>
                </a:moveTo>
                <a:lnTo>
                  <a:pt x="142875" y="1704975"/>
                </a:lnTo>
                <a:lnTo>
                  <a:pt x="142875" y="0"/>
                </a:lnTo>
                <a:lnTo>
                  <a:pt x="419100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4" name="native584"/>
          <p:cNvSpPr/>
          <p:nvPr/>
        </p:nvSpPr>
        <p:spPr>
          <a:xfrm>
            <a:off x="12573000" y="5200650"/>
            <a:ext cx="952" cy="85725"/>
          </a:xfrm>
          <a:custGeom>
            <a:avLst/>
            <a:gdLst/>
            <a:ahLst/>
            <a:cxnLst/>
            <a:rect l="0" t="0" r="r" b="b"/>
            <a:pathLst>
              <a:path w="952" h="85725" fill="none">
                <a:moveTo>
                  <a:pt x="0" y="0"/>
                </a:moveTo>
                <a:lnTo>
                  <a:pt x="0" y="85725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10763250" y="52837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 Sₕ 读取原始 K / V</a:t>
            </a:r>
          </a:p>
        </p:txBody>
      </p:sp>
      <p:sp>
        <p:nvSpPr>
          <p:cNvPr id="586" name="native586"/>
          <p:cNvSpPr/>
          <p:nvPr/>
        </p:nvSpPr>
        <p:spPr>
          <a:xfrm>
            <a:off x="12573000" y="55816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7" name="native587"/>
          <p:cNvSpPr/>
          <p:nvPr/>
        </p:nvSpPr>
        <p:spPr>
          <a:xfrm>
            <a:off x="10991850" y="57801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q1</a:t>
            </a:r>
            <a:endParaRPr lang="zh-CN" sz="1350"/>
          </a:p>
        </p:txBody>
      </p:sp>
      <p:sp>
        <p:nvSpPr>
          <p:cNvPr id="588" name="native588"/>
          <p:cNvSpPr/>
          <p:nvPr/>
        </p:nvSpPr>
        <p:spPr>
          <a:xfrm>
            <a:off x="11287125" y="584835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9" name="native589"/>
          <p:cNvSpPr/>
          <p:nvPr/>
        </p:nvSpPr>
        <p:spPr>
          <a:xfrm>
            <a:off x="11572875" y="589597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11858625" y="579120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11472862" y="578129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2" name="native592"/>
          <p:cNvSpPr/>
          <p:nvPr/>
        </p:nvSpPr>
        <p:spPr>
          <a:xfrm>
            <a:off x="13544550" y="589597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3" name="native593"/>
          <p:cNvSpPr/>
          <p:nvPr/>
        </p:nvSpPr>
        <p:spPr>
          <a:xfrm>
            <a:off x="13906500" y="57706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o1</a:t>
            </a:r>
            <a:endParaRPr lang="zh-CN" sz="1350"/>
          </a:p>
        </p:txBody>
      </p:sp>
      <p:sp>
        <p:nvSpPr>
          <p:cNvPr id="594" name="native594"/>
          <p:cNvSpPr/>
          <p:nvPr/>
        </p:nvSpPr>
        <p:spPr>
          <a:xfrm>
            <a:off x="10991850" y="60754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q2</a:t>
            </a:r>
            <a:endParaRPr lang="zh-CN" sz="1350"/>
          </a:p>
        </p:txBody>
      </p:sp>
      <p:sp>
        <p:nvSpPr>
          <p:cNvPr id="595" name="native595"/>
          <p:cNvSpPr/>
          <p:nvPr/>
        </p:nvSpPr>
        <p:spPr>
          <a:xfrm>
            <a:off x="11287125" y="614362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1572875" y="619125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1858625" y="608647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8" name="native598"/>
          <p:cNvSpPr/>
          <p:nvPr/>
        </p:nvSpPr>
        <p:spPr>
          <a:xfrm>
            <a:off x="11472862" y="607656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9" name="native599"/>
          <p:cNvSpPr/>
          <p:nvPr/>
        </p:nvSpPr>
        <p:spPr>
          <a:xfrm>
            <a:off x="13544550" y="619125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3906500" y="60659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o2</a:t>
            </a:r>
            <a:endParaRPr lang="zh-CN" sz="1350"/>
          </a:p>
        </p:txBody>
      </p:sp>
      <p:sp>
        <p:nvSpPr>
          <p:cNvPr id="601" name="native601"/>
          <p:cNvSpPr/>
          <p:nvPr/>
        </p:nvSpPr>
        <p:spPr>
          <a:xfrm>
            <a:off x="10991850" y="63707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q3</a:t>
            </a:r>
            <a:endParaRPr lang="zh-CN" sz="1350"/>
          </a:p>
        </p:txBody>
      </p:sp>
      <p:sp>
        <p:nvSpPr>
          <p:cNvPr id="602" name="native602"/>
          <p:cNvSpPr/>
          <p:nvPr/>
        </p:nvSpPr>
        <p:spPr>
          <a:xfrm>
            <a:off x="11287125" y="643890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1572875" y="648652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1858625" y="638175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1472862" y="637184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06" name="native606"/>
          <p:cNvSpPr/>
          <p:nvPr/>
        </p:nvSpPr>
        <p:spPr>
          <a:xfrm>
            <a:off x="13544550" y="648652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7" name="native607"/>
          <p:cNvSpPr/>
          <p:nvPr/>
        </p:nvSpPr>
        <p:spPr>
          <a:xfrm>
            <a:off x="13906500" y="63611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o3</a:t>
            </a:r>
            <a:endParaRPr lang="zh-CN" sz="1350"/>
          </a:p>
        </p:txBody>
      </p:sp>
      <p:sp>
        <p:nvSpPr>
          <p:cNvPr id="608" name="native608"/>
          <p:cNvSpPr/>
          <p:nvPr/>
        </p:nvSpPr>
        <p:spPr>
          <a:xfrm>
            <a:off x="10991850" y="66659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q4</a:t>
            </a:r>
            <a:endParaRPr lang="zh-CN" sz="1350"/>
          </a:p>
        </p:txBody>
      </p:sp>
      <p:sp>
        <p:nvSpPr>
          <p:cNvPr id="609" name="native609"/>
          <p:cNvSpPr/>
          <p:nvPr/>
        </p:nvSpPr>
        <p:spPr>
          <a:xfrm>
            <a:off x="11287125" y="673417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1572875" y="678180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1858625" y="667702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1472862" y="666711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13" name="native613"/>
          <p:cNvSpPr/>
          <p:nvPr/>
        </p:nvSpPr>
        <p:spPr>
          <a:xfrm>
            <a:off x="13544550" y="678180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4" name="native614"/>
          <p:cNvSpPr/>
          <p:nvPr/>
        </p:nvSpPr>
        <p:spPr>
          <a:xfrm>
            <a:off x="13906500" y="66564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o4</a:t>
            </a:r>
            <a:endParaRPr lang="zh-CN" sz="1350"/>
          </a:p>
        </p:txBody>
      </p:sp>
      <p:sp>
        <p:nvSpPr>
          <p:cNvPr id="615" name="native615"/>
          <p:cNvSpPr/>
          <p:nvPr/>
        </p:nvSpPr>
        <p:spPr>
          <a:xfrm>
            <a:off x="895350" y="70866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6" name="native616"/>
          <p:cNvSpPr/>
          <p:nvPr/>
        </p:nvSpPr>
        <p:spPr>
          <a:xfrm>
            <a:off x="895350" y="7172325"/>
            <a:ext cx="2686050" cy="257175"/>
          </a:xfrm>
          <a:prstGeom prst="round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609600" y="71708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L1 / L2 复用同一 RoPE32</a:t>
            </a:r>
            <a:endParaRPr lang="zh-CN" sz="1350"/>
          </a:p>
        </p:txBody>
      </p:sp>
      <p:sp>
        <p:nvSpPr>
          <p:cNvPr id="618" name="native618"/>
          <p:cNvSpPr/>
          <p:nvPr/>
        </p:nvSpPr>
        <p:spPr>
          <a:xfrm>
            <a:off x="3867150" y="7161276"/>
            <a:ext cx="5657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K₁=128；β=.125 → 近区16 / 远区112 页</a:t>
            </a:r>
          </a:p>
        </p:txBody>
      </p:sp>
      <p:sp>
        <p:nvSpPr>
          <p:cNvPr id="619" name="native619"/>
          <p:cNvSpPr/>
          <p:nvPr/>
        </p:nvSpPr>
        <p:spPr>
          <a:xfrm>
            <a:off x="10944225" y="7123176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4Q共享词元索引，各自计算</a:t>
            </a:r>
          </a:p>
        </p:txBody>
      </p:sp>
      <p:sp>
        <p:nvSpPr>
          <p:cNvPr id="620" name="native620"/>
          <p:cNvSpPr/>
          <p:nvPr/>
        </p:nvSpPr>
        <p:spPr>
          <a:xfrm>
            <a:off x="10944225" y="73613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最终 注意力 权重</a:t>
            </a:r>
          </a:p>
        </p:txBody>
      </p:sp>
      <p:sp>
        <p:nvSpPr>
          <p:cNvPr id="624" name="native62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远区门控：从预填充观测到解码逐层复用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门控默认关闭；标定区域与跳过页边界不同，统计量是代理（补充S5）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952500" y="1943100"/>
            <a:ext cx="3571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预填充：逐层标定</a:t>
            </a:r>
          </a:p>
        </p:txBody>
      </p:sp>
      <p:sp>
        <p:nvSpPr>
          <p:cNvPr id="23" name="native23"/>
          <p:cNvSpPr/>
          <p:nvPr/>
        </p:nvSpPr>
        <p:spPr>
          <a:xfrm>
            <a:off x="5200650" y="1943100"/>
            <a:ext cx="166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冻结状态</a:t>
            </a:r>
            <a:endParaRPr lang="zh-CN" sz="1875"/>
          </a:p>
        </p:txBody>
      </p:sp>
      <p:sp>
        <p:nvSpPr>
          <p:cNvPr id="24" name="native24"/>
          <p:cNvSpPr/>
          <p:nvPr/>
        </p:nvSpPr>
        <p:spPr>
          <a:xfrm>
            <a:off x="7086600" y="1943100"/>
            <a:ext cx="5715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c  每步 解码：同一个 gℓ 控制三处</a:t>
            </a:r>
          </a:p>
        </p:txBody>
      </p:sp>
      <p:sp>
        <p:nvSpPr>
          <p:cNvPr id="25" name="native25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500062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native27"/>
          <p:cNvSpPr/>
          <p:nvPr/>
        </p:nvSpPr>
        <p:spPr>
          <a:xfrm>
            <a:off x="692467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543175"/>
            <a:ext cx="990600" cy="371475"/>
          </a:xfrm>
          <a:prstGeom prst="roundRect">
            <a:avLst/>
          </a:prstGeom>
          <a:solidFill>
            <a:srgbClr val="F7F9FA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native29"/>
          <p:cNvSpPr/>
          <p:nvPr/>
        </p:nvSpPr>
        <p:spPr>
          <a:xfrm>
            <a:off x="1019175" y="258699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新输入</a:t>
            </a:r>
            <a:endParaRPr lang="zh-CN" sz="1500"/>
          </a:p>
        </p:txBody>
      </p:sp>
      <p:sp>
        <p:nvSpPr>
          <p:cNvPr id="30" name="native30"/>
          <p:cNvSpPr/>
          <p:nvPr/>
        </p:nvSpPr>
        <p:spPr>
          <a:xfrm>
            <a:off x="1943100" y="2733675"/>
            <a:ext cx="200025" cy="952"/>
          </a:xfrm>
          <a:custGeom>
            <a:avLst/>
            <a:gdLst/>
            <a:ahLst/>
            <a:cxnLst/>
            <a:rect l="0" t="0" r="r" b="b"/>
            <a:pathLst>
              <a:path w="200025" h="952" fill="none">
                <a:moveTo>
                  <a:pt x="0" y="0"/>
                </a:moveTo>
                <a:lnTo>
                  <a:pt x="200025" y="0"/>
                </a:lnTo>
              </a:path>
            </a:pathLst>
          </a:custGeom>
          <a:noFill/>
          <a:ln w="17145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2247900" y="2492883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新输入重置本层状态</a:t>
            </a:r>
          </a:p>
        </p:txBody>
      </p:sp>
      <p:sp>
        <p:nvSpPr>
          <p:cNvPr id="32" name="native32"/>
          <p:cNvSpPr/>
          <p:nvPr/>
        </p:nvSpPr>
        <p:spPr>
          <a:xfrm>
            <a:off x="2247900" y="2763012"/>
            <a:ext cx="4419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逐输入、逐层保存决策</a:t>
            </a:r>
          </a:p>
        </p:txBody>
      </p:sp>
      <p:sp>
        <p:nvSpPr>
          <p:cNvPr id="33" name="native33"/>
          <p:cNvSpPr/>
          <p:nvPr/>
        </p:nvSpPr>
        <p:spPr>
          <a:xfrm>
            <a:off x="952500" y="30620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每层 预填充 的 Q / K</a:t>
            </a:r>
          </a:p>
        </p:txBody>
      </p:sp>
      <p:sp>
        <p:nvSpPr>
          <p:cNvPr id="34" name="native34"/>
          <p:cNvSpPr/>
          <p:nvPr/>
        </p:nvSpPr>
        <p:spPr>
          <a:xfrm>
            <a:off x="952500" y="3359658"/>
            <a:ext cx="56102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尾部R=min(256,S)行Q（默认设置）</a:t>
            </a:r>
          </a:p>
        </p:txBody>
      </p:sp>
      <p:sp>
        <p:nvSpPr>
          <p:cNvPr id="35" name="native35"/>
          <p:cNvSpPr/>
          <p:nvPr/>
        </p:nvSpPr>
        <p:spPr>
          <a:xfrm>
            <a:off x="952500" y="3597783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全维 D=128；每个 查询头 独立</a:t>
            </a:r>
          </a:p>
        </p:txBody>
      </p:sp>
      <p:sp>
        <p:nvSpPr>
          <p:cNvPr id="36" name="native36"/>
          <p:cNvSpPr/>
          <p:nvPr/>
        </p:nvSpPr>
        <p:spPr>
          <a:xfrm>
            <a:off x="1000125" y="3844290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QKᵀ / √D</a:t>
            </a:r>
            <a:endParaRPr lang="zh-CN" sz="1500"/>
          </a:p>
        </p:txBody>
      </p:sp>
      <p:sp>
        <p:nvSpPr>
          <p:cNvPr id="37" name="native37"/>
          <p:cNvSpPr/>
          <p:nvPr/>
        </p:nvSpPr>
        <p:spPr>
          <a:xfrm>
            <a:off x="1962150" y="38762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 S 个 K</a:t>
            </a:r>
            <a:endParaRPr lang="zh-CN" sz="1275"/>
          </a:p>
        </p:txBody>
      </p:sp>
      <p:sp>
        <p:nvSpPr>
          <p:cNvPr id="38" name="native38"/>
          <p:cNvSpPr/>
          <p:nvPr/>
        </p:nvSpPr>
        <p:spPr>
          <a:xfrm>
            <a:off x="1019175" y="4219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2287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4382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6478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8573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669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764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3050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4860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25146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26955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27241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29051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9337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019175" y="4410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2287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4382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6478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573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0669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276475" y="4410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4860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5146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69557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72415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9051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9337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1019175" y="4600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2287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4382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6478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18573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0669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27647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48602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69557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72415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90512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93370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1019175" y="4791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12287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14382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16478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8573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0669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764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48602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6955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05125" y="4791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33700" y="4819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101917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382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6478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18573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669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64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8602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955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90512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395412" y="51335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因果 掩码</a:t>
            </a:r>
          </a:p>
        </p:txBody>
      </p:sp>
      <p:sp>
        <p:nvSpPr>
          <p:cNvPr id="99" name="native99"/>
          <p:cNvSpPr/>
          <p:nvPr/>
        </p:nvSpPr>
        <p:spPr>
          <a:xfrm>
            <a:off x="3124200" y="4657725"/>
            <a:ext cx="219075" cy="952"/>
          </a:xfrm>
          <a:custGeom>
            <a:avLst/>
            <a:gdLst/>
            <a:ahLst/>
            <a:cxnLst/>
            <a:rect l="0" t="0" r="r" b="b"/>
            <a:pathLst>
              <a:path w="219075" h="952" fill="none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524250" y="4343400"/>
            <a:ext cx="1000125" cy="609600"/>
          </a:xfrm>
          <a:prstGeom prst="roundRect">
            <a:avLst/>
          </a:prstGeom>
          <a:solidFill>
            <a:srgbClr val="F1EDF5"/>
          </a:solidFill>
          <a:ln w="13335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590925" y="4301871"/>
            <a:ext cx="857250" cy="4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100" b="1">
                <a:solidFill>
                  <a:srgbClr val="78628F"/>
                </a:solidFill>
                <a:latin typeface="Noto Sans CJK SC"/>
                <a:ea typeface="Noto Sans CJK SC"/>
              </a:rPr>
              <a:t>rℓ</a:t>
            </a:r>
            <a:endParaRPr lang="zh-CN" sz="2100"/>
          </a:p>
        </p:txBody>
      </p:sp>
      <p:sp>
        <p:nvSpPr>
          <p:cNvPr id="102" name="native102"/>
          <p:cNvSpPr/>
          <p:nvPr/>
        </p:nvSpPr>
        <p:spPr>
          <a:xfrm>
            <a:off x="3547872" y="4626864"/>
            <a:ext cx="950976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000">
                <a:solidFill>
                  <a:srgbClr val="7B6598"/>
                </a:solidFill>
                <a:latin typeface="Noto Sans CJK SC"/>
              </a:rPr>
              <a:t>远区注意力</a:t>
            </a:r>
            <a:br/>
            <a:r>
              <a:rPr sz="1000">
                <a:solidFill>
                  <a:srgbClr val="7B6598"/>
                </a:solidFill>
                <a:latin typeface="Noto Sans CJK SC"/>
              </a:rPr>
              <a:t>代理统计</a:t>
            </a:r>
          </a:p>
        </p:txBody>
      </p:sp>
      <p:sp>
        <p:nvSpPr>
          <p:cNvPr id="103" name="native103"/>
          <p:cNvSpPr/>
          <p:nvPr/>
        </p:nvSpPr>
        <p:spPr>
          <a:xfrm>
            <a:off x="952500" y="5331333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逐 查询头 softmax</a:t>
            </a:r>
          </a:p>
        </p:txBody>
      </p:sp>
      <p:sp>
        <p:nvSpPr>
          <p:cNvPr id="104" name="native104"/>
          <p:cNvSpPr/>
          <p:nvPr/>
        </p:nvSpPr>
        <p:spPr>
          <a:xfrm>
            <a:off x="952500" y="5588508"/>
            <a:ext cx="27146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标定区注意力求和 → 均值</a:t>
            </a:r>
          </a:p>
        </p:txBody>
      </p:sp>
      <p:sp>
        <p:nvSpPr>
          <p:cNvPr id="105" name="native105"/>
          <p:cNvSpPr/>
          <p:nvPr/>
        </p:nvSpPr>
        <p:spPr>
          <a:xfrm>
            <a:off x="952500" y="5828919"/>
            <a:ext cx="30765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R × heads 等权平均（B=1）</a:t>
            </a:r>
            <a:endParaRPr lang="zh-CN" sz="1275"/>
          </a:p>
        </p:txBody>
      </p:sp>
      <p:sp>
        <p:nvSpPr>
          <p:cNvPr id="106" name="native106"/>
          <p:cNvSpPr/>
          <p:nvPr/>
        </p:nvSpPr>
        <p:spPr>
          <a:xfrm>
            <a:off x="4019550" y="495300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524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257550" y="5130165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 ?</a:t>
            </a:r>
            <a:endParaRPr lang="zh-CN" sz="1500"/>
          </a:p>
        </p:txBody>
      </p:sp>
      <p:sp>
        <p:nvSpPr>
          <p:cNvPr id="108" name="native108"/>
          <p:cNvSpPr/>
          <p:nvPr/>
        </p:nvSpPr>
        <p:spPr>
          <a:xfrm>
            <a:off x="3476625" y="5369433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ε=0.05</a:t>
            </a:r>
            <a:endParaRPr lang="zh-CN" sz="1425"/>
          </a:p>
        </p:txBody>
      </p:sp>
      <p:sp>
        <p:nvSpPr>
          <p:cNvPr id="109" name="native109"/>
          <p:cNvSpPr/>
          <p:nvPr/>
        </p:nvSpPr>
        <p:spPr>
          <a:xfrm>
            <a:off x="952500" y="6143625"/>
            <a:ext cx="3705225" cy="447675"/>
          </a:xfrm>
          <a:prstGeom prst="roundRect">
            <a:avLst/>
          </a:prstGeom>
          <a:solidFill>
            <a:srgbClr val="FAF0E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1085850" y="6151626"/>
            <a:ext cx="4629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ε：暂定关闭；否则开启</a:t>
            </a:r>
          </a:p>
        </p:txBody>
      </p:sp>
      <p:sp>
        <p:nvSpPr>
          <p:cNvPr id="111" name="native111"/>
          <p:cNvSpPr/>
          <p:nvPr/>
        </p:nvSpPr>
        <p:spPr>
          <a:xfrm>
            <a:off x="1085850" y="6363462"/>
            <a:ext cx="3505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仅暂存，尚未应用解码开关</a:t>
            </a:r>
          </a:p>
        </p:txBody>
      </p:sp>
      <p:sp>
        <p:nvSpPr>
          <p:cNvPr id="112" name="native112"/>
          <p:cNvSpPr/>
          <p:nvPr/>
        </p:nvSpPr>
        <p:spPr>
          <a:xfrm>
            <a:off x="4657725" y="3362325"/>
            <a:ext cx="676275" cy="2990850"/>
          </a:xfrm>
          <a:custGeom>
            <a:avLst/>
            <a:gdLst/>
            <a:ahLst/>
            <a:cxnLst/>
            <a:rect l="0" t="0" r="r" b="b"/>
            <a:pathLst>
              <a:path w="676275" h="2990850" fill="none">
                <a:moveTo>
                  <a:pt x="0" y="2990850"/>
                </a:moveTo>
                <a:lnTo>
                  <a:pt x="438150" y="2990850"/>
                </a:lnTo>
                <a:lnTo>
                  <a:pt x="438150" y="0"/>
                </a:lnTo>
                <a:lnTo>
                  <a:pt x="67627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5334000" y="3143250"/>
            <a:ext cx="1371600" cy="438150"/>
          </a:xfrm>
          <a:prstGeom prst="roundRect">
            <a:avLst/>
          </a:prstGeom>
          <a:solidFill>
            <a:srgbClr val="FAF0E5"/>
          </a:solidFill>
          <a:ln w="1143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4876800" y="3206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暂存关闭决策</a:t>
            </a:r>
          </a:p>
        </p:txBody>
      </p:sp>
      <p:sp>
        <p:nvSpPr>
          <p:cNvPr id="115" name="native115"/>
          <p:cNvSpPr/>
          <p:nvPr/>
        </p:nvSpPr>
        <p:spPr>
          <a:xfrm>
            <a:off x="6019800" y="3581400"/>
            <a:ext cx="952" cy="504825"/>
          </a:xfrm>
          <a:custGeom>
            <a:avLst/>
            <a:gdLst/>
            <a:ahLst/>
            <a:cxnLst/>
            <a:rect l="0" t="0" r="r" b="b"/>
            <a:pathLst>
              <a:path w="952" h="504825" fill="none">
                <a:moveTo>
                  <a:pt x="0" y="0"/>
                </a:moveTo>
                <a:lnTo>
                  <a:pt x="0" y="504825"/>
                </a:lnTo>
              </a:path>
            </a:pathLst>
          </a:custGeom>
          <a:noFill/>
          <a:ln w="19050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4991100" y="3665601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进入 解码 路径</a:t>
            </a:r>
          </a:p>
        </p:txBody>
      </p:sp>
      <p:sp>
        <p:nvSpPr>
          <p:cNvPr id="117" name="native117"/>
          <p:cNvSpPr/>
          <p:nvPr/>
        </p:nvSpPr>
        <p:spPr>
          <a:xfrm>
            <a:off x="5334000" y="4200525"/>
            <a:ext cx="1371600" cy="866775"/>
          </a:xfrm>
          <a:prstGeom prst="roundRect">
            <a:avLst/>
          </a:prstGeom>
          <a:solidFill>
            <a:srgbClr val="FAF0E5"/>
          </a:solidFill>
          <a:ln w="1905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5334000" y="4381500"/>
            <a:ext cx="104775" cy="190500"/>
          </a:xfrm>
          <a:custGeom>
            <a:avLst/>
            <a:gdLst/>
            <a:ahLst/>
            <a:cxnLst/>
            <a:rect l="0" t="0" r="r" b="b"/>
            <a:pathLst>
              <a:path w="104775" h="190500" fill="none">
                <a:moveTo>
                  <a:pt x="0" y="0"/>
                </a:moveTo>
                <a:lnTo>
                  <a:pt x="104775" y="95250"/>
                </a:lnTo>
                <a:lnTo>
                  <a:pt x="0" y="190500"/>
                </a:lnTo>
              </a:path>
            </a:pathLst>
          </a:custGeom>
          <a:noFill/>
          <a:ln w="1333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5591175" y="42169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解码入口固定</a:t>
            </a:r>
          </a:p>
        </p:txBody>
      </p:sp>
      <p:sp>
        <p:nvSpPr>
          <p:cNvPr id="120" name="native120"/>
          <p:cNvSpPr/>
          <p:nvPr/>
        </p:nvSpPr>
        <p:spPr>
          <a:xfrm>
            <a:off x="4752975" y="4474083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固定执行状态 gℓ</a:t>
            </a:r>
          </a:p>
        </p:txBody>
      </p:sp>
      <p:sp>
        <p:nvSpPr>
          <p:cNvPr id="121" name="native121"/>
          <p:cNvSpPr/>
          <p:nvPr/>
        </p:nvSpPr>
        <p:spPr>
          <a:xfrm>
            <a:off x="5162550" y="4741926"/>
            <a:ext cx="17145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后续保持不变</a:t>
            </a:r>
          </a:p>
        </p:txBody>
      </p:sp>
      <p:sp>
        <p:nvSpPr>
          <p:cNvPr id="122" name="native122"/>
          <p:cNvSpPr/>
          <p:nvPr/>
        </p:nvSpPr>
        <p:spPr>
          <a:xfrm>
            <a:off x="5205412" y="5178933"/>
            <a:ext cx="16287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后续 解码</a:t>
            </a:r>
          </a:p>
        </p:txBody>
      </p:sp>
      <p:sp>
        <p:nvSpPr>
          <p:cNvPr id="123" name="native123"/>
          <p:cNvSpPr/>
          <p:nvPr/>
        </p:nvSpPr>
        <p:spPr>
          <a:xfrm>
            <a:off x="5295900" y="5436108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只复用本层 gℓ</a:t>
            </a:r>
            <a:endParaRPr lang="zh-CN" sz="1425"/>
          </a:p>
        </p:txBody>
      </p:sp>
      <p:sp>
        <p:nvSpPr>
          <p:cNvPr id="124" name="native124"/>
          <p:cNvSpPr/>
          <p:nvPr/>
        </p:nvSpPr>
        <p:spPr>
          <a:xfrm>
            <a:off x="5029200" y="5858637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首次解码路径调用</a:t>
            </a:r>
          </a:p>
        </p:txBody>
      </p:sp>
      <p:sp>
        <p:nvSpPr>
          <p:cNvPr id="125" name="native125"/>
          <p:cNvSpPr/>
          <p:nvPr/>
        </p:nvSpPr>
        <p:spPr>
          <a:xfrm>
            <a:off x="5029200" y="6077712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可能仍处理问题词元</a:t>
            </a:r>
          </a:p>
        </p:txBody>
      </p:sp>
      <p:sp>
        <p:nvSpPr>
          <p:cNvPr id="126" name="native126"/>
          <p:cNvSpPr/>
          <p:nvPr/>
        </p:nvSpPr>
        <p:spPr>
          <a:xfrm>
            <a:off x="7115175" y="3667125"/>
            <a:ext cx="4791075" cy="1343025"/>
          </a:xfrm>
          <a:prstGeom prst="roundRect">
            <a:avLst/>
          </a:prstGeom>
          <a:solidFill>
            <a:srgbClr val="EAF6F3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7115175" y="5486400"/>
            <a:ext cx="4791075" cy="1114425"/>
          </a:xfrm>
          <a:prstGeom prst="roundRect">
            <a:avLst/>
          </a:prstGeom>
          <a:solidFill>
            <a:srgbClr val="ECF2F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6705600" y="3028950"/>
            <a:ext cx="2905125" cy="1600200"/>
          </a:xfrm>
          <a:custGeom>
            <a:avLst/>
            <a:gdLst/>
            <a:ahLst/>
            <a:cxnLst/>
            <a:rect l="0" t="0" r="r" b="b"/>
            <a:pathLst>
              <a:path w="2905125" h="1600200" fill="none">
                <a:moveTo>
                  <a:pt x="0" y="1600200"/>
                </a:moveTo>
                <a:lnTo>
                  <a:pt x="104775" y="1600200"/>
                </a:lnTo>
                <a:lnTo>
                  <a:pt x="104775" y="0"/>
                </a:lnTo>
                <a:lnTo>
                  <a:pt x="290512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7143750" y="3028950"/>
            <a:ext cx="228600" cy="914400"/>
          </a:xfrm>
          <a:custGeom>
            <a:avLst/>
            <a:gdLst/>
            <a:ahLst/>
            <a:cxnLst/>
            <a:rect l="0" t="0" r="r" b="b"/>
            <a:pathLst>
              <a:path w="228600" h="914400" fill="none">
                <a:moveTo>
                  <a:pt x="0" y="0"/>
                </a:moveTo>
                <a:lnTo>
                  <a:pt x="0" y="914400"/>
                </a:lnTo>
                <a:lnTo>
                  <a:pt x="228600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9229725" y="3028950"/>
            <a:ext cx="104775" cy="914400"/>
          </a:xfrm>
          <a:custGeom>
            <a:avLst/>
            <a:gdLst/>
            <a:ahLst/>
            <a:cxnLst/>
            <a:rect l="0" t="0" r="r" b="b"/>
            <a:pathLst>
              <a:path w="104775" h="914400" fill="none">
                <a:moveTo>
                  <a:pt x="0" y="0"/>
                </a:moveTo>
                <a:lnTo>
                  <a:pt x="0" y="914400"/>
                </a:lnTo>
                <a:lnTo>
                  <a:pt x="104775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9610725" y="3028950"/>
            <a:ext cx="1857375" cy="2200275"/>
          </a:xfrm>
          <a:custGeom>
            <a:avLst/>
            <a:gdLst/>
            <a:ahLst/>
            <a:cxnLst/>
            <a:rect l="0" t="0" r="r" b="b"/>
            <a:pathLst>
              <a:path w="1857375" h="2200275" fill="none">
                <a:moveTo>
                  <a:pt x="0" y="0"/>
                </a:moveTo>
                <a:lnTo>
                  <a:pt x="1857375" y="0"/>
                </a:lnTo>
                <a:lnTo>
                  <a:pt x="1857375" y="2200275"/>
                </a:lnTo>
                <a:lnTo>
                  <a:pt x="1619250" y="2200275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7115175" y="2482215"/>
            <a:ext cx="2857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gℓ=ON：执行 远区 选择</a:t>
            </a:r>
          </a:p>
        </p:txBody>
      </p:sp>
      <p:sp>
        <p:nvSpPr>
          <p:cNvPr id="133" name="native133"/>
          <p:cNvSpPr/>
          <p:nvPr/>
        </p:nvSpPr>
        <p:spPr>
          <a:xfrm>
            <a:off x="10429875" y="2482215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gℓ=OFF：跳过 远区 选择</a:t>
            </a:r>
          </a:p>
        </p:txBody>
      </p:sp>
      <p:sp>
        <p:nvSpPr>
          <p:cNvPr id="134" name="native134"/>
          <p:cNvSpPr/>
          <p:nvPr/>
        </p:nvSpPr>
        <p:spPr>
          <a:xfrm>
            <a:off x="7115175" y="2734437"/>
            <a:ext cx="5181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ON：L2全S评分后掩码；配额需候选充足</a:t>
            </a:r>
          </a:p>
        </p:txBody>
      </p:sp>
      <p:sp>
        <p:nvSpPr>
          <p:cNvPr id="135" name="native135"/>
          <p:cNvSpPr/>
          <p:nvPr/>
        </p:nvSpPr>
        <p:spPr>
          <a:xfrm>
            <a:off x="7229475" y="3169158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L1：页选择</a:t>
            </a:r>
            <a:endParaRPr lang="zh-CN" sz="1425"/>
          </a:p>
        </p:txBody>
      </p:sp>
      <p:sp>
        <p:nvSpPr>
          <p:cNvPr id="136" name="native136"/>
          <p:cNvSpPr/>
          <p:nvPr/>
        </p:nvSpPr>
        <p:spPr>
          <a:xfrm>
            <a:off x="9801225" y="316915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L2：词元 选择</a:t>
            </a:r>
          </a:p>
        </p:txBody>
      </p:sp>
      <p:sp>
        <p:nvSpPr>
          <p:cNvPr id="137" name="native137"/>
          <p:cNvSpPr/>
          <p:nvPr/>
        </p:nvSpPr>
        <p:spPr>
          <a:xfrm>
            <a:off x="7181850" y="468363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38" name="native138"/>
          <p:cNvSpPr/>
          <p:nvPr/>
        </p:nvSpPr>
        <p:spPr>
          <a:xfrm>
            <a:off x="737235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721995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40" name="native140"/>
          <p:cNvSpPr/>
          <p:nvPr/>
        </p:nvSpPr>
        <p:spPr>
          <a:xfrm>
            <a:off x="721995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41" name="native141"/>
          <p:cNvSpPr/>
          <p:nvPr/>
        </p:nvSpPr>
        <p:spPr>
          <a:xfrm>
            <a:off x="748665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745807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779145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721995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45" name="native145"/>
          <p:cNvSpPr/>
          <p:nvPr/>
        </p:nvSpPr>
        <p:spPr>
          <a:xfrm>
            <a:off x="748665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745807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779145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933450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918210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50" name="native150"/>
          <p:cNvSpPr/>
          <p:nvPr/>
        </p:nvSpPr>
        <p:spPr>
          <a:xfrm>
            <a:off x="918210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51" name="native151"/>
          <p:cNvSpPr/>
          <p:nvPr/>
        </p:nvSpPr>
        <p:spPr>
          <a:xfrm>
            <a:off x="944880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942022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975360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918210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55" name="native155"/>
          <p:cNvSpPr/>
          <p:nvPr/>
        </p:nvSpPr>
        <p:spPr>
          <a:xfrm>
            <a:off x="944880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942022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975360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7210425" y="4238625"/>
            <a:ext cx="161925" cy="95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792480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81057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61" name="native161"/>
          <p:cNvSpPr/>
          <p:nvPr/>
        </p:nvSpPr>
        <p:spPr>
          <a:xfrm>
            <a:off x="7867650" y="3971544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2817B"/>
                </a:solidFill>
                <a:latin typeface="Noto Sans CJK SC"/>
                <a:ea typeface="Noto Sans CJK SC"/>
              </a:rPr>
              <a:t>极值 页分</a:t>
            </a:r>
          </a:p>
        </p:txBody>
      </p:sp>
      <p:sp>
        <p:nvSpPr>
          <p:cNvPr id="162" name="native162"/>
          <p:cNvSpPr/>
          <p:nvPr/>
        </p:nvSpPr>
        <p:spPr>
          <a:xfrm>
            <a:off x="82296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82677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83629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82677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83629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85344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85725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86677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85725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86677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88392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88773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89725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88773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89725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7705725" y="4647819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TopK · 112 页</a:t>
            </a:r>
            <a:endParaRPr lang="zh-CN" sz="1275"/>
          </a:p>
        </p:txBody>
      </p:sp>
      <p:sp>
        <p:nvSpPr>
          <p:cNvPr id="178" name="native178"/>
          <p:cNvSpPr/>
          <p:nvPr/>
        </p:nvSpPr>
        <p:spPr>
          <a:xfrm>
            <a:off x="9163050" y="4429125"/>
            <a:ext cx="171450" cy="952"/>
          </a:xfrm>
          <a:custGeom>
            <a:avLst/>
            <a:gdLst/>
            <a:ahLst/>
            <a:cxnLst/>
            <a:rect l="0" t="0" r="r" b="b"/>
            <a:pathLst>
              <a:path w="171450" h="952" fill="none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988695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100869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81" name="native181"/>
          <p:cNvSpPr/>
          <p:nvPr/>
        </p:nvSpPr>
        <p:spPr>
          <a:xfrm>
            <a:off x="101917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103346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047750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1062037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107632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109061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101917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103346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1047750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1062037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107632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109061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101917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103346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1047750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1062037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107632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109061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9282112" y="4438269"/>
            <a:ext cx="275272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名义配额 · 252 词元</a:t>
            </a:r>
          </a:p>
        </p:txBody>
      </p:sp>
      <p:sp>
        <p:nvSpPr>
          <p:cNvPr id="200" name="native200"/>
          <p:cNvSpPr/>
          <p:nvPr/>
        </p:nvSpPr>
        <p:spPr>
          <a:xfrm>
            <a:off x="11249025" y="4314825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116109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117252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229475" y="50372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OFF：跳过远区点积</a:t>
            </a:r>
          </a:p>
        </p:txBody>
      </p:sp>
      <p:sp>
        <p:nvSpPr>
          <p:cNvPr id="204" name="native204"/>
          <p:cNvSpPr/>
          <p:nvPr/>
        </p:nvSpPr>
        <p:spPr>
          <a:xfrm>
            <a:off x="7229475" y="5246751"/>
            <a:ext cx="18859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L1 k=0；L2跳过</a:t>
            </a:r>
          </a:p>
        </p:txBody>
      </p:sp>
      <p:sp>
        <p:nvSpPr>
          <p:cNvPr id="205" name="native205"/>
          <p:cNvSpPr/>
          <p:nvPr/>
        </p:nvSpPr>
        <p:spPr>
          <a:xfrm>
            <a:off x="7181850" y="62933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206" name="native206"/>
          <p:cNvSpPr/>
          <p:nvPr/>
        </p:nvSpPr>
        <p:spPr>
          <a:xfrm>
            <a:off x="7296150" y="5532501"/>
            <a:ext cx="2228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均值 页分 → TopK</a:t>
            </a:r>
          </a:p>
        </p:txBody>
      </p:sp>
      <p:sp>
        <p:nvSpPr>
          <p:cNvPr id="207" name="native207"/>
          <p:cNvSpPr/>
          <p:nvPr/>
        </p:nvSpPr>
        <p:spPr>
          <a:xfrm>
            <a:off x="79629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80010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80962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80010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80962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82677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83058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84010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83058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84010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85725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86106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87058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86106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87058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505700" y="6274308"/>
            <a:ext cx="18097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L1：16页</a:t>
            </a:r>
          </a:p>
        </p:txBody>
      </p:sp>
      <p:sp>
        <p:nvSpPr>
          <p:cNvPr id="223" name="native223"/>
          <p:cNvSpPr/>
          <p:nvPr/>
        </p:nvSpPr>
        <p:spPr>
          <a:xfrm>
            <a:off x="7258050" y="6038850"/>
            <a:ext cx="561975" cy="952"/>
          </a:xfrm>
          <a:custGeom>
            <a:avLst/>
            <a:gdLst/>
            <a:ahLst/>
            <a:cxnLst/>
            <a:rect l="0" t="0" r="r" b="b"/>
            <a:pathLst>
              <a:path w="561975" h="952" fill="none">
                <a:moveTo>
                  <a:pt x="0" y="0"/>
                </a:moveTo>
                <a:lnTo>
                  <a:pt x="56197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982075" y="6038850"/>
            <a:ext cx="552450" cy="952"/>
          </a:xfrm>
          <a:custGeom>
            <a:avLst/>
            <a:gdLst/>
            <a:ahLst/>
            <a:cxnLst/>
            <a:rect l="0" t="0" r="r" b="b"/>
            <a:pathLst>
              <a:path w="552450" h="952" fill="none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753475" y="5599176"/>
            <a:ext cx="34290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点积 → 词元 TopK</a:t>
            </a:r>
          </a:p>
        </p:txBody>
      </p:sp>
      <p:sp>
        <p:nvSpPr>
          <p:cNvPr id="226" name="native226"/>
          <p:cNvSpPr/>
          <p:nvPr/>
        </p:nvSpPr>
        <p:spPr>
          <a:xfrm>
            <a:off x="9820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99631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101060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102489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103917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105346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106775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108204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10963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9820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99631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101060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102489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103917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105346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106775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108204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10963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11144250" y="6038850"/>
            <a:ext cx="390525" cy="952"/>
          </a:xfrm>
          <a:custGeom>
            <a:avLst/>
            <a:gdLst/>
            <a:ahLst/>
            <a:cxnLst/>
            <a:rect l="0" t="0" r="r" b="b"/>
            <a:pathLst>
              <a:path w="390525" h="952" fill="none">
                <a:moveTo>
                  <a:pt x="0" y="0"/>
                </a:moveTo>
                <a:lnTo>
                  <a:pt x="39052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116109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117252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9020175" y="6306312"/>
            <a:ext cx="2895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ON 640 / OFF ≤892</a:t>
            </a:r>
          </a:p>
        </p:txBody>
      </p:sp>
      <p:sp>
        <p:nvSpPr>
          <p:cNvPr id="248" name="native248"/>
          <p:cNvSpPr/>
          <p:nvPr/>
        </p:nvSpPr>
        <p:spPr>
          <a:xfrm>
            <a:off x="9630000" y="5019675"/>
            <a:ext cx="1950000" cy="4476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9620250" y="5019294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L2配额</a:t>
            </a:r>
          </a:p>
        </p:txBody>
      </p:sp>
      <p:sp>
        <p:nvSpPr>
          <p:cNvPr id="250" name="native250"/>
          <p:cNvSpPr/>
          <p:nvPr/>
        </p:nvSpPr>
        <p:spPr>
          <a:xfrm>
            <a:off x="9782175" y="5219319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OFF：余量→近区</a:t>
            </a:r>
          </a:p>
        </p:txBody>
      </p:sp>
      <p:sp>
        <p:nvSpPr>
          <p:cNvPr id="251" name="native251"/>
          <p:cNvSpPr/>
          <p:nvPr/>
        </p:nvSpPr>
        <p:spPr>
          <a:xfrm>
            <a:off x="10810875" y="54673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20955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12168188" y="3243072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原维注意力始终执行</a:t>
            </a:r>
            <a:endParaRPr lang="zh-CN" sz="1575"/>
          </a:p>
        </p:txBody>
      </p:sp>
      <p:sp>
        <p:nvSpPr>
          <p:cNvPr id="254" name="native254"/>
          <p:cNvSpPr/>
          <p:nvPr/>
        </p:nvSpPr>
        <p:spPr>
          <a:xfrm>
            <a:off x="12039600" y="3560826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 / OFF 均保留</a:t>
            </a:r>
            <a:endParaRPr lang="zh-CN" sz="1350"/>
          </a:p>
        </p:txBody>
      </p:sp>
      <p:sp>
        <p:nvSpPr>
          <p:cNvPr id="255" name="native255"/>
          <p:cNvSpPr/>
          <p:nvPr/>
        </p:nvSpPr>
        <p:spPr>
          <a:xfrm>
            <a:off x="11849100" y="4314825"/>
            <a:ext cx="342900" cy="866775"/>
          </a:xfrm>
          <a:custGeom>
            <a:avLst/>
            <a:gdLst/>
            <a:ahLst/>
            <a:cxnLst/>
            <a:rect l="0" t="0" r="r" b="b"/>
            <a:pathLst>
              <a:path w="342900" h="866775" fill="none">
                <a:moveTo>
                  <a:pt x="0" y="0"/>
                </a:moveTo>
                <a:lnTo>
                  <a:pt x="342900" y="0"/>
                </a:lnTo>
                <a:lnTo>
                  <a:pt x="342900" y="866775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11849100" y="5486400"/>
            <a:ext cx="342900" cy="552450"/>
          </a:xfrm>
          <a:custGeom>
            <a:avLst/>
            <a:gdLst/>
            <a:ahLst/>
            <a:cxnLst/>
            <a:rect l="0" t="0" r="r" b="b"/>
            <a:pathLst>
              <a:path w="342900" h="552450" fill="none">
                <a:moveTo>
                  <a:pt x="0" y="552450"/>
                </a:moveTo>
                <a:lnTo>
                  <a:pt x="342900" y="552450"/>
                </a:lnTo>
                <a:lnTo>
                  <a:pt x="34290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2058650" y="5181600"/>
            <a:ext cx="266700" cy="304800"/>
          </a:xfrm>
          <a:prstGeom prst="roundRect">
            <a:avLst/>
          </a:prstGeom>
          <a:solidFill>
            <a:srgbClr val="F1EDF5"/>
          </a:solidFill>
          <a:ln w="14288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1763375" y="5154168"/>
            <a:ext cx="85725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00" b="1">
                <a:solidFill>
                  <a:srgbClr val="78628F"/>
                </a:solidFill>
                <a:latin typeface="Noto Sans CJK SC"/>
                <a:ea typeface="Noto Sans CJK SC"/>
              </a:rPr>
              <a:t>∪</a:t>
            </a:r>
            <a:endParaRPr lang="zh-CN" sz="1800"/>
          </a:p>
        </p:txBody>
      </p:sp>
      <p:sp>
        <p:nvSpPr>
          <p:cNvPr id="259" name="native259"/>
          <p:cNvSpPr/>
          <p:nvPr/>
        </p:nvSpPr>
        <p:spPr>
          <a:xfrm>
            <a:off x="11858625" y="6256401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 ∪ 近期窗口</a:t>
            </a:r>
          </a:p>
        </p:txBody>
      </p:sp>
      <p:sp>
        <p:nvSpPr>
          <p:cNvPr id="260" name="native260"/>
          <p:cNvSpPr/>
          <p:nvPr/>
        </p:nvSpPr>
        <p:spPr>
          <a:xfrm>
            <a:off x="125730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26873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28016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129159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12192000" y="5486400"/>
            <a:ext cx="381000" cy="695325"/>
          </a:xfrm>
          <a:custGeom>
            <a:avLst/>
            <a:gdLst/>
            <a:ahLst/>
            <a:cxnLst/>
            <a:rect l="0" t="0" r="r" b="b"/>
            <a:pathLst>
              <a:path w="381000" h="695325" fill="none">
                <a:moveTo>
                  <a:pt x="381000" y="695325"/>
                </a:moveTo>
                <a:lnTo>
                  <a:pt x="247650" y="695325"/>
                </a:lnTo>
                <a:lnTo>
                  <a:pt x="247650" y="133350"/>
                </a:lnTo>
                <a:lnTo>
                  <a:pt x="0" y="133350"/>
                </a:lnTo>
                <a:lnTo>
                  <a:pt x="0" y="0"/>
                </a:lnTo>
              </a:path>
            </a:pathLst>
          </a:custGeom>
          <a:noFill/>
          <a:ln w="1619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12325350" y="5334000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12630150" y="4400550"/>
            <a:ext cx="1562100" cy="1266825"/>
          </a:xfrm>
          <a:prstGeom prst="roundRect">
            <a:avLst/>
          </a:prstGeom>
          <a:solidFill>
            <a:srgbClr val="F7F9FA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12744450" y="445389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按共享词元索引</a:t>
            </a:r>
          </a:p>
        </p:txBody>
      </p:sp>
      <p:sp>
        <p:nvSpPr>
          <p:cNvPr id="268" name="native268"/>
          <p:cNvSpPr/>
          <p:nvPr/>
        </p:nvSpPr>
        <p:spPr>
          <a:xfrm>
            <a:off x="12553950" y="47205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取原始 K / V</a:t>
            </a:r>
            <a:endParaRPr lang="zh-CN" sz="1500"/>
          </a:p>
        </p:txBody>
      </p:sp>
      <p:sp>
        <p:nvSpPr>
          <p:cNvPr id="269" name="native269"/>
          <p:cNvSpPr/>
          <p:nvPr/>
        </p:nvSpPr>
        <p:spPr>
          <a:xfrm>
            <a:off x="12863512" y="5012436"/>
            <a:ext cx="10953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D=128</a:t>
            </a:r>
            <a:endParaRPr lang="zh-CN" sz="1725"/>
          </a:p>
        </p:txBody>
      </p:sp>
      <p:sp>
        <p:nvSpPr>
          <p:cNvPr id="270" name="native270"/>
          <p:cNvSpPr/>
          <p:nvPr/>
        </p:nvSpPr>
        <p:spPr>
          <a:xfrm>
            <a:off x="12511088" y="5290947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注意力</a:t>
            </a:r>
          </a:p>
        </p:txBody>
      </p:sp>
      <p:sp>
        <p:nvSpPr>
          <p:cNvPr id="271" name="native271"/>
          <p:cNvSpPr/>
          <p:nvPr/>
        </p:nvSpPr>
        <p:spPr>
          <a:xfrm>
            <a:off x="12982575" y="39132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原始 Q</a:t>
            </a:r>
            <a:endParaRPr lang="zh-CN" sz="1350"/>
          </a:p>
        </p:txBody>
      </p:sp>
      <p:sp>
        <p:nvSpPr>
          <p:cNvPr id="272" name="native272"/>
          <p:cNvSpPr/>
          <p:nvPr/>
        </p:nvSpPr>
        <p:spPr>
          <a:xfrm>
            <a:off x="13411200" y="4152900"/>
            <a:ext cx="952" cy="247650"/>
          </a:xfrm>
          <a:custGeom>
            <a:avLst/>
            <a:gdLst/>
            <a:ahLst/>
            <a:cxnLst/>
            <a:rect l="0" t="0" r="r" b="b"/>
            <a:pathLst>
              <a:path w="952" h="247650" fill="none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809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4192250" y="5048250"/>
            <a:ext cx="152400" cy="952"/>
          </a:xfrm>
          <a:custGeom>
            <a:avLst/>
            <a:gdLst/>
            <a:ahLst/>
            <a:cxnLst/>
            <a:rect l="0" t="0" r="r" b="b"/>
            <a:pathLst>
              <a:path w="152400" h="952" fill="none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1714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857250" y="2733675"/>
            <a:ext cx="12773025" cy="4162425"/>
          </a:xfrm>
          <a:custGeom>
            <a:avLst/>
            <a:gdLst/>
            <a:ahLst/>
            <a:cxnLst/>
            <a:rect l="0" t="0" r="r" b="b"/>
            <a:pathLst>
              <a:path w="12773025" h="4162425" fill="none">
                <a:moveTo>
                  <a:pt x="12773025" y="3962400"/>
                </a:moveTo>
                <a:lnTo>
                  <a:pt x="12773025" y="4162425"/>
                </a:lnTo>
                <a:lnTo>
                  <a:pt x="0" y="4162425"/>
                </a:lnTo>
                <a:lnTo>
                  <a:pt x="0" y="0"/>
                </a:lnTo>
                <a:lnTo>
                  <a:pt x="95250" y="0"/>
                </a:lnTo>
              </a:path>
            </a:pathLst>
          </a:custGeom>
          <a:noFill/>
          <a:ln w="14288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4038600" y="6762750"/>
            <a:ext cx="3495675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3552825" y="6780276"/>
            <a:ext cx="4457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下一输入：重置状态 → 重新预填充标定</a:t>
            </a:r>
          </a:p>
        </p:txBody>
      </p:sp>
      <p:sp>
        <p:nvSpPr>
          <p:cNvPr id="277" name="native277"/>
          <p:cNvSpPr/>
          <p:nvPr/>
        </p:nvSpPr>
        <p:spPr>
          <a:xfrm>
            <a:off x="952500" y="7115175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91DABA4-9009-4A62-B94A-CF1A8DE93BE2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D656654-6C81-4FD4-8325-E32F4D15E9EE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lang="zh-CN" altLang="en-US" sz="3225" b="1" dirty="0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rPr>
              <a:t>GQA：组共享选择，各查询头独立计算注意力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295275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5350" y="306705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Q1 (32维)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81250" y="322897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38500" y="288607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52800" y="296227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191250" y="3228975"/>
            <a:ext cx="1143000" cy="121920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62000" y="378142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5350" y="389572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Q2 (32维)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81250" y="405765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238500" y="371475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52800" y="379095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91250" y="4057650"/>
            <a:ext cx="1143000" cy="3905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62000" y="461010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5350" y="472440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Q3 (32维)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81250" y="488632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238500" y="454342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52800" y="461962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191250" y="4448175"/>
            <a:ext cx="1143000" cy="43815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62000" y="543877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5350" y="555307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Q4 (32维)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381250" y="571500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238500" y="537210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52800" y="544830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191250" y="4448175"/>
            <a:ext cx="1143000" cy="12668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381875" y="3924300"/>
            <a:ext cx="2762250" cy="12382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381875" y="3924300"/>
            <a:ext cx="66675" cy="1238250"/>
          </a:xfrm>
          <a:prstGeom prst="rect">
            <a:avLst/>
          </a:prstGeom>
          <a:solidFill>
            <a:srgbClr val="128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91425" y="4076700"/>
            <a:ext cx="2381250" cy="381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128982"/>
                </a:solidFill>
                <a:latin typeface="Noto Sans CJK SC"/>
              </a:rPr>
              <a:t>组均值概率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91425" y="4581525"/>
            <a:ext cx="2381250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>
                <a:solidFill>
                  <a:srgbClr val="183146"/>
                </a:solidFill>
                <a:latin typeface="Noto Sans CJK SC"/>
              </a:rPr>
              <a:t>分区TopK → 组共享词元索引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0144125" y="3228975"/>
            <a:ext cx="1000125" cy="131445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11144250" y="295275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239500" y="307657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Q1 注意力 → O1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10144125" y="4057650"/>
            <a:ext cx="1000125" cy="4857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1144250" y="378142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239500" y="390525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Q2 注意力 → O2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144125" y="4543425"/>
            <a:ext cx="1000125" cy="34290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11144250" y="461010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1239500" y="473392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Q3 注意力 → O3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144125" y="4543425"/>
            <a:ext cx="1000125" cy="11715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1144250" y="543877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1239500" y="556260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Q4 注意力 → O4</a:t>
            </a:r>
          </a:p>
        </p:txBody>
      </p:sp>
      <p:sp>
        <p:nvSpPr>
          <p:cNvPr id="50" name="native50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95437684"/>
      </p:ext>
    </p:extLst>
  </p:cSld>
  <p:clrMapOvr>
    <a:masterClrMapping/>
  </p:clrMapOvr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AE47A6E8-5834-486B-8887-65999B4AC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91D887D-1677-4DE9-B604-D17F2805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Q1：缩小评分宽度能否保留任务质量？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669460E-E2C4-4074-9A68-BB76B099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223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L1 表示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E94C5A9-408A-4C8B-9560-A933FEBF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95500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全维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7F80394-0BA1-4835-8FA8-5F03297D9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09550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低频32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8358139-7AAB-42EF-BBDE-606113EE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81350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全维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58B3520-270F-4AC6-823E-D82A46CA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00575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低频32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4ED1BC2-885E-4BF2-942A-92E04852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F3DD5D8C-9558-4110-BFAA-72BD44F7B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全维稀疏对照</ns0:t>
            </ns0:r>
          </ns0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3952893-B1C3-4538-9E73-B5AF782A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未测量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E1642D8-9DFC-4942-A97D-47EBA13A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07D91AE-028B-4370-86BA-4E9181BE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rPr>
              <ns1:t>名义全维页评分</ns1:t>
            </ns1:r>
          </ns1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187B8FA-694E-4944-BC4D-E979708E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均值：47.910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9F5A998-44BC-4B13-A769-29C002DA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B322C24A-6B83-4112-897E-7CE75733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rPr>
              <ns2:t>名义全维词元评分</ns2:t>
            </ns2:r>
          </ns2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30F3FC8C-AEF6-45C1-ADD9-ECC2AB22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均值：47.666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F6F24D46-1D7F-4D97-A3E2-DAD277BE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45DE53C3-0988-4EA3-A30B-7970FAF1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rPr>
              <ns3:t>共享子空间</ns3:t>
            </ns3:r>
          </ns3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D274A6F-5B09-44F3-8BD2-001B4A13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均值：47.588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559DEE66-5E5A-48EB-8005-591C28C6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2981325"/>
            <a:ext cx="2476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归档评分实现</ns4:t>
            </ns4:r>
          </ns4:p>
          <ns5:p xmlns:ns5="http://schemas.openxmlformats.org/drawingml/2006/main">
            <ns5:pPr>
              <ns5:buNone/>
              <ns5:def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L2张量宽128／有效32</ns5:t>
            </ns5:r>
          </ns5:p>
          <ns6:p xmlns:ns6="http://schemas.openxmlformats.org/drawingml/2006/main">
            <ns6:pPr>
              <ns6:buNone/>
              <ns6:def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配置匹配尚未确认</ns6:t>
            </ns6:r>
          </ns6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3FD5B8E6-6EB5-48FC-AEDA-4199AA80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8C204F78-5E69-4C5A-B267-4F224CD3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5532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7:p xmlns:ns7="http://schemas.openxmlformats.org/drawingml/2006/main">
            <ns7:pPr>
              <ns7:buNone/>
              <ns7:def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rPr>
              <ns7:t>尚缺匹配比较</ns7:t>
            </ns7:r>
          </ns7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13C0B4BD-796B-4B1E-8097-BDFB86ED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2AC1D20F-E19D-49FF-86EB-28F260F1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553200"/>
            <a:ext cx="5381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rPr>
              <ns8:t>共享子空间与稠密FullKV</ns8:t>
            </ns8:r>
          </ns8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15DDA829-FF5D-4781-A03A-6D01418B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50D2F513-E3B8-4335-BC44-E5BFC4D6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5532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9:p xmlns:ns9="http://schemas.openxmlformats.org/drawingml/2006/main">
            <ns9:pPr>
              <ns9:buNone/>
              <ns9:def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rPr>
              <ns9:t>文档配对质量评估</ns9:t>
            </ns9:r>
          </ns9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D6240F5B-378C-4D4E-833B-96BA7BA8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514690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54E3D7EA-8244-4898-B486-B9C1362C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2AF9D2E-8021-4D6C-B03A-1D651027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r>
              <a:t>历史动态缓存：同步模型级解码计时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12</a:t>
            </a:r>
          </a:p>
        </p:txBody>
      </p:sp>
      <p:pic xmlns:a="http://schemas.openxmlformats.org/drawingml/2006/main" xmlns:r="http://schemas.openxmlformats.org/officeDocument/2006/relationships"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11680"/>
            <a:ext cx="7315200" cy="4694830"/>
          </a:xfrm>
          <a:prstGeom prst="rect">
            <a:avLst/>
          </a:prstGeom>
        </p:spPr>
      </p:pic>
      <p:sp xmlns:a="http://schemas.openxmlformats.org/drawingml/2006/main">
        <p:nvSpPr>
          <p:cNvPr id="28" name="TextBox 27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作者报告中位数 · 非完整请求E2E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Qwen3-8B，固定128输出词元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127个首输出后间隔，逐步同步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历史稀疏配置 α=.125 / β=.375 / 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不同于当前4/128候选；</a:t>
            </a:r>
            <a:br/>
            <a:r>
              <a:t>运行路径未独立核验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32K/64K/128K稀疏／稠密中位数比：</a:t>
            </a:r>
            <a:br/>
            <a:r>
              <a:t>3.38 / 2.46 / 1.78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三档比值减小，但稀疏TPOT仍上升且高于稠密；汇总不能定位因果瓶颈。</a:t>
            </a:r>
          </a:p>
        </p:txBody>
      </p:sp>
    </p:spTree>
    <p:extLst>
      <p:ext uri="{BB962C8B-B14F-4D97-AF65-F5344CB8AC3E}">
        <p14:creationId xmlns:p14="http://schemas.microsoft.com/office/powerpoint/2010/main" val="50625152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ative2">
            <a:extLst xmlns:a="http://schemas.openxmlformats.org/drawingml/2006/main">
              <a:ext uri="{FF2B5EF4-FFF2-40B4-BE49-F238E27FC236}">
                <a16:creationId xmlns:a16="http://schemas.microsoft.com/office/drawing/2014/main" id="{059E456C-7711-4A14-96C6-31796130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333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25" b="1">
                <a:solidFill>
                  <a:srgbClr val="32689F"/>
                </a:solidFill>
                <a:latin typeface="Noto Sans CJK SC"/>
                <a:ea typeface="Noto Sans CJK SC"/>
                <a:cs typeface="Noto Sans CJK SC"/>
              </a:rPr>
              <a:t>Results &amp; Ablation · Module Evidence</a:t>
            </a:r>
            <a:endParaRPr sz="1425"/>
          </a:p>
        </p:txBody>
      </p:sp>
      <p:sp>
        <p:nvSpPr>
          <p:cNvPr id="3" name="native3">
            <a:extLst xmlns:a="http://schemas.openxmlformats.org/drawingml/2006/main">
              <a:ext uri="{FF2B5EF4-FFF2-40B4-BE49-F238E27FC236}">
                <a16:creationId xmlns:a16="http://schemas.microsoft.com/office/drawing/2014/main" id="{7DA03151-923A-49AD-95A2-A10416EC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62000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150" b="1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区域访问与门控：证据支持到哪里？</a:t>
            </a:r>
            <a:endParaRPr sz="3150"/>
          </a:p>
        </p:txBody>
      </p:sp>
      <p:sp>
        <p:nvSpPr>
          <p:cNvPr id="4" name="native4">
            <a:extLst xmlns:a="http://schemas.openxmlformats.org/drawingml/2006/main">
              <a:ext uri="{FF2B5EF4-FFF2-40B4-BE49-F238E27FC236}">
                <a16:creationId xmlns:a16="http://schemas.microsoft.com/office/drawing/2014/main" id="{F1589893-024A-49A3-9EDA-446E948B8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371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buNone/>
            </ns0:pPr>
            <ns0:r>
              <ns0:rPr sz="1875" b="0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归档128/128保护：L2宽128、有效32；不代表当前4/128候选</ns0:t>
            </ns0:r>
          </ns0:p>
        </p:txBody>
      </p:sp>
      <p:sp>
        <p:nvSpPr>
          <p:cNvPr id="10" name="native10">
            <a:extLst xmlns:a="http://schemas.openxmlformats.org/drawingml/2006/main">
              <a:ext uri="{FF2B5EF4-FFF2-40B4-BE49-F238E27FC236}">
                <a16:creationId xmlns:a16="http://schemas.microsoft.com/office/drawing/2014/main" id="{821E9959-C820-49B1-8106-5B3DA6C7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296C51D9-E90D-411C-91AA-CD821BEE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低频表示</a:t>
            </a:r>
            <a:endParaRPr sz="2400"/>
          </a:p>
        </p:txBody>
      </p:sp>
      <p:sp>
        <p:nvSpPr>
          <p:cNvPr id="30" name="native30">
            <a:extLst xmlns:a="http://schemas.openxmlformats.org/drawingml/2006/main">
              <a:ext uri="{FF2B5EF4-FFF2-40B4-BE49-F238E27FC236}">
                <a16:creationId xmlns:a16="http://schemas.microsoft.com/office/drawing/2014/main" id="{3A082329-626B-4AD4-B900-E4CE5189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47.588</a:t>
            </a:r>
            <a:endParaRPr sz="3000"/>
          </a:p>
        </p:txBody>
      </p:sp>
      <p:sp>
        <p:nvSpPr>
          <p:cNvPr id="40" name="native40">
            <a:extLst xmlns:a="http://schemas.openxmlformats.org/drawingml/2006/main">
              <a:ext uri="{FF2B5EF4-FFF2-40B4-BE49-F238E27FC236}">
                <a16:creationId xmlns:a16="http://schemas.microsoft.com/office/drawing/2014/main" id="{96357930-FAFC-4D76-8D5F-3040E5ED0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buNone/>
            </ns1:pPr>
            <ns1:r>
              <ns1:rPr sz="1875" b="0">
                <ns1:solidFill>
                  <ns1:srgbClr val="193247"/>
                </ns1:solidFill>
                <ns1:latin typeface="Noto Sans CJK SC"/>
                <ns1:ea typeface="Noto Sans CJK SC"/>
                <ns1:cs typeface="Noto Sans CJK SC"/>
              </ns1:rPr>
              <ns1:t>五任务均值；相对名义全维页评分
低0.322分，相对名义全维词元评分
低0.078分；配置未确认匹配，
不能隔离阶段效应。</ns1:t>
            </ns1:r>
          </ns1:p>
          <ns2:p xmlns:ns2="http://schemas.openxmlformats.org/drawingml/2006/main">
            <ns2:pPr algn="l">
              <ns2:buNone/>
            </ns2:pPr>
            <ns2:r>
              <ns2:rPr sz="1875" b="0">
                <ns2:solidFill>
                  <ns2:srgbClr val="193247"/>
                </ns2:solidFill>
                <ns2:latin typeface="Noto Sans CJK SC"/>
                <ns2:ea typeface="Noto Sans CJK SC"/>
                <ns2:cs typeface="Noto Sans CJK SC"/>
              </ns2:rPr>
              <ns2:t/>
            </ns2:r>
          </ns2:p>
          <ns3:p xmlns:ns3="http://schemas.openxmlformats.org/drawingml/2006/main">
            <ns3:pPr algn="l">
              <ns3:buNone/>
            </ns3:pPr>
            <ns3:r>
              <ns3:rPr sz="1875" b="0">
                <ns3:solidFill>
                  <ns3:srgbClr val="193247"/>
                </ns3:solidFill>
                <ns3:latin typeface="Noto Sans CJK SC"/>
                <ns3:ea typeface="Noto Sans CJK SC"/>
                <ns3:cs typeface="Noto Sans CJK SC"/>
              </ns3:rPr>
              <ns3:t/>
            </ns3:r>
          </ns3:p>
          <ns4:p xmlns:ns4="http://schemas.openxmlformats.org/drawingml/2006/main">
            <ns4:pPr algn="l">
              <ns4:buNone/>
            </ns4:pPr>
            <ns4:r>
              <ns4:rPr sz="1875" b="0">
                <ns4:solidFill>
                  <ns4:srgbClr val="193247"/>
                </ns4:solidFill>
                <ns4:latin typeface="Noto Sans CJK SC"/>
                <ns4:ea typeface="Noto Sans CJK SC"/>
                <ns4:cs typeface="Noto Sans CJK SC"/>
              </ns4:rPr>
              <ns4:t/>
            </ns4:r>
          </ns4:p>
        </p:txBody>
      </p:sp>
      <p:sp>
        <p:nvSpPr>
          <p:cNvPr id="11" name="native11">
            <a:extLst xmlns:a="http://schemas.openxmlformats.org/drawingml/2006/main">
              <a:ext uri="{FF2B5EF4-FFF2-40B4-BE49-F238E27FC236}">
                <a16:creationId xmlns:a16="http://schemas.microsoft.com/office/drawing/2014/main" id="{1055319D-B2D2-4753-9687-FE6DB813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D90AA27F-B687-4FC9-BB10-F6E2C87D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近远检索</a:t>
            </a:r>
            <a:endParaRPr sz="2400"/>
          </a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552C8BA4-8B27-4226-B0B6-F27E3BDB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26.09 → 47.91</a:t>
            </a:r>
            <a:endParaRPr sz="3000"/>
          </a:p>
        </p:txBody>
      </p:sp>
      <p:sp>
        <p:nvSpPr>
          <p:cNvPr id="41" name="native41">
            <a:extLst xmlns:a="http://schemas.openxmlformats.org/drawingml/2006/main">
              <a:ext uri="{FF2B5EF4-FFF2-40B4-BE49-F238E27FC236}">
                <a16:creationId xmlns:a16="http://schemas.microsoft.com/office/drawing/2014/main" id="{16D1357F-2FA4-4472-9E6B-4B093EE6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5:p xmlns:ns5="http://schemas.openxmlformats.org/drawingml/2006/main">
            <ns5:pPr algn="l">
              <ns5:buNone/>
            </ns5:pPr>
            <ns5:r>
              <ns5:rPr sz="1875" b="0">
                <ns5:solidFill>
                  <ns5:srgbClr val="193247"/>
                </ns5:solidFill>
                <ns5:latin typeface="Noto Sans CJK SC"/>
                <ns5:ea typeface="Noto Sans CJK SC"/>
                <ns5:cs typeface="Noto Sans CJK SC"/>
              </ns5:rPr>
              <ns5:t>仅保护词元与中间历史检索比较，</ns5:t>
            </ns5:r>
          </ns5:p>
          <ns6:p xmlns:ns6="http://schemas.openxmlformats.org/drawingml/2006/main">
            <ns6:pPr algn="l">
              <ns6:buNone/>
            </ns6:pPr>
            <ns6:r>
              <ns6:rPr sz="1875" b="0">
                <ns6:solidFill>
                  <ns6:srgbClr val="193247"/>
                </ns6:solidFill>
                <ns6:latin typeface="Noto Sans CJK SC"/>
                <ns6:ea typeface="Noto Sans CJK SC"/>
                <ns6:cs typeface="Noto Sans CJK SC"/>
              </ns6:rPr>
              <ns6:t>预算256→1024，</ns6:t>
            </ns6:r>
          </ns6:p>
          <ns7:p xmlns:ns7="http://schemas.openxmlformats.org/drawingml/2006/main">
            <ns7:pPr algn="l">
              <ns7:buNone/>
            </ns7:pPr>
            <ns7:r>
              <ns7:rPr sz="1875" b="0">
                <ns7:solidFill>
                  <ns7:srgbClr val="193247"/>
                </ns7:solidFill>
                <ns7:latin typeface="Noto Sans CJK SC"/>
                <ns7:ea typeface="Noto Sans CJK SC"/>
                <ns7:cs typeface="Noto Sans CJK SC"/>
              </ns7:rPr>
              <ns7:t>未隔离区域分配效应。</ns7:t>
            </ns7:r>
          </ns7:p>
        </p:txBody>
      </p:sp>
      <p:sp>
        <p:nvSpPr>
          <p:cNvPr id="12" name="native12">
            <a:extLst xmlns:a="http://schemas.openxmlformats.org/drawingml/2006/main">
              <a:ext uri="{FF2B5EF4-FFF2-40B4-BE49-F238E27FC236}">
                <a16:creationId xmlns:a16="http://schemas.microsoft.com/office/drawing/2014/main" id="{5479FA12-1130-4251-9CF8-4F81FAF0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native22">
            <a:extLst xmlns:a="http://schemas.openxmlformats.org/drawingml/2006/main">
              <a:ext uri="{FF2B5EF4-FFF2-40B4-BE49-F238E27FC236}">
                <a16:creationId xmlns:a16="http://schemas.microsoft.com/office/drawing/2014/main" id="{85AE40CD-9922-4B54-9AEA-D876473A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8:p xmlns:ns8="http://schemas.openxmlformats.org/drawingml/2006/main">
            <ns8:pPr algn="l">
              <ns8:buNone/>
            </ns8:pPr>
            <ns8:r>
              <ns8:rPr sz="2400" b="1">
                <ns8:solidFill>
                  <ns8:srgbClr val="A66328"/>
                </ns8:solidFill>
                <ns8:latin typeface="Noto Sans CJK SC"/>
                <ns8:ea typeface="Noto Sans CJK SC"/>
                <ns8:cs typeface="Noto Sans CJK SC"/>
              </ns8:rPr>
              <ns8:t>可选远区门控</ns8:t>
            </ns8:r>
          </ns8:p>
        </p:txBody>
      </p:sp>
      <p:sp>
        <p:nvSpPr>
          <p:cNvPr id="32" name="native32">
            <a:extLst xmlns:a="http://schemas.openxmlformats.org/drawingml/2006/main">
              <a:ext uri="{FF2B5EF4-FFF2-40B4-BE49-F238E27FC236}">
                <a16:creationId xmlns:a16="http://schemas.microsoft.com/office/drawing/2014/main" id="{4FB05575-8697-4E89-808C-B809689F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3 / 5</a:t>
            </a:r>
            <a:endParaRPr sz="3000"/>
          </a:p>
        </p:txBody>
      </p:sp>
      <p:sp>
        <p:nvSpPr>
          <p:cNvPr id="42" name="native42">
            <a:extLst xmlns:a="http://schemas.openxmlformats.org/drawingml/2006/main">
              <a:ext uri="{FF2B5EF4-FFF2-40B4-BE49-F238E27FC236}">
                <a16:creationId xmlns:a16="http://schemas.microsoft.com/office/drawing/2014/main" id="{355EB030-603D-440C-98A7-BD9370DA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阈值0.05/0.10各3项下降。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HotpotQA降1.05/1.26分，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评分配置不完整，限于此对照。</a:t>
            </a:r>
          </a:p>
        </p:txBody>
      </p:sp>
      <p:sp>
        <p:nvSpPr>
          <p:cNvPr id="61" name="native61">
            <a:extLst xmlns:a="http://schemas.openxmlformats.org/drawingml/2006/main">
              <a:ext uri="{FF2B5EF4-FFF2-40B4-BE49-F238E27FC236}">
                <a16:creationId xmlns:a16="http://schemas.microsoft.com/office/drawing/2014/main" id="{0C19CD24-F3BC-4381-A500-85081D66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CB37312D-41D6-4127-8CF9-244F54BE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34" name="native34">
            <a:extLst xmlns:a="http://schemas.openxmlformats.org/drawingml/2006/main">
              <a:ext uri="{FF2B5EF4-FFF2-40B4-BE49-F238E27FC236}">
                <a16:creationId xmlns:a16="http://schemas.microsoft.com/office/drawing/2014/main" id="{E60A07FB-ED8F-4642-97C6-9135FFF1F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BC9724A-2DF0-40AB-87AA-8C56B1A6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81075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193247"/>
                </a:solidFill>
              </a:defRPr>
            </a:defPPr>
          </a:lstStyle>
          <a:p xmlns:a="http://schemas.openxmlformats.org/drawingml/2006/main">
            <a:r>
              <a:t>保留历史128K质量负结果</a:t>
            </a:r>
          </a:p>
        </p:txBody>
      </p:sp>
      <p:pic xmlns:a="http://schemas.openxmlformats.org/drawingml/2006/main" xmlns:r="http://schemas.openxmlformats.org/officeDocument/2006/relationships">
        <p:nvPicPr>
          <p:cNvPr id="36" name="Picture 3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520" y="2103120"/>
            <a:ext cx="7315200" cy="4466539"/>
          </a:xfrm>
          <a:prstGeom prst="rect">
            <a:avLst/>
          </a:prstGeom>
        </p:spPr>
      </p:pic>
      <p:sp xmlns:a="http://schemas.openxmlformats.org/drawingml/2006/main">
        <p:nvSpPr>
          <p:cNvPr id="37" name="TextBox 36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历史128K得分：46.43 / 23.98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11任务；每任务每臂100例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报告 β=.375，K1=128，保护128/128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中间预算768；页长64，γ=.625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按已检公式：名义远区词元配额=0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代码／配置推论；实际执行未核验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不能据此认定得分差的唯一原因；不验证当前4/128候选。</a:t>
            </a:r>
          </a:p>
        </p:txBody>
      </p:sp>
    </p:spTree>
    <p:extLst>
      <p:ext uri="{BB962C8B-B14F-4D97-AF65-F5344CB8AC3E}">
        <p14:creationId xmlns:p14="http://schemas.microsoft.com/office/powerpoint/2010/main" val="123258880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8A703273-0B69-488C-948F-96DAE59F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AE04170-05A8-48A6-90A5-0D3B8E86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共享子空间评分未显示一致计时优势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EF056F70-099D-4E2B-BDBC-347DD21E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1371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名义页／词元评分坐标数 · 合成64K · 单层、批量1、单查询 · 两轮稳态汇总（ms）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9F961683-CCC0-447B-B329-8769D89C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98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128 / 32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200B0CB-9ECD-4B6C-A977-F1DC66AD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38475"/>
            <a:ext cx="359827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BCC577E0-DF3C-4320-BAF6-1DF3F892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5548" y="29622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90D24EA-35BD-44FC-B242-C025B3E2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773" y="28003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1.3502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61C7C5B-FE7B-4A27-A818-244DEC73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rPr>
              <ns2:t>32 / 32</ns2:t>
            </ns2:r>
          </ns2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B3255E5-79DF-4A69-A010-1623B159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133850"/>
            <a:ext cx="3826982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98733F16-C7BC-46B0-AC37-06937375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4257" y="4057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3A365475-4B57-48D6-BFCB-B3F5BCBF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482" y="389572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1.3598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F21B56CA-E8AB-4A7B-B636-ACADC061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0062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32 / 128</ns3:t>
            </ns3:r>
          </ns3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C22D97D-C946-4844-91EE-55D1F17F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29225"/>
            <a:ext cx="630685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椭圆 15">
            <a:extLst xmlns:a="http://schemas.openxmlformats.org/drawingml/2006/main">
              <a:ext uri="{FF2B5EF4-FFF2-40B4-BE49-F238E27FC236}">
                <a16:creationId xmlns:a16="http://schemas.microsoft.com/office/drawing/2014/main" id="{F4DE58EC-CBF5-4071-9943-6DC7FF885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4131" y="51530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71827A8-9589-4F62-8241-DB3C64A0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0356" y="49911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1.4634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19D0AED-FF0F-4C9C-8058-A4073DAF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953125"/>
            <a:ext cx="838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B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5B8B11F-879E-4A5C-BA62-43B5F6A0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1.2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F2C9C195-9205-4A97-951F-5B897CCC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4982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1.3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8F1AC6D-E16B-48F5-BDED-568A4350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9839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1.4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8E53F6E-16D9-4EEA-9024-E7DCA7CD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94696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1.5</a:t>
            </a: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1FC5292F-2753-4894-877D-AB6E4599E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15</a:t>
            </a:r>
          </a:p>
        </p:txBody>
      </p:sp>
      <p:sp>
        <p:nvSpPr>
          <p:cNvPr id="27" name="sampling-protocol-limitation">
            <a:extLst xmlns:a="http://schemas.openxmlformats.org/drawingml/2006/main">
              <a:ext uri="{FF2B5EF4-FFF2-40B4-BE49-F238E27FC236}">
                <a16:creationId xmlns:a16="http://schemas.microsoft.com/office/drawing/2014/main" id="{1463C72D-80DA-4F50-860C-90768A8E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000875"/>
            <a:ext cx="13716000" cy="987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526B80"/>
                </a:solidFill>
              </a:defRPr>
            </a:defPPr>
          </a:lstStyle>
          <ns4:p xmlns:ns4="http://schemas.openxmlformats.org/drawingml/2006/main">
            <ns4:pPr>
              <ns4:defRPr sz="1800">
                <ns4:solidFill>
                  <ns4:srgbClr val="526B80"/>
                </ns4:solidFill>
              </ns4:defRPr>
            </ns4:pPr>
            <ns4:r>
              <ns4:rPr sz="1800">
                <ns4:solidFill>
                  <ns4:srgbClr val="526B80"/>
                </ns4:solidFill>
              </ns4:rPr>
              <ns4:t>相对名义页评分，两轮慢0.0237／快0.0046 ms，汇总仍较高。原始样本缺失、协议差异未解，不能认定等价或定位瓶颈。未与质量配对，未测完整请求成本。</ns4:t>
            </ns4:r>
          </ns4:p>
        </p:txBody>
      </p:sp>
    </p:spTree>
    <p:extLst>
      <p:ext uri="{BB962C8B-B14F-4D97-AF65-F5344CB8AC3E}">
        <p14:creationId xmlns:p14="http://schemas.microsoft.com/office/powerpoint/2010/main" val="531653781"/>
      </p:ext>
    </p:extLst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Results &amp; Ablation · Module Evidence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62000"/>
            <a:ext cx="1371600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150" b="1" dirty="0">
                <a:solidFill>
                  <a:srgbClr val="193247"/>
                </a:solidFill>
                <a:latin typeface="Noto Sans CJK SC"/>
                <a:ea typeface="Noto Sans CJK SC"/>
              </a:rPr>
              <a:t>历史128/128保护：检索与词元预算的联合变化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495425"/>
            <a:ext cx="13716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预算256与1024的联合变化，未隔离分区贡献</a:t>
            </a:r>
          </a:p>
        </p:txBody>
      </p:sp>
      <p:sp>
        <p:nvSpPr>
          <p:cNvPr id="10" name="native10"/>
          <p:cNvSpPr/>
          <p:nvPr/>
        </p:nvSpPr>
        <p:spPr>
          <a:xfrm>
            <a:off x="762000" y="285750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727E87"/>
                </a:solidFill>
                <a:latin typeface="Noto Sans CJK SC"/>
                <a:ea typeface="Noto Sans CJK SC"/>
              </a:rPr>
              <a:t>前缀128 + 近期窗口128</a:t>
            </a:r>
          </a:p>
        </p:txBody>
      </p:sp>
      <p:sp>
        <p:nvSpPr>
          <p:cNvPr id="20" name="native20"/>
          <p:cNvSpPr/>
          <p:nvPr/>
        </p:nvSpPr>
        <p:spPr>
          <a:xfrm>
            <a:off x="6000750" y="2857500"/>
            <a:ext cx="3727609" cy="523875"/>
          </a:xfrm>
          <a:prstGeom prst="roundRect">
            <a:avLst/>
          </a:prstGeom>
          <a:solidFill>
            <a:srgbClr val="727E87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9918859" y="285750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727E87"/>
                </a:solidFill>
                <a:latin typeface="Noto Sans CJK SC"/>
                <a:ea typeface="Noto Sans CJK SC"/>
              </a:rPr>
              <a:t>26.09</a:t>
            </a:r>
            <a:endParaRPr lang="zh-CN" sz="2400"/>
          </a:p>
        </p:txBody>
      </p:sp>
      <p:sp>
        <p:nvSpPr>
          <p:cNvPr id="40" name="native40"/>
          <p:cNvSpPr/>
          <p:nvPr/>
        </p:nvSpPr>
        <p:spPr>
          <a:xfrm>
            <a:off x="762000" y="340995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总预算256</a:t>
            </a:r>
            <a:endParaRPr lang="zh-CN" sz="1875"/>
          </a:p>
        </p:txBody>
      </p:sp>
      <p:sp>
        <p:nvSpPr>
          <p:cNvPr id="11" name="native11"/>
          <p:cNvSpPr/>
          <p:nvPr/>
        </p:nvSpPr>
        <p:spPr>
          <a:xfrm>
            <a:off x="762000" y="466725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32689F"/>
                </a:solidFill>
                <a:latin typeface="Noto Sans CJK SC"/>
                <a:ea typeface="Noto Sans CJK SC"/>
              </a:rPr>
              <a:t>中间历史检索 + 保护集合</a:t>
            </a:r>
          </a:p>
        </p:txBody>
      </p:sp>
      <p:sp>
        <p:nvSpPr>
          <p:cNvPr id="21" name="native21"/>
          <p:cNvSpPr/>
          <p:nvPr/>
        </p:nvSpPr>
        <p:spPr>
          <a:xfrm>
            <a:off x="6000750" y="4667250"/>
            <a:ext cx="6845141" cy="523875"/>
          </a:xfrm>
          <a:prstGeom prst="roundRect">
            <a:avLst/>
          </a:prstGeom>
          <a:solidFill>
            <a:srgbClr val="32689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13036391" y="466725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32689F"/>
                </a:solidFill>
                <a:latin typeface="Noto Sans CJK SC"/>
                <a:ea typeface="Noto Sans CJK SC"/>
              </a:rPr>
              <a:t>47.91</a:t>
            </a:r>
            <a:endParaRPr lang="zh-CN" sz="2400"/>
          </a:p>
        </p:txBody>
      </p:sp>
      <p:sp>
        <p:nvSpPr>
          <p:cNvPr id="41" name="native41"/>
          <p:cNvSpPr/>
          <p:nvPr/>
        </p:nvSpPr>
        <p:spPr>
          <a:xfrm>
            <a:off x="762000" y="521970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总预算1024</a:t>
            </a:r>
            <a:endParaRPr lang="zh-CN" sz="1875"/>
          </a:p>
        </p:txBody>
      </p:sp>
      <p:sp>
        <p:nvSpPr>
          <p:cNvPr id="46" name="native46"/>
          <p:cNvSpPr/>
          <p:nvPr/>
        </p:nvSpPr>
        <p:spPr>
          <a:xfrm>
            <a:off x="6000750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0</a:t>
            </a:r>
            <a:endParaRPr lang="zh-CN" sz="1575"/>
          </a:p>
        </p:txBody>
      </p:sp>
      <p:sp>
        <p:nvSpPr>
          <p:cNvPr id="47" name="native47"/>
          <p:cNvSpPr/>
          <p:nvPr/>
        </p:nvSpPr>
        <p:spPr>
          <a:xfrm>
            <a:off x="9572625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25</a:t>
            </a:r>
            <a:endParaRPr lang="zh-CN" sz="1575"/>
          </a:p>
        </p:txBody>
      </p:sp>
      <p:sp>
        <p:nvSpPr>
          <p:cNvPr id="48" name="native48"/>
          <p:cNvSpPr/>
          <p:nvPr/>
        </p:nvSpPr>
        <p:spPr>
          <a:xfrm>
            <a:off x="13144500" y="5981700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50 分</a:t>
            </a:r>
            <a:endParaRPr lang="zh-CN" sz="1575"/>
          </a:p>
        </p:txBody>
      </p:sp>
      <p:sp>
        <p:nvSpPr>
          <p:cNvPr id="52" name="native5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12C2174-7DD7-4C4B-8EB2-D72B4D13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Conclusion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808165A-E631-4FD2-98FE-23D3488F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评分表示、区域访问与执行成本的取舍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55404CD-BAC3-4CD5-AE73-943BCE51E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666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共享低频评分表示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A351A26-0863-4631-9F5C-29544C55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238375"/>
            <a:ext cx="590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rPr>
              <ns1:t>可选远区门控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29D851A-2155-426F-A42B-D9BCA1AC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19475"/>
            <a:ext cx="304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32维选择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2499D1F-9601-4FDB-B39F-55C3AA90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19475"/>
            <a:ext cx="571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B8580D3-D048-4B76-A137-10481E21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19475"/>
            <a:ext cx="2571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rPr>
              <ns2:t>共享词元索引</ns2:t>
            </ns2:r>
          </ns2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8D0E43F-D808-4CDC-B306-BDCC6323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1005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1D736473-920F-4D6E-B15F-C7E8040F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095875"/>
            <a:ext cx="571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原128维 注意力</ns3:t>
            </ns3:r>
          </ns3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D85501F-47CC-4EBB-A983-359B20D1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09950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rPr>
              <ns4:t>预填充 标定</ns4:t>
            </ns4:r>
          </ns4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C135495-B93E-4C57-BA38-71F435F1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22910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C8BF4F0-5E3C-4DB6-B72C-974C474B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095875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5:p xmlns:ns5="http://schemas.openxmlformats.org/drawingml/2006/main">
            <ns5:pPr>
              <ns5:buNone/>
              <ns5:def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rPr>
              <ns5:t>解码 复用</ns5:t>
            </ns5:r>
          </ns5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A9657CC-00A4-43B6-9C9A-1A31E636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43625"/>
            <a:ext cx="647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保留远区页，不保证留有远区词元配额
当前4/128尚缺匹配质量—成本验证</ns6:t>
            </ns6:r>
          </ns6:p>
          <ns7:p xmlns:ns7="http://schemas.openxmlformats.org/drawingml/2006/main">
            <ns7:pPr>
              <ns7:buNone/>
              <ns7:def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rPr>
              <ns7:t/>
            </ns7:r>
          </ns7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7F90DC7-A5F0-4E7D-B20E-5728B075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6143625"/>
            <a:ext cx="5715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rPr>
              <ns8:t>门控默认关闭；历史任务存在损失
预填充统计不保证解码需求</ns8:t>
            </ns8:r>
          </ns8:p>
          <ns9:p xmlns:ns9="http://schemas.openxmlformats.org/drawingml/2006/main">
            <ns9:pPr>
              <ns9:buNone/>
              <ns9:def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rPr>
              <ns9:t/>
            </ns9:r>
          </ns9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D119CCA-BA34-420A-87F0-83EC0E41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33425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706F2BE7-7643-44EF-889C-1A1E2EBA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139358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4873</Words>
  <Application>Microsoft Office PowerPoint</Application>
  <DocSecurity>0</DocSecurity>
  <PresentationFormat>自定义</PresentationFormat>
  <Paragraphs>526</Paragraphs>
  <Slides>17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19" baseType="lpstr">
      <vt:lpstr>Noto Sans CJK SC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Yuanshuo Wang</cp:lastModifiedBy>
  <cp:revision>23</cp:revision>
  <dcterms:created xsi:type="dcterms:W3CDTF">2026-10-13T07:37:37Z</dcterms:created>
  <dcterms:modified xsi:type="dcterms:W3CDTF">2026-10-14T01:51:31Z</dcterms:modified>
</cp:coreProperties>
</file>