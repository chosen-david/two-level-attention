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75" r:id="rId3"/>
    <p:sldId id="257" r:id="rId4"/>
    <p:sldId id="265" r:id="rId5"/>
    <p:sldId id="258" r:id="rId6"/>
    <p:sldId id="259" r:id="rId7"/>
    <p:sldId id="261" r:id="rId8"/>
    <p:sldId id="260" r:id="rId9"/>
    <p:sldId id="274" r:id="rId10"/>
    <p:sldId id="262" r:id="rId11"/>
    <p:sldId id="266" r:id="rId12"/>
    <p:sldId id="273" r:id="rId13"/>
    <p:sldId id="421" r:id="rId14"/>
    <p:sldId id="267" r:id="rId15"/>
    <p:sldId id="269" r:id="rId16"/>
    <p:sldId id="422" r:id="rId17"/>
    <p:sldId id="272" r:id="rId18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scientific candidate, not confirmed champion. Low-frequency RoPE32 sharedtwolevel, original128final注意力. Dprime default-off implementation/calibrationexists, matchedgenerationquality andfullcost notaccepted. No newempirical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可选远区门控：已有默认关闭实现，匹配精度与完整成本仍待验证 实现ing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Scientific abstract for presentation. E134quality47.588vs47.910 -0.322 fromauthorarchivedsummaries, notgatequality. DprimeE137default-offcodeandcalibrationnotacceptance. Underlyingtrace/sourceIDs retained onlyinnotesandevidence. Staticbestm均值dual32/refillmainline.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Two-Level Attention · 2026-10-13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Conceptual selection flow, not performance result. Retain original KV for later queries; protected 词元 are not part of this 中间历史-region candidate sketch. L2 cannot restore unselected L1 中间历史 pages. Actual current ordinary L2 computes full-S logits before 掩码ing.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Two-Level Attention · 2026-10-13</a:t>
            </a:r>
          </a:p>
          <a:p>
            <a:r>
              <a:t>保护集合独立保留。任务质量、选择器成本与完整请求时间分别评价。示意数量非比例。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Baseline integration/status is not reproduction. AsyncTLS arXiv2604.07815v1 §§4.1–4.2 source verified; official implementation not obtained. Do not combine quality and efficiency from unmatched paths. FullKV comparison missing for the reported representation configurations. Broader low-dimensional/two-stage literature remains in paper/history.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Two-Level Attention · 2026-10-13</a:t>
            </a:r>
          </a:p>
          <a:p>
            <a:r>
              <a:t>比较条件：相同质量评估协议、词元预算定义、设备及完整计时范围。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Candidate contributions, not novelty certification. AsyncTLS v1 already describes GQA shared two-stage selection and per-查询 softmax then group aggregation. Other dynamic alpha/beta/gamma calculator remains paused. Dprime is now default-off code/calibration, not confirmed generation quality or end-to-end acceleration.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Two-Level Attention · 2026-10-13</a:t>
            </a:r>
          </a:p>
          <a:p>
            <a:r>
              <a:t>GQA共享、两级TopK与概率均值已有先例。贡献取决于具体差异及匹配验证。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固定源码4056260e155eefd37cdb9ba16b7fa6a098dd95af，sparse_attn/indexer/tli_indexer.py L283–315,L561–571,L620–637,L1206–1221,L1650–1665,L2058–2086。共享选择表示不替代最终全维QKV；D′可选且不作为本页已证收益。</a:t>
            </a:r>
          </a:p>
          <a:p>
            <a:r>
              <a:t>来源：当前Library R53 PPT v46，按2026-10-13用户指定论文结构重组。新候选及E134结果不等于最终验收。 Dprime overlay is a conditional default-off control from 预填充 per-input layer calibration to 远区 branch in 解码, not a validated quality or speed improvement. Base608 native objects retained without movement. Source fixed b787a372 and E137 evidence Libraryv50.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固定候选路径 · 实现范围已区分；质量与完整成本需匹配验证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4056260e tli_indexer.py L283–315,L561–571,L620–637；sparse_attn/arguments.py L86–100。坐标说明只适用所述D128 RoPE布局。</a:t>
            </a:r>
          </a:p>
          <a:p>
            <a:r>
              <a:t>来源：当前Library R53 PPT v46，按2026-10-13用户指定论文结构重组。新候选及E134结果不等于最终验收。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/>
            </a:r>
          </a:p>
          <a:p>
            <a:r>
              <a:t>量化 / 反量化后仍为浮点；不表示 packed INT4 或 KV 容量节省。</a:t>
            </a:r>
          </a:p>
          <a:p>
            <a:r>
              <a:t>固定 近均值／远极值：tail / c4 / l2 共用此视图与设置。坐标条按实际 64 + 64 维绘制；K 的行数为示意。</a:t>
            </a:r>
          </a:p>
          <a:p>
            <a:r>
              <a:t>固定候选路径 · 实现范围已区分；质量与完整成本需匹配验证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4056260e源码tli_indexer.py L1206–1221,L1650–1665,L2058–2086。近区=16×64×.625=640；中间历史预算768，远区128。alpha不是整个S的四分之一。</a:t>
            </a:r>
          </a:p>
          <a:p>
            <a:r>
              <a:t>来源：当前Library R53 PPT v46，按2026-10-13用户指定论文结构重组。新候选及E134结果不等于最终验收。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固定 35ad8… / 近均值／远极值：α=.25，β=.125，γ=.625。</a:t>
            </a:r>
          </a:p>
          <a:p>
            <a:r>
              <a:t>¹ 正常长序列、保护不重叠且候选充足；非数量比例。</a:t>
            </a:r>
          </a:p>
          <a:p>
            <a:r>
              <a:t>固定候选路径 · 实现范围已区分；质量与完整成本需匹配验证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Fixed code ea0e4aa, tree b787a372. E137 default-off Qwen3 per-input calibration, rows default256 configurable; Llama dynamic registration explicitly rejected at35ad8f76. The current input/layer table is implementation intention; batch/chunk production state coverage remains unvalidated. 预填充30/解码22/intersection13 at eps.05 are saved16-input×36-layer scalar classifications, not independent576samples, not quality nor future-词元 guarantees. At35ad8f76 the constructor rejects dynamic/static combinations; Qwen freezes pending decisions on the first 解码-path call, which may consume question 词元; Llama dynamic registration is rejected. Earlier override behavior is historical. Actual production flags, lifecycle and input-state isolation remain unverified. No future 词元 or answers may enter calibration beyond causal 预填充 state. Current refill priority remains; no new experiment run. Historical E129 mixed policies/implementation, not matched evidence for this gate. Future uncertainty/drift fallback is not claimed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余量补足</a:t>
            </a:r>
          </a:p>
          <a:p>
            <a:r>
              <a:t>短路条件：best/m均值，α、β&gt;0，有效长度且 远区 非空；Qwen batch=1 解码。动态＋静态 skip 组合及 Llama 动态配置均拒绝。</a:t>
            </a:r>
          </a:p>
          <a:p>
            <a:r>
              <a:t>仍有 prepare / 量化、repeat / float、S 宽缓冲与 softmax 成本。功能默认未启用；图中 OFF 为启用后的层决策。</a:t>
            </a:r>
          </a:p>
          <a:p>
            <a:r>
              <a:t>普通 ON：L2 全 S 评分后再加 L1 掩码；图示配额需候选充足，近区 不足不回补 远区。ε 为标定阈值，不保证质量。</a:t>
            </a:r>
          </a:p>
          <a:p>
            <a:r>
              <a:t>固定候选路径 · 实现范围已区分；质量与完整成本需匹配验证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AsyncTLS: https://arxiv.org/pdf/2604.07815v1 §4.1 pp5–6，v1 2026-04-09。L1组sum（固定组大小时与均值排序等价）；L2每Q softmax后组均值；最终full-dimensional QKV。当前实现4056260e静态核查。</a:t>
            </a:r>
          </a:p>
          <a:p>
            <a:r>
              <a:t>来源：当前Library R53 PPT v46，按2026-10-13用户指定论文结构重组。新候选及E134结果不等于最终验收。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Two-Level Attention · 2026-10-13</a:t>
            </a:r>
          </a:p>
          <a:p>
            <a:r>
              <a:t>每个KV组共享选集，四个查询仍独立计算注意力</a:t>
            </a:r>
          </a:p>
          <a:p>
            <a:r>
              <a:t>Qwen3-8B：32Q / 8KV，每组4Q（B1 解码）。当前普通L2先全S评分；组内选集共享不等于全部kernel共享加载。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E134representationmatrix three authorreportedfive-task均值s, no全维稀疏对照cell. NotFullKVandnomatchedcompletee2eclaim. Gate远区启用/offrefill/offnorefillcontrols remainrequired; refillprimary. Screeningandindependentconfirmationseparate. Thisprotocolslideauthorizesnonewruns.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Two-Level Attention · 2026-10-13</a:t>
            </a:r>
          </a:p>
          <a:p>
            <a:r>
              <a:t>同输入、保护集合、评分协议与预算定义。质量、TTFT、TPOT及完整请求成本一起验收。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definitions only. TTFTentrytofirst词元, TPOTfirsttolast/Nlater, requestE2Eentrytocallcompletion. Not assertinggenerationendsatlast词元returnoroverlappedstageadditivity. Gatebuild chargedtoTTFT andlookup/maintenance/refilltoactualphase. No measuredtiming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Two-Level Attention · 2026-10-13</a:t>
            </a:r>
          </a:p>
          <a:p>
            <a:r>
              <a:t>阶段可能重叠，不能直接相加；cold 与维护峰值不能被稳态 median 隐藏。时间轴仅示意。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固定4056260e，E134质量归档及root独立摘要复算。三组不是同一参数全部穷举结论。</a:t>
            </a:r>
          </a:p>
          <a:p>
            <a:r>
              <a:t>来源：当前Library R53 PPT v46，按2026-10-13用户指定论文结构重组。新候选及E134结果不等于最终验收。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方法设置：低频双32 + 近区/远区；gate为默认关闭扩展。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exp/trace/results/e134_perf_reverdict.json at fixed4056260e; new implementation2c393c5615a66554729ccd00202a45c173582f2f. Locally recomputed midpoint medians of the two archived round summaries: 1.35025/1.35980/1.46335 ms. These arithmetic values are not new measurements or verified sums of stage medians. Historical c400956 values 1.55445/1.69650/1.60020 ms are retained only as archived records, without endorsing a stage-sum interpretation; they are not displayed as current data. Record steps60/warmup40/steady20 conflicts with harness total100/steady60; no raw timing obtained. No end-to-end measured speedup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Two-Level Attention · 2026-10-13</a:t>
            </a:r>
          </a:p>
          <a:p>
            <a:r>
              <a:t>作者归档、摘要算术复核。无全维稀疏对照，无样本级配对CI；小差值不能判噪声或等价。共享子空间→名义全维词元评分是名义上的L2配置对比；关联源码与模式标签不能证明实际执行为仅改变L2的单因素实验。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newresults. Lowfrequencycandidate dual32original128注意力; E134reportedmacro -0.322 versus名义全维页评分notFullKV. Default-offgateimplementation/calibrationnotvalidatedqualityorcost. Refillprimary, threecontrolsrequired; otherdynamicABGpaused. Exactlimits近区correspondingresultsandappendix.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Two-Level Attention · 2026-10-13</a:t>
            </a:r>
          </a:p>
          <a:p>
            <a:r>
              <a:t>合成 QKV，B1 / q1 / 64K / 单层；长上下文下质量与完整请求成本仍待匹配验证，结果可能有利或不利。</a:t>
            </a:r>
          </a:p>
          <a:p>
            <a:r>
              <a:t>当前仅为作者归档局部计时。不是完整层或请求E2E，也未与上述质量作业形成共同配置验收。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2B61033-2AF7-4E00-94EE-9CC8E9E5B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D883A37-55AB-4A5C-A55A-27BAE96E9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959DB46-D723-49A9-8993-59B0BF11E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47F26E3-2047-4FD0-81F1-53F029AC4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938BF65-4BCD-4D6E-9E89-18D46787B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9E97CB9-610D-4C99-A42C-B4951EE45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3F972A4-6208-494A-8FCA-C7F1AA474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BD0352C-B551-4656-A533-E9F9AFCED11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64380FF-1840-4B5E-900E-FE8A89C2A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96268BA-6992-4D64-93D0-C456840F9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1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0294330-3708-4963-8B33-AAD826889466}"/>
              </a:ext>
            </a:extLst>
          </p:cNvPr>
          <p:cNvSpPr>
            <a:spLocks noGrp="1"/>
          </p:cNvSpPr>
          <p:nvPr/>
        </p:nvSpPr>
        <p:spPr>
          <a:xfrm>
            <a:off x="762000" y="333375"/>
            <a:ext cx="1238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575" b="0">
                <a:solidFill>
                  <a:srgbClr val="A9C4D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575" b="0">
                <a:solidFill>
                  <a:srgbClr val="A9C4D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A9C4D5"/>
                </a:solidFill>
                <a:latin typeface="Noto Sans CJK SC"/>
                <a:ea typeface="Noto Sans CJK SC"/>
                <a:cs typeface="Noto Sans CJK SC"/>
              </a:rPr>
              <a:t>论文汇报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EB6A43-4826-4445-8545-F539BD5AB407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3716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 dirty="0" err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子空间</a:t>
            </a:r>
            <a:r>
              <a:rPr lang="zh-CN" altLang="en-US" sz="3600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下</a:t>
            </a:r>
            <a:r>
              <a:rPr sz="3600" b="1" dirty="0" err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的近远两级注意力</a:t>
            </a:r>
            <a:endParaRPr sz="3600" b="1" dirty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625E53-7225-4AD5-BE94-C38C1FACD558}"/>
              </a:ext>
            </a:extLst>
          </p:cNvPr>
          <p:cNvSpPr>
            <a:spLocks noGrp="1"/>
          </p:cNvSpPr>
          <p:nvPr/>
        </p:nvSpPr>
        <p:spPr>
          <a:xfrm>
            <a:off x="762000" y="8096250"/>
            <a:ext cx="11430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425" b="0">
                <a:solidFill>
                  <a:srgbClr val="A9C4D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425" b="0">
                <a:solidFill>
                  <a:srgbClr val="A9C4D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dirty="0">
                <a:solidFill>
                  <a:srgbClr val="A9C4D5"/>
                </a:solidFill>
                <a:latin typeface="Noto Sans CJK SC"/>
                <a:ea typeface="Noto Sans CJK SC"/>
                <a:cs typeface="Noto Sans CJK SC"/>
              </a:rPr>
              <a:t>2026年10月13日</a:t>
            </a:r>
            <a:r>
              <a:rPr lang="en-US" sz="1425" b="0" dirty="0">
                <a:solidFill>
                  <a:srgbClr val="A9C4D5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lang="en-US" altLang="zh-CN" sz="1425" b="0" dirty="0">
                <a:solidFill>
                  <a:srgbClr val="A9C4D5"/>
                </a:solidFill>
                <a:latin typeface="Noto Sans CJK SC"/>
                <a:ea typeface="Noto Sans CJK SC"/>
                <a:cs typeface="Noto Sans CJK SC"/>
              </a:rPr>
              <a:t>SA25225</a:t>
            </a:r>
            <a:r>
              <a:rPr lang="zh-CN" altLang="en-US" sz="1425" b="0" dirty="0">
                <a:solidFill>
                  <a:srgbClr val="A9C4D5"/>
                </a:solidFill>
                <a:latin typeface="Noto Sans CJK SC"/>
                <a:ea typeface="Noto Sans CJK SC"/>
                <a:cs typeface="Noto Sans CJK SC"/>
              </a:rPr>
              <a:t>汪袁烁</a:t>
            </a:r>
            <a:endParaRPr sz="1425" b="0" dirty="0">
              <a:solidFill>
                <a:srgbClr val="A9C4D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68BC73-4E49-49BA-BD75-481C9C60E0AF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13144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175" b="0">
                <a:solidFill>
                  <a:srgbClr val="C5D6E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175" b="0">
                <a:solidFill>
                  <a:srgbClr val="C5D6E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C5D6E2"/>
                </a:solidFill>
                <a:latin typeface="Noto Sans CJK SC"/>
                <a:ea typeface="Noto Sans CJK SC"/>
                <a:cs typeface="Noto Sans CJK SC"/>
              </a:rPr>
              <a:t>共享低维索引，保留原维注意力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D1CE02-4EF0-4125-A5CD-B44863D8D879}"/>
              </a:ext>
            </a:extLst>
          </p:cNvPr>
          <p:cNvSpPr>
            <a:spLocks noGrp="1"/>
          </p:cNvSpPr>
          <p:nvPr/>
        </p:nvSpPr>
        <p:spPr>
          <a:xfrm>
            <a:off x="1047750" y="3314700"/>
            <a:ext cx="2857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7800" b="1">
                <a:solidFill>
                  <a:srgbClr val="BBA8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7800" b="1">
                <a:solidFill>
                  <a:srgbClr val="BBA8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00" b="1">
                <a:solidFill>
                  <a:srgbClr val="BBA8D1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42E020-7091-4325-8177-C4FA56F5ABF5}"/>
              </a:ext>
            </a:extLst>
          </p:cNvPr>
          <p:cNvSpPr>
            <a:spLocks noGrp="1"/>
          </p:cNvSpPr>
          <p:nvPr/>
        </p:nvSpPr>
        <p:spPr>
          <a:xfrm>
            <a:off x="1047750" y="4524375"/>
            <a:ext cx="4191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175" b="0">
                <a:solidFill>
                  <a:srgbClr val="BBA8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175" b="0">
                <a:solidFill>
                  <a:srgbClr val="BBA8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BBA8D1"/>
                </a:solidFill>
                <a:latin typeface="Noto Sans CJK SC"/>
                <a:ea typeface="Noto Sans CJK SC"/>
                <a:cs typeface="Noto Sans CJK SC"/>
              </a:rPr>
              <a:t>维 / 16完整旋转对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1C3AB8-BA58-4189-B040-6AE7710641EC}"/>
              </a:ext>
            </a:extLst>
          </p:cNvPr>
          <p:cNvSpPr>
            <a:spLocks noGrp="1"/>
          </p:cNvSpPr>
          <p:nvPr/>
        </p:nvSpPr>
        <p:spPr>
          <a:xfrm>
            <a:off x="5810250" y="3381375"/>
            <a:ext cx="54292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4500" b="1">
                <a:solidFill>
                  <a:srgbClr val="68C3B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4500" b="1">
                <a:solidFill>
                  <a:srgbClr val="68C3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00" b="1">
                <a:solidFill>
                  <a:srgbClr val="68C3BC"/>
                </a:solidFill>
                <a:latin typeface="Noto Sans CJK SC"/>
                <a:ea typeface="Noto Sans CJK SC"/>
                <a:cs typeface="Noto Sans CJK SC"/>
              </a:rPr>
              <a:t>近区 / 远区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9A12B3-036C-44AA-BC5F-9E360974A72D}"/>
              </a:ext>
            </a:extLst>
          </p:cNvPr>
          <p:cNvSpPr>
            <a:spLocks noGrp="1"/>
          </p:cNvSpPr>
          <p:nvPr/>
        </p:nvSpPr>
        <p:spPr>
          <a:xfrm>
            <a:off x="5810250" y="4524375"/>
            <a:ext cx="5429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175" b="0">
                <a:solidFill>
                  <a:srgbClr val="D6E4E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175" b="0">
                <a:solidFill>
                  <a:srgbClr val="D6E4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D6E4EC"/>
                </a:solidFill>
                <a:latin typeface="Noto Sans CJK SC"/>
                <a:ea typeface="Noto Sans CJK SC"/>
                <a:cs typeface="Noto Sans CJK SC"/>
              </a:rPr>
              <a:t>共享表示，两级选择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5BFEF8-C5C8-4BCC-9467-D200D5C1C395}"/>
              </a:ext>
            </a:extLst>
          </p:cNvPr>
          <p:cNvSpPr>
            <a:spLocks noGrp="1"/>
          </p:cNvSpPr>
          <p:nvPr/>
        </p:nvSpPr>
        <p:spPr>
          <a:xfrm>
            <a:off x="11430000" y="3314700"/>
            <a:ext cx="300037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7800" b="1">
                <a:solidFill>
                  <a:srgbClr val="94BDE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7800" b="1">
                <a:solidFill>
                  <a:srgbClr val="94BD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800" b="1" dirty="0">
                <a:solidFill>
                  <a:srgbClr val="94BDE3"/>
                </a:solidFill>
                <a:latin typeface="Noto Sans CJK SC"/>
                <a:ea typeface="Noto Sans CJK SC"/>
                <a:cs typeface="Noto Sans CJK SC"/>
              </a:rPr>
              <a:t>128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942DCA-C62C-4CAD-B2D4-B7DEA75929D9}"/>
              </a:ext>
            </a:extLst>
          </p:cNvPr>
          <p:cNvSpPr>
            <a:spLocks noGrp="1"/>
          </p:cNvSpPr>
          <p:nvPr/>
        </p:nvSpPr>
        <p:spPr>
          <a:xfrm>
            <a:off x="11430000" y="4524375"/>
            <a:ext cx="3143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175" b="0">
                <a:solidFill>
                  <a:srgbClr val="94BDE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175" b="0">
                <a:solidFill>
                  <a:srgbClr val="94BD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94BDE3"/>
                </a:solidFill>
                <a:latin typeface="Noto Sans CJK SC"/>
                <a:ea typeface="Noto Sans CJK SC"/>
                <a:cs typeface="Noto Sans CJK SC"/>
              </a:rPr>
              <a:t>维原始 Q / K / V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6CE2CD-3DB1-46B0-96E7-4D566445D8AF}"/>
              </a:ext>
            </a:extLst>
          </p:cNvPr>
          <p:cNvSpPr>
            <a:spLocks noGrp="1"/>
          </p:cNvSpPr>
          <p:nvPr/>
        </p:nvSpPr>
        <p:spPr>
          <a:xfrm>
            <a:off x="762000" y="5695950"/>
            <a:ext cx="13716000" cy="19050"/>
          </a:xfrm>
          <a:prstGeom prst="rect">
            <a:avLst/>
          </a:prstGeom>
          <a:solidFill>
            <a:srgbClr val="D5E0E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BE2DBE-62FB-4B0A-9A52-BBE5B588BFE7}"/>
              </a:ext>
            </a:extLst>
          </p:cNvPr>
          <p:cNvSpPr>
            <a:spLocks noGrp="1"/>
          </p:cNvSpPr>
          <p:nvPr/>
        </p:nvSpPr>
        <p:spPr>
          <a:xfrm>
            <a:off x="762000" y="6172200"/>
            <a:ext cx="28098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025" b="1">
                <a:solidFill>
                  <a:srgbClr val="94BDE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025" b="1">
                <a:solidFill>
                  <a:srgbClr val="94BDE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94BDE3"/>
                </a:solidFill>
                <a:latin typeface="Noto Sans CJK SC"/>
                <a:ea typeface="Noto Sans CJK SC"/>
                <a:cs typeface="Noto Sans CJK SC"/>
              </a:rPr>
              <a:t>方法设置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4F499C7-B54E-4D86-BD6F-1DA3433919C3}"/>
              </a:ext>
            </a:extLst>
          </p:cNvPr>
          <p:cNvSpPr>
            <a:spLocks noGrp="1"/>
          </p:cNvSpPr>
          <p:nvPr/>
        </p:nvSpPr>
        <p:spPr>
          <a:xfrm>
            <a:off x="3714750" y="6105525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6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 dirty="0" err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共享低频坐标与区域页配额</a:t>
            </a:r>
          </a:p>
        </p:txBody>
      </p:sp>
      <p:sp>
        <p:nvSpPr>
          <p:cNvPr id="17" name="native17"/>
          <p:cNvSpPr/>
          <p:nvPr/>
        </p:nvSpPr>
        <p:spPr>
          <a:xfrm>
            <a:off x="13906500" y="8067675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36574"/>
                </a:solidFill>
                <a:latin typeface="Noto Sans CJK SC"/>
                <a:ea typeface="Noto Sans CJK S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58714192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053CC5C-6B1A-4196-BFE1-B2AF2473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Abstract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44CA1E5-125F-49C0-934F-2CF9E826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低频共享表示与近远分区的稀疏注意力</a:t>
            </a:r>
            <a:endParaRPr sz="3225" b="1">
              <a:solidFill>
                <a:srgbClr val="18314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8EE5A33-411D-4DD2-A06B-05DB1E29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0B8CC4B-F7EC-4366-877A-9CE762AB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907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页粗筛排除的历史，后续词元精筛无法恢复</a:t>
            </a:r>
            <a:r>
              <a:rPr sz="2175" b="0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5107B27-D1F7-4789-B1FD-B92D2451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7861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7861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78618C"/>
                </a:solidFill>
                <a:latin typeface="Noto Sans CJK SC"/>
                <a:ea typeface="Noto Sans CJK SC"/>
                <a:cs typeface="Noto Sans CJK SC"/>
              </a:rPr>
              <a:t>方法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B9F6202-DF97-419B-AE08-417EE1F2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5718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L1 / L2共享低频RoPE32视图，分区筛页与词元，</a:t>
            </a:r>
          </a:p>
          <a:p xmlns:a="http://schemas.openxmlformats.org/drawingml/2006/main">
            <a:pPr>
              <a:buNone/>
              <a:defRPr sz="2175" b="0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按组共享选集后用原128维 Q / K / </a:t>
            </a:r>
            <a:r>
              <a:rPr sz="2175" b="0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V完成注意力</a:t>
            </a:r>
            <a:r>
              <a:rPr sz="2175" b="0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F6EB6E5-97D4-4B4D-93B0-1AAAE43A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1289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1289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28982"/>
                </a:solidFill>
                <a:latin typeface="Noto Sans CJK SC"/>
                <a:ea typeface="Noto Sans CJK SC"/>
                <a:cs typeface="Noto Sans CJK SC"/>
              </a:rPr>
              <a:t>初步结果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5ADA7C0-326F-4A27-A150-86FFBDED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9530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0:p xmlns:ns0="http://schemas.openxmlformats.org/drawingml/2006/main">
            <ns0:pPr>
              <ns0:buNone/>
              <ns0:defRPr sz="2175" b="0">
                <ns0:solidFill>
                  <ns0:srgbClr val="183146"/>
                </ns0:solidFill>
                <ns0:latin typeface="Noto Sans CJK SC"/>
                <ns0:ea typeface="Noto Sans CJK SC"/>
                <ns0:cs typeface="Noto Sans CJK SC"/>
              </ns0:defRPr>
            </ns0:pPr>
            <ns0:r>
              <ns0:rPr sz="2175" b="0">
                <ns0:solidFill>
                  <ns0:srgbClr val="183146"/>
                </ns0:solidFill>
                <ns0:latin typeface="Noto Sans CJK SC"/>
                <ns0:ea typeface="Noto Sans CJK SC"/>
                <ns0:cs typeface="Noto Sans CJK SC"/>
              </ns0:rPr>
              <ns0:t>Qwen3-8B五任务均值47.588，较名义全维页评分配置低0.322分。差值仅作描述，不能隔离阶段效应。</ns0:t>
            </ns0:r>
          </ns0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E892D90-A11A-4BEF-911C-624D2215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A6632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A6632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A66328"/>
                </a:solidFill>
                <a:latin typeface="Noto Sans CJK SC"/>
                <a:ea typeface="Noto Sans CJK SC"/>
                <a:cs typeface="Noto Sans CJK SC"/>
              </a:rPr>
              <a:t>可选远区门控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AFE233E-0402-4295-AFD9-0B8F0B42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33412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1:p xmlns:ns1="http://schemas.openxmlformats.org/drawingml/2006/main">
            <ns1:pPr>
              <ns1:buNone/>
              <ns1:defRPr sz="2175" b="0">
                <ns1:solidFill>
                  <ns1:srgbClr val="183146"/>
                </ns1:solidFill>
                <ns1:latin typeface="Noto Sans CJK SC"/>
                <ns1:ea typeface="Noto Sans CJK SC"/>
                <ns1:cs typeface="Noto Sans CJK SC"/>
              </ns1:defRPr>
            </ns1:pPr>
            <ns1:r>
              <ns1:rPr sz="2175" b="0">
                <ns1:solidFill>
                  <ns1:srgbClr val="183146"/>
                </ns1:solidFill>
                <ns1:latin typeface="Noto Sans CJK SC"/>
                <ns1:ea typeface="Noto Sans CJK SC"/>
                <ns1:cs typeface="Noto Sans CJK SC"/>
              </ns1:rPr>
              <ns1:t>远区门控在预填充阶段逐层标定，在解码入口固定后复用，默认关闭。低预填充概率不保证后续任务质量。</ns1:t>
            </ns1:r>
          </ns1:p>
        </p:txBody>
      </p:sp>
      <p:sp>
        <p:nvSpPr>
          <p:cNvPr id="14" name="native14">
            <a:extLst xmlns:a="http://schemas.openxmlformats.org/drawingml/2006/main">
              <a:ext uri="{FF2B5EF4-FFF2-40B4-BE49-F238E27FC236}">
                <a16:creationId xmlns:a16="http://schemas.microsoft.com/office/drawing/2014/main" id="{778291A5-0F74-440E-9C51-5187136C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676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7030310"/>
      </p:ext>
    </p:extLst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 96">
            <a:extLst>
              <a:ext uri="{FF2B5EF4-FFF2-40B4-BE49-F238E27FC236}">
                <a16:creationId xmlns:a16="http://schemas.microsoft.com/office/drawing/2014/main" id="{DC4006A1-5865-48A6-B5F3-361F315B905E}"/>
              </a:ext>
            </a:extLst>
          </p:cNvPr>
          <p:cNvSpPr>
            <a:spLocks noGrp="1"/>
          </p:cNvSpPr>
          <p:nvPr/>
        </p:nvSpPr>
        <p:spPr>
          <a:xfrm>
            <a:off x="762000" y="266700"/>
            <a:ext cx="12382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Introduction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92856D-6AE8-4A24-895E-49773396C61B}"/>
              </a:ext>
            </a:extLst>
          </p:cNvPr>
          <p:cNvSpPr>
            <a:spLocks noGrp="1"/>
          </p:cNvSpPr>
          <p:nvPr/>
        </p:nvSpPr>
        <p:spPr>
          <a:xfrm>
            <a:off x="762000" y="781050"/>
            <a:ext cx="137160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r>
              <a:t>稠密参考：距离密度与整箱捕获诊断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908024" y="8065008"/>
            <a:ext cx="5669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3</a:t>
            </a:r>
          </a:p>
        </p:txBody>
      </p:sp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1920240"/>
            <a:ext cx="6583680" cy="5404513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7863840" y="2011680"/>
            <a:ext cx="6492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Qwen3-8B · 归档128/128保护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密度：MuSiQue样本1 / 层24 / q9996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每有效词元平均注意力权重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四条源序列，128条相关查询／层观测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注意力保留率：远0.6759，近0.9315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各区选中权重和／该区总权重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每观测同一全局整箱选集≤2048中间词元；不是K1024方法选集、最优上界或任务质量。</a:t>
            </a:r>
          </a:p>
        </p:txBody>
      </p:sp>
    </p:spTree>
    <p:extLst>
      <p:ext uri="{BB962C8B-B14F-4D97-AF65-F5344CB8AC3E}">
        <p14:creationId xmlns:p14="http://schemas.microsoft.com/office/powerpoint/2010/main" val="1438406342"/>
      </p:ext>
    </p:extLst>
  </p:cSld>
  <p:clrMapOvr>
    <a:masterClrMapping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63E8345-2ED8-4E8F-A48D-279FB455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Related Work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166C6F1-CAFF-41BC-A42D-BF6FDF33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检索机制与本方法的设计位置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E37252E-755C-4978-AB4D-DB4142F7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FullKV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C83B973-DAE5-4F20-ACD4-38489639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527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57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FC556D5-DBE0-45EE-AA23-C47B58C4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0:p xmlns:ns0="http://schemas.openxmlformats.org/drawingml/2006/main">
            <ns0:pPr>
              <ns0:buNone/>
              <ns0:defRPr sz="2175" b="1">
                <ns0:solidFill>
                  <ns0:srgbClr val="183146"/>
                </ns0:solidFill>
                <ns0:latin typeface="Noto Sans CJK SC"/>
                <ns0:ea typeface="Noto Sans CJK SC"/>
                <ns0:cs typeface="Noto Sans CJK SC"/>
              </ns0:defRPr>
            </ns0:pPr>
            <ns0:r>
              <ns0:rPr sz="2175" b="1">
                <ns0:solidFill>
                  <ns0:srgbClr val="183146"/>
                </ns0:solidFill>
                <ns0:latin typeface="Noto Sans CJK SC"/>
                <ns0:ea typeface="Noto Sans CJK SC"/>
                <ns0:cs typeface="Noto Sans CJK SC"/>
              </ns0:rPr>
              <ns0:t>稠密注意力</ns0:t>
            </ns0:r>
          </ns0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BAB85AD-7BC3-4EBE-A678-6026B862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62175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同输入、精度与生成协议的质量 / 成本参照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32973AB-356E-4359-8C74-E92920E3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8BD247C-8F18-4981-8409-C4EA0F41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AsyncTLS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EB2DEC2-3B6E-44A3-9BA2-666083E3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576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9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9B4122C-5FF4-4AC6-B5CC-D9A224E2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43300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1:p xmlns:ns1="http://schemas.openxmlformats.org/drawingml/2006/main">
            <ns1:pPr>
              <ns1:buNone/>
              <ns1:defRPr sz="2175" b="1">
                <ns1:solidFill>
                  <ns1:srgbClr val="183146"/>
                </ns1:solidFill>
                <ns1:latin typeface="Noto Sans CJK SC"/>
                <ns1:ea typeface="Noto Sans CJK SC"/>
                <ns1:cs typeface="Noto Sans CJK SC"/>
              </ns1:defRPr>
            </ns1:pPr>
            <ns1:r>
              <ns1:rPr sz="2175" b="1">
                <ns1:solidFill>
                  <ns1:srgbClr val="183146"/>
                </ns1:solidFill>
                <ns1:latin typeface="Noto Sans CJK SC"/>
                <ns1:ea typeface="Noto Sans CJK SC"/>
                <ns1:cs typeface="Noto Sans CJK SC"/>
              </ns1:rPr>
              <ns1:t>页到词元的级联稀疏选择</ns1:t>
            </ns1:r>
          </ns1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5A39776-7A2F-47FE-9C42-0B9213BB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6710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相关工作的级联选择先例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B8051F-E10C-48E1-93E3-56C5116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BCDE593-A5CC-4592-B6B4-D0265A71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48225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Quest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F508DEE-8C3B-4E04-BB92-05754D00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625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9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F5B046B-3410-45FA-BC78-890F01BD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4822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页级选择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B996A44-A5E9-4DC7-B696-671C32AB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772025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用页内坐标极值估计候选页相关性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5886EBC-0E92-4562-98BB-CE29F488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7EAF6E2-5029-4E9A-80B0-914933C7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ClusterKV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ADD02EE-6559-4B6A-A0AD-7C5A5FA4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674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9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10873C3-C719-4658-AD3F-50D97031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153150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17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聚类选择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B688AF7-9547-42A0-AE2E-D49BC13E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0769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通过聚类组织KV，建簇与维护构成额外成本</a:t>
            </a:r>
            <a:endParaRPr sz="1875" b="0">
              <a:solidFill>
                <a:srgbClr val="536574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native26">
            <a:extLst xmlns:a="http://schemas.openxmlformats.org/drawingml/2006/main">
              <a:ext uri="{FF2B5EF4-FFF2-40B4-BE49-F238E27FC236}">
                <a16:creationId xmlns:a16="http://schemas.microsoft.com/office/drawing/2014/main" id="{84188627-A6C8-471E-957B-E087435B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676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93383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979A68-A9E0-4F07-8D8A-AE860024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Method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8E1E0DB-2679-4228-9855-597B50D6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共享表示、区域容量与远端控制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1079914-22B9-4E5A-9731-AFCBBEE5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300" b="1">
                <a:solidFill>
                  <a:srgbClr val="7861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7861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7861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B1172DA-35D0-450C-AFD1-4D144820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3837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0:p xmlns:ns0="http://schemas.openxmlformats.org/drawingml/2006/main">
            <ns0:pPr>
              <ns0:buNone/>
              <ns0:defRPr sz="2400" b="1">
                <ns0:solidFill>
                  <ns0:srgbClr val="183146"/>
                </ns0:solidFill>
                <ns0:latin typeface="Noto Sans CJK SC"/>
                <ns0:ea typeface="Noto Sans CJK SC"/>
                <ns0:cs typeface="Noto Sans CJK SC"/>
              </ns0:defRPr>
            </ns0:pPr>
            <ns0:r>
              <ns0:rPr sz="2400" b="1">
                <ns0:solidFill>
                  <ns0:srgbClr val="183146"/>
                </ns0:solidFill>
                <ns0:latin typeface="Noto Sans CJK SC"/>
                <ns0:ea typeface="Noto Sans CJK SC"/>
                <ns0:cs typeface="Noto Sans CJK SC"/>
              </ns0:rPr>
              <ns0:t>共享低频RoPE坐标</ns0:t>
            </ns0:r>
          </ns0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6ACB42B-70D0-4D86-A5A9-39EE80B3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1:p xmlns:ns1="http://schemas.openxmlformats.org/drawingml/2006/main">
            <ns1:pPr>
              <ns1:buNone/>
              <ns1:defRPr sz="2025" b="0">
                <ns1:solidFill>
                  <ns1:srgbClr val="536574"/>
                </ns1:solidFill>
                <ns1:latin typeface="Noto Sans CJK SC"/>
                <ns1:ea typeface="Noto Sans CJK SC"/>
                <ns1:cs typeface="Noto Sans CJK SC"/>
              </ns1:defRPr>
            </ns1:pPr>
            <ns1:r>
              <ns1:rPr sz="2025" b="0">
                <ns1:solidFill>
                  <ns1:srgbClr val="536574"/>
                </ns1:solidFill>
                <ns1:latin typeface="Noto Sans CJK SC"/>
                <ns1:ea typeface="Noto Sans CJK SC"/>
                <ns1:cs typeface="Noto Sans CJK SC"/>
              </ns1:rPr>
              <ns1:t>同层同KV头的16完整旋转对</ns1:t>
            </ns1:r>
          </ns1:p>
          <ns2:p xmlns:ns2="http://schemas.openxmlformats.org/drawingml/2006/main">
            <ns2:pPr>
              <ns2:buNone/>
              <ns2:defRPr sz="2025" b="0">
                <ns2:solidFill>
                  <ns2:srgbClr val="536574"/>
                </ns2:solidFill>
                <ns2:latin typeface="Noto Sans CJK SC"/>
                <ns2:ea typeface="Noto Sans CJK SC"/>
                <ns2:cs typeface="Noto Sans CJK SC"/>
              </ns2:defRPr>
            </ns2:pPr>
            <ns2:r>
              <ns2:rPr sz="2025" b="0">
                <ns2:solidFill>
                  <ns2:srgbClr val="536574"/>
                </ns2:solidFill>
                <ns2:latin typeface="Noto Sans CJK SC"/>
                <ns2:ea typeface="Noto Sans CJK SC"/>
                <ns2:cs typeface="Noto Sans CJK SC"/>
              </ns2:rPr>
              <ns2:t>近区 / 远区、L1 / L2共用坐标</ns2:t>
            </ns2:r>
          </ns2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A2312E0-B9A9-4717-A653-BF9F8E72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05125"/>
            <a:ext cx="1219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7861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7861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78618C"/>
                </a:solidFill>
                <a:latin typeface="Noto Sans CJK SC"/>
                <a:ea typeface="Noto Sans CJK SC"/>
                <a:cs typeface="Noto Sans CJK SC"/>
              </a:rPr>
              <a:t>同一坐标视图服务页筛选与词元精筛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E87C7F4-81BF-45FB-AE3D-B4BC3E9C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562350"/>
            <a:ext cx="1262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F22FF05-ECBD-4EA6-9F3B-7FDBEFB6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300" b="1">
                <a:solidFill>
                  <a:srgbClr val="1289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289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28982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824FD39-2F4C-48CC-A3D7-779676DA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3857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近远两级分配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5D3A72F-AE39-41C4-BD2D-D45AA78E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固定 α / β / γ 定义区域和配额</a:t>
            </a:r>
          </a:p>
          <a:p xmlns:a="http://schemas.openxmlformats.org/drawingml/2006/main">
            <a:pPr>
              <a:buNone/>
              <a:defRPr sz="202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最终仍用原128维 Q / K / V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EE35CBC-1632-4785-BEBC-1391E5B4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05325"/>
            <a:ext cx="1219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区域配额保留近端与远端候选入口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E464D7B-9EE2-4642-A89F-C3D4E9A6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162550"/>
            <a:ext cx="1262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D48C4B8-56F9-4945-8857-EAFC7C68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38775"/>
            <a:ext cx="90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300" b="1">
                <a:solidFill>
                  <a:srgbClr val="A6632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A6632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A66328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B724F55-0042-4D39-9806-FC0C7078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3877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3:p xmlns:ns3="http://schemas.openxmlformats.org/drawingml/2006/main">
            <ns3:pPr>
              <ns3:buNone/>
              <ns3:defRPr sz="2400" b="1">
                <ns3:solidFill>
                  <ns3:srgbClr val="183146"/>
                </ns3:solidFill>
                <ns3:latin typeface="Noto Sans CJK SC"/>
                <ns3:ea typeface="Noto Sans CJK SC"/>
                <ns3:cs typeface="Noto Sans CJK SC"/>
              </ns3:defRPr>
            </ns3:pPr>
            <ns3:r>
              <ns3:rPr sz="2400" b="1">
                <ns3:solidFill>
                  <ns3:srgbClr val="183146"/>
                </ns3:solidFill>
                <ns3:latin typeface="Noto Sans CJK SC"/>
                <ns3:ea typeface="Noto Sans CJK SC"/>
                <ns3:cs typeface="Noto Sans CJK SC"/>
              </ns3:rPr>
              <ns3:t>可选远区门控</ns3:t>
            </ns3:r>
          </ns3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C4EEEE4-A472-424B-A7D8-349A0E6F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0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4:p xmlns:ns4="http://schemas.openxmlformats.org/drawingml/2006/main">
            <ns4:pPr>
              <ns4:buNone/>
              <ns4:defRPr sz="2025" b="0">
                <ns4:solidFill>
                  <ns4:srgbClr val="536574"/>
                </ns4:solidFill>
                <ns4:latin typeface="Noto Sans CJK SC"/>
                <ns4:ea typeface="Noto Sans CJK SC"/>
                <ns4:cs typeface="Noto Sans CJK SC"/>
              </ns4:defRPr>
            </ns4:pPr>
            <ns4:r>
              <ns4:rPr sz="2025" b="0">
                <ns4:solidFill>
                  <ns4:srgbClr val="536574"/>
                </ns4:solidFill>
                <ns4:latin typeface="Noto Sans CJK SC"/>
                <ns4:ea typeface="Noto Sans CJK SC"/>
                <ns4:cs typeface="Noto Sans CJK SC"/>
              </ns4:rPr>
              <ns4:t>预填充阶段为各输入确定逐层决策</ns4:t>
            </ns4:r>
          </ns4:p>
          <ns5:p xmlns:ns5="http://schemas.openxmlformats.org/drawingml/2006/main">
            <ns5:pPr>
              <ns5:buNone/>
              <ns5:defRPr sz="2025" b="0">
                <ns5:solidFill>
                  <ns5:srgbClr val="536574"/>
                </ns5:solidFill>
                <ns5:latin typeface="Noto Sans CJK SC"/>
                <ns5:ea typeface="Noto Sans CJK SC"/>
                <ns5:cs typeface="Noto Sans CJK SC"/>
              </ns5:defRPr>
            </ns5:pPr>
            <ns5:r>
              <ns5:rPr sz="2025" b="0">
                <ns5:solidFill>
                  <ns5:srgbClr val="536574"/>
                </ns5:solidFill>
                <ns5:latin typeface="Noto Sans CJK SC"/>
                <ns5:ea typeface="Noto Sans CJK SC"/>
                <ns5:cs typeface="Noto Sans CJK SC"/>
              </ns5:rPr>
              <ns5:t>解码复用，关闭远区时回填近区配额</ns5:t>
            </ns5:r>
          </ns5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9B18C1E-A4AF-4F1F-B540-22C192C9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105525"/>
            <a:ext cx="1219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A6632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6:p xmlns:ns6="http://schemas.openxmlformats.org/drawingml/2006/main">
            <ns6:pPr>
              <ns6:buNone/>
              <ns6:defRPr sz="1800" b="0">
                <ns6:solidFill>
                  <ns6:srgbClr val="A66328"/>
                </ns6:solidFill>
                <ns6:latin typeface="Noto Sans CJK SC"/>
                <ns6:ea typeface="Noto Sans CJK SC"/>
                <ns6:cs typeface="Noto Sans CJK SC"/>
              </ns6:defRPr>
            </ns6:pPr>
            <ns6:r>
              <ns6:rPr sz="1800" b="0">
                <ns6:solidFill>
                  <ns6:srgbClr val="A66328"/>
                </ns6:solidFill>
                <ns6:latin typeface="Noto Sans CJK SC"/>
                <ns6:ea typeface="Noto Sans CJK SC"/>
                <ns6:cs typeface="Noto Sans CJK SC"/>
              </ns6:rPr>
              <ns6:t>默认关闭；低预填充概率不约束解码误差</ns6:t>
            </ns6:r>
          </ns6:p>
        </p:txBody>
      </p:sp>
      <p:sp>
        <p:nvSpPr>
          <p:cNvPr id="21" name="native21">
            <a:extLst xmlns:a="http://schemas.openxmlformats.org/drawingml/2006/main">
              <a:ext uri="{FF2B5EF4-FFF2-40B4-BE49-F238E27FC236}">
                <a16:creationId xmlns:a16="http://schemas.microsoft.com/office/drawing/2014/main" id="{91D2EC03-CBAC-4A88-893F-B27861B0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676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01464977"/>
      </p:ext>
    </p:extLst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2"/>
          <p:cNvSpPr/>
          <p:nvPr/>
        </p:nvSpPr>
        <p:spPr>
          <a:xfrm>
            <a:off x="762000" y="266700"/>
            <a:ext cx="13335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25" b="1">
                <a:solidFill>
                  <a:srgbClr val="32689F"/>
                </a:solidFill>
                <a:latin typeface="Noto Sans CJK SC"/>
                <a:ea typeface="Noto Sans CJK SC"/>
              </a:rPr>
              <a:t>Method · Architecture</a:t>
            </a:r>
            <a:endParaRPr lang="zh-CN" sz="1425"/>
          </a:p>
        </p:txBody>
      </p:sp>
      <p:sp>
        <p:nvSpPr>
          <p:cNvPr id="3" name="native3"/>
          <p:cNvSpPr/>
          <p:nvPr/>
        </p:nvSpPr>
        <p:spPr>
          <a:xfrm>
            <a:off x="762000" y="742950"/>
            <a:ext cx="13716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000" b="1">
                <a:solidFill>
                  <a:srgbClr val="193247"/>
                </a:solidFill>
                <a:latin typeface="Noto Sans CJK SC"/>
                <a:ea typeface="Noto Sans CJK SC"/>
              </a:rPr>
              <a:t>总架构：低频索引与可选远区门控</a:t>
            </a:r>
          </a:p>
        </p:txBody>
      </p:sp>
      <p:sp>
        <p:nvSpPr>
          <p:cNvPr id="4" name="native4"/>
          <p:cNvSpPr/>
          <p:nvPr/>
        </p:nvSpPr>
        <p:spPr>
          <a:xfrm>
            <a:off x="762000" y="1371600"/>
            <a:ext cx="13716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50" b="0">
                <a:solidFill>
                  <a:srgbClr val="536574"/>
                </a:solidFill>
                <a:latin typeface="Noto Sans CJK SC"/>
                <a:ea typeface="Noto Sans CJK SC"/>
              </a:rPr>
              <a:t>原维Q/K/V始终保留；图示正常远区启用，OFF只回填L2近端预算</a:t>
            </a:r>
          </a:p>
        </p:txBody>
      </p:sp>
      <p:sp>
        <p:nvSpPr>
          <p:cNvPr id="22" name="native22"/>
          <p:cNvSpPr/>
          <p:nvPr/>
        </p:nvSpPr>
        <p:spPr>
          <a:xfrm>
            <a:off x="1398634" y="1912766"/>
            <a:ext cx="7571535" cy="3671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7" b="1">
                <a:solidFill>
                  <a:srgbClr val="A66328"/>
                </a:solidFill>
                <a:latin typeface="Noto Sans CJK SC"/>
                <a:ea typeface="Noto Sans CJK SC"/>
              </a:rPr>
              <a:t>远区控制：预填充标定，在解码入口固定，后续复用</a:t>
            </a:r>
          </a:p>
        </p:txBody>
      </p:sp>
      <p:sp>
        <p:nvSpPr>
          <p:cNvPr id="23" name="native23"/>
          <p:cNvSpPr/>
          <p:nvPr/>
        </p:nvSpPr>
        <p:spPr>
          <a:xfrm>
            <a:off x="1398634" y="2346232"/>
            <a:ext cx="2470897" cy="847165"/>
          </a:xfrm>
          <a:prstGeom prst="roundRect">
            <a:avLst/>
          </a:prstGeom>
          <a:solidFill>
            <a:srgbClr val="FFF7EE"/>
          </a:solidFill>
          <a:ln w="15884">
            <a:solidFill>
              <a:srgbClr val="A6632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native24"/>
          <p:cNvSpPr/>
          <p:nvPr/>
        </p:nvSpPr>
        <p:spPr>
          <a:xfrm>
            <a:off x="4310763" y="2346232"/>
            <a:ext cx="2162035" cy="847165"/>
          </a:xfrm>
          <a:prstGeom prst="roundRect">
            <a:avLst/>
          </a:prstGeom>
          <a:solidFill>
            <a:srgbClr val="FFF7EE"/>
          </a:solidFill>
          <a:ln w="15884">
            <a:solidFill>
              <a:srgbClr val="A6632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native25"/>
          <p:cNvSpPr/>
          <p:nvPr/>
        </p:nvSpPr>
        <p:spPr>
          <a:xfrm>
            <a:off x="6887555" y="2321220"/>
            <a:ext cx="1764926" cy="847165"/>
          </a:xfrm>
          <a:prstGeom prst="roundRect">
            <a:avLst/>
          </a:prstGeom>
          <a:solidFill>
            <a:srgbClr val="FFF7EE"/>
          </a:solidFill>
          <a:ln w="15884">
            <a:solidFill>
              <a:srgbClr val="A6632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native26"/>
          <p:cNvSpPr/>
          <p:nvPr/>
        </p:nvSpPr>
        <p:spPr>
          <a:xfrm>
            <a:off x="1575127" y="2381530"/>
            <a:ext cx="3088621" cy="3529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37" b="1">
                <a:solidFill>
                  <a:srgbClr val="A66328"/>
                </a:solidFill>
                <a:latin typeface="Noto Sans CJK SC"/>
                <a:ea typeface="Noto Sans CJK SC"/>
              </a:rPr>
              <a:t>预填充：原维 Q/K</a:t>
            </a:r>
          </a:p>
        </p:txBody>
      </p:sp>
      <p:sp>
        <p:nvSpPr>
          <p:cNvPr id="27" name="native27"/>
          <p:cNvSpPr/>
          <p:nvPr/>
        </p:nvSpPr>
        <p:spPr>
          <a:xfrm>
            <a:off x="1575127" y="2737692"/>
            <a:ext cx="2523845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0" dirty="0">
                <a:solidFill>
                  <a:srgbClr val="193247"/>
                </a:solidFill>
                <a:latin typeface="Noto Sans CJK SC"/>
                <a:ea typeface="Noto Sans CJK SC"/>
              </a:rPr>
              <a:t>默认末≤256个查询</a:t>
            </a:r>
          </a:p>
        </p:txBody>
      </p:sp>
      <p:sp>
        <p:nvSpPr>
          <p:cNvPr id="28" name="native28"/>
          <p:cNvSpPr/>
          <p:nvPr/>
        </p:nvSpPr>
        <p:spPr>
          <a:xfrm>
            <a:off x="4487256" y="2381530"/>
            <a:ext cx="3309237" cy="3529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37" b="1" dirty="0">
                <a:solidFill>
                  <a:srgbClr val="A66328"/>
                </a:solidFill>
                <a:latin typeface="Noto Sans CJK SC"/>
                <a:ea typeface="Noto Sans CJK SC"/>
              </a:rPr>
              <a:t>暂存决策 → 固定状态</a:t>
            </a:r>
          </a:p>
        </p:txBody>
      </p:sp>
      <p:sp>
        <p:nvSpPr>
          <p:cNvPr id="29" name="native29"/>
          <p:cNvSpPr/>
          <p:nvPr/>
        </p:nvSpPr>
        <p:spPr>
          <a:xfrm>
            <a:off x="4487256" y="2737692"/>
            <a:ext cx="1941419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0">
                <a:solidFill>
                  <a:srgbClr val="193247"/>
                </a:solidFill>
                <a:latin typeface="Noto Sans CJK SC"/>
                <a:ea typeface="Noto Sans CJK SC"/>
              </a:rPr>
              <a:t>当前输入 / 当前层</a:t>
            </a:r>
            <a:endParaRPr lang="zh-CN" sz="1529"/>
          </a:p>
        </p:txBody>
      </p:sp>
      <p:sp>
        <p:nvSpPr>
          <p:cNvPr id="30" name="native30"/>
          <p:cNvSpPr/>
          <p:nvPr/>
        </p:nvSpPr>
        <p:spPr>
          <a:xfrm>
            <a:off x="7090523" y="2416828"/>
            <a:ext cx="1764926" cy="3529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37" b="1" dirty="0">
                <a:solidFill>
                  <a:srgbClr val="A66328"/>
                </a:solidFill>
                <a:latin typeface="Noto Sans CJK SC"/>
                <a:ea typeface="Noto Sans CJK SC"/>
              </a:rPr>
              <a:t>解码开关</a:t>
            </a:r>
          </a:p>
        </p:txBody>
      </p:sp>
      <p:sp>
        <p:nvSpPr>
          <p:cNvPr id="31" name="native31"/>
          <p:cNvSpPr/>
          <p:nvPr/>
        </p:nvSpPr>
        <p:spPr>
          <a:xfrm>
            <a:off x="7128026" y="2723573"/>
            <a:ext cx="1623732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0" dirty="0">
                <a:solidFill>
                  <a:srgbClr val="193247"/>
                </a:solidFill>
                <a:latin typeface="Noto Sans CJK SC"/>
                <a:ea typeface="Noto Sans CJK SC"/>
              </a:rPr>
              <a:t>ON / OFF</a:t>
            </a:r>
            <a:endParaRPr lang="zh-CN" sz="1598" dirty="0"/>
          </a:p>
        </p:txBody>
      </p:sp>
      <p:sp>
        <p:nvSpPr>
          <p:cNvPr id="32" name="native32"/>
          <p:cNvSpPr/>
          <p:nvPr/>
        </p:nvSpPr>
        <p:spPr>
          <a:xfrm>
            <a:off x="3896005" y="2769814"/>
            <a:ext cx="352985" cy="882"/>
          </a:xfrm>
          <a:custGeom>
            <a:avLst/>
            <a:gdLst/>
            <a:ahLst/>
            <a:cxnLst/>
            <a:rect l="0" t="0" r="r" b="b"/>
            <a:pathLst>
              <a:path w="381000" h="952" fill="none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7649">
            <a:solidFill>
              <a:srgbClr val="A66328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native33"/>
          <p:cNvSpPr/>
          <p:nvPr/>
        </p:nvSpPr>
        <p:spPr>
          <a:xfrm>
            <a:off x="6499272" y="2769814"/>
            <a:ext cx="352985" cy="882"/>
          </a:xfrm>
          <a:custGeom>
            <a:avLst/>
            <a:gdLst/>
            <a:ahLst/>
            <a:cxnLst/>
            <a:rect l="0" t="0" r="r" b="b"/>
            <a:pathLst>
              <a:path w="381000" h="952" fill="none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7649">
            <a:solidFill>
              <a:srgbClr val="A66328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DBAED5D-37DB-849E-1CCF-489658760DCA}"/>
              </a:ext>
            </a:extLst>
          </p:cNvPr>
          <p:cNvGrpSpPr/>
          <p:nvPr/>
        </p:nvGrpSpPr>
        <p:grpSpPr>
          <a:xfrm>
            <a:off x="9181960" y="2116438"/>
            <a:ext cx="5250656" cy="467706"/>
            <a:chOff x="9190785" y="2284459"/>
            <a:chExt cx="5250656" cy="467706"/>
          </a:xfrm>
        </p:grpSpPr>
        <p:sp>
          <p:nvSpPr>
            <p:cNvPr id="34" name="native34"/>
            <p:cNvSpPr/>
            <p:nvPr/>
          </p:nvSpPr>
          <p:spPr>
            <a:xfrm>
              <a:off x="9190785" y="2284459"/>
              <a:ext cx="4632932" cy="467706"/>
            </a:xfrm>
            <a:prstGeom prst="roundRect">
              <a:avLst/>
            </a:prstGeom>
            <a:solidFill>
              <a:srgbClr val="EAF6F3"/>
            </a:solidFill>
            <a:ln w="15884">
              <a:solidFill>
                <a:srgbClr val="12817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native35"/>
            <p:cNvSpPr/>
            <p:nvPr/>
          </p:nvSpPr>
          <p:spPr>
            <a:xfrm>
              <a:off x="9367277" y="2393489"/>
              <a:ext cx="5074164" cy="35298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lang="zh-CN" sz="1737" b="1" dirty="0">
                  <a:solidFill>
                    <a:srgbClr val="12817B"/>
                  </a:solidFill>
                  <a:latin typeface="Noto Sans CJK SC"/>
                  <a:ea typeface="Noto Sans CJK SC"/>
                </a:rPr>
                <a:t>ON：远区 L1 + 远区 L2 正常参与</a:t>
              </a:r>
            </a:p>
          </p:txBody>
        </p:sp>
      </p:grpSp>
      <p:sp>
        <p:nvSpPr>
          <p:cNvPr id="36" name="native36"/>
          <p:cNvSpPr/>
          <p:nvPr/>
        </p:nvSpPr>
        <p:spPr>
          <a:xfrm>
            <a:off x="9168723" y="2816782"/>
            <a:ext cx="4632932" cy="732444"/>
          </a:xfrm>
          <a:prstGeom prst="roundRect">
            <a:avLst/>
          </a:prstGeom>
          <a:solidFill>
            <a:srgbClr val="ECF2F8"/>
          </a:solidFill>
          <a:ln w="15884">
            <a:solidFill>
              <a:srgbClr val="3268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native37"/>
          <p:cNvSpPr/>
          <p:nvPr/>
        </p:nvSpPr>
        <p:spPr>
          <a:xfrm>
            <a:off x="9367277" y="2912067"/>
            <a:ext cx="4235824" cy="33886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68" b="1" dirty="0">
                <a:solidFill>
                  <a:srgbClr val="32689F"/>
                </a:solidFill>
                <a:latin typeface="Noto Sans CJK SC"/>
                <a:ea typeface="Noto Sans CJK SC"/>
              </a:rPr>
              <a:t>OFF：跳过两级 远区 点积 / 选取</a:t>
            </a:r>
          </a:p>
        </p:txBody>
      </p:sp>
      <p:sp>
        <p:nvSpPr>
          <p:cNvPr id="38" name="native38"/>
          <p:cNvSpPr/>
          <p:nvPr/>
        </p:nvSpPr>
        <p:spPr>
          <a:xfrm>
            <a:off x="9367277" y="3223047"/>
            <a:ext cx="4076980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0" dirty="0">
                <a:solidFill>
                  <a:srgbClr val="32689F"/>
                </a:solidFill>
                <a:latin typeface="Noto Sans CJK SC"/>
                <a:ea typeface="Noto Sans CJK SC"/>
              </a:rPr>
              <a:t>仅 L2 剩余预算回填合法 近区 候选</a:t>
            </a:r>
          </a:p>
        </p:txBody>
      </p:sp>
      <p:sp>
        <p:nvSpPr>
          <p:cNvPr id="39" name="native39"/>
          <p:cNvSpPr/>
          <p:nvPr/>
        </p:nvSpPr>
        <p:spPr>
          <a:xfrm>
            <a:off x="8696605" y="2346232"/>
            <a:ext cx="335336" cy="247090"/>
          </a:xfrm>
          <a:custGeom>
            <a:avLst/>
            <a:gdLst/>
            <a:ahLst/>
            <a:cxnLst/>
            <a:rect l="0" t="0" r="r" b="b"/>
            <a:pathLst>
              <a:path w="457200" h="85725" fill="none">
                <a:moveTo>
                  <a:pt x="0" y="85725"/>
                </a:moveTo>
                <a:lnTo>
                  <a:pt x="457200" y="0"/>
                </a:lnTo>
              </a:path>
            </a:pathLst>
          </a:custGeom>
          <a:noFill/>
          <a:ln w="17649">
            <a:solidFill>
              <a:srgbClr val="A66328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native40"/>
          <p:cNvSpPr/>
          <p:nvPr/>
        </p:nvSpPr>
        <p:spPr>
          <a:xfrm>
            <a:off x="8696605" y="2955131"/>
            <a:ext cx="423582" cy="211791"/>
          </a:xfrm>
          <a:custGeom>
            <a:avLst/>
            <a:gdLst/>
            <a:ahLst/>
            <a:cxnLst/>
            <a:rect l="0" t="0" r="r" b="b"/>
            <a:pathLst>
              <a:path w="457200" h="228600" fill="none">
                <a:moveTo>
                  <a:pt x="0" y="0"/>
                </a:moveTo>
                <a:lnTo>
                  <a:pt x="457200" y="228600"/>
                </a:lnTo>
              </a:path>
            </a:pathLst>
          </a:custGeom>
          <a:noFill/>
          <a:ln w="17649">
            <a:solidFill>
              <a:srgbClr val="A66328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native41"/>
          <p:cNvSpPr/>
          <p:nvPr/>
        </p:nvSpPr>
        <p:spPr>
          <a:xfrm>
            <a:off x="1398634" y="3346592"/>
            <a:ext cx="4465264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0">
                <a:solidFill>
                  <a:srgbClr val="526777"/>
                </a:solidFill>
                <a:latin typeface="Noto Sans CJK SC"/>
                <a:ea typeface="Noto Sans CJK SC"/>
              </a:rPr>
              <a:t>门控默认不启用 · 固定区域配额路径</a:t>
            </a:r>
          </a:p>
        </p:txBody>
      </p:sp>
      <p:sp>
        <p:nvSpPr>
          <p:cNvPr id="42" name="native42"/>
          <p:cNvSpPr/>
          <p:nvPr/>
        </p:nvSpPr>
        <p:spPr>
          <a:xfrm>
            <a:off x="1398634" y="3756055"/>
            <a:ext cx="2859181" cy="3812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76" b="1">
                <a:solidFill>
                  <a:srgbClr val="193247"/>
                </a:solidFill>
                <a:latin typeface="Noto Sans CJK SC"/>
                <a:ea typeface="Noto Sans CJK SC"/>
              </a:rPr>
              <a:t>原始 Q / K / V</a:t>
            </a:r>
            <a:endParaRPr lang="zh-CN" sz="1876"/>
          </a:p>
        </p:txBody>
      </p:sp>
      <p:sp>
        <p:nvSpPr>
          <p:cNvPr id="43" name="native43"/>
          <p:cNvSpPr/>
          <p:nvPr/>
        </p:nvSpPr>
        <p:spPr>
          <a:xfrm>
            <a:off x="3543020" y="3756055"/>
            <a:ext cx="1429590" cy="3812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76" b="1">
                <a:solidFill>
                  <a:srgbClr val="193247"/>
                </a:solidFill>
                <a:latin typeface="Noto Sans CJK SC"/>
                <a:ea typeface="Noto Sans CJK SC"/>
              </a:rPr>
              <a:t>共享低频32</a:t>
            </a:r>
            <a:endParaRPr lang="zh-CN" sz="1876"/>
          </a:p>
        </p:txBody>
      </p:sp>
      <p:sp>
        <p:nvSpPr>
          <p:cNvPr id="44" name="native44"/>
          <p:cNvSpPr/>
          <p:nvPr/>
        </p:nvSpPr>
        <p:spPr>
          <a:xfrm>
            <a:off x="5607984" y="3756055"/>
            <a:ext cx="1429590" cy="3812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76" b="1">
                <a:solidFill>
                  <a:srgbClr val="193247"/>
                </a:solidFill>
                <a:latin typeface="Noto Sans CJK SC"/>
                <a:ea typeface="Noto Sans CJK SC"/>
              </a:rPr>
              <a:t>L1：页粗筛</a:t>
            </a:r>
            <a:endParaRPr lang="zh-CN" sz="1876"/>
          </a:p>
        </p:txBody>
      </p:sp>
      <p:sp>
        <p:nvSpPr>
          <p:cNvPr id="45" name="native45"/>
          <p:cNvSpPr/>
          <p:nvPr/>
        </p:nvSpPr>
        <p:spPr>
          <a:xfrm>
            <a:off x="8581885" y="3756055"/>
            <a:ext cx="2382651" cy="3812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76" b="1">
                <a:solidFill>
                  <a:srgbClr val="193247"/>
                </a:solidFill>
                <a:latin typeface="Noto Sans CJK SC"/>
                <a:ea typeface="Noto Sans CJK SC"/>
              </a:rPr>
              <a:t>L2：词元精筛</a:t>
            </a:r>
          </a:p>
        </p:txBody>
      </p:sp>
      <p:sp>
        <p:nvSpPr>
          <p:cNvPr id="46" name="native46"/>
          <p:cNvSpPr/>
          <p:nvPr/>
        </p:nvSpPr>
        <p:spPr>
          <a:xfrm>
            <a:off x="11944070" y="3756055"/>
            <a:ext cx="2859181" cy="3812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76" b="1">
                <a:solidFill>
                  <a:srgbClr val="193247"/>
                </a:solidFill>
                <a:latin typeface="Noto Sans CJK SC"/>
                <a:ea typeface="Noto Sans CJK SC"/>
              </a:rPr>
              <a:t>原维 注意力</a:t>
            </a:r>
          </a:p>
        </p:txBody>
      </p:sp>
      <p:sp>
        <p:nvSpPr>
          <p:cNvPr id="47" name="native47"/>
          <p:cNvSpPr/>
          <p:nvPr/>
        </p:nvSpPr>
        <p:spPr>
          <a:xfrm>
            <a:off x="1398634" y="4128807"/>
            <a:ext cx="12416258" cy="882"/>
          </a:xfrm>
          <a:custGeom>
            <a:avLst/>
            <a:gdLst/>
            <a:ahLst/>
            <a:cxnLst/>
            <a:rect l="0" t="0" r="r" b="b"/>
            <a:pathLst>
              <a:path w="13401675" h="952" fill="none">
                <a:moveTo>
                  <a:pt x="0" y="0"/>
                </a:moveTo>
                <a:lnTo>
                  <a:pt x="13401675" y="0"/>
                </a:lnTo>
              </a:path>
            </a:pathLst>
          </a:custGeom>
          <a:noFill/>
          <a:ln w="8825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native48"/>
          <p:cNvSpPr/>
          <p:nvPr/>
        </p:nvSpPr>
        <p:spPr>
          <a:xfrm>
            <a:off x="1425108" y="4158458"/>
            <a:ext cx="1358993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0">
                <a:solidFill>
                  <a:srgbClr val="526777"/>
                </a:solidFill>
                <a:latin typeface="Noto Sans CJK SC"/>
                <a:ea typeface="Noto Sans CJK SC"/>
              </a:rPr>
              <a:t>同层、同KV组</a:t>
            </a:r>
            <a:endParaRPr lang="zh-CN" sz="1529"/>
          </a:p>
        </p:txBody>
      </p:sp>
      <p:sp>
        <p:nvSpPr>
          <p:cNvPr id="49" name="native49"/>
          <p:cNvSpPr/>
          <p:nvPr/>
        </p:nvSpPr>
        <p:spPr>
          <a:xfrm>
            <a:off x="1425108" y="4430963"/>
            <a:ext cx="2435599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1">
                <a:solidFill>
                  <a:srgbClr val="193247"/>
                </a:solidFill>
                <a:latin typeface="Noto Sans CJK SC"/>
                <a:ea typeface="Noto Sans CJK SC"/>
              </a:rPr>
              <a:t>4Q / 1K / 1V</a:t>
            </a:r>
            <a:endParaRPr lang="zh-CN" sz="1598"/>
          </a:p>
        </p:txBody>
      </p:sp>
      <p:sp>
        <p:nvSpPr>
          <p:cNvPr id="50" name="native50"/>
          <p:cNvSpPr/>
          <p:nvPr/>
        </p:nvSpPr>
        <p:spPr>
          <a:xfrm>
            <a:off x="1425108" y="4766299"/>
            <a:ext cx="857250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1">
                <a:solidFill>
                  <a:srgbClr val="193247"/>
                </a:solidFill>
                <a:latin typeface="Noto Sans CJK SC"/>
                <a:ea typeface="Noto Sans CJK SC"/>
              </a:rPr>
              <a:t>Q</a:t>
            </a:r>
            <a:endParaRPr lang="zh-CN" sz="1598"/>
          </a:p>
        </p:txBody>
      </p:sp>
      <p:sp>
        <p:nvSpPr>
          <p:cNvPr id="51" name="native51"/>
          <p:cNvSpPr/>
          <p:nvPr/>
        </p:nvSpPr>
        <p:spPr>
          <a:xfrm>
            <a:off x="1725146" y="4808304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native52"/>
          <p:cNvSpPr/>
          <p:nvPr/>
        </p:nvSpPr>
        <p:spPr>
          <a:xfrm>
            <a:off x="1901638" y="4808304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native53"/>
          <p:cNvSpPr/>
          <p:nvPr/>
        </p:nvSpPr>
        <p:spPr>
          <a:xfrm>
            <a:off x="2078131" y="4808304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native54"/>
          <p:cNvSpPr/>
          <p:nvPr/>
        </p:nvSpPr>
        <p:spPr>
          <a:xfrm>
            <a:off x="2254624" y="4808304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native55"/>
          <p:cNvSpPr/>
          <p:nvPr/>
        </p:nvSpPr>
        <p:spPr>
          <a:xfrm>
            <a:off x="2431116" y="4808304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native56"/>
          <p:cNvSpPr/>
          <p:nvPr/>
        </p:nvSpPr>
        <p:spPr>
          <a:xfrm>
            <a:off x="2607609" y="4808304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native57"/>
          <p:cNvSpPr/>
          <p:nvPr/>
        </p:nvSpPr>
        <p:spPr>
          <a:xfrm>
            <a:off x="2784101" y="4808304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native58"/>
          <p:cNvSpPr/>
          <p:nvPr/>
        </p:nvSpPr>
        <p:spPr>
          <a:xfrm>
            <a:off x="2960594" y="4808304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native59"/>
          <p:cNvSpPr/>
          <p:nvPr/>
        </p:nvSpPr>
        <p:spPr>
          <a:xfrm>
            <a:off x="1725146" y="4949498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native60"/>
          <p:cNvSpPr/>
          <p:nvPr/>
        </p:nvSpPr>
        <p:spPr>
          <a:xfrm>
            <a:off x="1901638" y="4949498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native61"/>
          <p:cNvSpPr/>
          <p:nvPr/>
        </p:nvSpPr>
        <p:spPr>
          <a:xfrm>
            <a:off x="2078131" y="4949498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native62"/>
          <p:cNvSpPr/>
          <p:nvPr/>
        </p:nvSpPr>
        <p:spPr>
          <a:xfrm>
            <a:off x="2254624" y="4949498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native63"/>
          <p:cNvSpPr/>
          <p:nvPr/>
        </p:nvSpPr>
        <p:spPr>
          <a:xfrm>
            <a:off x="2431116" y="4949498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native64"/>
          <p:cNvSpPr/>
          <p:nvPr/>
        </p:nvSpPr>
        <p:spPr>
          <a:xfrm>
            <a:off x="2607609" y="4949498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native65"/>
          <p:cNvSpPr/>
          <p:nvPr/>
        </p:nvSpPr>
        <p:spPr>
          <a:xfrm>
            <a:off x="2784101" y="4949498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native66"/>
          <p:cNvSpPr/>
          <p:nvPr/>
        </p:nvSpPr>
        <p:spPr>
          <a:xfrm>
            <a:off x="2960594" y="4949498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native67"/>
          <p:cNvSpPr/>
          <p:nvPr/>
        </p:nvSpPr>
        <p:spPr>
          <a:xfrm>
            <a:off x="1725146" y="5090692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native68"/>
          <p:cNvSpPr/>
          <p:nvPr/>
        </p:nvSpPr>
        <p:spPr>
          <a:xfrm>
            <a:off x="1901638" y="5090692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native69"/>
          <p:cNvSpPr/>
          <p:nvPr/>
        </p:nvSpPr>
        <p:spPr>
          <a:xfrm>
            <a:off x="2078131" y="5090692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native70"/>
          <p:cNvSpPr/>
          <p:nvPr/>
        </p:nvSpPr>
        <p:spPr>
          <a:xfrm>
            <a:off x="2254624" y="5090692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native71"/>
          <p:cNvSpPr/>
          <p:nvPr/>
        </p:nvSpPr>
        <p:spPr>
          <a:xfrm>
            <a:off x="2431116" y="5090692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native72"/>
          <p:cNvSpPr/>
          <p:nvPr/>
        </p:nvSpPr>
        <p:spPr>
          <a:xfrm>
            <a:off x="2607609" y="5090692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native73"/>
          <p:cNvSpPr/>
          <p:nvPr/>
        </p:nvSpPr>
        <p:spPr>
          <a:xfrm>
            <a:off x="2784101" y="5090692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native74"/>
          <p:cNvSpPr/>
          <p:nvPr/>
        </p:nvSpPr>
        <p:spPr>
          <a:xfrm>
            <a:off x="2960594" y="5090692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native75"/>
          <p:cNvSpPr/>
          <p:nvPr/>
        </p:nvSpPr>
        <p:spPr>
          <a:xfrm>
            <a:off x="1725146" y="5231886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native76"/>
          <p:cNvSpPr/>
          <p:nvPr/>
        </p:nvSpPr>
        <p:spPr>
          <a:xfrm>
            <a:off x="1901638" y="5231886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native77"/>
          <p:cNvSpPr/>
          <p:nvPr/>
        </p:nvSpPr>
        <p:spPr>
          <a:xfrm>
            <a:off x="2078131" y="5231886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native78"/>
          <p:cNvSpPr/>
          <p:nvPr/>
        </p:nvSpPr>
        <p:spPr>
          <a:xfrm>
            <a:off x="2254624" y="5231886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native79"/>
          <p:cNvSpPr/>
          <p:nvPr/>
        </p:nvSpPr>
        <p:spPr>
          <a:xfrm>
            <a:off x="2431116" y="5231886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native80"/>
          <p:cNvSpPr/>
          <p:nvPr/>
        </p:nvSpPr>
        <p:spPr>
          <a:xfrm>
            <a:off x="2607609" y="5231886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native81"/>
          <p:cNvSpPr/>
          <p:nvPr/>
        </p:nvSpPr>
        <p:spPr>
          <a:xfrm>
            <a:off x="2784101" y="5231886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native82"/>
          <p:cNvSpPr/>
          <p:nvPr/>
        </p:nvSpPr>
        <p:spPr>
          <a:xfrm>
            <a:off x="2960594" y="5231886"/>
            <a:ext cx="141194" cy="10589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native83"/>
          <p:cNvSpPr/>
          <p:nvPr/>
        </p:nvSpPr>
        <p:spPr>
          <a:xfrm>
            <a:off x="2254624" y="4808304"/>
            <a:ext cx="141194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native84"/>
          <p:cNvSpPr/>
          <p:nvPr/>
        </p:nvSpPr>
        <p:spPr>
          <a:xfrm>
            <a:off x="2960594" y="4808304"/>
            <a:ext cx="141194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native85"/>
          <p:cNvSpPr/>
          <p:nvPr/>
        </p:nvSpPr>
        <p:spPr>
          <a:xfrm>
            <a:off x="2254624" y="4949498"/>
            <a:ext cx="141194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native86"/>
          <p:cNvSpPr/>
          <p:nvPr/>
        </p:nvSpPr>
        <p:spPr>
          <a:xfrm>
            <a:off x="2960594" y="4949498"/>
            <a:ext cx="141194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native87"/>
          <p:cNvSpPr/>
          <p:nvPr/>
        </p:nvSpPr>
        <p:spPr>
          <a:xfrm>
            <a:off x="2254624" y="5090692"/>
            <a:ext cx="141194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native88"/>
          <p:cNvSpPr/>
          <p:nvPr/>
        </p:nvSpPr>
        <p:spPr>
          <a:xfrm>
            <a:off x="2960594" y="5090692"/>
            <a:ext cx="141194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native89"/>
          <p:cNvSpPr/>
          <p:nvPr/>
        </p:nvSpPr>
        <p:spPr>
          <a:xfrm>
            <a:off x="2254624" y="5231886"/>
            <a:ext cx="141194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native90"/>
          <p:cNvSpPr/>
          <p:nvPr/>
        </p:nvSpPr>
        <p:spPr>
          <a:xfrm>
            <a:off x="2960594" y="5231886"/>
            <a:ext cx="141194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native91"/>
          <p:cNvSpPr/>
          <p:nvPr/>
        </p:nvSpPr>
        <p:spPr>
          <a:xfrm>
            <a:off x="1425108" y="5534042"/>
            <a:ext cx="857250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1">
                <a:solidFill>
                  <a:srgbClr val="193247"/>
                </a:solidFill>
                <a:latin typeface="Noto Sans CJK SC"/>
                <a:ea typeface="Noto Sans CJK SC"/>
              </a:rPr>
              <a:t>K/V</a:t>
            </a:r>
            <a:endParaRPr lang="zh-CN" sz="1598"/>
          </a:p>
        </p:txBody>
      </p:sp>
      <p:sp>
        <p:nvSpPr>
          <p:cNvPr id="92" name="native92"/>
          <p:cNvSpPr/>
          <p:nvPr/>
        </p:nvSpPr>
        <p:spPr>
          <a:xfrm>
            <a:off x="1919287" y="5576047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native93"/>
          <p:cNvSpPr/>
          <p:nvPr/>
        </p:nvSpPr>
        <p:spPr>
          <a:xfrm>
            <a:off x="2095780" y="5576047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native94"/>
          <p:cNvSpPr/>
          <p:nvPr/>
        </p:nvSpPr>
        <p:spPr>
          <a:xfrm>
            <a:off x="2272273" y="5576047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native95"/>
          <p:cNvSpPr/>
          <p:nvPr/>
        </p:nvSpPr>
        <p:spPr>
          <a:xfrm>
            <a:off x="2448765" y="5576047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native96"/>
          <p:cNvSpPr/>
          <p:nvPr/>
        </p:nvSpPr>
        <p:spPr>
          <a:xfrm>
            <a:off x="2625258" y="5576047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native97"/>
          <p:cNvSpPr/>
          <p:nvPr/>
        </p:nvSpPr>
        <p:spPr>
          <a:xfrm>
            <a:off x="2801751" y="5576047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native98"/>
          <p:cNvSpPr/>
          <p:nvPr/>
        </p:nvSpPr>
        <p:spPr>
          <a:xfrm>
            <a:off x="2978243" y="5576047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native99"/>
          <p:cNvSpPr/>
          <p:nvPr/>
        </p:nvSpPr>
        <p:spPr>
          <a:xfrm>
            <a:off x="1919287" y="5717241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native100"/>
          <p:cNvSpPr/>
          <p:nvPr/>
        </p:nvSpPr>
        <p:spPr>
          <a:xfrm>
            <a:off x="2095780" y="5717241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native101"/>
          <p:cNvSpPr/>
          <p:nvPr/>
        </p:nvSpPr>
        <p:spPr>
          <a:xfrm>
            <a:off x="2272273" y="5717241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native102"/>
          <p:cNvSpPr/>
          <p:nvPr/>
        </p:nvSpPr>
        <p:spPr>
          <a:xfrm>
            <a:off x="2448765" y="5717241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native103"/>
          <p:cNvSpPr/>
          <p:nvPr/>
        </p:nvSpPr>
        <p:spPr>
          <a:xfrm>
            <a:off x="2625258" y="5717241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native104"/>
          <p:cNvSpPr/>
          <p:nvPr/>
        </p:nvSpPr>
        <p:spPr>
          <a:xfrm>
            <a:off x="2801751" y="5717241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native105"/>
          <p:cNvSpPr/>
          <p:nvPr/>
        </p:nvSpPr>
        <p:spPr>
          <a:xfrm>
            <a:off x="2978243" y="5717241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native106"/>
          <p:cNvSpPr/>
          <p:nvPr/>
        </p:nvSpPr>
        <p:spPr>
          <a:xfrm>
            <a:off x="1919287" y="5858435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native107"/>
          <p:cNvSpPr/>
          <p:nvPr/>
        </p:nvSpPr>
        <p:spPr>
          <a:xfrm>
            <a:off x="2095780" y="5858435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native108"/>
          <p:cNvSpPr/>
          <p:nvPr/>
        </p:nvSpPr>
        <p:spPr>
          <a:xfrm>
            <a:off x="2272273" y="5858435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native109"/>
          <p:cNvSpPr/>
          <p:nvPr/>
        </p:nvSpPr>
        <p:spPr>
          <a:xfrm>
            <a:off x="2448765" y="5858435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native110"/>
          <p:cNvSpPr/>
          <p:nvPr/>
        </p:nvSpPr>
        <p:spPr>
          <a:xfrm>
            <a:off x="2625258" y="5858435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native111"/>
          <p:cNvSpPr/>
          <p:nvPr/>
        </p:nvSpPr>
        <p:spPr>
          <a:xfrm>
            <a:off x="2801751" y="5858435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native112"/>
          <p:cNvSpPr/>
          <p:nvPr/>
        </p:nvSpPr>
        <p:spPr>
          <a:xfrm>
            <a:off x="2978243" y="5858435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native113"/>
          <p:cNvSpPr/>
          <p:nvPr/>
        </p:nvSpPr>
        <p:spPr>
          <a:xfrm>
            <a:off x="1919287" y="5999629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native114"/>
          <p:cNvSpPr/>
          <p:nvPr/>
        </p:nvSpPr>
        <p:spPr>
          <a:xfrm>
            <a:off x="2095780" y="5999629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native115"/>
          <p:cNvSpPr/>
          <p:nvPr/>
        </p:nvSpPr>
        <p:spPr>
          <a:xfrm>
            <a:off x="2272273" y="5999629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native116"/>
          <p:cNvSpPr/>
          <p:nvPr/>
        </p:nvSpPr>
        <p:spPr>
          <a:xfrm>
            <a:off x="2448765" y="5999629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native117"/>
          <p:cNvSpPr/>
          <p:nvPr/>
        </p:nvSpPr>
        <p:spPr>
          <a:xfrm>
            <a:off x="2625258" y="5999629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native118"/>
          <p:cNvSpPr/>
          <p:nvPr/>
        </p:nvSpPr>
        <p:spPr>
          <a:xfrm>
            <a:off x="2801751" y="5999629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native119"/>
          <p:cNvSpPr/>
          <p:nvPr/>
        </p:nvSpPr>
        <p:spPr>
          <a:xfrm>
            <a:off x="2978243" y="5999629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" name="native120"/>
          <p:cNvSpPr/>
          <p:nvPr/>
        </p:nvSpPr>
        <p:spPr>
          <a:xfrm>
            <a:off x="1919287" y="6140824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native121"/>
          <p:cNvSpPr/>
          <p:nvPr/>
        </p:nvSpPr>
        <p:spPr>
          <a:xfrm>
            <a:off x="2095780" y="6140824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native122"/>
          <p:cNvSpPr/>
          <p:nvPr/>
        </p:nvSpPr>
        <p:spPr>
          <a:xfrm>
            <a:off x="2272273" y="6140824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native123"/>
          <p:cNvSpPr/>
          <p:nvPr/>
        </p:nvSpPr>
        <p:spPr>
          <a:xfrm>
            <a:off x="2448765" y="6140824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native124"/>
          <p:cNvSpPr/>
          <p:nvPr/>
        </p:nvSpPr>
        <p:spPr>
          <a:xfrm>
            <a:off x="2625258" y="6140824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native125"/>
          <p:cNvSpPr/>
          <p:nvPr/>
        </p:nvSpPr>
        <p:spPr>
          <a:xfrm>
            <a:off x="2801751" y="6140824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native126"/>
          <p:cNvSpPr/>
          <p:nvPr/>
        </p:nvSpPr>
        <p:spPr>
          <a:xfrm>
            <a:off x="2978243" y="6140824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native127"/>
          <p:cNvSpPr/>
          <p:nvPr/>
        </p:nvSpPr>
        <p:spPr>
          <a:xfrm>
            <a:off x="1919287" y="6282018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native128"/>
          <p:cNvSpPr/>
          <p:nvPr/>
        </p:nvSpPr>
        <p:spPr>
          <a:xfrm>
            <a:off x="2095780" y="6282018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native129"/>
          <p:cNvSpPr/>
          <p:nvPr/>
        </p:nvSpPr>
        <p:spPr>
          <a:xfrm>
            <a:off x="2272273" y="6282018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native130"/>
          <p:cNvSpPr/>
          <p:nvPr/>
        </p:nvSpPr>
        <p:spPr>
          <a:xfrm>
            <a:off x="2448765" y="6282018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native131"/>
          <p:cNvSpPr/>
          <p:nvPr/>
        </p:nvSpPr>
        <p:spPr>
          <a:xfrm>
            <a:off x="2625258" y="6282018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native132"/>
          <p:cNvSpPr/>
          <p:nvPr/>
        </p:nvSpPr>
        <p:spPr>
          <a:xfrm>
            <a:off x="2801751" y="6282018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native133"/>
          <p:cNvSpPr/>
          <p:nvPr/>
        </p:nvSpPr>
        <p:spPr>
          <a:xfrm>
            <a:off x="2978243" y="6282018"/>
            <a:ext cx="141194" cy="105896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native134"/>
          <p:cNvSpPr/>
          <p:nvPr/>
        </p:nvSpPr>
        <p:spPr>
          <a:xfrm>
            <a:off x="1425108" y="6540050"/>
            <a:ext cx="2029665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1">
                <a:solidFill>
                  <a:srgbClr val="727E87"/>
                </a:solidFill>
                <a:latin typeface="Noto Sans CJK SC"/>
                <a:ea typeface="Noto Sans CJK SC"/>
              </a:rPr>
              <a:t>始终保留 D=128</a:t>
            </a:r>
            <a:endParaRPr lang="zh-CN" sz="1598"/>
          </a:p>
        </p:txBody>
      </p:sp>
      <p:sp>
        <p:nvSpPr>
          <p:cNvPr id="135" name="native135"/>
          <p:cNvSpPr/>
          <p:nvPr/>
        </p:nvSpPr>
        <p:spPr>
          <a:xfrm>
            <a:off x="3154736" y="5108342"/>
            <a:ext cx="273564" cy="882"/>
          </a:xfrm>
          <a:custGeom>
            <a:avLst/>
            <a:gdLst/>
            <a:ahLst/>
            <a:cxnLst/>
            <a:rect l="0" t="0" r="r" b="b"/>
            <a:pathLst>
              <a:path w="295275" h="952" fill="none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17649">
            <a:solidFill>
              <a:srgbClr val="78628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native136"/>
          <p:cNvSpPr/>
          <p:nvPr/>
        </p:nvSpPr>
        <p:spPr>
          <a:xfrm>
            <a:off x="3587143" y="4175048"/>
            <a:ext cx="1826699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1">
                <a:solidFill>
                  <a:srgbClr val="78628F"/>
                </a:solidFill>
                <a:latin typeface="Noto Sans CJK SC"/>
                <a:ea typeface="Noto Sans CJK SC"/>
              </a:rPr>
              <a:t>16完整RoPE对</a:t>
            </a:r>
            <a:endParaRPr lang="zh-CN" sz="1598"/>
          </a:p>
        </p:txBody>
      </p:sp>
      <p:sp>
        <p:nvSpPr>
          <p:cNvPr id="137" name="native137"/>
          <p:cNvSpPr/>
          <p:nvPr/>
        </p:nvSpPr>
        <p:spPr>
          <a:xfrm>
            <a:off x="3587143" y="4486028"/>
            <a:ext cx="1482538" cy="2965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Q各自取对应坐标</a:t>
            </a:r>
            <a:endParaRPr lang="zh-CN" sz="1459"/>
          </a:p>
        </p:txBody>
      </p:sp>
      <p:sp>
        <p:nvSpPr>
          <p:cNvPr id="138" name="native138"/>
          <p:cNvSpPr/>
          <p:nvPr/>
        </p:nvSpPr>
        <p:spPr>
          <a:xfrm>
            <a:off x="3587143" y="4775123"/>
            <a:ext cx="1217799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0">
                <a:solidFill>
                  <a:srgbClr val="78628F"/>
                </a:solidFill>
                <a:latin typeface="Noto Sans CJK SC"/>
                <a:ea typeface="Noto Sans CJK SC"/>
              </a:rPr>
              <a:t>4 × 32</a:t>
            </a:r>
            <a:endParaRPr lang="zh-CN" sz="1598"/>
          </a:p>
        </p:txBody>
      </p:sp>
      <p:sp>
        <p:nvSpPr>
          <p:cNvPr id="139" name="native139"/>
          <p:cNvSpPr/>
          <p:nvPr/>
        </p:nvSpPr>
        <p:spPr>
          <a:xfrm>
            <a:off x="3666565" y="5117166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native140"/>
          <p:cNvSpPr/>
          <p:nvPr/>
        </p:nvSpPr>
        <p:spPr>
          <a:xfrm>
            <a:off x="3860707" y="5117166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native141"/>
          <p:cNvSpPr/>
          <p:nvPr/>
        </p:nvSpPr>
        <p:spPr>
          <a:xfrm>
            <a:off x="4054849" y="5117166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native142"/>
          <p:cNvSpPr/>
          <p:nvPr/>
        </p:nvSpPr>
        <p:spPr>
          <a:xfrm>
            <a:off x="4248990" y="5117166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native143"/>
          <p:cNvSpPr/>
          <p:nvPr/>
        </p:nvSpPr>
        <p:spPr>
          <a:xfrm>
            <a:off x="3666565" y="5258360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" name="native144"/>
          <p:cNvSpPr/>
          <p:nvPr/>
        </p:nvSpPr>
        <p:spPr>
          <a:xfrm>
            <a:off x="3860707" y="5258360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native145"/>
          <p:cNvSpPr/>
          <p:nvPr/>
        </p:nvSpPr>
        <p:spPr>
          <a:xfrm>
            <a:off x="4054849" y="5258360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native146"/>
          <p:cNvSpPr/>
          <p:nvPr/>
        </p:nvSpPr>
        <p:spPr>
          <a:xfrm>
            <a:off x="4248990" y="5258360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7" name="native147"/>
          <p:cNvSpPr/>
          <p:nvPr/>
        </p:nvSpPr>
        <p:spPr>
          <a:xfrm>
            <a:off x="3666565" y="5399554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native148"/>
          <p:cNvSpPr/>
          <p:nvPr/>
        </p:nvSpPr>
        <p:spPr>
          <a:xfrm>
            <a:off x="3860707" y="5399554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" name="native149"/>
          <p:cNvSpPr/>
          <p:nvPr/>
        </p:nvSpPr>
        <p:spPr>
          <a:xfrm>
            <a:off x="4054849" y="5399554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native150"/>
          <p:cNvSpPr/>
          <p:nvPr/>
        </p:nvSpPr>
        <p:spPr>
          <a:xfrm>
            <a:off x="4248990" y="5399554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native151"/>
          <p:cNvSpPr/>
          <p:nvPr/>
        </p:nvSpPr>
        <p:spPr>
          <a:xfrm>
            <a:off x="3666565" y="5540749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native152"/>
          <p:cNvSpPr/>
          <p:nvPr/>
        </p:nvSpPr>
        <p:spPr>
          <a:xfrm>
            <a:off x="3860707" y="5540749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native153"/>
          <p:cNvSpPr/>
          <p:nvPr/>
        </p:nvSpPr>
        <p:spPr>
          <a:xfrm>
            <a:off x="4054849" y="5540749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native154"/>
          <p:cNvSpPr/>
          <p:nvPr/>
        </p:nvSpPr>
        <p:spPr>
          <a:xfrm>
            <a:off x="4248990" y="5540749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native155"/>
          <p:cNvSpPr/>
          <p:nvPr/>
        </p:nvSpPr>
        <p:spPr>
          <a:xfrm>
            <a:off x="4487256" y="4775123"/>
            <a:ext cx="1217799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0">
                <a:solidFill>
                  <a:srgbClr val="78628F"/>
                </a:solidFill>
                <a:latin typeface="Noto Sans CJK SC"/>
                <a:ea typeface="Noto Sans CJK SC"/>
              </a:rPr>
              <a:t>S × 32</a:t>
            </a:r>
            <a:endParaRPr lang="zh-CN" sz="1598"/>
          </a:p>
        </p:txBody>
      </p:sp>
      <p:sp>
        <p:nvSpPr>
          <p:cNvPr id="156" name="native156"/>
          <p:cNvSpPr/>
          <p:nvPr/>
        </p:nvSpPr>
        <p:spPr>
          <a:xfrm>
            <a:off x="4540203" y="5117166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native157"/>
          <p:cNvSpPr/>
          <p:nvPr/>
        </p:nvSpPr>
        <p:spPr>
          <a:xfrm>
            <a:off x="4734345" y="5117166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native158"/>
          <p:cNvSpPr/>
          <p:nvPr/>
        </p:nvSpPr>
        <p:spPr>
          <a:xfrm>
            <a:off x="4928487" y="5117166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9" name="native159"/>
          <p:cNvSpPr/>
          <p:nvPr/>
        </p:nvSpPr>
        <p:spPr>
          <a:xfrm>
            <a:off x="5122629" y="5117166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native160"/>
          <p:cNvSpPr/>
          <p:nvPr/>
        </p:nvSpPr>
        <p:spPr>
          <a:xfrm>
            <a:off x="4540203" y="5258360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1" name="native161"/>
          <p:cNvSpPr/>
          <p:nvPr/>
        </p:nvSpPr>
        <p:spPr>
          <a:xfrm>
            <a:off x="4734345" y="5258360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2" name="native162"/>
          <p:cNvSpPr/>
          <p:nvPr/>
        </p:nvSpPr>
        <p:spPr>
          <a:xfrm>
            <a:off x="4928487" y="5258360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native163"/>
          <p:cNvSpPr/>
          <p:nvPr/>
        </p:nvSpPr>
        <p:spPr>
          <a:xfrm>
            <a:off x="5122629" y="5258360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" name="native164"/>
          <p:cNvSpPr/>
          <p:nvPr/>
        </p:nvSpPr>
        <p:spPr>
          <a:xfrm>
            <a:off x="4540203" y="5399554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5" name="native165"/>
          <p:cNvSpPr/>
          <p:nvPr/>
        </p:nvSpPr>
        <p:spPr>
          <a:xfrm>
            <a:off x="4734345" y="5399554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6" name="native166"/>
          <p:cNvSpPr/>
          <p:nvPr/>
        </p:nvSpPr>
        <p:spPr>
          <a:xfrm>
            <a:off x="4928487" y="5399554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7" name="native167"/>
          <p:cNvSpPr/>
          <p:nvPr/>
        </p:nvSpPr>
        <p:spPr>
          <a:xfrm>
            <a:off x="5122629" y="5399554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" name="native168"/>
          <p:cNvSpPr/>
          <p:nvPr/>
        </p:nvSpPr>
        <p:spPr>
          <a:xfrm>
            <a:off x="4540203" y="5540749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native169"/>
          <p:cNvSpPr/>
          <p:nvPr/>
        </p:nvSpPr>
        <p:spPr>
          <a:xfrm>
            <a:off x="4734345" y="5540749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" name="native170"/>
          <p:cNvSpPr/>
          <p:nvPr/>
        </p:nvSpPr>
        <p:spPr>
          <a:xfrm>
            <a:off x="4928487" y="5540749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" name="native171"/>
          <p:cNvSpPr/>
          <p:nvPr/>
        </p:nvSpPr>
        <p:spPr>
          <a:xfrm>
            <a:off x="5122629" y="5540749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" name="native172"/>
          <p:cNvSpPr/>
          <p:nvPr/>
        </p:nvSpPr>
        <p:spPr>
          <a:xfrm>
            <a:off x="4540203" y="5681943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native173"/>
          <p:cNvSpPr/>
          <p:nvPr/>
        </p:nvSpPr>
        <p:spPr>
          <a:xfrm>
            <a:off x="4734345" y="5681943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" name="native174"/>
          <p:cNvSpPr/>
          <p:nvPr/>
        </p:nvSpPr>
        <p:spPr>
          <a:xfrm>
            <a:off x="4928487" y="5681943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5" name="native175"/>
          <p:cNvSpPr/>
          <p:nvPr/>
        </p:nvSpPr>
        <p:spPr>
          <a:xfrm>
            <a:off x="5122629" y="5681943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6" name="native176"/>
          <p:cNvSpPr/>
          <p:nvPr/>
        </p:nvSpPr>
        <p:spPr>
          <a:xfrm>
            <a:off x="4540203" y="5823137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" name="native177"/>
          <p:cNvSpPr/>
          <p:nvPr/>
        </p:nvSpPr>
        <p:spPr>
          <a:xfrm>
            <a:off x="4734345" y="5823137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8" name="native178"/>
          <p:cNvSpPr/>
          <p:nvPr/>
        </p:nvSpPr>
        <p:spPr>
          <a:xfrm>
            <a:off x="4928487" y="5823137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" name="native179"/>
          <p:cNvSpPr/>
          <p:nvPr/>
        </p:nvSpPr>
        <p:spPr>
          <a:xfrm>
            <a:off x="5122629" y="5823137"/>
            <a:ext cx="158843" cy="105896"/>
          </a:xfrm>
          <a:prstGeom prst="rect">
            <a:avLst/>
          </a:prstGeom>
          <a:solidFill>
            <a:srgbClr val="78628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" name="native180"/>
          <p:cNvSpPr/>
          <p:nvPr/>
        </p:nvSpPr>
        <p:spPr>
          <a:xfrm>
            <a:off x="3587143" y="6107643"/>
            <a:ext cx="2435599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1">
                <a:solidFill>
                  <a:srgbClr val="78628F"/>
                </a:solidFill>
                <a:latin typeface="Noto Sans CJK SC"/>
                <a:ea typeface="Noto Sans CJK SC"/>
              </a:rPr>
              <a:t>L1 / L2 共用视图</a:t>
            </a:r>
            <a:endParaRPr lang="zh-CN" sz="1598"/>
          </a:p>
        </p:txBody>
      </p:sp>
      <p:sp>
        <p:nvSpPr>
          <p:cNvPr id="183" name="native183"/>
          <p:cNvSpPr/>
          <p:nvPr/>
        </p:nvSpPr>
        <p:spPr>
          <a:xfrm>
            <a:off x="5643282" y="4290828"/>
            <a:ext cx="2912129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0">
                <a:solidFill>
                  <a:srgbClr val="526777"/>
                </a:solidFill>
                <a:latin typeface="Noto Sans CJK SC"/>
                <a:ea typeface="Noto Sans CJK SC"/>
              </a:rPr>
              <a:t>中间区分 远区 / 近区</a:t>
            </a:r>
          </a:p>
        </p:txBody>
      </p:sp>
      <p:sp>
        <p:nvSpPr>
          <p:cNvPr id="185" name="native185"/>
          <p:cNvSpPr/>
          <p:nvPr/>
        </p:nvSpPr>
        <p:spPr>
          <a:xfrm>
            <a:off x="6675764" y="5487801"/>
            <a:ext cx="1941419" cy="28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 dirty="0">
                <a:solidFill>
                  <a:srgbClr val="A66328"/>
                </a:solidFill>
                <a:latin typeface="Noto Sans CJK SC"/>
                <a:ea typeface="Noto Sans CJK SC"/>
              </a:rPr>
              <a:t/>
            </a:r>
          </a:p>
        </p:txBody>
      </p:sp>
      <p:sp>
        <p:nvSpPr>
          <p:cNvPr id="186" name="native186"/>
          <p:cNvSpPr/>
          <p:nvPr/>
        </p:nvSpPr>
        <p:spPr>
          <a:xfrm>
            <a:off x="5643282" y="4722176"/>
            <a:ext cx="2232632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1">
                <a:solidFill>
                  <a:srgbClr val="12817B"/>
                </a:solidFill>
                <a:latin typeface="Noto Sans CJK SC"/>
                <a:ea typeface="Noto Sans CJK SC"/>
              </a:rPr>
              <a:t>远区：极值</a:t>
            </a:r>
          </a:p>
        </p:txBody>
      </p:sp>
      <p:sp>
        <p:nvSpPr>
          <p:cNvPr id="187" name="native187"/>
          <p:cNvSpPr/>
          <p:nvPr/>
        </p:nvSpPr>
        <p:spPr>
          <a:xfrm>
            <a:off x="5660932" y="5081868"/>
            <a:ext cx="370635" cy="317687"/>
          </a:xfrm>
          <a:prstGeom prst="roundRect">
            <a:avLst/>
          </a:prstGeom>
          <a:solidFill>
            <a:srgbClr val="FFFFFF"/>
          </a:solidFill>
          <a:ln w="15002">
            <a:solidFill>
              <a:srgbClr val="12817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8" name="native188"/>
          <p:cNvSpPr/>
          <p:nvPr/>
        </p:nvSpPr>
        <p:spPr>
          <a:xfrm>
            <a:off x="5705055" y="512599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9" name="native189"/>
          <p:cNvSpPr/>
          <p:nvPr/>
        </p:nvSpPr>
        <p:spPr>
          <a:xfrm>
            <a:off x="5802126" y="512599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0" name="native190"/>
          <p:cNvSpPr/>
          <p:nvPr/>
        </p:nvSpPr>
        <p:spPr>
          <a:xfrm>
            <a:off x="5899197" y="512599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1" name="native191"/>
          <p:cNvSpPr/>
          <p:nvPr/>
        </p:nvSpPr>
        <p:spPr>
          <a:xfrm>
            <a:off x="5705055" y="524071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2" name="native192"/>
          <p:cNvSpPr/>
          <p:nvPr/>
        </p:nvSpPr>
        <p:spPr>
          <a:xfrm>
            <a:off x="5802126" y="524071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3" name="native193"/>
          <p:cNvSpPr/>
          <p:nvPr/>
        </p:nvSpPr>
        <p:spPr>
          <a:xfrm>
            <a:off x="5899197" y="524071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" name="native194"/>
          <p:cNvSpPr/>
          <p:nvPr/>
        </p:nvSpPr>
        <p:spPr>
          <a:xfrm>
            <a:off x="6163936" y="5081868"/>
            <a:ext cx="370635" cy="317687"/>
          </a:xfrm>
          <a:prstGeom prst="roundRect">
            <a:avLst/>
          </a:prstGeom>
          <a:solidFill>
            <a:srgbClr val="FFFFFF"/>
          </a:solidFill>
          <a:ln w="15002">
            <a:solidFill>
              <a:srgbClr val="12817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" name="native195"/>
          <p:cNvSpPr/>
          <p:nvPr/>
        </p:nvSpPr>
        <p:spPr>
          <a:xfrm>
            <a:off x="6208059" y="512599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" name="native196"/>
          <p:cNvSpPr/>
          <p:nvPr/>
        </p:nvSpPr>
        <p:spPr>
          <a:xfrm>
            <a:off x="6305130" y="512599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7" name="native197"/>
          <p:cNvSpPr/>
          <p:nvPr/>
        </p:nvSpPr>
        <p:spPr>
          <a:xfrm>
            <a:off x="6402201" y="512599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" name="native198"/>
          <p:cNvSpPr/>
          <p:nvPr/>
        </p:nvSpPr>
        <p:spPr>
          <a:xfrm>
            <a:off x="6208059" y="524071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9" name="native199"/>
          <p:cNvSpPr/>
          <p:nvPr/>
        </p:nvSpPr>
        <p:spPr>
          <a:xfrm>
            <a:off x="6305130" y="524071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0" name="native200"/>
          <p:cNvSpPr/>
          <p:nvPr/>
        </p:nvSpPr>
        <p:spPr>
          <a:xfrm>
            <a:off x="6402201" y="524071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1" name="native201"/>
          <p:cNvSpPr/>
          <p:nvPr/>
        </p:nvSpPr>
        <p:spPr>
          <a:xfrm>
            <a:off x="6666940" y="5081868"/>
            <a:ext cx="370635" cy="317687"/>
          </a:xfrm>
          <a:prstGeom prst="roundRect">
            <a:avLst/>
          </a:prstGeom>
          <a:solidFill>
            <a:srgbClr val="FFFFFF"/>
          </a:solidFill>
          <a:ln w="8825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2" name="native202"/>
          <p:cNvSpPr/>
          <p:nvPr/>
        </p:nvSpPr>
        <p:spPr>
          <a:xfrm>
            <a:off x="6711063" y="5125991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3" name="native203"/>
          <p:cNvSpPr/>
          <p:nvPr/>
        </p:nvSpPr>
        <p:spPr>
          <a:xfrm>
            <a:off x="6808134" y="5125991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" name="native204"/>
          <p:cNvSpPr/>
          <p:nvPr/>
        </p:nvSpPr>
        <p:spPr>
          <a:xfrm>
            <a:off x="6905205" y="5125991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" name="native205"/>
          <p:cNvSpPr/>
          <p:nvPr/>
        </p:nvSpPr>
        <p:spPr>
          <a:xfrm>
            <a:off x="6711063" y="5240711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6" name="native206"/>
          <p:cNvSpPr/>
          <p:nvPr/>
        </p:nvSpPr>
        <p:spPr>
          <a:xfrm>
            <a:off x="6808134" y="5240711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7" name="native207"/>
          <p:cNvSpPr/>
          <p:nvPr/>
        </p:nvSpPr>
        <p:spPr>
          <a:xfrm>
            <a:off x="6905205" y="5240711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8" name="native208"/>
          <p:cNvSpPr/>
          <p:nvPr/>
        </p:nvSpPr>
        <p:spPr>
          <a:xfrm>
            <a:off x="7169944" y="5081868"/>
            <a:ext cx="370635" cy="317687"/>
          </a:xfrm>
          <a:prstGeom prst="roundRect">
            <a:avLst/>
          </a:prstGeom>
          <a:solidFill>
            <a:srgbClr val="FFFFFF"/>
          </a:solidFill>
          <a:ln w="15002">
            <a:solidFill>
              <a:srgbClr val="12817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9" name="native209"/>
          <p:cNvSpPr/>
          <p:nvPr/>
        </p:nvSpPr>
        <p:spPr>
          <a:xfrm>
            <a:off x="7214067" y="512599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0" name="native210"/>
          <p:cNvSpPr/>
          <p:nvPr/>
        </p:nvSpPr>
        <p:spPr>
          <a:xfrm>
            <a:off x="7311138" y="512599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" name="native211"/>
          <p:cNvSpPr/>
          <p:nvPr/>
        </p:nvSpPr>
        <p:spPr>
          <a:xfrm>
            <a:off x="7408209" y="512599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2" name="native212"/>
          <p:cNvSpPr/>
          <p:nvPr/>
        </p:nvSpPr>
        <p:spPr>
          <a:xfrm>
            <a:off x="7214067" y="524071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3" name="native213"/>
          <p:cNvSpPr/>
          <p:nvPr/>
        </p:nvSpPr>
        <p:spPr>
          <a:xfrm>
            <a:off x="7311138" y="524071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4" name="native214"/>
          <p:cNvSpPr/>
          <p:nvPr/>
        </p:nvSpPr>
        <p:spPr>
          <a:xfrm>
            <a:off x="7408209" y="5240711"/>
            <a:ext cx="70597" cy="88246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" name="native215"/>
          <p:cNvSpPr/>
          <p:nvPr/>
        </p:nvSpPr>
        <p:spPr>
          <a:xfrm>
            <a:off x="5643282" y="5463445"/>
            <a:ext cx="2029665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0">
                <a:solidFill>
                  <a:srgbClr val="12817B"/>
                </a:solidFill>
                <a:latin typeface="Noto Sans CJK SC"/>
                <a:ea typeface="Noto Sans CJK SC"/>
              </a:rPr>
              <a:t>TopK 112 页</a:t>
            </a:r>
            <a:endParaRPr lang="zh-CN" sz="1598"/>
          </a:p>
        </p:txBody>
      </p:sp>
      <p:sp>
        <p:nvSpPr>
          <p:cNvPr id="216" name="native216"/>
          <p:cNvSpPr/>
          <p:nvPr/>
        </p:nvSpPr>
        <p:spPr>
          <a:xfrm>
            <a:off x="5643282" y="5869378"/>
            <a:ext cx="1623732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1">
                <a:solidFill>
                  <a:srgbClr val="32689F"/>
                </a:solidFill>
                <a:latin typeface="Noto Sans CJK SC"/>
                <a:ea typeface="Noto Sans CJK SC"/>
              </a:rPr>
              <a:t>近区：均值</a:t>
            </a:r>
          </a:p>
        </p:txBody>
      </p:sp>
      <p:sp>
        <p:nvSpPr>
          <p:cNvPr id="217" name="native217"/>
          <p:cNvSpPr/>
          <p:nvPr/>
        </p:nvSpPr>
        <p:spPr>
          <a:xfrm>
            <a:off x="5660932" y="6229070"/>
            <a:ext cx="370635" cy="317687"/>
          </a:xfrm>
          <a:prstGeom prst="roundRect">
            <a:avLst/>
          </a:prstGeom>
          <a:solidFill>
            <a:srgbClr val="FFFFFF"/>
          </a:solidFill>
          <a:ln w="15002">
            <a:solidFill>
              <a:srgbClr val="3268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8" name="native218"/>
          <p:cNvSpPr/>
          <p:nvPr/>
        </p:nvSpPr>
        <p:spPr>
          <a:xfrm>
            <a:off x="5705055" y="6273193"/>
            <a:ext cx="70597" cy="88246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9" name="native219"/>
          <p:cNvSpPr/>
          <p:nvPr/>
        </p:nvSpPr>
        <p:spPr>
          <a:xfrm>
            <a:off x="5802126" y="6273193"/>
            <a:ext cx="70597" cy="88246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0" name="native220"/>
          <p:cNvSpPr/>
          <p:nvPr/>
        </p:nvSpPr>
        <p:spPr>
          <a:xfrm>
            <a:off x="5899197" y="6273193"/>
            <a:ext cx="70597" cy="88246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1" name="native221"/>
          <p:cNvSpPr/>
          <p:nvPr/>
        </p:nvSpPr>
        <p:spPr>
          <a:xfrm>
            <a:off x="5705055" y="6387913"/>
            <a:ext cx="70597" cy="88246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2" name="native222"/>
          <p:cNvSpPr/>
          <p:nvPr/>
        </p:nvSpPr>
        <p:spPr>
          <a:xfrm>
            <a:off x="5802126" y="6387913"/>
            <a:ext cx="70597" cy="88246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3" name="native223"/>
          <p:cNvSpPr/>
          <p:nvPr/>
        </p:nvSpPr>
        <p:spPr>
          <a:xfrm>
            <a:off x="5899197" y="6387913"/>
            <a:ext cx="70597" cy="88246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4" name="native224"/>
          <p:cNvSpPr/>
          <p:nvPr/>
        </p:nvSpPr>
        <p:spPr>
          <a:xfrm>
            <a:off x="6163936" y="6229070"/>
            <a:ext cx="370635" cy="317687"/>
          </a:xfrm>
          <a:prstGeom prst="roundRect">
            <a:avLst/>
          </a:prstGeom>
          <a:solidFill>
            <a:srgbClr val="FFFFFF"/>
          </a:solidFill>
          <a:ln w="8825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" name="native225"/>
          <p:cNvSpPr/>
          <p:nvPr/>
        </p:nvSpPr>
        <p:spPr>
          <a:xfrm>
            <a:off x="6208059" y="6273193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6" name="native226"/>
          <p:cNvSpPr/>
          <p:nvPr/>
        </p:nvSpPr>
        <p:spPr>
          <a:xfrm>
            <a:off x="6305130" y="6273193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7" name="native227"/>
          <p:cNvSpPr/>
          <p:nvPr/>
        </p:nvSpPr>
        <p:spPr>
          <a:xfrm>
            <a:off x="6402201" y="6273193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8" name="native228"/>
          <p:cNvSpPr/>
          <p:nvPr/>
        </p:nvSpPr>
        <p:spPr>
          <a:xfrm>
            <a:off x="6208059" y="6387913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9" name="native229"/>
          <p:cNvSpPr/>
          <p:nvPr/>
        </p:nvSpPr>
        <p:spPr>
          <a:xfrm>
            <a:off x="6305130" y="6387913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0" name="native230"/>
          <p:cNvSpPr/>
          <p:nvPr/>
        </p:nvSpPr>
        <p:spPr>
          <a:xfrm>
            <a:off x="6402201" y="6387913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1" name="native231"/>
          <p:cNvSpPr/>
          <p:nvPr/>
        </p:nvSpPr>
        <p:spPr>
          <a:xfrm>
            <a:off x="6666940" y="6229070"/>
            <a:ext cx="370635" cy="317687"/>
          </a:xfrm>
          <a:prstGeom prst="roundRect">
            <a:avLst/>
          </a:prstGeom>
          <a:solidFill>
            <a:srgbClr val="FFFFFF"/>
          </a:solidFill>
          <a:ln w="15002">
            <a:solidFill>
              <a:srgbClr val="3268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" name="native232"/>
          <p:cNvSpPr/>
          <p:nvPr/>
        </p:nvSpPr>
        <p:spPr>
          <a:xfrm>
            <a:off x="6711063" y="6273193"/>
            <a:ext cx="70597" cy="88246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3" name="native233"/>
          <p:cNvSpPr/>
          <p:nvPr/>
        </p:nvSpPr>
        <p:spPr>
          <a:xfrm>
            <a:off x="6808134" y="6273193"/>
            <a:ext cx="70597" cy="88246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4" name="native234"/>
          <p:cNvSpPr/>
          <p:nvPr/>
        </p:nvSpPr>
        <p:spPr>
          <a:xfrm>
            <a:off x="6905205" y="6273193"/>
            <a:ext cx="70597" cy="88246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5" name="native235"/>
          <p:cNvSpPr/>
          <p:nvPr/>
        </p:nvSpPr>
        <p:spPr>
          <a:xfrm>
            <a:off x="6711063" y="6387913"/>
            <a:ext cx="70597" cy="88246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6" name="native236"/>
          <p:cNvSpPr/>
          <p:nvPr/>
        </p:nvSpPr>
        <p:spPr>
          <a:xfrm>
            <a:off x="6808134" y="6387913"/>
            <a:ext cx="70597" cy="88246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7" name="native237"/>
          <p:cNvSpPr/>
          <p:nvPr/>
        </p:nvSpPr>
        <p:spPr>
          <a:xfrm>
            <a:off x="6905205" y="6387913"/>
            <a:ext cx="70597" cy="88246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8" name="native238"/>
          <p:cNvSpPr/>
          <p:nvPr/>
        </p:nvSpPr>
        <p:spPr>
          <a:xfrm>
            <a:off x="7169944" y="6229070"/>
            <a:ext cx="370635" cy="317687"/>
          </a:xfrm>
          <a:prstGeom prst="roundRect">
            <a:avLst/>
          </a:prstGeom>
          <a:solidFill>
            <a:srgbClr val="FFFFFF"/>
          </a:solidFill>
          <a:ln w="8825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9" name="native239"/>
          <p:cNvSpPr/>
          <p:nvPr/>
        </p:nvSpPr>
        <p:spPr>
          <a:xfrm>
            <a:off x="7214067" y="6273193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0" name="native240"/>
          <p:cNvSpPr/>
          <p:nvPr/>
        </p:nvSpPr>
        <p:spPr>
          <a:xfrm>
            <a:off x="7311138" y="6273193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1" name="native241"/>
          <p:cNvSpPr/>
          <p:nvPr/>
        </p:nvSpPr>
        <p:spPr>
          <a:xfrm>
            <a:off x="7408209" y="6273193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2" name="native242"/>
          <p:cNvSpPr/>
          <p:nvPr/>
        </p:nvSpPr>
        <p:spPr>
          <a:xfrm>
            <a:off x="7214067" y="6387913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3" name="native243"/>
          <p:cNvSpPr/>
          <p:nvPr/>
        </p:nvSpPr>
        <p:spPr>
          <a:xfrm>
            <a:off x="7311138" y="6387913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4" name="native244"/>
          <p:cNvSpPr/>
          <p:nvPr/>
        </p:nvSpPr>
        <p:spPr>
          <a:xfrm>
            <a:off x="7408209" y="6387913"/>
            <a:ext cx="70597" cy="88246"/>
          </a:xfrm>
          <a:prstGeom prst="rect">
            <a:avLst/>
          </a:prstGeom>
          <a:solidFill>
            <a:srgbClr val="E6EBE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" name="native245"/>
          <p:cNvSpPr/>
          <p:nvPr/>
        </p:nvSpPr>
        <p:spPr>
          <a:xfrm>
            <a:off x="5643282" y="6620531"/>
            <a:ext cx="2717987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0">
                <a:solidFill>
                  <a:srgbClr val="32689F"/>
                </a:solidFill>
                <a:latin typeface="Noto Sans CJK SC"/>
                <a:ea typeface="Noto Sans CJK SC"/>
              </a:rPr>
              <a:t>TopK 16 页（不扩张）</a:t>
            </a:r>
            <a:endParaRPr lang="zh-CN" sz="1529"/>
          </a:p>
        </p:txBody>
      </p:sp>
      <p:sp>
        <p:nvSpPr>
          <p:cNvPr id="246" name="native246"/>
          <p:cNvSpPr/>
          <p:nvPr/>
        </p:nvSpPr>
        <p:spPr>
          <a:xfrm>
            <a:off x="5643282" y="6920568"/>
            <a:ext cx="1941419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0">
                <a:solidFill>
                  <a:srgbClr val="526777"/>
                </a:solidFill>
                <a:latin typeface="Noto Sans CJK SC"/>
                <a:ea typeface="Noto Sans CJK SC"/>
              </a:rPr>
              <a:t>逐Q评分 → 组均值</a:t>
            </a:r>
            <a:endParaRPr lang="zh-CN" sz="1529"/>
          </a:p>
        </p:txBody>
      </p:sp>
      <p:sp>
        <p:nvSpPr>
          <p:cNvPr id="247" name="native247"/>
          <p:cNvSpPr/>
          <p:nvPr/>
        </p:nvSpPr>
        <p:spPr>
          <a:xfrm>
            <a:off x="8096530" y="4914200"/>
            <a:ext cx="441232" cy="476530"/>
          </a:xfrm>
          <a:custGeom>
            <a:avLst/>
            <a:gdLst/>
            <a:ahLst/>
            <a:cxnLst/>
            <a:rect l="0" t="0" r="r" b="b"/>
            <a:pathLst>
              <a:path w="476250" h="514350" fill="none">
                <a:moveTo>
                  <a:pt x="0" y="514350"/>
                </a:moveTo>
                <a:lnTo>
                  <a:pt x="314325" y="514350"/>
                </a:lnTo>
                <a:lnTo>
                  <a:pt x="314325" y="0"/>
                </a:lnTo>
                <a:lnTo>
                  <a:pt x="476250" y="0"/>
                </a:lnTo>
              </a:path>
            </a:pathLst>
          </a:custGeom>
          <a:noFill/>
          <a:ln w="15884">
            <a:solidFill>
              <a:srgbClr val="12817B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8" name="native248"/>
          <p:cNvSpPr/>
          <p:nvPr/>
        </p:nvSpPr>
        <p:spPr>
          <a:xfrm>
            <a:off x="8096530" y="5161289"/>
            <a:ext cx="441232" cy="1376643"/>
          </a:xfrm>
          <a:custGeom>
            <a:avLst/>
            <a:gdLst/>
            <a:ahLst/>
            <a:cxnLst/>
            <a:rect l="0" t="0" r="r" b="b"/>
            <a:pathLst>
              <a:path w="476250" h="1485900" fill="none">
                <a:moveTo>
                  <a:pt x="0" y="1485900"/>
                </a:moveTo>
                <a:lnTo>
                  <a:pt x="200025" y="1485900"/>
                </a:lnTo>
                <a:lnTo>
                  <a:pt x="200025" y="0"/>
                </a:lnTo>
                <a:lnTo>
                  <a:pt x="476250" y="0"/>
                </a:lnTo>
              </a:path>
            </a:pathLst>
          </a:custGeom>
          <a:noFill/>
          <a:ln w="15884">
            <a:solidFill>
              <a:srgbClr val="32689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9" name="native249"/>
          <p:cNvSpPr/>
          <p:nvPr/>
        </p:nvSpPr>
        <p:spPr>
          <a:xfrm>
            <a:off x="8608359" y="4280944"/>
            <a:ext cx="2232632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1">
                <a:solidFill>
                  <a:srgbClr val="193247"/>
                </a:solidFill>
                <a:latin typeface="Noto Sans CJK SC"/>
                <a:ea typeface="Noto Sans CJK SC"/>
              </a:rPr>
              <a:t>ON：全 S 低维评分</a:t>
            </a:r>
            <a:endParaRPr lang="zh-CN" sz="1598"/>
          </a:p>
        </p:txBody>
      </p:sp>
      <p:sp>
        <p:nvSpPr>
          <p:cNvPr id="250" name="native250"/>
          <p:cNvSpPr/>
          <p:nvPr/>
        </p:nvSpPr>
        <p:spPr>
          <a:xfrm>
            <a:off x="8608359" y="4654755"/>
            <a:ext cx="857250" cy="28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q1</a:t>
            </a:r>
            <a:endParaRPr lang="zh-CN" sz="1390"/>
          </a:p>
        </p:txBody>
      </p:sp>
      <p:sp>
        <p:nvSpPr>
          <p:cNvPr id="251" name="native251"/>
          <p:cNvSpPr/>
          <p:nvPr/>
        </p:nvSpPr>
        <p:spPr>
          <a:xfrm>
            <a:off x="8908396" y="4702408"/>
            <a:ext cx="167668" cy="132369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2" name="native252"/>
          <p:cNvSpPr/>
          <p:nvPr/>
        </p:nvSpPr>
        <p:spPr>
          <a:xfrm>
            <a:off x="9111363" y="4702408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3" name="native253"/>
          <p:cNvSpPr/>
          <p:nvPr/>
        </p:nvSpPr>
        <p:spPr>
          <a:xfrm>
            <a:off x="9314329" y="4702408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4" name="native254"/>
          <p:cNvSpPr/>
          <p:nvPr/>
        </p:nvSpPr>
        <p:spPr>
          <a:xfrm>
            <a:off x="9517296" y="4702408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5" name="native255"/>
          <p:cNvSpPr/>
          <p:nvPr/>
        </p:nvSpPr>
        <p:spPr>
          <a:xfrm>
            <a:off x="9720262" y="4702408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" name="native256"/>
          <p:cNvSpPr/>
          <p:nvPr/>
        </p:nvSpPr>
        <p:spPr>
          <a:xfrm>
            <a:off x="9923229" y="4702408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7" name="native257"/>
          <p:cNvSpPr/>
          <p:nvPr/>
        </p:nvSpPr>
        <p:spPr>
          <a:xfrm>
            <a:off x="10126196" y="4702408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8" name="native258"/>
          <p:cNvSpPr/>
          <p:nvPr/>
        </p:nvSpPr>
        <p:spPr>
          <a:xfrm>
            <a:off x="10329162" y="4702408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9" name="native259"/>
          <p:cNvSpPr/>
          <p:nvPr/>
        </p:nvSpPr>
        <p:spPr>
          <a:xfrm>
            <a:off x="10532129" y="4702408"/>
            <a:ext cx="167668" cy="132369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0" name="native260"/>
          <p:cNvSpPr/>
          <p:nvPr/>
        </p:nvSpPr>
        <p:spPr>
          <a:xfrm>
            <a:off x="10735095" y="4702408"/>
            <a:ext cx="167668" cy="132369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1" name="native261"/>
          <p:cNvSpPr/>
          <p:nvPr/>
        </p:nvSpPr>
        <p:spPr>
          <a:xfrm>
            <a:off x="10938062" y="4702408"/>
            <a:ext cx="167668" cy="132369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2" name="native262"/>
          <p:cNvSpPr/>
          <p:nvPr/>
        </p:nvSpPr>
        <p:spPr>
          <a:xfrm>
            <a:off x="11141028" y="4702408"/>
            <a:ext cx="167668" cy="132369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3" name="native263"/>
          <p:cNvSpPr/>
          <p:nvPr/>
        </p:nvSpPr>
        <p:spPr>
          <a:xfrm>
            <a:off x="8608359" y="4840073"/>
            <a:ext cx="857250" cy="28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q2</a:t>
            </a:r>
            <a:endParaRPr lang="zh-CN" sz="1390"/>
          </a:p>
        </p:txBody>
      </p:sp>
      <p:sp>
        <p:nvSpPr>
          <p:cNvPr id="264" name="native264"/>
          <p:cNvSpPr/>
          <p:nvPr/>
        </p:nvSpPr>
        <p:spPr>
          <a:xfrm>
            <a:off x="8908396" y="4887726"/>
            <a:ext cx="167668" cy="132369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" name="native265"/>
          <p:cNvSpPr/>
          <p:nvPr/>
        </p:nvSpPr>
        <p:spPr>
          <a:xfrm>
            <a:off x="9111363" y="4887726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" name="native266"/>
          <p:cNvSpPr/>
          <p:nvPr/>
        </p:nvSpPr>
        <p:spPr>
          <a:xfrm>
            <a:off x="9314329" y="4887726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7" name="native267"/>
          <p:cNvSpPr/>
          <p:nvPr/>
        </p:nvSpPr>
        <p:spPr>
          <a:xfrm>
            <a:off x="9517296" y="4887726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8" name="native268"/>
          <p:cNvSpPr/>
          <p:nvPr/>
        </p:nvSpPr>
        <p:spPr>
          <a:xfrm>
            <a:off x="9720262" y="4887726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9" name="native269"/>
          <p:cNvSpPr/>
          <p:nvPr/>
        </p:nvSpPr>
        <p:spPr>
          <a:xfrm>
            <a:off x="9923229" y="4887726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0" name="native270"/>
          <p:cNvSpPr/>
          <p:nvPr/>
        </p:nvSpPr>
        <p:spPr>
          <a:xfrm>
            <a:off x="10126196" y="4887726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1" name="native271"/>
          <p:cNvSpPr/>
          <p:nvPr/>
        </p:nvSpPr>
        <p:spPr>
          <a:xfrm>
            <a:off x="10329162" y="4887726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2" name="native272"/>
          <p:cNvSpPr/>
          <p:nvPr/>
        </p:nvSpPr>
        <p:spPr>
          <a:xfrm>
            <a:off x="10532129" y="4887726"/>
            <a:ext cx="167668" cy="132369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3" name="native273"/>
          <p:cNvSpPr/>
          <p:nvPr/>
        </p:nvSpPr>
        <p:spPr>
          <a:xfrm>
            <a:off x="10735095" y="4887726"/>
            <a:ext cx="167668" cy="132369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4" name="native274"/>
          <p:cNvSpPr/>
          <p:nvPr/>
        </p:nvSpPr>
        <p:spPr>
          <a:xfrm>
            <a:off x="10938062" y="4887726"/>
            <a:ext cx="167668" cy="132369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5" name="native275"/>
          <p:cNvSpPr/>
          <p:nvPr/>
        </p:nvSpPr>
        <p:spPr>
          <a:xfrm>
            <a:off x="11141028" y="4887726"/>
            <a:ext cx="167668" cy="132369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" name="native276"/>
          <p:cNvSpPr/>
          <p:nvPr/>
        </p:nvSpPr>
        <p:spPr>
          <a:xfrm>
            <a:off x="8608359" y="5025390"/>
            <a:ext cx="857250" cy="28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q3</a:t>
            </a:r>
            <a:endParaRPr lang="zh-CN" sz="1390"/>
          </a:p>
        </p:txBody>
      </p:sp>
      <p:sp>
        <p:nvSpPr>
          <p:cNvPr id="277" name="native277"/>
          <p:cNvSpPr/>
          <p:nvPr/>
        </p:nvSpPr>
        <p:spPr>
          <a:xfrm>
            <a:off x="8908396" y="5073043"/>
            <a:ext cx="167668" cy="132369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8" name="native278"/>
          <p:cNvSpPr/>
          <p:nvPr/>
        </p:nvSpPr>
        <p:spPr>
          <a:xfrm>
            <a:off x="9111363" y="5073043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9" name="native279"/>
          <p:cNvSpPr/>
          <p:nvPr/>
        </p:nvSpPr>
        <p:spPr>
          <a:xfrm>
            <a:off x="9314329" y="5073043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0" name="native280"/>
          <p:cNvSpPr/>
          <p:nvPr/>
        </p:nvSpPr>
        <p:spPr>
          <a:xfrm>
            <a:off x="9517296" y="5073043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1" name="native281"/>
          <p:cNvSpPr/>
          <p:nvPr/>
        </p:nvSpPr>
        <p:spPr>
          <a:xfrm>
            <a:off x="9720262" y="5073043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2" name="native282"/>
          <p:cNvSpPr/>
          <p:nvPr/>
        </p:nvSpPr>
        <p:spPr>
          <a:xfrm>
            <a:off x="9923229" y="5073043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3" name="native283"/>
          <p:cNvSpPr/>
          <p:nvPr/>
        </p:nvSpPr>
        <p:spPr>
          <a:xfrm>
            <a:off x="10126196" y="5073043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4" name="native284"/>
          <p:cNvSpPr/>
          <p:nvPr/>
        </p:nvSpPr>
        <p:spPr>
          <a:xfrm>
            <a:off x="10329162" y="5073043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5" name="native285"/>
          <p:cNvSpPr/>
          <p:nvPr/>
        </p:nvSpPr>
        <p:spPr>
          <a:xfrm>
            <a:off x="10532129" y="5073043"/>
            <a:ext cx="167668" cy="132369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" name="native286"/>
          <p:cNvSpPr/>
          <p:nvPr/>
        </p:nvSpPr>
        <p:spPr>
          <a:xfrm>
            <a:off x="10735095" y="5073043"/>
            <a:ext cx="167668" cy="132369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7" name="native287"/>
          <p:cNvSpPr/>
          <p:nvPr/>
        </p:nvSpPr>
        <p:spPr>
          <a:xfrm>
            <a:off x="10938062" y="5073043"/>
            <a:ext cx="167668" cy="132369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8" name="native288"/>
          <p:cNvSpPr/>
          <p:nvPr/>
        </p:nvSpPr>
        <p:spPr>
          <a:xfrm>
            <a:off x="11141028" y="5073043"/>
            <a:ext cx="167668" cy="132369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" name="native289"/>
          <p:cNvSpPr/>
          <p:nvPr/>
        </p:nvSpPr>
        <p:spPr>
          <a:xfrm>
            <a:off x="8608359" y="5210707"/>
            <a:ext cx="857250" cy="282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q4</a:t>
            </a:r>
            <a:endParaRPr lang="zh-CN" sz="1390"/>
          </a:p>
        </p:txBody>
      </p:sp>
      <p:sp>
        <p:nvSpPr>
          <p:cNvPr id="290" name="native290"/>
          <p:cNvSpPr/>
          <p:nvPr/>
        </p:nvSpPr>
        <p:spPr>
          <a:xfrm>
            <a:off x="8908396" y="5258360"/>
            <a:ext cx="167668" cy="132369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1" name="native291"/>
          <p:cNvSpPr/>
          <p:nvPr/>
        </p:nvSpPr>
        <p:spPr>
          <a:xfrm>
            <a:off x="9111363" y="5258360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2" name="native292"/>
          <p:cNvSpPr/>
          <p:nvPr/>
        </p:nvSpPr>
        <p:spPr>
          <a:xfrm>
            <a:off x="9314329" y="5258360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3" name="native293"/>
          <p:cNvSpPr/>
          <p:nvPr/>
        </p:nvSpPr>
        <p:spPr>
          <a:xfrm>
            <a:off x="9517296" y="5258360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4" name="native294"/>
          <p:cNvSpPr/>
          <p:nvPr/>
        </p:nvSpPr>
        <p:spPr>
          <a:xfrm>
            <a:off x="9720262" y="5258360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" name="native295"/>
          <p:cNvSpPr/>
          <p:nvPr/>
        </p:nvSpPr>
        <p:spPr>
          <a:xfrm>
            <a:off x="9923229" y="5258360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6" name="native296"/>
          <p:cNvSpPr/>
          <p:nvPr/>
        </p:nvSpPr>
        <p:spPr>
          <a:xfrm>
            <a:off x="10126196" y="5258360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" name="native297"/>
          <p:cNvSpPr/>
          <p:nvPr/>
        </p:nvSpPr>
        <p:spPr>
          <a:xfrm>
            <a:off x="10329162" y="5258360"/>
            <a:ext cx="167668" cy="132369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8" name="native298"/>
          <p:cNvSpPr/>
          <p:nvPr/>
        </p:nvSpPr>
        <p:spPr>
          <a:xfrm>
            <a:off x="10532129" y="5258360"/>
            <a:ext cx="167668" cy="132369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9" name="native299"/>
          <p:cNvSpPr/>
          <p:nvPr/>
        </p:nvSpPr>
        <p:spPr>
          <a:xfrm>
            <a:off x="10735095" y="5258360"/>
            <a:ext cx="167668" cy="132369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0" name="native300"/>
          <p:cNvSpPr/>
          <p:nvPr/>
        </p:nvSpPr>
        <p:spPr>
          <a:xfrm>
            <a:off x="10938062" y="5258360"/>
            <a:ext cx="167668" cy="132369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1" name="native301"/>
          <p:cNvSpPr/>
          <p:nvPr/>
        </p:nvSpPr>
        <p:spPr>
          <a:xfrm>
            <a:off x="11141028" y="5258360"/>
            <a:ext cx="167668" cy="132369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2" name="native302"/>
          <p:cNvSpPr/>
          <p:nvPr/>
        </p:nvSpPr>
        <p:spPr>
          <a:xfrm>
            <a:off x="8608359" y="5473328"/>
            <a:ext cx="3882838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1">
                <a:solidFill>
                  <a:srgbClr val="193247"/>
                </a:solidFill>
                <a:latin typeface="Noto Sans CJK SC"/>
                <a:ea typeface="Noto Sans CJK SC"/>
              </a:rPr>
              <a:t>L1 掩码 → 逐Q softmax</a:t>
            </a:r>
          </a:p>
        </p:txBody>
      </p:sp>
      <p:sp>
        <p:nvSpPr>
          <p:cNvPr id="303" name="native303"/>
          <p:cNvSpPr/>
          <p:nvPr/>
        </p:nvSpPr>
        <p:spPr>
          <a:xfrm>
            <a:off x="8608359" y="5773366"/>
            <a:ext cx="1553135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1">
                <a:solidFill>
                  <a:srgbClr val="193247"/>
                </a:solidFill>
                <a:latin typeface="Noto Sans CJK SC"/>
                <a:ea typeface="Noto Sans CJK SC"/>
              </a:rPr>
              <a:t>→ GQA组均值</a:t>
            </a:r>
            <a:endParaRPr lang="zh-CN" sz="1529"/>
          </a:p>
        </p:txBody>
      </p:sp>
      <p:sp>
        <p:nvSpPr>
          <p:cNvPr id="306" name="native306"/>
          <p:cNvSpPr/>
          <p:nvPr/>
        </p:nvSpPr>
        <p:spPr>
          <a:xfrm>
            <a:off x="8608359" y="6178240"/>
            <a:ext cx="2435599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1">
                <a:solidFill>
                  <a:srgbClr val="12817B"/>
                </a:solidFill>
                <a:latin typeface="Noto Sans CJK SC"/>
                <a:ea typeface="Noto Sans CJK SC"/>
              </a:rPr>
              <a:t>远区名义配额：252</a:t>
            </a:r>
          </a:p>
        </p:txBody>
      </p:sp>
      <p:sp>
        <p:nvSpPr>
          <p:cNvPr id="307" name="native307"/>
          <p:cNvSpPr/>
          <p:nvPr/>
        </p:nvSpPr>
        <p:spPr>
          <a:xfrm>
            <a:off x="8608359" y="6573231"/>
            <a:ext cx="176493" cy="176493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" name="native308"/>
          <p:cNvSpPr/>
          <p:nvPr/>
        </p:nvSpPr>
        <p:spPr>
          <a:xfrm>
            <a:off x="8828975" y="6573231"/>
            <a:ext cx="176493" cy="176493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" name="native309"/>
          <p:cNvSpPr/>
          <p:nvPr/>
        </p:nvSpPr>
        <p:spPr>
          <a:xfrm>
            <a:off x="9049590" y="6573231"/>
            <a:ext cx="176493" cy="176493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0" name="native310"/>
          <p:cNvSpPr/>
          <p:nvPr/>
        </p:nvSpPr>
        <p:spPr>
          <a:xfrm>
            <a:off x="9270206" y="6573231"/>
            <a:ext cx="176493" cy="176493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1" name="native311"/>
          <p:cNvSpPr/>
          <p:nvPr/>
        </p:nvSpPr>
        <p:spPr>
          <a:xfrm>
            <a:off x="8608359" y="6884211"/>
            <a:ext cx="2638565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1">
                <a:solidFill>
                  <a:srgbClr val="32689F"/>
                </a:solidFill>
                <a:latin typeface="Noto Sans CJK SC"/>
                <a:ea typeface="Noto Sans CJK SC"/>
              </a:rPr>
              <a:t>近区 TopK：640</a:t>
            </a:r>
          </a:p>
        </p:txBody>
      </p:sp>
      <p:sp>
        <p:nvSpPr>
          <p:cNvPr id="312" name="native312"/>
          <p:cNvSpPr/>
          <p:nvPr/>
        </p:nvSpPr>
        <p:spPr>
          <a:xfrm>
            <a:off x="8608359" y="7243903"/>
            <a:ext cx="176493" cy="176493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3" name="native313"/>
          <p:cNvSpPr/>
          <p:nvPr/>
        </p:nvSpPr>
        <p:spPr>
          <a:xfrm>
            <a:off x="8828975" y="7243903"/>
            <a:ext cx="176493" cy="176493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4" name="native314"/>
          <p:cNvSpPr/>
          <p:nvPr/>
        </p:nvSpPr>
        <p:spPr>
          <a:xfrm>
            <a:off x="9049590" y="7243903"/>
            <a:ext cx="176493" cy="176493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5" name="native315"/>
          <p:cNvSpPr/>
          <p:nvPr/>
        </p:nvSpPr>
        <p:spPr>
          <a:xfrm>
            <a:off x="9270206" y="7243903"/>
            <a:ext cx="176493" cy="176493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6" name="native316"/>
          <p:cNvSpPr/>
          <p:nvPr/>
        </p:nvSpPr>
        <p:spPr>
          <a:xfrm>
            <a:off x="9490822" y="7243903"/>
            <a:ext cx="176493" cy="176493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" name="native317"/>
          <p:cNvSpPr/>
          <p:nvPr/>
        </p:nvSpPr>
        <p:spPr>
          <a:xfrm>
            <a:off x="9711438" y="7243903"/>
            <a:ext cx="176493" cy="176493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8" name="native318"/>
          <p:cNvSpPr/>
          <p:nvPr/>
        </p:nvSpPr>
        <p:spPr>
          <a:xfrm>
            <a:off x="9932054" y="7243903"/>
            <a:ext cx="176493" cy="176493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9" name="native319"/>
          <p:cNvSpPr/>
          <p:nvPr/>
        </p:nvSpPr>
        <p:spPr>
          <a:xfrm>
            <a:off x="10152669" y="7243903"/>
            <a:ext cx="176493" cy="176493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0" name="native320"/>
          <p:cNvSpPr/>
          <p:nvPr/>
        </p:nvSpPr>
        <p:spPr>
          <a:xfrm>
            <a:off x="10200000" y="7111533"/>
            <a:ext cx="1900000" cy="343279"/>
          </a:xfrm>
          <a:prstGeom prst="roundRect">
            <a:avLst/>
          </a:prstGeom>
          <a:solidFill>
            <a:srgbClr val="EEF4FA"/>
          </a:solidFill>
          <a:ln w="11472">
            <a:solidFill>
              <a:srgbClr val="3268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1" name="native321"/>
          <p:cNvSpPr/>
          <p:nvPr/>
        </p:nvSpPr>
        <p:spPr>
          <a:xfrm>
            <a:off x="10223267" y="7164128"/>
            <a:ext cx="1800225" cy="2400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32689F"/>
                </a:solidFill>
                <a:latin typeface="Noto Sans CJK SC"/>
                <a:ea typeface="Noto Sans CJK SC"/>
              </a:rPr>
              <a:t>仅L2：近区≤892</a:t>
            </a:r>
          </a:p>
        </p:txBody>
      </p:sp>
      <p:sp>
        <p:nvSpPr>
          <p:cNvPr id="322" name="native322"/>
          <p:cNvSpPr/>
          <p:nvPr/>
        </p:nvSpPr>
        <p:spPr>
          <a:xfrm>
            <a:off x="10364461" y="7288026"/>
            <a:ext cx="70597" cy="882"/>
          </a:xfrm>
          <a:custGeom>
            <a:avLst/>
            <a:gdLst/>
            <a:ahLst/>
            <a:cxnLst/>
            <a:rect l="0" t="0" r="r" b="b"/>
            <a:pathLst>
              <a:path w="76200" h="952" fill="none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/>
          <a:ln w="15884">
            <a:solidFill>
              <a:srgbClr val="32689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3" name="native323"/>
          <p:cNvSpPr/>
          <p:nvPr/>
        </p:nvSpPr>
        <p:spPr>
          <a:xfrm>
            <a:off x="11467540" y="6687951"/>
            <a:ext cx="352985" cy="882"/>
          </a:xfrm>
          <a:custGeom>
            <a:avLst/>
            <a:gdLst/>
            <a:ahLst/>
            <a:cxnLst/>
            <a:rect l="0" t="0" r="r" b="b"/>
            <a:pathLst>
              <a:path w="381000" h="952" fill="none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7649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4" name="native324"/>
          <p:cNvSpPr/>
          <p:nvPr/>
        </p:nvSpPr>
        <p:spPr>
          <a:xfrm>
            <a:off x="11944070" y="4202581"/>
            <a:ext cx="3494554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1">
                <a:solidFill>
                  <a:srgbClr val="193247"/>
                </a:solidFill>
                <a:latin typeface="Noto Sans CJK SC"/>
                <a:ea typeface="Noto Sans CJK SC"/>
              </a:rPr>
              <a:t>Sₕ = I_F ∪ I_N ∪ P</a:t>
            </a:r>
            <a:endParaRPr lang="zh-CN" sz="1529"/>
          </a:p>
        </p:txBody>
      </p:sp>
      <p:sp>
        <p:nvSpPr>
          <p:cNvPr id="325" name="native325"/>
          <p:cNvSpPr/>
          <p:nvPr/>
        </p:nvSpPr>
        <p:spPr>
          <a:xfrm>
            <a:off x="11944070" y="4614162"/>
            <a:ext cx="167668" cy="185317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6" name="native326"/>
          <p:cNvSpPr/>
          <p:nvPr/>
        </p:nvSpPr>
        <p:spPr>
          <a:xfrm>
            <a:off x="12164686" y="4614162"/>
            <a:ext cx="167668" cy="185317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" name="native327"/>
          <p:cNvSpPr/>
          <p:nvPr/>
        </p:nvSpPr>
        <p:spPr>
          <a:xfrm>
            <a:off x="12385301" y="4614162"/>
            <a:ext cx="167668" cy="185317"/>
          </a:xfrm>
          <a:prstGeom prst="rect">
            <a:avLst/>
          </a:prstGeom>
          <a:solidFill>
            <a:srgbClr val="12817B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8" name="native328"/>
          <p:cNvSpPr/>
          <p:nvPr/>
        </p:nvSpPr>
        <p:spPr>
          <a:xfrm>
            <a:off x="12605917" y="4614162"/>
            <a:ext cx="167668" cy="185317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9" name="native329"/>
          <p:cNvSpPr/>
          <p:nvPr/>
        </p:nvSpPr>
        <p:spPr>
          <a:xfrm>
            <a:off x="12826533" y="4614162"/>
            <a:ext cx="167668" cy="185317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0" name="native330"/>
          <p:cNvSpPr/>
          <p:nvPr/>
        </p:nvSpPr>
        <p:spPr>
          <a:xfrm>
            <a:off x="13047149" y="4614162"/>
            <a:ext cx="167668" cy="185317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1" name="native331"/>
          <p:cNvSpPr/>
          <p:nvPr/>
        </p:nvSpPr>
        <p:spPr>
          <a:xfrm>
            <a:off x="13267765" y="4614162"/>
            <a:ext cx="167668" cy="185317"/>
          </a:xfrm>
          <a:prstGeom prst="rect">
            <a:avLst/>
          </a:prstGeom>
          <a:solidFill>
            <a:srgbClr val="32689F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2" name="native332"/>
          <p:cNvSpPr/>
          <p:nvPr/>
        </p:nvSpPr>
        <p:spPr>
          <a:xfrm>
            <a:off x="13488381" y="4614162"/>
            <a:ext cx="167668" cy="185317"/>
          </a:xfrm>
          <a:prstGeom prst="rect">
            <a:avLst/>
          </a:prstGeom>
          <a:solidFill>
            <a:srgbClr val="727E87"/>
          </a:solidFill>
          <a:ln w="88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3" name="native333"/>
          <p:cNvSpPr/>
          <p:nvPr/>
        </p:nvSpPr>
        <p:spPr>
          <a:xfrm>
            <a:off x="11944070" y="4907493"/>
            <a:ext cx="2029665" cy="3247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98" b="1">
                <a:solidFill>
                  <a:srgbClr val="193247"/>
                </a:solidFill>
                <a:latin typeface="Noto Sans CJK SC"/>
                <a:ea typeface="Noto Sans CJK SC"/>
              </a:rPr>
              <a:t>按词元索引读取原始KV</a:t>
            </a:r>
          </a:p>
        </p:txBody>
      </p:sp>
      <p:sp>
        <p:nvSpPr>
          <p:cNvPr id="334" name="native334"/>
          <p:cNvSpPr/>
          <p:nvPr/>
        </p:nvSpPr>
        <p:spPr>
          <a:xfrm>
            <a:off x="11944070" y="5429205"/>
            <a:ext cx="857250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1">
                <a:solidFill>
                  <a:srgbClr val="193247"/>
                </a:solidFill>
                <a:latin typeface="Noto Sans CJK SC"/>
                <a:ea typeface="Noto Sans CJK SC"/>
              </a:rPr>
              <a:t>q1</a:t>
            </a:r>
            <a:endParaRPr lang="zh-CN" sz="1529"/>
          </a:p>
        </p:txBody>
      </p:sp>
      <p:sp>
        <p:nvSpPr>
          <p:cNvPr id="335" name="native335"/>
          <p:cNvSpPr/>
          <p:nvPr/>
        </p:nvSpPr>
        <p:spPr>
          <a:xfrm>
            <a:off x="12252932" y="5567222"/>
            <a:ext cx="220616" cy="882"/>
          </a:xfrm>
          <a:custGeom>
            <a:avLst/>
            <a:gdLst/>
            <a:ahLst/>
            <a:cxnLst/>
            <a:rect l="0" t="0" r="r" b="b"/>
            <a:pathLst>
              <a:path w="238125" h="952" fill="none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3237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6" name="native336"/>
          <p:cNvSpPr/>
          <p:nvPr/>
        </p:nvSpPr>
        <p:spPr>
          <a:xfrm>
            <a:off x="12508846" y="5461327"/>
            <a:ext cx="838340" cy="264739"/>
          </a:xfrm>
          <a:prstGeom prst="rect">
            <a:avLst/>
          </a:prstGeom>
          <a:solidFill>
            <a:srgbClr val="F3F6F8"/>
          </a:solidFill>
          <a:ln w="706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7" name="native337"/>
          <p:cNvSpPr/>
          <p:nvPr/>
        </p:nvSpPr>
        <p:spPr>
          <a:xfrm>
            <a:off x="12503804" y="5447913"/>
            <a:ext cx="857250" cy="2965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D128</a:t>
            </a:r>
            <a:endParaRPr lang="zh-CN" sz="1459"/>
          </a:p>
        </p:txBody>
      </p:sp>
      <p:sp>
        <p:nvSpPr>
          <p:cNvPr id="338" name="native338"/>
          <p:cNvSpPr/>
          <p:nvPr/>
        </p:nvSpPr>
        <p:spPr>
          <a:xfrm>
            <a:off x="13391310" y="5567222"/>
            <a:ext cx="150019" cy="882"/>
          </a:xfrm>
          <a:custGeom>
            <a:avLst/>
            <a:gdLst/>
            <a:ahLst/>
            <a:cxnLst/>
            <a:rect l="0" t="0" r="r" b="b"/>
            <a:pathLst>
              <a:path w="161925" h="952" fill="none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3237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9" name="native339"/>
          <p:cNvSpPr/>
          <p:nvPr/>
        </p:nvSpPr>
        <p:spPr>
          <a:xfrm>
            <a:off x="13576627" y="5429205"/>
            <a:ext cx="857250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1">
                <a:solidFill>
                  <a:srgbClr val="193247"/>
                </a:solidFill>
                <a:latin typeface="Noto Sans CJK SC"/>
                <a:ea typeface="Noto Sans CJK SC"/>
              </a:rPr>
              <a:t>o1</a:t>
            </a:r>
            <a:endParaRPr lang="zh-CN" sz="1529"/>
          </a:p>
        </p:txBody>
      </p:sp>
      <p:sp>
        <p:nvSpPr>
          <p:cNvPr id="340" name="native340"/>
          <p:cNvSpPr/>
          <p:nvPr/>
        </p:nvSpPr>
        <p:spPr>
          <a:xfrm>
            <a:off x="11944070" y="5852788"/>
            <a:ext cx="857250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1">
                <a:solidFill>
                  <a:srgbClr val="193247"/>
                </a:solidFill>
                <a:latin typeface="Noto Sans CJK SC"/>
                <a:ea typeface="Noto Sans CJK SC"/>
              </a:rPr>
              <a:t>q2</a:t>
            </a:r>
            <a:endParaRPr lang="zh-CN" sz="1529"/>
          </a:p>
        </p:txBody>
      </p:sp>
      <p:sp>
        <p:nvSpPr>
          <p:cNvPr id="341" name="native341"/>
          <p:cNvSpPr/>
          <p:nvPr/>
        </p:nvSpPr>
        <p:spPr>
          <a:xfrm>
            <a:off x="12252932" y="5990805"/>
            <a:ext cx="220616" cy="882"/>
          </a:xfrm>
          <a:custGeom>
            <a:avLst/>
            <a:gdLst/>
            <a:ahLst/>
            <a:cxnLst/>
            <a:rect l="0" t="0" r="r" b="b"/>
            <a:pathLst>
              <a:path w="238125" h="952" fill="none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3237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2" name="native342"/>
          <p:cNvSpPr/>
          <p:nvPr/>
        </p:nvSpPr>
        <p:spPr>
          <a:xfrm>
            <a:off x="12508846" y="5884909"/>
            <a:ext cx="838340" cy="264739"/>
          </a:xfrm>
          <a:prstGeom prst="rect">
            <a:avLst/>
          </a:prstGeom>
          <a:solidFill>
            <a:srgbClr val="F3F6F8"/>
          </a:solidFill>
          <a:ln w="706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3" name="native343"/>
          <p:cNvSpPr/>
          <p:nvPr/>
        </p:nvSpPr>
        <p:spPr>
          <a:xfrm>
            <a:off x="12503804" y="5871496"/>
            <a:ext cx="857250" cy="2965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D128</a:t>
            </a:r>
            <a:endParaRPr lang="zh-CN" sz="1459"/>
          </a:p>
        </p:txBody>
      </p:sp>
      <p:sp>
        <p:nvSpPr>
          <p:cNvPr id="344" name="native344"/>
          <p:cNvSpPr/>
          <p:nvPr/>
        </p:nvSpPr>
        <p:spPr>
          <a:xfrm>
            <a:off x="13391310" y="5990805"/>
            <a:ext cx="150019" cy="882"/>
          </a:xfrm>
          <a:custGeom>
            <a:avLst/>
            <a:gdLst/>
            <a:ahLst/>
            <a:cxnLst/>
            <a:rect l="0" t="0" r="r" b="b"/>
            <a:pathLst>
              <a:path w="161925" h="952" fill="none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3237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5" name="native345"/>
          <p:cNvSpPr/>
          <p:nvPr/>
        </p:nvSpPr>
        <p:spPr>
          <a:xfrm>
            <a:off x="13576627" y="5852788"/>
            <a:ext cx="857250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1">
                <a:solidFill>
                  <a:srgbClr val="193247"/>
                </a:solidFill>
                <a:latin typeface="Noto Sans CJK SC"/>
                <a:ea typeface="Noto Sans CJK SC"/>
              </a:rPr>
              <a:t>o2</a:t>
            </a:r>
            <a:endParaRPr lang="zh-CN" sz="1529"/>
          </a:p>
        </p:txBody>
      </p:sp>
      <p:sp>
        <p:nvSpPr>
          <p:cNvPr id="346" name="native346"/>
          <p:cNvSpPr/>
          <p:nvPr/>
        </p:nvSpPr>
        <p:spPr>
          <a:xfrm>
            <a:off x="11944070" y="6276370"/>
            <a:ext cx="857250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1">
                <a:solidFill>
                  <a:srgbClr val="193247"/>
                </a:solidFill>
                <a:latin typeface="Noto Sans CJK SC"/>
                <a:ea typeface="Noto Sans CJK SC"/>
              </a:rPr>
              <a:t>q3</a:t>
            </a:r>
            <a:endParaRPr lang="zh-CN" sz="1529"/>
          </a:p>
        </p:txBody>
      </p:sp>
      <p:sp>
        <p:nvSpPr>
          <p:cNvPr id="347" name="native347"/>
          <p:cNvSpPr/>
          <p:nvPr/>
        </p:nvSpPr>
        <p:spPr>
          <a:xfrm>
            <a:off x="12252932" y="6414387"/>
            <a:ext cx="220616" cy="882"/>
          </a:xfrm>
          <a:custGeom>
            <a:avLst/>
            <a:gdLst/>
            <a:ahLst/>
            <a:cxnLst/>
            <a:rect l="0" t="0" r="r" b="b"/>
            <a:pathLst>
              <a:path w="238125" h="952" fill="none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3237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" name="native348"/>
          <p:cNvSpPr/>
          <p:nvPr/>
        </p:nvSpPr>
        <p:spPr>
          <a:xfrm>
            <a:off x="12508846" y="6308492"/>
            <a:ext cx="838340" cy="264739"/>
          </a:xfrm>
          <a:prstGeom prst="rect">
            <a:avLst/>
          </a:prstGeom>
          <a:solidFill>
            <a:srgbClr val="F3F6F8"/>
          </a:solidFill>
          <a:ln w="706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9" name="native349"/>
          <p:cNvSpPr/>
          <p:nvPr/>
        </p:nvSpPr>
        <p:spPr>
          <a:xfrm>
            <a:off x="12503804" y="6295078"/>
            <a:ext cx="857250" cy="2965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D128</a:t>
            </a:r>
            <a:endParaRPr lang="zh-CN" sz="1459"/>
          </a:p>
        </p:txBody>
      </p:sp>
      <p:sp>
        <p:nvSpPr>
          <p:cNvPr id="350" name="native350"/>
          <p:cNvSpPr/>
          <p:nvPr/>
        </p:nvSpPr>
        <p:spPr>
          <a:xfrm>
            <a:off x="13391310" y="6414387"/>
            <a:ext cx="150019" cy="882"/>
          </a:xfrm>
          <a:custGeom>
            <a:avLst/>
            <a:gdLst/>
            <a:ahLst/>
            <a:cxnLst/>
            <a:rect l="0" t="0" r="r" b="b"/>
            <a:pathLst>
              <a:path w="161925" h="952" fill="none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3237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1" name="native351"/>
          <p:cNvSpPr/>
          <p:nvPr/>
        </p:nvSpPr>
        <p:spPr>
          <a:xfrm>
            <a:off x="13576627" y="6276370"/>
            <a:ext cx="857250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1">
                <a:solidFill>
                  <a:srgbClr val="193247"/>
                </a:solidFill>
                <a:latin typeface="Noto Sans CJK SC"/>
                <a:ea typeface="Noto Sans CJK SC"/>
              </a:rPr>
              <a:t>o3</a:t>
            </a:r>
            <a:endParaRPr lang="zh-CN" sz="1529"/>
          </a:p>
        </p:txBody>
      </p:sp>
      <p:sp>
        <p:nvSpPr>
          <p:cNvPr id="352" name="native352"/>
          <p:cNvSpPr/>
          <p:nvPr/>
        </p:nvSpPr>
        <p:spPr>
          <a:xfrm>
            <a:off x="11944070" y="6699952"/>
            <a:ext cx="857250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1">
                <a:solidFill>
                  <a:srgbClr val="193247"/>
                </a:solidFill>
                <a:latin typeface="Noto Sans CJK SC"/>
                <a:ea typeface="Noto Sans CJK SC"/>
              </a:rPr>
              <a:t>q4</a:t>
            </a:r>
            <a:endParaRPr lang="zh-CN" sz="1529"/>
          </a:p>
        </p:txBody>
      </p:sp>
      <p:sp>
        <p:nvSpPr>
          <p:cNvPr id="353" name="native353"/>
          <p:cNvSpPr/>
          <p:nvPr/>
        </p:nvSpPr>
        <p:spPr>
          <a:xfrm>
            <a:off x="12252932" y="6837969"/>
            <a:ext cx="220616" cy="882"/>
          </a:xfrm>
          <a:custGeom>
            <a:avLst/>
            <a:gdLst/>
            <a:ahLst/>
            <a:cxnLst/>
            <a:rect l="0" t="0" r="r" b="b"/>
            <a:pathLst>
              <a:path w="238125" h="952" fill="none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3237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4" name="native354"/>
          <p:cNvSpPr/>
          <p:nvPr/>
        </p:nvSpPr>
        <p:spPr>
          <a:xfrm>
            <a:off x="12508846" y="6732074"/>
            <a:ext cx="838340" cy="264739"/>
          </a:xfrm>
          <a:prstGeom prst="rect">
            <a:avLst/>
          </a:prstGeom>
          <a:solidFill>
            <a:srgbClr val="F3F6F8"/>
          </a:solidFill>
          <a:ln w="706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5" name="native355"/>
          <p:cNvSpPr/>
          <p:nvPr/>
        </p:nvSpPr>
        <p:spPr>
          <a:xfrm>
            <a:off x="12503804" y="6718660"/>
            <a:ext cx="857250" cy="2965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D128</a:t>
            </a:r>
            <a:endParaRPr lang="zh-CN" sz="1459"/>
          </a:p>
        </p:txBody>
      </p:sp>
      <p:sp>
        <p:nvSpPr>
          <p:cNvPr id="356" name="native356"/>
          <p:cNvSpPr/>
          <p:nvPr/>
        </p:nvSpPr>
        <p:spPr>
          <a:xfrm>
            <a:off x="13391310" y="6837969"/>
            <a:ext cx="150019" cy="882"/>
          </a:xfrm>
          <a:custGeom>
            <a:avLst/>
            <a:gdLst/>
            <a:ahLst/>
            <a:cxnLst/>
            <a:rect l="0" t="0" r="r" b="b"/>
            <a:pathLst>
              <a:path w="161925" h="952" fill="none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3237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7" name="native357"/>
          <p:cNvSpPr/>
          <p:nvPr/>
        </p:nvSpPr>
        <p:spPr>
          <a:xfrm>
            <a:off x="13576627" y="6699952"/>
            <a:ext cx="857250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1">
                <a:solidFill>
                  <a:srgbClr val="193247"/>
                </a:solidFill>
                <a:latin typeface="Noto Sans CJK SC"/>
                <a:ea typeface="Noto Sans CJK SC"/>
              </a:rPr>
              <a:t>o4</a:t>
            </a:r>
            <a:endParaRPr lang="zh-CN" sz="1529"/>
          </a:p>
        </p:txBody>
      </p:sp>
      <p:sp>
        <p:nvSpPr>
          <p:cNvPr id="358" name="native358"/>
          <p:cNvSpPr/>
          <p:nvPr/>
        </p:nvSpPr>
        <p:spPr>
          <a:xfrm>
            <a:off x="11469057" y="7674236"/>
            <a:ext cx="2523845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0" dirty="0">
                <a:solidFill>
                  <a:srgbClr val="526777"/>
                </a:solidFill>
                <a:latin typeface="Noto Sans CJK SC"/>
                <a:ea typeface="Noto Sans CJK SC"/>
              </a:rPr>
              <a:t>每Q独立注意力</a:t>
            </a:r>
          </a:p>
        </p:txBody>
      </p:sp>
      <p:sp>
        <p:nvSpPr>
          <p:cNvPr id="359" name="native359"/>
          <p:cNvSpPr/>
          <p:nvPr/>
        </p:nvSpPr>
        <p:spPr>
          <a:xfrm>
            <a:off x="1928112" y="6837969"/>
            <a:ext cx="10889596" cy="785392"/>
          </a:xfrm>
          <a:custGeom>
            <a:avLst/>
            <a:gdLst/>
            <a:ahLst/>
            <a:cxnLst/>
            <a:rect l="0" t="0" r="r" b="b"/>
            <a:pathLst>
              <a:path w="11753850" h="847725" fill="none">
                <a:moveTo>
                  <a:pt x="0" y="0"/>
                </a:moveTo>
                <a:lnTo>
                  <a:pt x="0" y="847725"/>
                </a:lnTo>
                <a:lnTo>
                  <a:pt x="11753850" y="847725"/>
                </a:lnTo>
                <a:lnTo>
                  <a:pt x="11753850" y="333375"/>
                </a:lnTo>
              </a:path>
            </a:pathLst>
          </a:custGeom>
          <a:noFill/>
          <a:ln w="20297">
            <a:solidFill>
              <a:srgbClr val="727E8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0" name="native360"/>
          <p:cNvSpPr/>
          <p:nvPr/>
        </p:nvSpPr>
        <p:spPr>
          <a:xfrm>
            <a:off x="4972610" y="7608889"/>
            <a:ext cx="8736386" cy="3106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29" b="1">
                <a:solidFill>
                  <a:srgbClr val="727E87"/>
                </a:solidFill>
                <a:latin typeface="Noto Sans CJK SC"/>
                <a:ea typeface="Noto Sans CJK SC"/>
              </a:rPr>
              <a:t>原128维 Q / K / V 旁路；前缀4与近期窗口128始终保留</a:t>
            </a:r>
          </a:p>
        </p:txBody>
      </p:sp>
      <p:sp>
        <p:nvSpPr>
          <p:cNvPr id="361" name="native361"/>
          <p:cNvSpPr/>
          <p:nvPr/>
        </p:nvSpPr>
        <p:spPr>
          <a:xfrm>
            <a:off x="7514105" y="3219870"/>
            <a:ext cx="273563" cy="1535839"/>
          </a:xfrm>
          <a:custGeom>
            <a:avLst/>
            <a:gdLst/>
            <a:ahLst/>
            <a:cxnLst/>
            <a:rect l="0" t="0" r="r" b="b"/>
            <a:pathLst>
              <a:path w="180975" h="1533525" fill="none">
                <a:moveTo>
                  <a:pt x="180975" y="0"/>
                </a:moveTo>
                <a:lnTo>
                  <a:pt x="180975" y="609600"/>
                </a:lnTo>
                <a:lnTo>
                  <a:pt x="0" y="609600"/>
                </a:lnTo>
                <a:lnTo>
                  <a:pt x="0" y="1533525"/>
                </a:lnTo>
              </a:path>
            </a:pathLst>
          </a:custGeom>
          <a:noFill/>
          <a:ln w="18532">
            <a:solidFill>
              <a:srgbClr val="A66328"/>
            </a:solidFill>
            <a:prstDash val="dash"/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3" name="native363"/>
          <p:cNvSpPr/>
          <p:nvPr/>
        </p:nvSpPr>
        <p:spPr>
          <a:xfrm>
            <a:off x="11839699" y="3250933"/>
            <a:ext cx="2142861" cy="4076142"/>
          </a:xfrm>
          <a:custGeom>
            <a:avLst/>
            <a:gdLst/>
            <a:ahLst/>
            <a:cxnLst/>
            <a:rect l="0" t="0" r="r" b="b"/>
            <a:pathLst>
              <a:path w="3000375" h="4200525" fill="none">
                <a:moveTo>
                  <a:pt x="2857500" y="0"/>
                </a:moveTo>
                <a:lnTo>
                  <a:pt x="3000375" y="0"/>
                </a:lnTo>
                <a:lnTo>
                  <a:pt x="3000375" y="4200525"/>
                </a:lnTo>
                <a:lnTo>
                  <a:pt x="0" y="4200525"/>
                </a:lnTo>
                <a:lnTo>
                  <a:pt x="0" y="4162425"/>
                </a:lnTo>
              </a:path>
            </a:pathLst>
          </a:custGeom>
          <a:noFill/>
          <a:ln w="18532">
            <a:solidFill>
              <a:srgbClr val="32689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5" name="native365"/>
          <p:cNvSpPr/>
          <p:nvPr/>
        </p:nvSpPr>
        <p:spPr>
          <a:xfrm>
            <a:off x="13906500" y="8067675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36574"/>
                </a:solidFill>
                <a:latin typeface="Noto Sans CJK SC"/>
                <a:ea typeface="Noto Sans CJK SC"/>
              </a:rPr>
              <a:t>6</a:t>
            </a:r>
          </a:p>
        </p:txBody>
      </p:sp>
      <p:sp>
        <p:nvSpPr>
          <p:cNvPr id="6" name="native25">
            <a:extLst>
              <a:ext uri="{FF2B5EF4-FFF2-40B4-BE49-F238E27FC236}">
                <a16:creationId xmlns:a16="http://schemas.microsoft.com/office/drawing/2014/main" id="{4173D861-D281-DAD9-CE01-6CD498370A85}"/>
              </a:ext>
            </a:extLst>
          </p:cNvPr>
          <p:cNvSpPr/>
          <p:nvPr/>
        </p:nvSpPr>
        <p:spPr>
          <a:xfrm>
            <a:off x="8419605" y="6127668"/>
            <a:ext cx="2220685" cy="782007"/>
          </a:xfrm>
          <a:prstGeom prst="roundRect">
            <a:avLst/>
          </a:prstGeom>
          <a:noFill/>
          <a:ln w="15884">
            <a:solidFill>
              <a:srgbClr val="A66328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native25">
            <a:extLst>
              <a:ext uri="{FF2B5EF4-FFF2-40B4-BE49-F238E27FC236}">
                <a16:creationId xmlns:a16="http://schemas.microsoft.com/office/drawing/2014/main" id="{30CF3A24-37EB-0852-AF67-8B4EDDEF07A0}"/>
              </a:ext>
            </a:extLst>
          </p:cNvPr>
          <p:cNvSpPr/>
          <p:nvPr/>
        </p:nvSpPr>
        <p:spPr>
          <a:xfrm>
            <a:off x="5474525" y="4699937"/>
            <a:ext cx="2635500" cy="1052073"/>
          </a:xfrm>
          <a:prstGeom prst="roundRect">
            <a:avLst/>
          </a:prstGeom>
          <a:noFill/>
          <a:ln w="15884">
            <a:solidFill>
              <a:srgbClr val="A66328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native25">
            <a:extLst>
              <a:ext uri="{FF2B5EF4-FFF2-40B4-BE49-F238E27FC236}">
                <a16:creationId xmlns:a16="http://schemas.microsoft.com/office/drawing/2014/main" id="{16FFEE5C-DC20-5EEC-D183-349375E30F5C}"/>
              </a:ext>
            </a:extLst>
          </p:cNvPr>
          <p:cNvSpPr/>
          <p:nvPr/>
        </p:nvSpPr>
        <p:spPr>
          <a:xfrm>
            <a:off x="9031941" y="4632458"/>
            <a:ext cx="1489597" cy="806441"/>
          </a:xfrm>
          <a:prstGeom prst="roundRect">
            <a:avLst/>
          </a:prstGeom>
          <a:noFill/>
          <a:ln w="15884">
            <a:solidFill>
              <a:srgbClr val="A66328"/>
            </a:solidFill>
            <a:prstDash val="sysDash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32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2"/>
          <p:cNvSpPr/>
          <p:nvPr/>
        </p:nvSpPr>
        <p:spPr>
          <a:xfrm>
            <a:off x="762000" y="266700"/>
            <a:ext cx="13335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25" b="1" baseline="0">
                <a:solidFill>
                  <a:srgbClr val="32689F"/>
                </a:solidFill>
                <a:latin typeface="Noto Sans CJK SC"/>
                <a:ea typeface="Noto Sans CJK SC"/>
              </a:rPr>
              <a:t>Method · Architecture</a:t>
            </a:r>
            <a:endParaRPr lang="zh-CN" sz="1425"/>
          </a:p>
        </p:txBody>
      </p:sp>
      <p:sp>
        <p:nvSpPr>
          <p:cNvPr id="3" name="native3"/>
          <p:cNvSpPr/>
          <p:nvPr/>
        </p:nvSpPr>
        <p:spPr>
          <a:xfrm>
            <a:off x="762000" y="742950"/>
            <a:ext cx="13716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000" b="1">
                <a:solidFill>
                  <a:srgbClr val="193247"/>
                </a:solidFill>
                <a:latin typeface="Noto Sans CJK SC"/>
                <a:ea typeface="Noto Sans CJK SC"/>
              </a:rPr>
              <a:t>低频子空间：16个完整旋转对，共32维</a:t>
            </a:r>
            <a:endParaRPr lang="zh-CN" sz="3000"/>
          </a:p>
        </p:txBody>
      </p:sp>
      <p:sp>
        <p:nvSpPr>
          <p:cNvPr id="4" name="native4"/>
          <p:cNvSpPr/>
          <p:nvPr/>
        </p:nvSpPr>
        <p:spPr>
          <a:xfrm>
            <a:off x="762000" y="1371600"/>
            <a:ext cx="13716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50" b="0">
                <a:solidFill>
                  <a:srgbClr val="536574"/>
                </a:solidFill>
                <a:latin typeface="Noto Sans CJK SC"/>
                <a:ea typeface="Noto Sans CJK SC"/>
              </a:rPr>
              <a:t>16完整旋转对，两级共用；浮点16级量化–反量化，原128维注意力</a:t>
            </a:r>
          </a:p>
        </p:txBody>
      </p:sp>
      <p:sp>
        <p:nvSpPr>
          <p:cNvPr id="21" name="native21"/>
          <p:cNvSpPr/>
          <p:nvPr/>
        </p:nvSpPr>
        <p:spPr>
          <a:xfrm>
            <a:off x="762000" y="1905000"/>
            <a:ext cx="13716000" cy="59055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native22"/>
          <p:cNvSpPr/>
          <p:nvPr/>
        </p:nvSpPr>
        <p:spPr>
          <a:xfrm>
            <a:off x="6115050" y="2533650"/>
            <a:ext cx="952" cy="4086225"/>
          </a:xfrm>
          <a:custGeom>
            <a:avLst/>
            <a:gdLst/>
            <a:ahLst/>
            <a:cxnLst/>
            <a:rect l="0" t="0" r="r" b="b"/>
            <a:pathLst>
              <a:path w="952" h="4086225" fill="none">
                <a:moveTo>
                  <a:pt x="0" y="0"/>
                </a:moveTo>
                <a:lnTo>
                  <a:pt x="0" y="4086225"/>
                </a:lnTo>
              </a:path>
            </a:pathLst>
          </a:custGeom>
          <a:noFill/>
          <a:ln w="8572">
            <a:solidFill>
              <a:srgbClr val="BBC4C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native23"/>
          <p:cNvSpPr/>
          <p:nvPr/>
        </p:nvSpPr>
        <p:spPr>
          <a:xfrm>
            <a:off x="10229850" y="2533650"/>
            <a:ext cx="952" cy="4086225"/>
          </a:xfrm>
          <a:custGeom>
            <a:avLst/>
            <a:gdLst/>
            <a:ahLst/>
            <a:cxnLst/>
            <a:rect l="0" t="0" r="r" b="b"/>
            <a:pathLst>
              <a:path w="952" h="4086225" fill="none">
                <a:moveTo>
                  <a:pt x="0" y="0"/>
                </a:moveTo>
                <a:lnTo>
                  <a:pt x="0" y="4086225"/>
                </a:lnTo>
              </a:path>
            </a:pathLst>
          </a:custGeom>
          <a:noFill/>
          <a:ln w="8572">
            <a:solidFill>
              <a:srgbClr val="BBC4C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native24"/>
          <p:cNvSpPr/>
          <p:nvPr/>
        </p:nvSpPr>
        <p:spPr>
          <a:xfrm>
            <a:off x="952500" y="195262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75" b="1">
                <a:solidFill>
                  <a:srgbClr val="193247"/>
                </a:solidFill>
                <a:latin typeface="Noto Sans CJK SC"/>
                <a:ea typeface="Noto Sans CJK SC"/>
              </a:rPr>
              <a:t>a  完整低频 RoPE 对</a:t>
            </a:r>
            <a:endParaRPr lang="zh-CN" sz="1875"/>
          </a:p>
        </p:txBody>
      </p:sp>
      <p:sp>
        <p:nvSpPr>
          <p:cNvPr id="25" name="native25"/>
          <p:cNvSpPr/>
          <p:nvPr/>
        </p:nvSpPr>
        <p:spPr>
          <a:xfrm>
            <a:off x="6343650" y="1952625"/>
            <a:ext cx="26193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75" b="1">
                <a:solidFill>
                  <a:srgbClr val="193247"/>
                </a:solidFill>
                <a:latin typeface="Noto Sans CJK SC"/>
                <a:ea typeface="Noto Sans CJK SC"/>
              </a:rPr>
              <a:t>b  固定坐标选择视图</a:t>
            </a:r>
            <a:endParaRPr lang="zh-CN" sz="1875"/>
          </a:p>
        </p:txBody>
      </p:sp>
      <p:sp>
        <p:nvSpPr>
          <p:cNvPr id="26" name="native26"/>
          <p:cNvSpPr/>
          <p:nvPr/>
        </p:nvSpPr>
        <p:spPr>
          <a:xfrm>
            <a:off x="10439400" y="19526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75" b="1" dirty="0">
                <a:solidFill>
                  <a:srgbClr val="193247"/>
                </a:solidFill>
                <a:latin typeface="Noto Sans CJK SC"/>
                <a:ea typeface="Noto Sans CJK SC"/>
              </a:rPr>
              <a:t>c  两级复用与原维计算</a:t>
            </a:r>
            <a:endParaRPr lang="zh-CN" sz="1875" dirty="0"/>
          </a:p>
        </p:txBody>
      </p:sp>
      <p:sp>
        <p:nvSpPr>
          <p:cNvPr id="27" name="native27"/>
          <p:cNvSpPr/>
          <p:nvPr/>
        </p:nvSpPr>
        <p:spPr>
          <a:xfrm>
            <a:off x="952500" y="2362200"/>
            <a:ext cx="13335000" cy="952"/>
          </a:xfrm>
          <a:custGeom>
            <a:avLst/>
            <a:gdLst/>
            <a:ahLst/>
            <a:cxnLst/>
            <a:rect l="0" t="0" r="r" b="b"/>
            <a:pathLst>
              <a:path w="13335000" h="952" fill="none">
                <a:moveTo>
                  <a:pt x="0" y="0"/>
                </a:moveTo>
                <a:lnTo>
                  <a:pt x="13335000" y="0"/>
                </a:lnTo>
              </a:path>
            </a:pathLst>
          </a:custGeom>
          <a:noFill/>
          <a:ln w="9525">
            <a:solidFill>
              <a:srgbClr val="BBC4C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native28"/>
          <p:cNvSpPr/>
          <p:nvPr/>
        </p:nvSpPr>
        <p:spPr>
          <a:xfrm>
            <a:off x="952500" y="2478786"/>
            <a:ext cx="3505200" cy="35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25" b="1">
                <a:solidFill>
                  <a:srgbClr val="193247"/>
                </a:solidFill>
                <a:latin typeface="Noto Sans CJK SC"/>
                <a:ea typeface="Noto Sans CJK SC"/>
              </a:rPr>
              <a:t>RoPE 后 · D = 128</a:t>
            </a:r>
            <a:endParaRPr lang="zh-CN" sz="1725"/>
          </a:p>
        </p:txBody>
      </p:sp>
      <p:sp>
        <p:nvSpPr>
          <p:cNvPr id="29" name="native29"/>
          <p:cNvSpPr/>
          <p:nvPr/>
        </p:nvSpPr>
        <p:spPr>
          <a:xfrm>
            <a:off x="952500" y="2797683"/>
            <a:ext cx="542925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32 个 Q 头 / 8 个 KV 头；每组 4Q + 1K</a:t>
            </a:r>
            <a:endParaRPr lang="zh-CN" sz="1425"/>
          </a:p>
        </p:txBody>
      </p:sp>
      <p:sp>
        <p:nvSpPr>
          <p:cNvPr id="30" name="native30"/>
          <p:cNvSpPr/>
          <p:nvPr/>
        </p:nvSpPr>
        <p:spPr>
          <a:xfrm>
            <a:off x="1238250" y="3189351"/>
            <a:ext cx="13716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727E87"/>
                </a:solidFill>
                <a:latin typeface="Noto Sans CJK SC"/>
                <a:ea typeface="Noto Sans CJK SC"/>
              </a:rPr>
              <a:t>旋转频率由高到低</a:t>
            </a:r>
            <a:endParaRPr lang="zh-CN" sz="1350"/>
          </a:p>
        </p:txBody>
      </p:sp>
      <p:sp>
        <p:nvSpPr>
          <p:cNvPr id="31" name="native31"/>
          <p:cNvSpPr/>
          <p:nvPr/>
        </p:nvSpPr>
        <p:spPr>
          <a:xfrm>
            <a:off x="3781425" y="3324225"/>
            <a:ext cx="1724025" cy="952"/>
          </a:xfrm>
          <a:custGeom>
            <a:avLst/>
            <a:gdLst/>
            <a:ahLst/>
            <a:cxnLst/>
            <a:rect l="0" t="0" r="r" b="b"/>
            <a:pathLst>
              <a:path w="1724025" h="952" fill="none">
                <a:moveTo>
                  <a:pt x="0" y="0"/>
                </a:moveTo>
                <a:lnTo>
                  <a:pt x="1724025" y="0"/>
                </a:lnTo>
              </a:path>
            </a:pathLst>
          </a:custGeom>
          <a:noFill/>
          <a:ln w="12382">
            <a:solidFill>
              <a:srgbClr val="727E8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native32"/>
          <p:cNvSpPr/>
          <p:nvPr/>
        </p:nvSpPr>
        <p:spPr>
          <a:xfrm>
            <a:off x="4400550" y="3609975"/>
            <a:ext cx="1123950" cy="1628775"/>
          </a:xfrm>
          <a:prstGeom prst="rect">
            <a:avLst/>
          </a:prstGeom>
          <a:solidFill>
            <a:srgbClr val="F1EDF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native33"/>
          <p:cNvSpPr/>
          <p:nvPr/>
        </p:nvSpPr>
        <p:spPr>
          <a:xfrm>
            <a:off x="2352675" y="3417951"/>
            <a:ext cx="8572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727E87"/>
                </a:solidFill>
                <a:latin typeface="Noto Sans CJK SC"/>
                <a:ea typeface="Noto Sans CJK SC"/>
              </a:rPr>
              <a:t>0…47</a:t>
            </a:r>
            <a:endParaRPr lang="zh-CN" sz="1350"/>
          </a:p>
        </p:txBody>
      </p:sp>
      <p:sp>
        <p:nvSpPr>
          <p:cNvPr id="34" name="native34"/>
          <p:cNvSpPr/>
          <p:nvPr/>
        </p:nvSpPr>
        <p:spPr>
          <a:xfrm>
            <a:off x="4543425" y="3417951"/>
            <a:ext cx="8572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78628F"/>
                </a:solidFill>
                <a:latin typeface="Noto Sans CJK SC"/>
                <a:ea typeface="Noto Sans CJK SC"/>
              </a:rPr>
              <a:t>48…63</a:t>
            </a:r>
            <a:endParaRPr lang="zh-CN" sz="1350"/>
          </a:p>
        </p:txBody>
      </p:sp>
      <p:sp>
        <p:nvSpPr>
          <p:cNvPr id="35" name="native35"/>
          <p:cNvSpPr/>
          <p:nvPr/>
        </p:nvSpPr>
        <p:spPr>
          <a:xfrm>
            <a:off x="238125" y="3702558"/>
            <a:ext cx="85725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zh-CN" sz="1500" b="0">
                <a:solidFill>
                  <a:srgbClr val="727E87"/>
                </a:solidFill>
                <a:latin typeface="Noto Sans CJK SC"/>
                <a:ea typeface="Noto Sans CJK SC"/>
              </a:rPr>
              <a:t>j</a:t>
            </a:r>
            <a:endParaRPr lang="zh-CN" sz="1425"/>
          </a:p>
        </p:txBody>
      </p:sp>
      <p:sp>
        <p:nvSpPr>
          <p:cNvPr id="36" name="native36"/>
          <p:cNvSpPr/>
          <p:nvPr/>
        </p:nvSpPr>
        <p:spPr>
          <a:xfrm>
            <a:off x="952500" y="4666869"/>
            <a:ext cx="85725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727E87"/>
                </a:solidFill>
                <a:latin typeface="Noto Sans CJK SC"/>
                <a:ea typeface="Noto Sans CJK SC"/>
              </a:rPr>
              <a:t>j+64</a:t>
            </a:r>
            <a:endParaRPr lang="zh-CN" sz="1275"/>
          </a:p>
        </p:txBody>
      </p:sp>
      <p:sp>
        <p:nvSpPr>
          <p:cNvPr id="37" name="native37"/>
          <p:cNvSpPr/>
          <p:nvPr/>
        </p:nvSpPr>
        <p:spPr>
          <a:xfrm>
            <a:off x="123825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native38"/>
          <p:cNvSpPr/>
          <p:nvPr/>
        </p:nvSpPr>
        <p:spPr>
          <a:xfrm>
            <a:off x="123825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native39"/>
          <p:cNvSpPr/>
          <p:nvPr/>
        </p:nvSpPr>
        <p:spPr>
          <a:xfrm>
            <a:off x="130492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native40"/>
          <p:cNvSpPr/>
          <p:nvPr/>
        </p:nvSpPr>
        <p:spPr>
          <a:xfrm>
            <a:off x="130492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native41"/>
          <p:cNvSpPr/>
          <p:nvPr/>
        </p:nvSpPr>
        <p:spPr>
          <a:xfrm>
            <a:off x="137160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native42"/>
          <p:cNvSpPr/>
          <p:nvPr/>
        </p:nvSpPr>
        <p:spPr>
          <a:xfrm>
            <a:off x="137160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native43"/>
          <p:cNvSpPr/>
          <p:nvPr/>
        </p:nvSpPr>
        <p:spPr>
          <a:xfrm>
            <a:off x="143827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native44"/>
          <p:cNvSpPr/>
          <p:nvPr/>
        </p:nvSpPr>
        <p:spPr>
          <a:xfrm>
            <a:off x="143827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native45"/>
          <p:cNvSpPr/>
          <p:nvPr/>
        </p:nvSpPr>
        <p:spPr>
          <a:xfrm>
            <a:off x="150495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native46"/>
          <p:cNvSpPr/>
          <p:nvPr/>
        </p:nvSpPr>
        <p:spPr>
          <a:xfrm>
            <a:off x="150495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native47"/>
          <p:cNvSpPr/>
          <p:nvPr/>
        </p:nvSpPr>
        <p:spPr>
          <a:xfrm>
            <a:off x="157162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native48"/>
          <p:cNvSpPr/>
          <p:nvPr/>
        </p:nvSpPr>
        <p:spPr>
          <a:xfrm>
            <a:off x="157162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native49"/>
          <p:cNvSpPr/>
          <p:nvPr/>
        </p:nvSpPr>
        <p:spPr>
          <a:xfrm>
            <a:off x="163830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native50"/>
          <p:cNvSpPr/>
          <p:nvPr/>
        </p:nvSpPr>
        <p:spPr>
          <a:xfrm>
            <a:off x="163830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native51"/>
          <p:cNvSpPr/>
          <p:nvPr/>
        </p:nvSpPr>
        <p:spPr>
          <a:xfrm>
            <a:off x="170497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native52"/>
          <p:cNvSpPr/>
          <p:nvPr/>
        </p:nvSpPr>
        <p:spPr>
          <a:xfrm>
            <a:off x="170497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native53"/>
          <p:cNvSpPr/>
          <p:nvPr/>
        </p:nvSpPr>
        <p:spPr>
          <a:xfrm>
            <a:off x="177165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native54"/>
          <p:cNvSpPr/>
          <p:nvPr/>
        </p:nvSpPr>
        <p:spPr>
          <a:xfrm>
            <a:off x="177165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native55"/>
          <p:cNvSpPr/>
          <p:nvPr/>
        </p:nvSpPr>
        <p:spPr>
          <a:xfrm>
            <a:off x="183832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native56"/>
          <p:cNvSpPr/>
          <p:nvPr/>
        </p:nvSpPr>
        <p:spPr>
          <a:xfrm>
            <a:off x="183832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native57"/>
          <p:cNvSpPr/>
          <p:nvPr/>
        </p:nvSpPr>
        <p:spPr>
          <a:xfrm>
            <a:off x="190500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native58"/>
          <p:cNvSpPr/>
          <p:nvPr/>
        </p:nvSpPr>
        <p:spPr>
          <a:xfrm>
            <a:off x="190500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native59"/>
          <p:cNvSpPr/>
          <p:nvPr/>
        </p:nvSpPr>
        <p:spPr>
          <a:xfrm>
            <a:off x="197167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native60"/>
          <p:cNvSpPr/>
          <p:nvPr/>
        </p:nvSpPr>
        <p:spPr>
          <a:xfrm>
            <a:off x="197167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native61"/>
          <p:cNvSpPr/>
          <p:nvPr/>
        </p:nvSpPr>
        <p:spPr>
          <a:xfrm>
            <a:off x="203835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native62"/>
          <p:cNvSpPr/>
          <p:nvPr/>
        </p:nvSpPr>
        <p:spPr>
          <a:xfrm>
            <a:off x="203835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native63"/>
          <p:cNvSpPr/>
          <p:nvPr/>
        </p:nvSpPr>
        <p:spPr>
          <a:xfrm>
            <a:off x="210502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native64"/>
          <p:cNvSpPr/>
          <p:nvPr/>
        </p:nvSpPr>
        <p:spPr>
          <a:xfrm>
            <a:off x="210502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native65"/>
          <p:cNvSpPr/>
          <p:nvPr/>
        </p:nvSpPr>
        <p:spPr>
          <a:xfrm>
            <a:off x="217170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native66"/>
          <p:cNvSpPr/>
          <p:nvPr/>
        </p:nvSpPr>
        <p:spPr>
          <a:xfrm>
            <a:off x="217170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native67"/>
          <p:cNvSpPr/>
          <p:nvPr/>
        </p:nvSpPr>
        <p:spPr>
          <a:xfrm>
            <a:off x="223837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native68"/>
          <p:cNvSpPr/>
          <p:nvPr/>
        </p:nvSpPr>
        <p:spPr>
          <a:xfrm>
            <a:off x="223837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native69"/>
          <p:cNvSpPr/>
          <p:nvPr/>
        </p:nvSpPr>
        <p:spPr>
          <a:xfrm>
            <a:off x="230505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native70"/>
          <p:cNvSpPr/>
          <p:nvPr/>
        </p:nvSpPr>
        <p:spPr>
          <a:xfrm>
            <a:off x="230505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native71"/>
          <p:cNvSpPr/>
          <p:nvPr/>
        </p:nvSpPr>
        <p:spPr>
          <a:xfrm>
            <a:off x="237172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native72"/>
          <p:cNvSpPr/>
          <p:nvPr/>
        </p:nvSpPr>
        <p:spPr>
          <a:xfrm>
            <a:off x="237172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native73"/>
          <p:cNvSpPr/>
          <p:nvPr/>
        </p:nvSpPr>
        <p:spPr>
          <a:xfrm>
            <a:off x="243840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native74"/>
          <p:cNvSpPr/>
          <p:nvPr/>
        </p:nvSpPr>
        <p:spPr>
          <a:xfrm>
            <a:off x="243840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native75"/>
          <p:cNvSpPr/>
          <p:nvPr/>
        </p:nvSpPr>
        <p:spPr>
          <a:xfrm>
            <a:off x="250507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native76"/>
          <p:cNvSpPr/>
          <p:nvPr/>
        </p:nvSpPr>
        <p:spPr>
          <a:xfrm>
            <a:off x="250507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native77"/>
          <p:cNvSpPr/>
          <p:nvPr/>
        </p:nvSpPr>
        <p:spPr>
          <a:xfrm>
            <a:off x="257175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native78"/>
          <p:cNvSpPr/>
          <p:nvPr/>
        </p:nvSpPr>
        <p:spPr>
          <a:xfrm>
            <a:off x="257175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native79"/>
          <p:cNvSpPr/>
          <p:nvPr/>
        </p:nvSpPr>
        <p:spPr>
          <a:xfrm>
            <a:off x="263842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native80"/>
          <p:cNvSpPr/>
          <p:nvPr/>
        </p:nvSpPr>
        <p:spPr>
          <a:xfrm>
            <a:off x="263842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native81"/>
          <p:cNvSpPr/>
          <p:nvPr/>
        </p:nvSpPr>
        <p:spPr>
          <a:xfrm>
            <a:off x="270510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native82"/>
          <p:cNvSpPr/>
          <p:nvPr/>
        </p:nvSpPr>
        <p:spPr>
          <a:xfrm>
            <a:off x="270510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native83"/>
          <p:cNvSpPr/>
          <p:nvPr/>
        </p:nvSpPr>
        <p:spPr>
          <a:xfrm>
            <a:off x="277177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native84"/>
          <p:cNvSpPr/>
          <p:nvPr/>
        </p:nvSpPr>
        <p:spPr>
          <a:xfrm>
            <a:off x="277177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native85"/>
          <p:cNvSpPr/>
          <p:nvPr/>
        </p:nvSpPr>
        <p:spPr>
          <a:xfrm>
            <a:off x="283845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native86"/>
          <p:cNvSpPr/>
          <p:nvPr/>
        </p:nvSpPr>
        <p:spPr>
          <a:xfrm>
            <a:off x="283845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native87"/>
          <p:cNvSpPr/>
          <p:nvPr/>
        </p:nvSpPr>
        <p:spPr>
          <a:xfrm>
            <a:off x="290512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native88"/>
          <p:cNvSpPr/>
          <p:nvPr/>
        </p:nvSpPr>
        <p:spPr>
          <a:xfrm>
            <a:off x="290512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native89"/>
          <p:cNvSpPr/>
          <p:nvPr/>
        </p:nvSpPr>
        <p:spPr>
          <a:xfrm>
            <a:off x="297180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native90"/>
          <p:cNvSpPr/>
          <p:nvPr/>
        </p:nvSpPr>
        <p:spPr>
          <a:xfrm>
            <a:off x="297180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native91"/>
          <p:cNvSpPr/>
          <p:nvPr/>
        </p:nvSpPr>
        <p:spPr>
          <a:xfrm>
            <a:off x="303847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native92"/>
          <p:cNvSpPr/>
          <p:nvPr/>
        </p:nvSpPr>
        <p:spPr>
          <a:xfrm>
            <a:off x="303847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native93"/>
          <p:cNvSpPr/>
          <p:nvPr/>
        </p:nvSpPr>
        <p:spPr>
          <a:xfrm>
            <a:off x="310515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native94"/>
          <p:cNvSpPr/>
          <p:nvPr/>
        </p:nvSpPr>
        <p:spPr>
          <a:xfrm>
            <a:off x="310515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native95"/>
          <p:cNvSpPr/>
          <p:nvPr/>
        </p:nvSpPr>
        <p:spPr>
          <a:xfrm>
            <a:off x="317182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native96"/>
          <p:cNvSpPr/>
          <p:nvPr/>
        </p:nvSpPr>
        <p:spPr>
          <a:xfrm>
            <a:off x="317182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native97"/>
          <p:cNvSpPr/>
          <p:nvPr/>
        </p:nvSpPr>
        <p:spPr>
          <a:xfrm>
            <a:off x="323850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native98"/>
          <p:cNvSpPr/>
          <p:nvPr/>
        </p:nvSpPr>
        <p:spPr>
          <a:xfrm>
            <a:off x="323850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native99"/>
          <p:cNvSpPr/>
          <p:nvPr/>
        </p:nvSpPr>
        <p:spPr>
          <a:xfrm>
            <a:off x="330517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native100"/>
          <p:cNvSpPr/>
          <p:nvPr/>
        </p:nvSpPr>
        <p:spPr>
          <a:xfrm>
            <a:off x="330517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native101"/>
          <p:cNvSpPr/>
          <p:nvPr/>
        </p:nvSpPr>
        <p:spPr>
          <a:xfrm>
            <a:off x="337185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native102"/>
          <p:cNvSpPr/>
          <p:nvPr/>
        </p:nvSpPr>
        <p:spPr>
          <a:xfrm>
            <a:off x="337185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native103"/>
          <p:cNvSpPr/>
          <p:nvPr/>
        </p:nvSpPr>
        <p:spPr>
          <a:xfrm>
            <a:off x="343852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native104"/>
          <p:cNvSpPr/>
          <p:nvPr/>
        </p:nvSpPr>
        <p:spPr>
          <a:xfrm>
            <a:off x="343852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native105"/>
          <p:cNvSpPr/>
          <p:nvPr/>
        </p:nvSpPr>
        <p:spPr>
          <a:xfrm>
            <a:off x="350520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native106"/>
          <p:cNvSpPr/>
          <p:nvPr/>
        </p:nvSpPr>
        <p:spPr>
          <a:xfrm>
            <a:off x="350520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native107"/>
          <p:cNvSpPr/>
          <p:nvPr/>
        </p:nvSpPr>
        <p:spPr>
          <a:xfrm>
            <a:off x="357187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native108"/>
          <p:cNvSpPr/>
          <p:nvPr/>
        </p:nvSpPr>
        <p:spPr>
          <a:xfrm>
            <a:off x="357187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native109"/>
          <p:cNvSpPr/>
          <p:nvPr/>
        </p:nvSpPr>
        <p:spPr>
          <a:xfrm>
            <a:off x="363855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native110"/>
          <p:cNvSpPr/>
          <p:nvPr/>
        </p:nvSpPr>
        <p:spPr>
          <a:xfrm>
            <a:off x="363855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native111"/>
          <p:cNvSpPr/>
          <p:nvPr/>
        </p:nvSpPr>
        <p:spPr>
          <a:xfrm>
            <a:off x="370522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native112"/>
          <p:cNvSpPr/>
          <p:nvPr/>
        </p:nvSpPr>
        <p:spPr>
          <a:xfrm>
            <a:off x="370522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native113"/>
          <p:cNvSpPr/>
          <p:nvPr/>
        </p:nvSpPr>
        <p:spPr>
          <a:xfrm>
            <a:off x="377190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native114"/>
          <p:cNvSpPr/>
          <p:nvPr/>
        </p:nvSpPr>
        <p:spPr>
          <a:xfrm>
            <a:off x="377190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native115"/>
          <p:cNvSpPr/>
          <p:nvPr/>
        </p:nvSpPr>
        <p:spPr>
          <a:xfrm>
            <a:off x="383857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native116"/>
          <p:cNvSpPr/>
          <p:nvPr/>
        </p:nvSpPr>
        <p:spPr>
          <a:xfrm>
            <a:off x="383857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native117"/>
          <p:cNvSpPr/>
          <p:nvPr/>
        </p:nvSpPr>
        <p:spPr>
          <a:xfrm>
            <a:off x="390525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native118"/>
          <p:cNvSpPr/>
          <p:nvPr/>
        </p:nvSpPr>
        <p:spPr>
          <a:xfrm>
            <a:off x="390525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native119"/>
          <p:cNvSpPr/>
          <p:nvPr/>
        </p:nvSpPr>
        <p:spPr>
          <a:xfrm>
            <a:off x="397192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" name="native120"/>
          <p:cNvSpPr/>
          <p:nvPr/>
        </p:nvSpPr>
        <p:spPr>
          <a:xfrm>
            <a:off x="397192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native121"/>
          <p:cNvSpPr/>
          <p:nvPr/>
        </p:nvSpPr>
        <p:spPr>
          <a:xfrm>
            <a:off x="403860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native122"/>
          <p:cNvSpPr/>
          <p:nvPr/>
        </p:nvSpPr>
        <p:spPr>
          <a:xfrm>
            <a:off x="403860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native123"/>
          <p:cNvSpPr/>
          <p:nvPr/>
        </p:nvSpPr>
        <p:spPr>
          <a:xfrm>
            <a:off x="410527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native124"/>
          <p:cNvSpPr/>
          <p:nvPr/>
        </p:nvSpPr>
        <p:spPr>
          <a:xfrm>
            <a:off x="410527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native125"/>
          <p:cNvSpPr/>
          <p:nvPr/>
        </p:nvSpPr>
        <p:spPr>
          <a:xfrm>
            <a:off x="417195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native126"/>
          <p:cNvSpPr/>
          <p:nvPr/>
        </p:nvSpPr>
        <p:spPr>
          <a:xfrm>
            <a:off x="417195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native127"/>
          <p:cNvSpPr/>
          <p:nvPr/>
        </p:nvSpPr>
        <p:spPr>
          <a:xfrm>
            <a:off x="423862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native128"/>
          <p:cNvSpPr/>
          <p:nvPr/>
        </p:nvSpPr>
        <p:spPr>
          <a:xfrm>
            <a:off x="423862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native129"/>
          <p:cNvSpPr/>
          <p:nvPr/>
        </p:nvSpPr>
        <p:spPr>
          <a:xfrm>
            <a:off x="4305300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native130"/>
          <p:cNvSpPr/>
          <p:nvPr/>
        </p:nvSpPr>
        <p:spPr>
          <a:xfrm>
            <a:off x="4305300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native131"/>
          <p:cNvSpPr/>
          <p:nvPr/>
        </p:nvSpPr>
        <p:spPr>
          <a:xfrm>
            <a:off x="4371975" y="3705225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native132"/>
          <p:cNvSpPr/>
          <p:nvPr/>
        </p:nvSpPr>
        <p:spPr>
          <a:xfrm>
            <a:off x="4371975" y="4914900"/>
            <a:ext cx="51435" cy="23812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native133"/>
          <p:cNvSpPr/>
          <p:nvPr/>
        </p:nvSpPr>
        <p:spPr>
          <a:xfrm>
            <a:off x="4438650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native134"/>
          <p:cNvSpPr/>
          <p:nvPr/>
        </p:nvSpPr>
        <p:spPr>
          <a:xfrm>
            <a:off x="4438650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native135"/>
          <p:cNvSpPr/>
          <p:nvPr/>
        </p:nvSpPr>
        <p:spPr>
          <a:xfrm>
            <a:off x="4464368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native136"/>
          <p:cNvSpPr/>
          <p:nvPr/>
        </p:nvSpPr>
        <p:spPr>
          <a:xfrm>
            <a:off x="4505325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native137"/>
          <p:cNvSpPr/>
          <p:nvPr/>
        </p:nvSpPr>
        <p:spPr>
          <a:xfrm>
            <a:off x="4505325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native138"/>
          <p:cNvSpPr/>
          <p:nvPr/>
        </p:nvSpPr>
        <p:spPr>
          <a:xfrm>
            <a:off x="4531042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native139"/>
          <p:cNvSpPr/>
          <p:nvPr/>
        </p:nvSpPr>
        <p:spPr>
          <a:xfrm>
            <a:off x="4572000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native140"/>
          <p:cNvSpPr/>
          <p:nvPr/>
        </p:nvSpPr>
        <p:spPr>
          <a:xfrm>
            <a:off x="4572000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native141"/>
          <p:cNvSpPr/>
          <p:nvPr/>
        </p:nvSpPr>
        <p:spPr>
          <a:xfrm>
            <a:off x="4597718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native142"/>
          <p:cNvSpPr/>
          <p:nvPr/>
        </p:nvSpPr>
        <p:spPr>
          <a:xfrm>
            <a:off x="4638675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native143"/>
          <p:cNvSpPr/>
          <p:nvPr/>
        </p:nvSpPr>
        <p:spPr>
          <a:xfrm>
            <a:off x="4638675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" name="native144"/>
          <p:cNvSpPr/>
          <p:nvPr/>
        </p:nvSpPr>
        <p:spPr>
          <a:xfrm>
            <a:off x="4664392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native145"/>
          <p:cNvSpPr/>
          <p:nvPr/>
        </p:nvSpPr>
        <p:spPr>
          <a:xfrm>
            <a:off x="4705350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native146"/>
          <p:cNvSpPr/>
          <p:nvPr/>
        </p:nvSpPr>
        <p:spPr>
          <a:xfrm>
            <a:off x="4705350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7" name="native147"/>
          <p:cNvSpPr/>
          <p:nvPr/>
        </p:nvSpPr>
        <p:spPr>
          <a:xfrm>
            <a:off x="4731068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native148"/>
          <p:cNvSpPr/>
          <p:nvPr/>
        </p:nvSpPr>
        <p:spPr>
          <a:xfrm>
            <a:off x="4772025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" name="native149"/>
          <p:cNvSpPr/>
          <p:nvPr/>
        </p:nvSpPr>
        <p:spPr>
          <a:xfrm>
            <a:off x="4772025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native150"/>
          <p:cNvSpPr/>
          <p:nvPr/>
        </p:nvSpPr>
        <p:spPr>
          <a:xfrm>
            <a:off x="4797742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native151"/>
          <p:cNvSpPr/>
          <p:nvPr/>
        </p:nvSpPr>
        <p:spPr>
          <a:xfrm>
            <a:off x="4838700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native152"/>
          <p:cNvSpPr/>
          <p:nvPr/>
        </p:nvSpPr>
        <p:spPr>
          <a:xfrm>
            <a:off x="4838700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native153"/>
          <p:cNvSpPr/>
          <p:nvPr/>
        </p:nvSpPr>
        <p:spPr>
          <a:xfrm>
            <a:off x="4864418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native154"/>
          <p:cNvSpPr/>
          <p:nvPr/>
        </p:nvSpPr>
        <p:spPr>
          <a:xfrm>
            <a:off x="4905375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native155"/>
          <p:cNvSpPr/>
          <p:nvPr/>
        </p:nvSpPr>
        <p:spPr>
          <a:xfrm>
            <a:off x="4905375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6" name="native156"/>
          <p:cNvSpPr/>
          <p:nvPr/>
        </p:nvSpPr>
        <p:spPr>
          <a:xfrm>
            <a:off x="4931092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native157"/>
          <p:cNvSpPr/>
          <p:nvPr/>
        </p:nvSpPr>
        <p:spPr>
          <a:xfrm>
            <a:off x="4972050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native158"/>
          <p:cNvSpPr/>
          <p:nvPr/>
        </p:nvSpPr>
        <p:spPr>
          <a:xfrm>
            <a:off x="4972050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9" name="native159"/>
          <p:cNvSpPr/>
          <p:nvPr/>
        </p:nvSpPr>
        <p:spPr>
          <a:xfrm>
            <a:off x="4997768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native160"/>
          <p:cNvSpPr/>
          <p:nvPr/>
        </p:nvSpPr>
        <p:spPr>
          <a:xfrm>
            <a:off x="5038725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1" name="native161"/>
          <p:cNvSpPr/>
          <p:nvPr/>
        </p:nvSpPr>
        <p:spPr>
          <a:xfrm>
            <a:off x="5038725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2" name="native162"/>
          <p:cNvSpPr/>
          <p:nvPr/>
        </p:nvSpPr>
        <p:spPr>
          <a:xfrm>
            <a:off x="5064442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native163"/>
          <p:cNvSpPr/>
          <p:nvPr/>
        </p:nvSpPr>
        <p:spPr>
          <a:xfrm>
            <a:off x="5105400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" name="native164"/>
          <p:cNvSpPr/>
          <p:nvPr/>
        </p:nvSpPr>
        <p:spPr>
          <a:xfrm>
            <a:off x="5105400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5" name="native165"/>
          <p:cNvSpPr/>
          <p:nvPr/>
        </p:nvSpPr>
        <p:spPr>
          <a:xfrm>
            <a:off x="5131118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6" name="native166"/>
          <p:cNvSpPr/>
          <p:nvPr/>
        </p:nvSpPr>
        <p:spPr>
          <a:xfrm>
            <a:off x="5172075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7" name="native167"/>
          <p:cNvSpPr/>
          <p:nvPr/>
        </p:nvSpPr>
        <p:spPr>
          <a:xfrm>
            <a:off x="5172075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" name="native168"/>
          <p:cNvSpPr/>
          <p:nvPr/>
        </p:nvSpPr>
        <p:spPr>
          <a:xfrm>
            <a:off x="5197792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native169"/>
          <p:cNvSpPr/>
          <p:nvPr/>
        </p:nvSpPr>
        <p:spPr>
          <a:xfrm>
            <a:off x="5238750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" name="native170"/>
          <p:cNvSpPr/>
          <p:nvPr/>
        </p:nvSpPr>
        <p:spPr>
          <a:xfrm>
            <a:off x="5238750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" name="native171"/>
          <p:cNvSpPr/>
          <p:nvPr/>
        </p:nvSpPr>
        <p:spPr>
          <a:xfrm>
            <a:off x="5264468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" name="native172"/>
          <p:cNvSpPr/>
          <p:nvPr/>
        </p:nvSpPr>
        <p:spPr>
          <a:xfrm>
            <a:off x="5305425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native173"/>
          <p:cNvSpPr/>
          <p:nvPr/>
        </p:nvSpPr>
        <p:spPr>
          <a:xfrm>
            <a:off x="5305425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" name="native174"/>
          <p:cNvSpPr/>
          <p:nvPr/>
        </p:nvSpPr>
        <p:spPr>
          <a:xfrm>
            <a:off x="5331142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5" name="native175"/>
          <p:cNvSpPr/>
          <p:nvPr/>
        </p:nvSpPr>
        <p:spPr>
          <a:xfrm>
            <a:off x="5372100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6" name="native176"/>
          <p:cNvSpPr/>
          <p:nvPr/>
        </p:nvSpPr>
        <p:spPr>
          <a:xfrm>
            <a:off x="5372100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" name="native177"/>
          <p:cNvSpPr/>
          <p:nvPr/>
        </p:nvSpPr>
        <p:spPr>
          <a:xfrm>
            <a:off x="5397818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8" name="native178"/>
          <p:cNvSpPr/>
          <p:nvPr/>
        </p:nvSpPr>
        <p:spPr>
          <a:xfrm>
            <a:off x="5438775" y="3705225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" name="native179"/>
          <p:cNvSpPr/>
          <p:nvPr/>
        </p:nvSpPr>
        <p:spPr>
          <a:xfrm>
            <a:off x="5438775" y="4914900"/>
            <a:ext cx="51435" cy="2381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" name="native180"/>
          <p:cNvSpPr/>
          <p:nvPr/>
        </p:nvSpPr>
        <p:spPr>
          <a:xfrm>
            <a:off x="5464492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14764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1" name="native181"/>
          <p:cNvSpPr/>
          <p:nvPr/>
        </p:nvSpPr>
        <p:spPr>
          <a:xfrm>
            <a:off x="1263968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9525">
            <a:solidFill>
              <a:srgbClr val="BBC4CB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2" name="native182"/>
          <p:cNvSpPr/>
          <p:nvPr/>
        </p:nvSpPr>
        <p:spPr>
          <a:xfrm>
            <a:off x="4397692" y="3962400"/>
            <a:ext cx="952" cy="933450"/>
          </a:xfrm>
          <a:custGeom>
            <a:avLst/>
            <a:gdLst/>
            <a:ahLst/>
            <a:cxnLst/>
            <a:rect l="0" t="0" r="r" b="b"/>
            <a:pathLst>
              <a:path w="952" h="933450" fill="none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9525">
            <a:solidFill>
              <a:srgbClr val="BBC4CB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3" name="native183"/>
          <p:cNvSpPr/>
          <p:nvPr/>
        </p:nvSpPr>
        <p:spPr>
          <a:xfrm>
            <a:off x="1571625" y="4107561"/>
            <a:ext cx="2847975" cy="35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725" b="1">
                <a:solidFill>
                  <a:srgbClr val="193247"/>
                </a:solidFill>
                <a:latin typeface="Noto Sans CJK SC"/>
                <a:ea typeface="Noto Sans CJK SC"/>
              </a:rPr>
              <a:t>split-half 配对</a:t>
            </a:r>
            <a:endParaRPr lang="zh-CN" sz="1725"/>
          </a:p>
        </p:txBody>
      </p:sp>
      <p:sp>
        <p:nvSpPr>
          <p:cNvPr id="184" name="native184"/>
          <p:cNvSpPr/>
          <p:nvPr/>
        </p:nvSpPr>
        <p:spPr>
          <a:xfrm>
            <a:off x="1571625" y="4401693"/>
            <a:ext cx="25146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0">
                <a:solidFill>
                  <a:srgbClr val="193247"/>
                </a:solidFill>
                <a:latin typeface="Noto Sans CJK SC"/>
                <a:ea typeface="Noto Sans CJK SC"/>
              </a:rPr>
              <a:t>(j, j + 64)</a:t>
            </a:r>
            <a:endParaRPr lang="zh-CN" sz="1800"/>
          </a:p>
        </p:txBody>
      </p:sp>
      <p:sp>
        <p:nvSpPr>
          <p:cNvPr id="185" name="native185"/>
          <p:cNvSpPr/>
          <p:nvPr/>
        </p:nvSpPr>
        <p:spPr>
          <a:xfrm>
            <a:off x="2266950" y="5208651"/>
            <a:ext cx="10287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727E87"/>
                </a:solidFill>
                <a:latin typeface="Noto Sans CJK SC"/>
                <a:ea typeface="Noto Sans CJK SC"/>
              </a:rPr>
              <a:t>64…111</a:t>
            </a:r>
            <a:endParaRPr lang="zh-CN" sz="1350"/>
          </a:p>
        </p:txBody>
      </p:sp>
      <p:sp>
        <p:nvSpPr>
          <p:cNvPr id="186" name="native186"/>
          <p:cNvSpPr/>
          <p:nvPr/>
        </p:nvSpPr>
        <p:spPr>
          <a:xfrm>
            <a:off x="4371975" y="5208651"/>
            <a:ext cx="12001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78628F"/>
                </a:solidFill>
                <a:latin typeface="Noto Sans CJK SC"/>
                <a:ea typeface="Noto Sans CJK SC"/>
              </a:rPr>
              <a:t>112…127</a:t>
            </a:r>
            <a:endParaRPr lang="zh-CN" sz="1350"/>
          </a:p>
        </p:txBody>
      </p:sp>
      <p:sp>
        <p:nvSpPr>
          <p:cNvPr id="187" name="native187"/>
          <p:cNvSpPr/>
          <p:nvPr/>
        </p:nvSpPr>
        <p:spPr>
          <a:xfrm>
            <a:off x="4438650" y="5505450"/>
            <a:ext cx="1066800" cy="114300"/>
          </a:xfrm>
          <a:custGeom>
            <a:avLst/>
            <a:gdLst/>
            <a:ahLst/>
            <a:cxnLst/>
            <a:rect l="0" t="0" r="r" b="b"/>
            <a:pathLst>
              <a:path w="1066800" h="114300" fill="none">
                <a:moveTo>
                  <a:pt x="0" y="0"/>
                </a:moveTo>
                <a:lnTo>
                  <a:pt x="0" y="114300"/>
                </a:lnTo>
                <a:lnTo>
                  <a:pt x="1066800" y="114300"/>
                </a:lnTo>
                <a:lnTo>
                  <a:pt x="1066800" y="0"/>
                </a:lnTo>
              </a:path>
            </a:pathLst>
          </a:custGeom>
          <a:noFill/>
          <a:ln w="15240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8" name="native188"/>
          <p:cNvSpPr/>
          <p:nvPr/>
        </p:nvSpPr>
        <p:spPr>
          <a:xfrm>
            <a:off x="681038" y="5734050"/>
            <a:ext cx="54768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875" b="1">
                <a:solidFill>
                  <a:srgbClr val="78628F"/>
                </a:solidFill>
                <a:latin typeface="Noto Sans CJK SC"/>
                <a:ea typeface="Noto Sans CJK SC"/>
              </a:rPr>
              <a:t>I = [48…63] ∪ [112…127]</a:t>
            </a:r>
            <a:endParaRPr lang="zh-CN" sz="1875"/>
          </a:p>
        </p:txBody>
      </p:sp>
      <p:sp>
        <p:nvSpPr>
          <p:cNvPr id="189" name="native189"/>
          <p:cNvSpPr/>
          <p:nvPr/>
        </p:nvSpPr>
        <p:spPr>
          <a:xfrm>
            <a:off x="1119188" y="6100572"/>
            <a:ext cx="4600575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75" b="0">
                <a:solidFill>
                  <a:srgbClr val="193247"/>
                </a:solidFill>
                <a:latin typeface="Noto Sans CJK SC"/>
                <a:ea typeface="Noto Sans CJK SC"/>
              </a:rPr>
              <a:t>32 坐标 = 16 个完整低频 RoPE 对</a:t>
            </a:r>
            <a:endParaRPr lang="zh-CN" sz="1575"/>
          </a:p>
        </p:txBody>
      </p:sp>
      <p:sp>
        <p:nvSpPr>
          <p:cNvPr id="190" name="native190"/>
          <p:cNvSpPr/>
          <p:nvPr/>
        </p:nvSpPr>
        <p:spPr>
          <a:xfrm>
            <a:off x="6343650" y="2500122"/>
            <a:ext cx="360045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75" b="1">
                <a:solidFill>
                  <a:srgbClr val="193247"/>
                </a:solidFill>
                <a:latin typeface="Noto Sans CJK SC"/>
                <a:ea typeface="Noto Sans CJK SC"/>
              </a:rPr>
              <a:t>同一索引 I 作用于每个 Q / K</a:t>
            </a:r>
            <a:endParaRPr lang="zh-CN" sz="1575"/>
          </a:p>
        </p:txBody>
      </p:sp>
      <p:sp>
        <p:nvSpPr>
          <p:cNvPr id="191" name="native191"/>
          <p:cNvSpPr/>
          <p:nvPr/>
        </p:nvSpPr>
        <p:spPr>
          <a:xfrm>
            <a:off x="6343650" y="2797683"/>
            <a:ext cx="1990725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727E87"/>
                </a:solidFill>
                <a:latin typeface="Noto Sans CJK SC"/>
                <a:ea typeface="Noto Sans CJK SC"/>
              </a:rPr>
              <a:t>以下示意一个 KV 组</a:t>
            </a:r>
            <a:endParaRPr lang="zh-CN" sz="1425"/>
          </a:p>
        </p:txBody>
      </p:sp>
      <p:sp>
        <p:nvSpPr>
          <p:cNvPr id="192" name="native192"/>
          <p:cNvSpPr/>
          <p:nvPr/>
        </p:nvSpPr>
        <p:spPr>
          <a:xfrm>
            <a:off x="6172200" y="3137154"/>
            <a:ext cx="2514600" cy="33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650" b="1">
                <a:solidFill>
                  <a:srgbClr val="78628F"/>
                </a:solidFill>
                <a:latin typeface="Noto Sans CJK SC"/>
                <a:ea typeface="Noto Sans CJK SC"/>
              </a:rPr>
              <a:t>Q_I · 4 × 32</a:t>
            </a:r>
            <a:endParaRPr lang="zh-CN" sz="1650"/>
          </a:p>
        </p:txBody>
      </p:sp>
      <p:sp>
        <p:nvSpPr>
          <p:cNvPr id="193" name="native193"/>
          <p:cNvSpPr/>
          <p:nvPr/>
        </p:nvSpPr>
        <p:spPr>
          <a:xfrm>
            <a:off x="7991475" y="3137154"/>
            <a:ext cx="2514600" cy="33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650" b="1">
                <a:solidFill>
                  <a:srgbClr val="78628F"/>
                </a:solidFill>
                <a:latin typeface="Noto Sans CJK SC"/>
                <a:ea typeface="Noto Sans CJK SC"/>
              </a:rPr>
              <a:t>K_I · S × 32</a:t>
            </a:r>
            <a:endParaRPr lang="zh-CN" sz="1650"/>
          </a:p>
        </p:txBody>
      </p:sp>
      <p:sp>
        <p:nvSpPr>
          <p:cNvPr id="194" name="native194"/>
          <p:cNvSpPr/>
          <p:nvPr/>
        </p:nvSpPr>
        <p:spPr>
          <a:xfrm>
            <a:off x="5762625" y="3552444"/>
            <a:ext cx="85725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zh-CN" sz="1500" b="0">
                <a:solidFill>
                  <a:srgbClr val="727E87"/>
                </a:solidFill>
                <a:latin typeface="Noto Sans CJK SC"/>
                <a:ea typeface="Noto Sans CJK SC"/>
              </a:rPr>
              <a:t>q1</a:t>
            </a:r>
            <a:endParaRPr lang="zh-CN" sz="1275"/>
          </a:p>
        </p:txBody>
      </p:sp>
      <p:sp>
        <p:nvSpPr>
          <p:cNvPr id="195" name="native195"/>
          <p:cNvSpPr/>
          <p:nvPr/>
        </p:nvSpPr>
        <p:spPr>
          <a:xfrm>
            <a:off x="670560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" name="native196"/>
          <p:cNvSpPr/>
          <p:nvPr/>
        </p:nvSpPr>
        <p:spPr>
          <a:xfrm>
            <a:off x="675132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7" name="native197"/>
          <p:cNvSpPr/>
          <p:nvPr/>
        </p:nvSpPr>
        <p:spPr>
          <a:xfrm>
            <a:off x="679704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" name="native198"/>
          <p:cNvSpPr/>
          <p:nvPr/>
        </p:nvSpPr>
        <p:spPr>
          <a:xfrm>
            <a:off x="684276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9" name="native199"/>
          <p:cNvSpPr/>
          <p:nvPr/>
        </p:nvSpPr>
        <p:spPr>
          <a:xfrm>
            <a:off x="688848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0" name="native200"/>
          <p:cNvSpPr/>
          <p:nvPr/>
        </p:nvSpPr>
        <p:spPr>
          <a:xfrm>
            <a:off x="693420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1" name="native201"/>
          <p:cNvSpPr/>
          <p:nvPr/>
        </p:nvSpPr>
        <p:spPr>
          <a:xfrm>
            <a:off x="697992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2" name="native202"/>
          <p:cNvSpPr/>
          <p:nvPr/>
        </p:nvSpPr>
        <p:spPr>
          <a:xfrm>
            <a:off x="702564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3" name="native203"/>
          <p:cNvSpPr/>
          <p:nvPr/>
        </p:nvSpPr>
        <p:spPr>
          <a:xfrm>
            <a:off x="707136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" name="native204"/>
          <p:cNvSpPr/>
          <p:nvPr/>
        </p:nvSpPr>
        <p:spPr>
          <a:xfrm>
            <a:off x="711708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" name="native205"/>
          <p:cNvSpPr/>
          <p:nvPr/>
        </p:nvSpPr>
        <p:spPr>
          <a:xfrm>
            <a:off x="716280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6" name="native206"/>
          <p:cNvSpPr/>
          <p:nvPr/>
        </p:nvSpPr>
        <p:spPr>
          <a:xfrm>
            <a:off x="720852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7" name="native207"/>
          <p:cNvSpPr/>
          <p:nvPr/>
        </p:nvSpPr>
        <p:spPr>
          <a:xfrm>
            <a:off x="725424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8" name="native208"/>
          <p:cNvSpPr/>
          <p:nvPr/>
        </p:nvSpPr>
        <p:spPr>
          <a:xfrm>
            <a:off x="729996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9" name="native209"/>
          <p:cNvSpPr/>
          <p:nvPr/>
        </p:nvSpPr>
        <p:spPr>
          <a:xfrm>
            <a:off x="734568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0" name="native210"/>
          <p:cNvSpPr/>
          <p:nvPr/>
        </p:nvSpPr>
        <p:spPr>
          <a:xfrm>
            <a:off x="739140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" name="native211"/>
          <p:cNvSpPr/>
          <p:nvPr/>
        </p:nvSpPr>
        <p:spPr>
          <a:xfrm>
            <a:off x="743712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2" name="native212"/>
          <p:cNvSpPr/>
          <p:nvPr/>
        </p:nvSpPr>
        <p:spPr>
          <a:xfrm>
            <a:off x="748284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3" name="native213"/>
          <p:cNvSpPr/>
          <p:nvPr/>
        </p:nvSpPr>
        <p:spPr>
          <a:xfrm>
            <a:off x="752856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4" name="native214"/>
          <p:cNvSpPr/>
          <p:nvPr/>
        </p:nvSpPr>
        <p:spPr>
          <a:xfrm>
            <a:off x="757428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" name="native215"/>
          <p:cNvSpPr/>
          <p:nvPr/>
        </p:nvSpPr>
        <p:spPr>
          <a:xfrm>
            <a:off x="762000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6" name="native216"/>
          <p:cNvSpPr/>
          <p:nvPr/>
        </p:nvSpPr>
        <p:spPr>
          <a:xfrm>
            <a:off x="766572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7" name="native217"/>
          <p:cNvSpPr/>
          <p:nvPr/>
        </p:nvSpPr>
        <p:spPr>
          <a:xfrm>
            <a:off x="771144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8" name="native218"/>
          <p:cNvSpPr/>
          <p:nvPr/>
        </p:nvSpPr>
        <p:spPr>
          <a:xfrm>
            <a:off x="775716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9" name="native219"/>
          <p:cNvSpPr/>
          <p:nvPr/>
        </p:nvSpPr>
        <p:spPr>
          <a:xfrm>
            <a:off x="780288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0" name="native220"/>
          <p:cNvSpPr/>
          <p:nvPr/>
        </p:nvSpPr>
        <p:spPr>
          <a:xfrm>
            <a:off x="784860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1" name="native221"/>
          <p:cNvSpPr/>
          <p:nvPr/>
        </p:nvSpPr>
        <p:spPr>
          <a:xfrm>
            <a:off x="789432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2" name="native222"/>
          <p:cNvSpPr/>
          <p:nvPr/>
        </p:nvSpPr>
        <p:spPr>
          <a:xfrm>
            <a:off x="794004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3" name="native223"/>
          <p:cNvSpPr/>
          <p:nvPr/>
        </p:nvSpPr>
        <p:spPr>
          <a:xfrm>
            <a:off x="798576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4" name="native224"/>
          <p:cNvSpPr/>
          <p:nvPr/>
        </p:nvSpPr>
        <p:spPr>
          <a:xfrm>
            <a:off x="803148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" name="native225"/>
          <p:cNvSpPr/>
          <p:nvPr/>
        </p:nvSpPr>
        <p:spPr>
          <a:xfrm>
            <a:off x="807720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6" name="native226"/>
          <p:cNvSpPr/>
          <p:nvPr/>
        </p:nvSpPr>
        <p:spPr>
          <a:xfrm>
            <a:off x="8122920" y="358140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7" name="native227"/>
          <p:cNvSpPr/>
          <p:nvPr/>
        </p:nvSpPr>
        <p:spPr>
          <a:xfrm>
            <a:off x="5762625" y="3790569"/>
            <a:ext cx="85725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zh-CN" sz="1500" b="0">
                <a:solidFill>
                  <a:srgbClr val="727E87"/>
                </a:solidFill>
                <a:latin typeface="Noto Sans CJK SC"/>
                <a:ea typeface="Noto Sans CJK SC"/>
              </a:rPr>
              <a:t>q2</a:t>
            </a:r>
            <a:endParaRPr lang="zh-CN" sz="1275"/>
          </a:p>
        </p:txBody>
      </p:sp>
      <p:sp>
        <p:nvSpPr>
          <p:cNvPr id="228" name="native228"/>
          <p:cNvSpPr/>
          <p:nvPr/>
        </p:nvSpPr>
        <p:spPr>
          <a:xfrm>
            <a:off x="670560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9" name="native229"/>
          <p:cNvSpPr/>
          <p:nvPr/>
        </p:nvSpPr>
        <p:spPr>
          <a:xfrm>
            <a:off x="675132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0" name="native230"/>
          <p:cNvSpPr/>
          <p:nvPr/>
        </p:nvSpPr>
        <p:spPr>
          <a:xfrm>
            <a:off x="679704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1" name="native231"/>
          <p:cNvSpPr/>
          <p:nvPr/>
        </p:nvSpPr>
        <p:spPr>
          <a:xfrm>
            <a:off x="684276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" name="native232"/>
          <p:cNvSpPr/>
          <p:nvPr/>
        </p:nvSpPr>
        <p:spPr>
          <a:xfrm>
            <a:off x="688848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3" name="native233"/>
          <p:cNvSpPr/>
          <p:nvPr/>
        </p:nvSpPr>
        <p:spPr>
          <a:xfrm>
            <a:off x="693420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4" name="native234"/>
          <p:cNvSpPr/>
          <p:nvPr/>
        </p:nvSpPr>
        <p:spPr>
          <a:xfrm>
            <a:off x="697992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5" name="native235"/>
          <p:cNvSpPr/>
          <p:nvPr/>
        </p:nvSpPr>
        <p:spPr>
          <a:xfrm>
            <a:off x="702564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6" name="native236"/>
          <p:cNvSpPr/>
          <p:nvPr/>
        </p:nvSpPr>
        <p:spPr>
          <a:xfrm>
            <a:off x="707136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7" name="native237"/>
          <p:cNvSpPr/>
          <p:nvPr/>
        </p:nvSpPr>
        <p:spPr>
          <a:xfrm>
            <a:off x="711708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8" name="native238"/>
          <p:cNvSpPr/>
          <p:nvPr/>
        </p:nvSpPr>
        <p:spPr>
          <a:xfrm>
            <a:off x="716280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9" name="native239"/>
          <p:cNvSpPr/>
          <p:nvPr/>
        </p:nvSpPr>
        <p:spPr>
          <a:xfrm>
            <a:off x="720852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0" name="native240"/>
          <p:cNvSpPr/>
          <p:nvPr/>
        </p:nvSpPr>
        <p:spPr>
          <a:xfrm>
            <a:off x="725424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1" name="native241"/>
          <p:cNvSpPr/>
          <p:nvPr/>
        </p:nvSpPr>
        <p:spPr>
          <a:xfrm>
            <a:off x="729996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2" name="native242"/>
          <p:cNvSpPr/>
          <p:nvPr/>
        </p:nvSpPr>
        <p:spPr>
          <a:xfrm>
            <a:off x="734568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3" name="native243"/>
          <p:cNvSpPr/>
          <p:nvPr/>
        </p:nvSpPr>
        <p:spPr>
          <a:xfrm>
            <a:off x="739140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4" name="native244"/>
          <p:cNvSpPr/>
          <p:nvPr/>
        </p:nvSpPr>
        <p:spPr>
          <a:xfrm>
            <a:off x="743712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" name="native245"/>
          <p:cNvSpPr/>
          <p:nvPr/>
        </p:nvSpPr>
        <p:spPr>
          <a:xfrm>
            <a:off x="748284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6" name="native246"/>
          <p:cNvSpPr/>
          <p:nvPr/>
        </p:nvSpPr>
        <p:spPr>
          <a:xfrm>
            <a:off x="752856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7" name="native247"/>
          <p:cNvSpPr/>
          <p:nvPr/>
        </p:nvSpPr>
        <p:spPr>
          <a:xfrm>
            <a:off x="757428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8" name="native248"/>
          <p:cNvSpPr/>
          <p:nvPr/>
        </p:nvSpPr>
        <p:spPr>
          <a:xfrm>
            <a:off x="762000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9" name="native249"/>
          <p:cNvSpPr/>
          <p:nvPr/>
        </p:nvSpPr>
        <p:spPr>
          <a:xfrm>
            <a:off x="766572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0" name="native250"/>
          <p:cNvSpPr/>
          <p:nvPr/>
        </p:nvSpPr>
        <p:spPr>
          <a:xfrm>
            <a:off x="771144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1" name="native251"/>
          <p:cNvSpPr/>
          <p:nvPr/>
        </p:nvSpPr>
        <p:spPr>
          <a:xfrm>
            <a:off x="775716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2" name="native252"/>
          <p:cNvSpPr/>
          <p:nvPr/>
        </p:nvSpPr>
        <p:spPr>
          <a:xfrm>
            <a:off x="780288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3" name="native253"/>
          <p:cNvSpPr/>
          <p:nvPr/>
        </p:nvSpPr>
        <p:spPr>
          <a:xfrm>
            <a:off x="784860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4" name="native254"/>
          <p:cNvSpPr/>
          <p:nvPr/>
        </p:nvSpPr>
        <p:spPr>
          <a:xfrm>
            <a:off x="789432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5" name="native255"/>
          <p:cNvSpPr/>
          <p:nvPr/>
        </p:nvSpPr>
        <p:spPr>
          <a:xfrm>
            <a:off x="794004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" name="native256"/>
          <p:cNvSpPr/>
          <p:nvPr/>
        </p:nvSpPr>
        <p:spPr>
          <a:xfrm>
            <a:off x="798576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7" name="native257"/>
          <p:cNvSpPr/>
          <p:nvPr/>
        </p:nvSpPr>
        <p:spPr>
          <a:xfrm>
            <a:off x="803148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8" name="native258"/>
          <p:cNvSpPr/>
          <p:nvPr/>
        </p:nvSpPr>
        <p:spPr>
          <a:xfrm>
            <a:off x="807720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9" name="native259"/>
          <p:cNvSpPr/>
          <p:nvPr/>
        </p:nvSpPr>
        <p:spPr>
          <a:xfrm>
            <a:off x="8122920" y="381952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0" name="native260"/>
          <p:cNvSpPr/>
          <p:nvPr/>
        </p:nvSpPr>
        <p:spPr>
          <a:xfrm>
            <a:off x="5762625" y="4028694"/>
            <a:ext cx="85725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zh-CN" sz="1500" b="0">
                <a:solidFill>
                  <a:srgbClr val="727E87"/>
                </a:solidFill>
                <a:latin typeface="Noto Sans CJK SC"/>
                <a:ea typeface="Noto Sans CJK SC"/>
              </a:rPr>
              <a:t>q3</a:t>
            </a:r>
            <a:endParaRPr lang="zh-CN" sz="1275"/>
          </a:p>
        </p:txBody>
      </p:sp>
      <p:sp>
        <p:nvSpPr>
          <p:cNvPr id="261" name="native261"/>
          <p:cNvSpPr/>
          <p:nvPr/>
        </p:nvSpPr>
        <p:spPr>
          <a:xfrm>
            <a:off x="670560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2" name="native262"/>
          <p:cNvSpPr/>
          <p:nvPr/>
        </p:nvSpPr>
        <p:spPr>
          <a:xfrm>
            <a:off x="675132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3" name="native263"/>
          <p:cNvSpPr/>
          <p:nvPr/>
        </p:nvSpPr>
        <p:spPr>
          <a:xfrm>
            <a:off x="679704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4" name="native264"/>
          <p:cNvSpPr/>
          <p:nvPr/>
        </p:nvSpPr>
        <p:spPr>
          <a:xfrm>
            <a:off x="684276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" name="native265"/>
          <p:cNvSpPr/>
          <p:nvPr/>
        </p:nvSpPr>
        <p:spPr>
          <a:xfrm>
            <a:off x="688848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" name="native266"/>
          <p:cNvSpPr/>
          <p:nvPr/>
        </p:nvSpPr>
        <p:spPr>
          <a:xfrm>
            <a:off x="693420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7" name="native267"/>
          <p:cNvSpPr/>
          <p:nvPr/>
        </p:nvSpPr>
        <p:spPr>
          <a:xfrm>
            <a:off x="697992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8" name="native268"/>
          <p:cNvSpPr/>
          <p:nvPr/>
        </p:nvSpPr>
        <p:spPr>
          <a:xfrm>
            <a:off x="702564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9" name="native269"/>
          <p:cNvSpPr/>
          <p:nvPr/>
        </p:nvSpPr>
        <p:spPr>
          <a:xfrm>
            <a:off x="707136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0" name="native270"/>
          <p:cNvSpPr/>
          <p:nvPr/>
        </p:nvSpPr>
        <p:spPr>
          <a:xfrm>
            <a:off x="711708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1" name="native271"/>
          <p:cNvSpPr/>
          <p:nvPr/>
        </p:nvSpPr>
        <p:spPr>
          <a:xfrm>
            <a:off x="716280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2" name="native272"/>
          <p:cNvSpPr/>
          <p:nvPr/>
        </p:nvSpPr>
        <p:spPr>
          <a:xfrm>
            <a:off x="720852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3" name="native273"/>
          <p:cNvSpPr/>
          <p:nvPr/>
        </p:nvSpPr>
        <p:spPr>
          <a:xfrm>
            <a:off x="725424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4" name="native274"/>
          <p:cNvSpPr/>
          <p:nvPr/>
        </p:nvSpPr>
        <p:spPr>
          <a:xfrm>
            <a:off x="729996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5" name="native275"/>
          <p:cNvSpPr/>
          <p:nvPr/>
        </p:nvSpPr>
        <p:spPr>
          <a:xfrm>
            <a:off x="734568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" name="native276"/>
          <p:cNvSpPr/>
          <p:nvPr/>
        </p:nvSpPr>
        <p:spPr>
          <a:xfrm>
            <a:off x="739140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7" name="native277"/>
          <p:cNvSpPr/>
          <p:nvPr/>
        </p:nvSpPr>
        <p:spPr>
          <a:xfrm>
            <a:off x="743712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8" name="native278"/>
          <p:cNvSpPr/>
          <p:nvPr/>
        </p:nvSpPr>
        <p:spPr>
          <a:xfrm>
            <a:off x="748284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9" name="native279"/>
          <p:cNvSpPr/>
          <p:nvPr/>
        </p:nvSpPr>
        <p:spPr>
          <a:xfrm>
            <a:off x="752856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0" name="native280"/>
          <p:cNvSpPr/>
          <p:nvPr/>
        </p:nvSpPr>
        <p:spPr>
          <a:xfrm>
            <a:off x="757428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1" name="native281"/>
          <p:cNvSpPr/>
          <p:nvPr/>
        </p:nvSpPr>
        <p:spPr>
          <a:xfrm>
            <a:off x="762000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2" name="native282"/>
          <p:cNvSpPr/>
          <p:nvPr/>
        </p:nvSpPr>
        <p:spPr>
          <a:xfrm>
            <a:off x="766572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3" name="native283"/>
          <p:cNvSpPr/>
          <p:nvPr/>
        </p:nvSpPr>
        <p:spPr>
          <a:xfrm>
            <a:off x="771144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4" name="native284"/>
          <p:cNvSpPr/>
          <p:nvPr/>
        </p:nvSpPr>
        <p:spPr>
          <a:xfrm>
            <a:off x="775716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5" name="native285"/>
          <p:cNvSpPr/>
          <p:nvPr/>
        </p:nvSpPr>
        <p:spPr>
          <a:xfrm>
            <a:off x="780288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" name="native286"/>
          <p:cNvSpPr/>
          <p:nvPr/>
        </p:nvSpPr>
        <p:spPr>
          <a:xfrm>
            <a:off x="784860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7" name="native287"/>
          <p:cNvSpPr/>
          <p:nvPr/>
        </p:nvSpPr>
        <p:spPr>
          <a:xfrm>
            <a:off x="789432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8" name="native288"/>
          <p:cNvSpPr/>
          <p:nvPr/>
        </p:nvSpPr>
        <p:spPr>
          <a:xfrm>
            <a:off x="794004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" name="native289"/>
          <p:cNvSpPr/>
          <p:nvPr/>
        </p:nvSpPr>
        <p:spPr>
          <a:xfrm>
            <a:off x="798576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0" name="native290"/>
          <p:cNvSpPr/>
          <p:nvPr/>
        </p:nvSpPr>
        <p:spPr>
          <a:xfrm>
            <a:off x="803148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1" name="native291"/>
          <p:cNvSpPr/>
          <p:nvPr/>
        </p:nvSpPr>
        <p:spPr>
          <a:xfrm>
            <a:off x="807720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2" name="native292"/>
          <p:cNvSpPr/>
          <p:nvPr/>
        </p:nvSpPr>
        <p:spPr>
          <a:xfrm>
            <a:off x="8122920" y="4057650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3" name="native293"/>
          <p:cNvSpPr/>
          <p:nvPr/>
        </p:nvSpPr>
        <p:spPr>
          <a:xfrm>
            <a:off x="5762625" y="4266819"/>
            <a:ext cx="85725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zh-CN" sz="1500" b="0">
                <a:solidFill>
                  <a:srgbClr val="727E87"/>
                </a:solidFill>
                <a:latin typeface="Noto Sans CJK SC"/>
                <a:ea typeface="Noto Sans CJK SC"/>
              </a:rPr>
              <a:t>q4</a:t>
            </a:r>
            <a:endParaRPr lang="zh-CN" sz="1275"/>
          </a:p>
        </p:txBody>
      </p:sp>
      <p:sp>
        <p:nvSpPr>
          <p:cNvPr id="294" name="native294"/>
          <p:cNvSpPr/>
          <p:nvPr/>
        </p:nvSpPr>
        <p:spPr>
          <a:xfrm>
            <a:off x="670560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" name="native295"/>
          <p:cNvSpPr/>
          <p:nvPr/>
        </p:nvSpPr>
        <p:spPr>
          <a:xfrm>
            <a:off x="675132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6" name="native296"/>
          <p:cNvSpPr/>
          <p:nvPr/>
        </p:nvSpPr>
        <p:spPr>
          <a:xfrm>
            <a:off x="679704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" name="native297"/>
          <p:cNvSpPr/>
          <p:nvPr/>
        </p:nvSpPr>
        <p:spPr>
          <a:xfrm>
            <a:off x="684276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8" name="native298"/>
          <p:cNvSpPr/>
          <p:nvPr/>
        </p:nvSpPr>
        <p:spPr>
          <a:xfrm>
            <a:off x="688848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9" name="native299"/>
          <p:cNvSpPr/>
          <p:nvPr/>
        </p:nvSpPr>
        <p:spPr>
          <a:xfrm>
            <a:off x="693420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0" name="native300"/>
          <p:cNvSpPr/>
          <p:nvPr/>
        </p:nvSpPr>
        <p:spPr>
          <a:xfrm>
            <a:off x="697992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1" name="native301"/>
          <p:cNvSpPr/>
          <p:nvPr/>
        </p:nvSpPr>
        <p:spPr>
          <a:xfrm>
            <a:off x="702564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2" name="native302"/>
          <p:cNvSpPr/>
          <p:nvPr/>
        </p:nvSpPr>
        <p:spPr>
          <a:xfrm>
            <a:off x="707136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3" name="native303"/>
          <p:cNvSpPr/>
          <p:nvPr/>
        </p:nvSpPr>
        <p:spPr>
          <a:xfrm>
            <a:off x="711708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4" name="native304"/>
          <p:cNvSpPr/>
          <p:nvPr/>
        </p:nvSpPr>
        <p:spPr>
          <a:xfrm>
            <a:off x="716280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5" name="native305"/>
          <p:cNvSpPr/>
          <p:nvPr/>
        </p:nvSpPr>
        <p:spPr>
          <a:xfrm>
            <a:off x="720852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6" name="native306"/>
          <p:cNvSpPr/>
          <p:nvPr/>
        </p:nvSpPr>
        <p:spPr>
          <a:xfrm>
            <a:off x="725424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" name="native307"/>
          <p:cNvSpPr/>
          <p:nvPr/>
        </p:nvSpPr>
        <p:spPr>
          <a:xfrm>
            <a:off x="729996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" name="native308"/>
          <p:cNvSpPr/>
          <p:nvPr/>
        </p:nvSpPr>
        <p:spPr>
          <a:xfrm>
            <a:off x="734568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" name="native309"/>
          <p:cNvSpPr/>
          <p:nvPr/>
        </p:nvSpPr>
        <p:spPr>
          <a:xfrm>
            <a:off x="739140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0" name="native310"/>
          <p:cNvSpPr/>
          <p:nvPr/>
        </p:nvSpPr>
        <p:spPr>
          <a:xfrm>
            <a:off x="743712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1" name="native311"/>
          <p:cNvSpPr/>
          <p:nvPr/>
        </p:nvSpPr>
        <p:spPr>
          <a:xfrm>
            <a:off x="748284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2" name="native312"/>
          <p:cNvSpPr/>
          <p:nvPr/>
        </p:nvSpPr>
        <p:spPr>
          <a:xfrm>
            <a:off x="752856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3" name="native313"/>
          <p:cNvSpPr/>
          <p:nvPr/>
        </p:nvSpPr>
        <p:spPr>
          <a:xfrm>
            <a:off x="757428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4" name="native314"/>
          <p:cNvSpPr/>
          <p:nvPr/>
        </p:nvSpPr>
        <p:spPr>
          <a:xfrm>
            <a:off x="762000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5" name="native315"/>
          <p:cNvSpPr/>
          <p:nvPr/>
        </p:nvSpPr>
        <p:spPr>
          <a:xfrm>
            <a:off x="766572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6" name="native316"/>
          <p:cNvSpPr/>
          <p:nvPr/>
        </p:nvSpPr>
        <p:spPr>
          <a:xfrm>
            <a:off x="771144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" name="native317"/>
          <p:cNvSpPr/>
          <p:nvPr/>
        </p:nvSpPr>
        <p:spPr>
          <a:xfrm>
            <a:off x="775716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8" name="native318"/>
          <p:cNvSpPr/>
          <p:nvPr/>
        </p:nvSpPr>
        <p:spPr>
          <a:xfrm>
            <a:off x="780288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9" name="native319"/>
          <p:cNvSpPr/>
          <p:nvPr/>
        </p:nvSpPr>
        <p:spPr>
          <a:xfrm>
            <a:off x="784860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0" name="native320"/>
          <p:cNvSpPr/>
          <p:nvPr/>
        </p:nvSpPr>
        <p:spPr>
          <a:xfrm>
            <a:off x="789432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1" name="native321"/>
          <p:cNvSpPr/>
          <p:nvPr/>
        </p:nvSpPr>
        <p:spPr>
          <a:xfrm>
            <a:off x="794004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2" name="native322"/>
          <p:cNvSpPr/>
          <p:nvPr/>
        </p:nvSpPr>
        <p:spPr>
          <a:xfrm>
            <a:off x="798576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3" name="native323"/>
          <p:cNvSpPr/>
          <p:nvPr/>
        </p:nvSpPr>
        <p:spPr>
          <a:xfrm>
            <a:off x="803148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4" name="native324"/>
          <p:cNvSpPr/>
          <p:nvPr/>
        </p:nvSpPr>
        <p:spPr>
          <a:xfrm>
            <a:off x="807720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5" name="native325"/>
          <p:cNvSpPr/>
          <p:nvPr/>
        </p:nvSpPr>
        <p:spPr>
          <a:xfrm>
            <a:off x="8122920" y="4295775"/>
            <a:ext cx="34766" cy="16192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6" name="native326"/>
          <p:cNvSpPr/>
          <p:nvPr/>
        </p:nvSpPr>
        <p:spPr>
          <a:xfrm>
            <a:off x="852487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" name="native327"/>
          <p:cNvSpPr/>
          <p:nvPr/>
        </p:nvSpPr>
        <p:spPr>
          <a:xfrm>
            <a:off x="857059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8" name="native328"/>
          <p:cNvSpPr/>
          <p:nvPr/>
        </p:nvSpPr>
        <p:spPr>
          <a:xfrm>
            <a:off x="861631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9" name="native329"/>
          <p:cNvSpPr/>
          <p:nvPr/>
        </p:nvSpPr>
        <p:spPr>
          <a:xfrm>
            <a:off x="866203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0" name="native330"/>
          <p:cNvSpPr/>
          <p:nvPr/>
        </p:nvSpPr>
        <p:spPr>
          <a:xfrm>
            <a:off x="870775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1" name="native331"/>
          <p:cNvSpPr/>
          <p:nvPr/>
        </p:nvSpPr>
        <p:spPr>
          <a:xfrm>
            <a:off x="875347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2" name="native332"/>
          <p:cNvSpPr/>
          <p:nvPr/>
        </p:nvSpPr>
        <p:spPr>
          <a:xfrm>
            <a:off x="879919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3" name="native333"/>
          <p:cNvSpPr/>
          <p:nvPr/>
        </p:nvSpPr>
        <p:spPr>
          <a:xfrm>
            <a:off x="884491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4" name="native334"/>
          <p:cNvSpPr/>
          <p:nvPr/>
        </p:nvSpPr>
        <p:spPr>
          <a:xfrm>
            <a:off x="889063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5" name="native335"/>
          <p:cNvSpPr/>
          <p:nvPr/>
        </p:nvSpPr>
        <p:spPr>
          <a:xfrm>
            <a:off x="893635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6" name="native336"/>
          <p:cNvSpPr/>
          <p:nvPr/>
        </p:nvSpPr>
        <p:spPr>
          <a:xfrm>
            <a:off x="898207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7" name="native337"/>
          <p:cNvSpPr/>
          <p:nvPr/>
        </p:nvSpPr>
        <p:spPr>
          <a:xfrm>
            <a:off x="902779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" name="native338"/>
          <p:cNvSpPr/>
          <p:nvPr/>
        </p:nvSpPr>
        <p:spPr>
          <a:xfrm>
            <a:off x="907351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9" name="native339"/>
          <p:cNvSpPr/>
          <p:nvPr/>
        </p:nvSpPr>
        <p:spPr>
          <a:xfrm>
            <a:off x="911923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0" name="native340"/>
          <p:cNvSpPr/>
          <p:nvPr/>
        </p:nvSpPr>
        <p:spPr>
          <a:xfrm>
            <a:off x="916495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1" name="native341"/>
          <p:cNvSpPr/>
          <p:nvPr/>
        </p:nvSpPr>
        <p:spPr>
          <a:xfrm>
            <a:off x="921067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2" name="native342"/>
          <p:cNvSpPr/>
          <p:nvPr/>
        </p:nvSpPr>
        <p:spPr>
          <a:xfrm>
            <a:off x="925639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3" name="native343"/>
          <p:cNvSpPr/>
          <p:nvPr/>
        </p:nvSpPr>
        <p:spPr>
          <a:xfrm>
            <a:off x="930211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4" name="native344"/>
          <p:cNvSpPr/>
          <p:nvPr/>
        </p:nvSpPr>
        <p:spPr>
          <a:xfrm>
            <a:off x="934783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5" name="native345"/>
          <p:cNvSpPr/>
          <p:nvPr/>
        </p:nvSpPr>
        <p:spPr>
          <a:xfrm>
            <a:off x="939355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6" name="native346"/>
          <p:cNvSpPr/>
          <p:nvPr/>
        </p:nvSpPr>
        <p:spPr>
          <a:xfrm>
            <a:off x="943927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7" name="native347"/>
          <p:cNvSpPr/>
          <p:nvPr/>
        </p:nvSpPr>
        <p:spPr>
          <a:xfrm>
            <a:off x="948499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" name="native348"/>
          <p:cNvSpPr/>
          <p:nvPr/>
        </p:nvSpPr>
        <p:spPr>
          <a:xfrm>
            <a:off x="953071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9" name="native349"/>
          <p:cNvSpPr/>
          <p:nvPr/>
        </p:nvSpPr>
        <p:spPr>
          <a:xfrm>
            <a:off x="957643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0" name="native350"/>
          <p:cNvSpPr/>
          <p:nvPr/>
        </p:nvSpPr>
        <p:spPr>
          <a:xfrm>
            <a:off x="962215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1" name="native351"/>
          <p:cNvSpPr/>
          <p:nvPr/>
        </p:nvSpPr>
        <p:spPr>
          <a:xfrm>
            <a:off x="966787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2" name="native352"/>
          <p:cNvSpPr/>
          <p:nvPr/>
        </p:nvSpPr>
        <p:spPr>
          <a:xfrm>
            <a:off x="971359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3" name="native353"/>
          <p:cNvSpPr/>
          <p:nvPr/>
        </p:nvSpPr>
        <p:spPr>
          <a:xfrm>
            <a:off x="975931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4" name="native354"/>
          <p:cNvSpPr/>
          <p:nvPr/>
        </p:nvSpPr>
        <p:spPr>
          <a:xfrm>
            <a:off x="980503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5" name="native355"/>
          <p:cNvSpPr/>
          <p:nvPr/>
        </p:nvSpPr>
        <p:spPr>
          <a:xfrm>
            <a:off x="985075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6" name="native356"/>
          <p:cNvSpPr/>
          <p:nvPr/>
        </p:nvSpPr>
        <p:spPr>
          <a:xfrm>
            <a:off x="989647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7" name="native357"/>
          <p:cNvSpPr/>
          <p:nvPr/>
        </p:nvSpPr>
        <p:spPr>
          <a:xfrm>
            <a:off x="9942195" y="358140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" name="native358"/>
          <p:cNvSpPr/>
          <p:nvPr/>
        </p:nvSpPr>
        <p:spPr>
          <a:xfrm>
            <a:off x="852487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9" name="native359"/>
          <p:cNvSpPr/>
          <p:nvPr/>
        </p:nvSpPr>
        <p:spPr>
          <a:xfrm>
            <a:off x="857059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0" name="native360"/>
          <p:cNvSpPr/>
          <p:nvPr/>
        </p:nvSpPr>
        <p:spPr>
          <a:xfrm>
            <a:off x="861631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1" name="native361"/>
          <p:cNvSpPr/>
          <p:nvPr/>
        </p:nvSpPr>
        <p:spPr>
          <a:xfrm>
            <a:off x="866203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2" name="native362"/>
          <p:cNvSpPr/>
          <p:nvPr/>
        </p:nvSpPr>
        <p:spPr>
          <a:xfrm>
            <a:off x="870775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3" name="native363"/>
          <p:cNvSpPr/>
          <p:nvPr/>
        </p:nvSpPr>
        <p:spPr>
          <a:xfrm>
            <a:off x="875347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4" name="native364"/>
          <p:cNvSpPr/>
          <p:nvPr/>
        </p:nvSpPr>
        <p:spPr>
          <a:xfrm>
            <a:off x="879919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5" name="native365"/>
          <p:cNvSpPr/>
          <p:nvPr/>
        </p:nvSpPr>
        <p:spPr>
          <a:xfrm>
            <a:off x="884491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6" name="native366"/>
          <p:cNvSpPr/>
          <p:nvPr/>
        </p:nvSpPr>
        <p:spPr>
          <a:xfrm>
            <a:off x="889063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7" name="native367"/>
          <p:cNvSpPr/>
          <p:nvPr/>
        </p:nvSpPr>
        <p:spPr>
          <a:xfrm>
            <a:off x="893635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" name="native368"/>
          <p:cNvSpPr/>
          <p:nvPr/>
        </p:nvSpPr>
        <p:spPr>
          <a:xfrm>
            <a:off x="898207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9" name="native369"/>
          <p:cNvSpPr/>
          <p:nvPr/>
        </p:nvSpPr>
        <p:spPr>
          <a:xfrm>
            <a:off x="902779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0" name="native370"/>
          <p:cNvSpPr/>
          <p:nvPr/>
        </p:nvSpPr>
        <p:spPr>
          <a:xfrm>
            <a:off x="907351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1" name="native371"/>
          <p:cNvSpPr/>
          <p:nvPr/>
        </p:nvSpPr>
        <p:spPr>
          <a:xfrm>
            <a:off x="911923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2" name="native372"/>
          <p:cNvSpPr/>
          <p:nvPr/>
        </p:nvSpPr>
        <p:spPr>
          <a:xfrm>
            <a:off x="916495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3" name="native373"/>
          <p:cNvSpPr/>
          <p:nvPr/>
        </p:nvSpPr>
        <p:spPr>
          <a:xfrm>
            <a:off x="921067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4" name="native374"/>
          <p:cNvSpPr/>
          <p:nvPr/>
        </p:nvSpPr>
        <p:spPr>
          <a:xfrm>
            <a:off x="925639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5" name="native375"/>
          <p:cNvSpPr/>
          <p:nvPr/>
        </p:nvSpPr>
        <p:spPr>
          <a:xfrm>
            <a:off x="930211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6" name="native376"/>
          <p:cNvSpPr/>
          <p:nvPr/>
        </p:nvSpPr>
        <p:spPr>
          <a:xfrm>
            <a:off x="934783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7" name="native377"/>
          <p:cNvSpPr/>
          <p:nvPr/>
        </p:nvSpPr>
        <p:spPr>
          <a:xfrm>
            <a:off x="939355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" name="native378"/>
          <p:cNvSpPr/>
          <p:nvPr/>
        </p:nvSpPr>
        <p:spPr>
          <a:xfrm>
            <a:off x="943927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" name="native379"/>
          <p:cNvSpPr/>
          <p:nvPr/>
        </p:nvSpPr>
        <p:spPr>
          <a:xfrm>
            <a:off x="948499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0" name="native380"/>
          <p:cNvSpPr/>
          <p:nvPr/>
        </p:nvSpPr>
        <p:spPr>
          <a:xfrm>
            <a:off x="953071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1" name="native381"/>
          <p:cNvSpPr/>
          <p:nvPr/>
        </p:nvSpPr>
        <p:spPr>
          <a:xfrm>
            <a:off x="957643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2" name="native382"/>
          <p:cNvSpPr/>
          <p:nvPr/>
        </p:nvSpPr>
        <p:spPr>
          <a:xfrm>
            <a:off x="962215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3" name="native383"/>
          <p:cNvSpPr/>
          <p:nvPr/>
        </p:nvSpPr>
        <p:spPr>
          <a:xfrm>
            <a:off x="966787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4" name="native384"/>
          <p:cNvSpPr/>
          <p:nvPr/>
        </p:nvSpPr>
        <p:spPr>
          <a:xfrm>
            <a:off x="971359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5" name="native385"/>
          <p:cNvSpPr/>
          <p:nvPr/>
        </p:nvSpPr>
        <p:spPr>
          <a:xfrm>
            <a:off x="975931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6" name="native386"/>
          <p:cNvSpPr/>
          <p:nvPr/>
        </p:nvSpPr>
        <p:spPr>
          <a:xfrm>
            <a:off x="980503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7" name="native387"/>
          <p:cNvSpPr/>
          <p:nvPr/>
        </p:nvSpPr>
        <p:spPr>
          <a:xfrm>
            <a:off x="985075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8" name="native388"/>
          <p:cNvSpPr/>
          <p:nvPr/>
        </p:nvSpPr>
        <p:spPr>
          <a:xfrm>
            <a:off x="989647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" name="native389"/>
          <p:cNvSpPr/>
          <p:nvPr/>
        </p:nvSpPr>
        <p:spPr>
          <a:xfrm>
            <a:off x="9942195" y="380047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0" name="native390"/>
          <p:cNvSpPr/>
          <p:nvPr/>
        </p:nvSpPr>
        <p:spPr>
          <a:xfrm>
            <a:off x="852487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1" name="native391"/>
          <p:cNvSpPr/>
          <p:nvPr/>
        </p:nvSpPr>
        <p:spPr>
          <a:xfrm>
            <a:off x="857059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2" name="native392"/>
          <p:cNvSpPr/>
          <p:nvPr/>
        </p:nvSpPr>
        <p:spPr>
          <a:xfrm>
            <a:off x="861631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3" name="native393"/>
          <p:cNvSpPr/>
          <p:nvPr/>
        </p:nvSpPr>
        <p:spPr>
          <a:xfrm>
            <a:off x="866203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4" name="native394"/>
          <p:cNvSpPr/>
          <p:nvPr/>
        </p:nvSpPr>
        <p:spPr>
          <a:xfrm>
            <a:off x="870775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5" name="native395"/>
          <p:cNvSpPr/>
          <p:nvPr/>
        </p:nvSpPr>
        <p:spPr>
          <a:xfrm>
            <a:off x="875347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6" name="native396"/>
          <p:cNvSpPr/>
          <p:nvPr/>
        </p:nvSpPr>
        <p:spPr>
          <a:xfrm>
            <a:off x="879919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7" name="native397"/>
          <p:cNvSpPr/>
          <p:nvPr/>
        </p:nvSpPr>
        <p:spPr>
          <a:xfrm>
            <a:off x="884491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8" name="native398"/>
          <p:cNvSpPr/>
          <p:nvPr/>
        </p:nvSpPr>
        <p:spPr>
          <a:xfrm>
            <a:off x="889063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" name="native399"/>
          <p:cNvSpPr/>
          <p:nvPr/>
        </p:nvSpPr>
        <p:spPr>
          <a:xfrm>
            <a:off x="893635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0" name="native400"/>
          <p:cNvSpPr/>
          <p:nvPr/>
        </p:nvSpPr>
        <p:spPr>
          <a:xfrm>
            <a:off x="898207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1" name="native401"/>
          <p:cNvSpPr/>
          <p:nvPr/>
        </p:nvSpPr>
        <p:spPr>
          <a:xfrm>
            <a:off x="902779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2" name="native402"/>
          <p:cNvSpPr/>
          <p:nvPr/>
        </p:nvSpPr>
        <p:spPr>
          <a:xfrm>
            <a:off x="907351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3" name="native403"/>
          <p:cNvSpPr/>
          <p:nvPr/>
        </p:nvSpPr>
        <p:spPr>
          <a:xfrm>
            <a:off x="911923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4" name="native404"/>
          <p:cNvSpPr/>
          <p:nvPr/>
        </p:nvSpPr>
        <p:spPr>
          <a:xfrm>
            <a:off x="916495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5" name="native405"/>
          <p:cNvSpPr/>
          <p:nvPr/>
        </p:nvSpPr>
        <p:spPr>
          <a:xfrm>
            <a:off x="921067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6" name="native406"/>
          <p:cNvSpPr/>
          <p:nvPr/>
        </p:nvSpPr>
        <p:spPr>
          <a:xfrm>
            <a:off x="925639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7" name="native407"/>
          <p:cNvSpPr/>
          <p:nvPr/>
        </p:nvSpPr>
        <p:spPr>
          <a:xfrm>
            <a:off x="930211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8" name="native408"/>
          <p:cNvSpPr/>
          <p:nvPr/>
        </p:nvSpPr>
        <p:spPr>
          <a:xfrm>
            <a:off x="934783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9" name="native409"/>
          <p:cNvSpPr/>
          <p:nvPr/>
        </p:nvSpPr>
        <p:spPr>
          <a:xfrm>
            <a:off x="939355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0" name="native410"/>
          <p:cNvSpPr/>
          <p:nvPr/>
        </p:nvSpPr>
        <p:spPr>
          <a:xfrm>
            <a:off x="943927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1" name="native411"/>
          <p:cNvSpPr/>
          <p:nvPr/>
        </p:nvSpPr>
        <p:spPr>
          <a:xfrm>
            <a:off x="948499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2" name="native412"/>
          <p:cNvSpPr/>
          <p:nvPr/>
        </p:nvSpPr>
        <p:spPr>
          <a:xfrm>
            <a:off x="953071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3" name="native413"/>
          <p:cNvSpPr/>
          <p:nvPr/>
        </p:nvSpPr>
        <p:spPr>
          <a:xfrm>
            <a:off x="957643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4" name="native414"/>
          <p:cNvSpPr/>
          <p:nvPr/>
        </p:nvSpPr>
        <p:spPr>
          <a:xfrm>
            <a:off x="962215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5" name="native415"/>
          <p:cNvSpPr/>
          <p:nvPr/>
        </p:nvSpPr>
        <p:spPr>
          <a:xfrm>
            <a:off x="966787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6" name="native416"/>
          <p:cNvSpPr/>
          <p:nvPr/>
        </p:nvSpPr>
        <p:spPr>
          <a:xfrm>
            <a:off x="971359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7" name="native417"/>
          <p:cNvSpPr/>
          <p:nvPr/>
        </p:nvSpPr>
        <p:spPr>
          <a:xfrm>
            <a:off x="975931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8" name="native418"/>
          <p:cNvSpPr/>
          <p:nvPr/>
        </p:nvSpPr>
        <p:spPr>
          <a:xfrm>
            <a:off x="980503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9" name="native419"/>
          <p:cNvSpPr/>
          <p:nvPr/>
        </p:nvSpPr>
        <p:spPr>
          <a:xfrm>
            <a:off x="985075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" name="native420"/>
          <p:cNvSpPr/>
          <p:nvPr/>
        </p:nvSpPr>
        <p:spPr>
          <a:xfrm>
            <a:off x="989647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1" name="native421"/>
          <p:cNvSpPr/>
          <p:nvPr/>
        </p:nvSpPr>
        <p:spPr>
          <a:xfrm>
            <a:off x="9942195" y="401955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2" name="native422"/>
          <p:cNvSpPr/>
          <p:nvPr/>
        </p:nvSpPr>
        <p:spPr>
          <a:xfrm>
            <a:off x="852487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3" name="native423"/>
          <p:cNvSpPr/>
          <p:nvPr/>
        </p:nvSpPr>
        <p:spPr>
          <a:xfrm>
            <a:off x="857059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4" name="native424"/>
          <p:cNvSpPr/>
          <p:nvPr/>
        </p:nvSpPr>
        <p:spPr>
          <a:xfrm>
            <a:off x="861631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5" name="native425"/>
          <p:cNvSpPr/>
          <p:nvPr/>
        </p:nvSpPr>
        <p:spPr>
          <a:xfrm>
            <a:off x="866203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6" name="native426"/>
          <p:cNvSpPr/>
          <p:nvPr/>
        </p:nvSpPr>
        <p:spPr>
          <a:xfrm>
            <a:off x="870775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7" name="native427"/>
          <p:cNvSpPr/>
          <p:nvPr/>
        </p:nvSpPr>
        <p:spPr>
          <a:xfrm>
            <a:off x="875347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8" name="native428"/>
          <p:cNvSpPr/>
          <p:nvPr/>
        </p:nvSpPr>
        <p:spPr>
          <a:xfrm>
            <a:off x="879919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9" name="native429"/>
          <p:cNvSpPr/>
          <p:nvPr/>
        </p:nvSpPr>
        <p:spPr>
          <a:xfrm>
            <a:off x="884491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0" name="native430"/>
          <p:cNvSpPr/>
          <p:nvPr/>
        </p:nvSpPr>
        <p:spPr>
          <a:xfrm>
            <a:off x="889063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1" name="native431"/>
          <p:cNvSpPr/>
          <p:nvPr/>
        </p:nvSpPr>
        <p:spPr>
          <a:xfrm>
            <a:off x="893635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2" name="native432"/>
          <p:cNvSpPr/>
          <p:nvPr/>
        </p:nvSpPr>
        <p:spPr>
          <a:xfrm>
            <a:off x="898207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3" name="native433"/>
          <p:cNvSpPr/>
          <p:nvPr/>
        </p:nvSpPr>
        <p:spPr>
          <a:xfrm>
            <a:off x="902779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4" name="native434"/>
          <p:cNvSpPr/>
          <p:nvPr/>
        </p:nvSpPr>
        <p:spPr>
          <a:xfrm>
            <a:off x="907351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5" name="native435"/>
          <p:cNvSpPr/>
          <p:nvPr/>
        </p:nvSpPr>
        <p:spPr>
          <a:xfrm>
            <a:off x="911923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6" name="native436"/>
          <p:cNvSpPr/>
          <p:nvPr/>
        </p:nvSpPr>
        <p:spPr>
          <a:xfrm>
            <a:off x="916495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7" name="native437"/>
          <p:cNvSpPr/>
          <p:nvPr/>
        </p:nvSpPr>
        <p:spPr>
          <a:xfrm>
            <a:off x="921067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8" name="native438"/>
          <p:cNvSpPr/>
          <p:nvPr/>
        </p:nvSpPr>
        <p:spPr>
          <a:xfrm>
            <a:off x="925639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9" name="native439"/>
          <p:cNvSpPr/>
          <p:nvPr/>
        </p:nvSpPr>
        <p:spPr>
          <a:xfrm>
            <a:off x="930211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" name="native440"/>
          <p:cNvSpPr/>
          <p:nvPr/>
        </p:nvSpPr>
        <p:spPr>
          <a:xfrm>
            <a:off x="934783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1" name="native441"/>
          <p:cNvSpPr/>
          <p:nvPr/>
        </p:nvSpPr>
        <p:spPr>
          <a:xfrm>
            <a:off x="939355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2" name="native442"/>
          <p:cNvSpPr/>
          <p:nvPr/>
        </p:nvSpPr>
        <p:spPr>
          <a:xfrm>
            <a:off x="943927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3" name="native443"/>
          <p:cNvSpPr/>
          <p:nvPr/>
        </p:nvSpPr>
        <p:spPr>
          <a:xfrm>
            <a:off x="948499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4" name="native444"/>
          <p:cNvSpPr/>
          <p:nvPr/>
        </p:nvSpPr>
        <p:spPr>
          <a:xfrm>
            <a:off x="953071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" name="native445"/>
          <p:cNvSpPr/>
          <p:nvPr/>
        </p:nvSpPr>
        <p:spPr>
          <a:xfrm>
            <a:off x="957643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" name="native446"/>
          <p:cNvSpPr/>
          <p:nvPr/>
        </p:nvSpPr>
        <p:spPr>
          <a:xfrm>
            <a:off x="962215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7" name="native447"/>
          <p:cNvSpPr/>
          <p:nvPr/>
        </p:nvSpPr>
        <p:spPr>
          <a:xfrm>
            <a:off x="966787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8" name="native448"/>
          <p:cNvSpPr/>
          <p:nvPr/>
        </p:nvSpPr>
        <p:spPr>
          <a:xfrm>
            <a:off x="971359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" name="native449"/>
          <p:cNvSpPr/>
          <p:nvPr/>
        </p:nvSpPr>
        <p:spPr>
          <a:xfrm>
            <a:off x="975931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0" name="native450"/>
          <p:cNvSpPr/>
          <p:nvPr/>
        </p:nvSpPr>
        <p:spPr>
          <a:xfrm>
            <a:off x="980503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1" name="native451"/>
          <p:cNvSpPr/>
          <p:nvPr/>
        </p:nvSpPr>
        <p:spPr>
          <a:xfrm>
            <a:off x="985075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2" name="native452"/>
          <p:cNvSpPr/>
          <p:nvPr/>
        </p:nvSpPr>
        <p:spPr>
          <a:xfrm>
            <a:off x="989647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3" name="native453"/>
          <p:cNvSpPr/>
          <p:nvPr/>
        </p:nvSpPr>
        <p:spPr>
          <a:xfrm>
            <a:off x="9942195" y="423862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4" name="native454"/>
          <p:cNvSpPr/>
          <p:nvPr/>
        </p:nvSpPr>
        <p:spPr>
          <a:xfrm>
            <a:off x="852487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5" name="native455"/>
          <p:cNvSpPr/>
          <p:nvPr/>
        </p:nvSpPr>
        <p:spPr>
          <a:xfrm>
            <a:off x="857059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6" name="native456"/>
          <p:cNvSpPr/>
          <p:nvPr/>
        </p:nvSpPr>
        <p:spPr>
          <a:xfrm>
            <a:off x="861631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7" name="native457"/>
          <p:cNvSpPr/>
          <p:nvPr/>
        </p:nvSpPr>
        <p:spPr>
          <a:xfrm>
            <a:off x="866203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" name="native458"/>
          <p:cNvSpPr/>
          <p:nvPr/>
        </p:nvSpPr>
        <p:spPr>
          <a:xfrm>
            <a:off x="870775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9" name="native459"/>
          <p:cNvSpPr/>
          <p:nvPr/>
        </p:nvSpPr>
        <p:spPr>
          <a:xfrm>
            <a:off x="875347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0" name="native460"/>
          <p:cNvSpPr/>
          <p:nvPr/>
        </p:nvSpPr>
        <p:spPr>
          <a:xfrm>
            <a:off x="879919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1" name="native461"/>
          <p:cNvSpPr/>
          <p:nvPr/>
        </p:nvSpPr>
        <p:spPr>
          <a:xfrm>
            <a:off x="884491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2" name="native462"/>
          <p:cNvSpPr/>
          <p:nvPr/>
        </p:nvSpPr>
        <p:spPr>
          <a:xfrm>
            <a:off x="889063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3" name="native463"/>
          <p:cNvSpPr/>
          <p:nvPr/>
        </p:nvSpPr>
        <p:spPr>
          <a:xfrm>
            <a:off x="893635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4" name="native464"/>
          <p:cNvSpPr/>
          <p:nvPr/>
        </p:nvSpPr>
        <p:spPr>
          <a:xfrm>
            <a:off x="898207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5" name="native465"/>
          <p:cNvSpPr/>
          <p:nvPr/>
        </p:nvSpPr>
        <p:spPr>
          <a:xfrm>
            <a:off x="902779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" name="native466"/>
          <p:cNvSpPr/>
          <p:nvPr/>
        </p:nvSpPr>
        <p:spPr>
          <a:xfrm>
            <a:off x="907351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7" name="native467"/>
          <p:cNvSpPr/>
          <p:nvPr/>
        </p:nvSpPr>
        <p:spPr>
          <a:xfrm>
            <a:off x="911923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8" name="native468"/>
          <p:cNvSpPr/>
          <p:nvPr/>
        </p:nvSpPr>
        <p:spPr>
          <a:xfrm>
            <a:off x="916495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9" name="native469"/>
          <p:cNvSpPr/>
          <p:nvPr/>
        </p:nvSpPr>
        <p:spPr>
          <a:xfrm>
            <a:off x="921067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0" name="native470"/>
          <p:cNvSpPr/>
          <p:nvPr/>
        </p:nvSpPr>
        <p:spPr>
          <a:xfrm>
            <a:off x="925639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1" name="native471"/>
          <p:cNvSpPr/>
          <p:nvPr/>
        </p:nvSpPr>
        <p:spPr>
          <a:xfrm>
            <a:off x="930211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2" name="native472"/>
          <p:cNvSpPr/>
          <p:nvPr/>
        </p:nvSpPr>
        <p:spPr>
          <a:xfrm>
            <a:off x="934783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3" name="native473"/>
          <p:cNvSpPr/>
          <p:nvPr/>
        </p:nvSpPr>
        <p:spPr>
          <a:xfrm>
            <a:off x="939355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4" name="native474"/>
          <p:cNvSpPr/>
          <p:nvPr/>
        </p:nvSpPr>
        <p:spPr>
          <a:xfrm>
            <a:off x="943927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5" name="native475"/>
          <p:cNvSpPr/>
          <p:nvPr/>
        </p:nvSpPr>
        <p:spPr>
          <a:xfrm>
            <a:off x="948499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6" name="native476"/>
          <p:cNvSpPr/>
          <p:nvPr/>
        </p:nvSpPr>
        <p:spPr>
          <a:xfrm>
            <a:off x="953071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" name="native477"/>
          <p:cNvSpPr/>
          <p:nvPr/>
        </p:nvSpPr>
        <p:spPr>
          <a:xfrm>
            <a:off x="957643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8" name="native478"/>
          <p:cNvSpPr/>
          <p:nvPr/>
        </p:nvSpPr>
        <p:spPr>
          <a:xfrm>
            <a:off x="962215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9" name="native479"/>
          <p:cNvSpPr/>
          <p:nvPr/>
        </p:nvSpPr>
        <p:spPr>
          <a:xfrm>
            <a:off x="966787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0" name="native480"/>
          <p:cNvSpPr/>
          <p:nvPr/>
        </p:nvSpPr>
        <p:spPr>
          <a:xfrm>
            <a:off x="971359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" name="native481"/>
          <p:cNvSpPr/>
          <p:nvPr/>
        </p:nvSpPr>
        <p:spPr>
          <a:xfrm>
            <a:off x="975931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2" name="native482"/>
          <p:cNvSpPr/>
          <p:nvPr/>
        </p:nvSpPr>
        <p:spPr>
          <a:xfrm>
            <a:off x="980503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3" name="native483"/>
          <p:cNvSpPr/>
          <p:nvPr/>
        </p:nvSpPr>
        <p:spPr>
          <a:xfrm>
            <a:off x="985075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4" name="native484"/>
          <p:cNvSpPr/>
          <p:nvPr/>
        </p:nvSpPr>
        <p:spPr>
          <a:xfrm>
            <a:off x="989647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5" name="native485"/>
          <p:cNvSpPr/>
          <p:nvPr/>
        </p:nvSpPr>
        <p:spPr>
          <a:xfrm>
            <a:off x="9942195" y="4457700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6" name="native486"/>
          <p:cNvSpPr/>
          <p:nvPr/>
        </p:nvSpPr>
        <p:spPr>
          <a:xfrm>
            <a:off x="852487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7" name="native487"/>
          <p:cNvSpPr/>
          <p:nvPr/>
        </p:nvSpPr>
        <p:spPr>
          <a:xfrm>
            <a:off x="857059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8" name="native488"/>
          <p:cNvSpPr/>
          <p:nvPr/>
        </p:nvSpPr>
        <p:spPr>
          <a:xfrm>
            <a:off x="861631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9" name="native489"/>
          <p:cNvSpPr/>
          <p:nvPr/>
        </p:nvSpPr>
        <p:spPr>
          <a:xfrm>
            <a:off x="866203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0" name="native490"/>
          <p:cNvSpPr/>
          <p:nvPr/>
        </p:nvSpPr>
        <p:spPr>
          <a:xfrm>
            <a:off x="870775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1" name="native491"/>
          <p:cNvSpPr/>
          <p:nvPr/>
        </p:nvSpPr>
        <p:spPr>
          <a:xfrm>
            <a:off x="875347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2" name="native492"/>
          <p:cNvSpPr/>
          <p:nvPr/>
        </p:nvSpPr>
        <p:spPr>
          <a:xfrm>
            <a:off x="879919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3" name="native493"/>
          <p:cNvSpPr/>
          <p:nvPr/>
        </p:nvSpPr>
        <p:spPr>
          <a:xfrm>
            <a:off x="884491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4" name="native494"/>
          <p:cNvSpPr/>
          <p:nvPr/>
        </p:nvSpPr>
        <p:spPr>
          <a:xfrm>
            <a:off x="889063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5" name="native495"/>
          <p:cNvSpPr/>
          <p:nvPr/>
        </p:nvSpPr>
        <p:spPr>
          <a:xfrm>
            <a:off x="893635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6" name="native496"/>
          <p:cNvSpPr/>
          <p:nvPr/>
        </p:nvSpPr>
        <p:spPr>
          <a:xfrm>
            <a:off x="898207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7" name="native497"/>
          <p:cNvSpPr/>
          <p:nvPr/>
        </p:nvSpPr>
        <p:spPr>
          <a:xfrm>
            <a:off x="902779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8" name="native498"/>
          <p:cNvSpPr/>
          <p:nvPr/>
        </p:nvSpPr>
        <p:spPr>
          <a:xfrm>
            <a:off x="907351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9" name="native499"/>
          <p:cNvSpPr/>
          <p:nvPr/>
        </p:nvSpPr>
        <p:spPr>
          <a:xfrm>
            <a:off x="911923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0" name="native500"/>
          <p:cNvSpPr/>
          <p:nvPr/>
        </p:nvSpPr>
        <p:spPr>
          <a:xfrm>
            <a:off x="916495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" name="native501"/>
          <p:cNvSpPr/>
          <p:nvPr/>
        </p:nvSpPr>
        <p:spPr>
          <a:xfrm>
            <a:off x="921067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" name="native502"/>
          <p:cNvSpPr/>
          <p:nvPr/>
        </p:nvSpPr>
        <p:spPr>
          <a:xfrm>
            <a:off x="925639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3" name="native503"/>
          <p:cNvSpPr/>
          <p:nvPr/>
        </p:nvSpPr>
        <p:spPr>
          <a:xfrm>
            <a:off x="930211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4" name="native504"/>
          <p:cNvSpPr/>
          <p:nvPr/>
        </p:nvSpPr>
        <p:spPr>
          <a:xfrm>
            <a:off x="934783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5" name="native505"/>
          <p:cNvSpPr/>
          <p:nvPr/>
        </p:nvSpPr>
        <p:spPr>
          <a:xfrm>
            <a:off x="939355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6" name="native506"/>
          <p:cNvSpPr/>
          <p:nvPr/>
        </p:nvSpPr>
        <p:spPr>
          <a:xfrm>
            <a:off x="943927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7" name="native507"/>
          <p:cNvSpPr/>
          <p:nvPr/>
        </p:nvSpPr>
        <p:spPr>
          <a:xfrm>
            <a:off x="948499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8" name="native508"/>
          <p:cNvSpPr/>
          <p:nvPr/>
        </p:nvSpPr>
        <p:spPr>
          <a:xfrm>
            <a:off x="953071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9" name="native509"/>
          <p:cNvSpPr/>
          <p:nvPr/>
        </p:nvSpPr>
        <p:spPr>
          <a:xfrm>
            <a:off x="957643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0" name="native510"/>
          <p:cNvSpPr/>
          <p:nvPr/>
        </p:nvSpPr>
        <p:spPr>
          <a:xfrm>
            <a:off x="962215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1" name="native511"/>
          <p:cNvSpPr/>
          <p:nvPr/>
        </p:nvSpPr>
        <p:spPr>
          <a:xfrm>
            <a:off x="966787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" name="native512"/>
          <p:cNvSpPr/>
          <p:nvPr/>
        </p:nvSpPr>
        <p:spPr>
          <a:xfrm>
            <a:off x="971359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3" name="native513"/>
          <p:cNvSpPr/>
          <p:nvPr/>
        </p:nvSpPr>
        <p:spPr>
          <a:xfrm>
            <a:off x="975931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4" name="native514"/>
          <p:cNvSpPr/>
          <p:nvPr/>
        </p:nvSpPr>
        <p:spPr>
          <a:xfrm>
            <a:off x="980503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5" name="native515"/>
          <p:cNvSpPr/>
          <p:nvPr/>
        </p:nvSpPr>
        <p:spPr>
          <a:xfrm>
            <a:off x="985075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6" name="native516"/>
          <p:cNvSpPr/>
          <p:nvPr/>
        </p:nvSpPr>
        <p:spPr>
          <a:xfrm>
            <a:off x="989647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7" name="native517"/>
          <p:cNvSpPr/>
          <p:nvPr/>
        </p:nvSpPr>
        <p:spPr>
          <a:xfrm>
            <a:off x="9942195" y="4676775"/>
            <a:ext cx="34766" cy="142875"/>
          </a:xfrm>
          <a:prstGeom prst="rect">
            <a:avLst/>
          </a:prstGeom>
          <a:solidFill>
            <a:srgbClr val="B8A9C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8" name="native518"/>
          <p:cNvSpPr/>
          <p:nvPr/>
        </p:nvSpPr>
        <p:spPr>
          <a:xfrm>
            <a:off x="852487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9" name="native519"/>
          <p:cNvSpPr/>
          <p:nvPr/>
        </p:nvSpPr>
        <p:spPr>
          <a:xfrm>
            <a:off x="857059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0" name="native520"/>
          <p:cNvSpPr/>
          <p:nvPr/>
        </p:nvSpPr>
        <p:spPr>
          <a:xfrm>
            <a:off x="861631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1" name="native521"/>
          <p:cNvSpPr/>
          <p:nvPr/>
        </p:nvSpPr>
        <p:spPr>
          <a:xfrm>
            <a:off x="866203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2" name="native522"/>
          <p:cNvSpPr/>
          <p:nvPr/>
        </p:nvSpPr>
        <p:spPr>
          <a:xfrm>
            <a:off x="870775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3" name="native523"/>
          <p:cNvSpPr/>
          <p:nvPr/>
        </p:nvSpPr>
        <p:spPr>
          <a:xfrm>
            <a:off x="875347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4" name="native524"/>
          <p:cNvSpPr/>
          <p:nvPr/>
        </p:nvSpPr>
        <p:spPr>
          <a:xfrm>
            <a:off x="879919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5" name="native525"/>
          <p:cNvSpPr/>
          <p:nvPr/>
        </p:nvSpPr>
        <p:spPr>
          <a:xfrm>
            <a:off x="884491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6" name="native526"/>
          <p:cNvSpPr/>
          <p:nvPr/>
        </p:nvSpPr>
        <p:spPr>
          <a:xfrm>
            <a:off x="889063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7" name="native527"/>
          <p:cNvSpPr/>
          <p:nvPr/>
        </p:nvSpPr>
        <p:spPr>
          <a:xfrm>
            <a:off x="893635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8" name="native528"/>
          <p:cNvSpPr/>
          <p:nvPr/>
        </p:nvSpPr>
        <p:spPr>
          <a:xfrm>
            <a:off x="898207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9" name="native529"/>
          <p:cNvSpPr/>
          <p:nvPr/>
        </p:nvSpPr>
        <p:spPr>
          <a:xfrm>
            <a:off x="902779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0" name="native530"/>
          <p:cNvSpPr/>
          <p:nvPr/>
        </p:nvSpPr>
        <p:spPr>
          <a:xfrm>
            <a:off x="907351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1" name="native531"/>
          <p:cNvSpPr/>
          <p:nvPr/>
        </p:nvSpPr>
        <p:spPr>
          <a:xfrm>
            <a:off x="911923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" name="native532"/>
          <p:cNvSpPr/>
          <p:nvPr/>
        </p:nvSpPr>
        <p:spPr>
          <a:xfrm>
            <a:off x="916495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3" name="native533"/>
          <p:cNvSpPr/>
          <p:nvPr/>
        </p:nvSpPr>
        <p:spPr>
          <a:xfrm>
            <a:off x="921067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4" name="native534"/>
          <p:cNvSpPr/>
          <p:nvPr/>
        </p:nvSpPr>
        <p:spPr>
          <a:xfrm>
            <a:off x="925639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5" name="native535"/>
          <p:cNvSpPr/>
          <p:nvPr/>
        </p:nvSpPr>
        <p:spPr>
          <a:xfrm>
            <a:off x="930211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6" name="native536"/>
          <p:cNvSpPr/>
          <p:nvPr/>
        </p:nvSpPr>
        <p:spPr>
          <a:xfrm>
            <a:off x="934783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7" name="native537"/>
          <p:cNvSpPr/>
          <p:nvPr/>
        </p:nvSpPr>
        <p:spPr>
          <a:xfrm>
            <a:off x="939355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8" name="native538"/>
          <p:cNvSpPr/>
          <p:nvPr/>
        </p:nvSpPr>
        <p:spPr>
          <a:xfrm>
            <a:off x="943927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9" name="native539"/>
          <p:cNvSpPr/>
          <p:nvPr/>
        </p:nvSpPr>
        <p:spPr>
          <a:xfrm>
            <a:off x="948499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0" name="native540"/>
          <p:cNvSpPr/>
          <p:nvPr/>
        </p:nvSpPr>
        <p:spPr>
          <a:xfrm>
            <a:off x="953071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1" name="native541"/>
          <p:cNvSpPr/>
          <p:nvPr/>
        </p:nvSpPr>
        <p:spPr>
          <a:xfrm>
            <a:off x="957643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" name="native542"/>
          <p:cNvSpPr/>
          <p:nvPr/>
        </p:nvSpPr>
        <p:spPr>
          <a:xfrm>
            <a:off x="962215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3" name="native543"/>
          <p:cNvSpPr/>
          <p:nvPr/>
        </p:nvSpPr>
        <p:spPr>
          <a:xfrm>
            <a:off x="966787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4" name="native544"/>
          <p:cNvSpPr/>
          <p:nvPr/>
        </p:nvSpPr>
        <p:spPr>
          <a:xfrm>
            <a:off x="971359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5" name="native545"/>
          <p:cNvSpPr/>
          <p:nvPr/>
        </p:nvSpPr>
        <p:spPr>
          <a:xfrm>
            <a:off x="975931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6" name="native546"/>
          <p:cNvSpPr/>
          <p:nvPr/>
        </p:nvSpPr>
        <p:spPr>
          <a:xfrm>
            <a:off x="980503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7" name="native547"/>
          <p:cNvSpPr/>
          <p:nvPr/>
        </p:nvSpPr>
        <p:spPr>
          <a:xfrm>
            <a:off x="985075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8" name="native548"/>
          <p:cNvSpPr/>
          <p:nvPr/>
        </p:nvSpPr>
        <p:spPr>
          <a:xfrm>
            <a:off x="989647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9" name="native549"/>
          <p:cNvSpPr/>
          <p:nvPr/>
        </p:nvSpPr>
        <p:spPr>
          <a:xfrm>
            <a:off x="9942195" y="4895850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0" name="native550"/>
          <p:cNvSpPr/>
          <p:nvPr/>
        </p:nvSpPr>
        <p:spPr>
          <a:xfrm>
            <a:off x="852487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1" name="native551"/>
          <p:cNvSpPr/>
          <p:nvPr/>
        </p:nvSpPr>
        <p:spPr>
          <a:xfrm>
            <a:off x="857059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2" name="native552"/>
          <p:cNvSpPr/>
          <p:nvPr/>
        </p:nvSpPr>
        <p:spPr>
          <a:xfrm>
            <a:off x="861631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" name="native553"/>
          <p:cNvSpPr/>
          <p:nvPr/>
        </p:nvSpPr>
        <p:spPr>
          <a:xfrm>
            <a:off x="866203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4" name="native554"/>
          <p:cNvSpPr/>
          <p:nvPr/>
        </p:nvSpPr>
        <p:spPr>
          <a:xfrm>
            <a:off x="870775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5" name="native555"/>
          <p:cNvSpPr/>
          <p:nvPr/>
        </p:nvSpPr>
        <p:spPr>
          <a:xfrm>
            <a:off x="875347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6" name="native556"/>
          <p:cNvSpPr/>
          <p:nvPr/>
        </p:nvSpPr>
        <p:spPr>
          <a:xfrm>
            <a:off x="879919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7" name="native557"/>
          <p:cNvSpPr/>
          <p:nvPr/>
        </p:nvSpPr>
        <p:spPr>
          <a:xfrm>
            <a:off x="884491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8" name="native558"/>
          <p:cNvSpPr/>
          <p:nvPr/>
        </p:nvSpPr>
        <p:spPr>
          <a:xfrm>
            <a:off x="889063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9" name="native559"/>
          <p:cNvSpPr/>
          <p:nvPr/>
        </p:nvSpPr>
        <p:spPr>
          <a:xfrm>
            <a:off x="893635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0" name="native560"/>
          <p:cNvSpPr/>
          <p:nvPr/>
        </p:nvSpPr>
        <p:spPr>
          <a:xfrm>
            <a:off x="898207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1" name="native561"/>
          <p:cNvSpPr/>
          <p:nvPr/>
        </p:nvSpPr>
        <p:spPr>
          <a:xfrm>
            <a:off x="902779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2" name="native562"/>
          <p:cNvSpPr/>
          <p:nvPr/>
        </p:nvSpPr>
        <p:spPr>
          <a:xfrm>
            <a:off x="907351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" name="native563"/>
          <p:cNvSpPr/>
          <p:nvPr/>
        </p:nvSpPr>
        <p:spPr>
          <a:xfrm>
            <a:off x="911923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" name="native564"/>
          <p:cNvSpPr/>
          <p:nvPr/>
        </p:nvSpPr>
        <p:spPr>
          <a:xfrm>
            <a:off x="916495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5" name="native565"/>
          <p:cNvSpPr/>
          <p:nvPr/>
        </p:nvSpPr>
        <p:spPr>
          <a:xfrm>
            <a:off x="921067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6" name="native566"/>
          <p:cNvSpPr/>
          <p:nvPr/>
        </p:nvSpPr>
        <p:spPr>
          <a:xfrm>
            <a:off x="925639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7" name="native567"/>
          <p:cNvSpPr/>
          <p:nvPr/>
        </p:nvSpPr>
        <p:spPr>
          <a:xfrm>
            <a:off x="930211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8" name="native568"/>
          <p:cNvSpPr/>
          <p:nvPr/>
        </p:nvSpPr>
        <p:spPr>
          <a:xfrm>
            <a:off x="934783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9" name="native569"/>
          <p:cNvSpPr/>
          <p:nvPr/>
        </p:nvSpPr>
        <p:spPr>
          <a:xfrm>
            <a:off x="939355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0" name="native570"/>
          <p:cNvSpPr/>
          <p:nvPr/>
        </p:nvSpPr>
        <p:spPr>
          <a:xfrm>
            <a:off x="943927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1" name="native571"/>
          <p:cNvSpPr/>
          <p:nvPr/>
        </p:nvSpPr>
        <p:spPr>
          <a:xfrm>
            <a:off x="948499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2" name="native572"/>
          <p:cNvSpPr/>
          <p:nvPr/>
        </p:nvSpPr>
        <p:spPr>
          <a:xfrm>
            <a:off x="953071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" name="native573"/>
          <p:cNvSpPr/>
          <p:nvPr/>
        </p:nvSpPr>
        <p:spPr>
          <a:xfrm>
            <a:off x="957643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4" name="native574"/>
          <p:cNvSpPr/>
          <p:nvPr/>
        </p:nvSpPr>
        <p:spPr>
          <a:xfrm>
            <a:off x="962215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5" name="native575"/>
          <p:cNvSpPr/>
          <p:nvPr/>
        </p:nvSpPr>
        <p:spPr>
          <a:xfrm>
            <a:off x="966787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6" name="native576"/>
          <p:cNvSpPr/>
          <p:nvPr/>
        </p:nvSpPr>
        <p:spPr>
          <a:xfrm>
            <a:off x="971359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7" name="native577"/>
          <p:cNvSpPr/>
          <p:nvPr/>
        </p:nvSpPr>
        <p:spPr>
          <a:xfrm>
            <a:off x="975931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8" name="native578"/>
          <p:cNvSpPr/>
          <p:nvPr/>
        </p:nvSpPr>
        <p:spPr>
          <a:xfrm>
            <a:off x="980503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9" name="native579"/>
          <p:cNvSpPr/>
          <p:nvPr/>
        </p:nvSpPr>
        <p:spPr>
          <a:xfrm>
            <a:off x="985075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0" name="native580"/>
          <p:cNvSpPr/>
          <p:nvPr/>
        </p:nvSpPr>
        <p:spPr>
          <a:xfrm>
            <a:off x="989647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1" name="native581"/>
          <p:cNvSpPr/>
          <p:nvPr/>
        </p:nvSpPr>
        <p:spPr>
          <a:xfrm>
            <a:off x="9942195" y="5114925"/>
            <a:ext cx="34766" cy="142875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2" name="native582"/>
          <p:cNvSpPr/>
          <p:nvPr/>
        </p:nvSpPr>
        <p:spPr>
          <a:xfrm>
            <a:off x="8543925" y="4267200"/>
            <a:ext cx="1428750" cy="409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" name="native583"/>
          <p:cNvSpPr/>
          <p:nvPr/>
        </p:nvSpPr>
        <p:spPr>
          <a:xfrm>
            <a:off x="8820150" y="4222242"/>
            <a:ext cx="857250" cy="4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2325" b="0">
                <a:solidFill>
                  <a:srgbClr val="78628F"/>
                </a:solidFill>
                <a:latin typeface="Noto Sans CJK SC"/>
                <a:ea typeface="Noto Sans CJK SC"/>
              </a:rPr>
              <a:t>⋮</a:t>
            </a:r>
            <a:endParaRPr lang="zh-CN" sz="2325"/>
          </a:p>
        </p:txBody>
      </p:sp>
      <p:sp>
        <p:nvSpPr>
          <p:cNvPr id="584" name="native584"/>
          <p:cNvSpPr/>
          <p:nvPr/>
        </p:nvSpPr>
        <p:spPr>
          <a:xfrm>
            <a:off x="10058400" y="3581400"/>
            <a:ext cx="38100" cy="1676400"/>
          </a:xfrm>
          <a:custGeom>
            <a:avLst/>
            <a:gdLst/>
            <a:ahLst/>
            <a:cxnLst/>
            <a:rect l="0" t="0" r="r" b="b"/>
            <a:pathLst>
              <a:path w="38100" h="1676400" fill="none">
                <a:moveTo>
                  <a:pt x="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0" y="1676400"/>
                </a:lnTo>
              </a:path>
            </a:pathLst>
          </a:custGeom>
          <a:noFill/>
          <a:ln w="11430">
            <a:solidFill>
              <a:srgbClr val="727E8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5" name="native585"/>
          <p:cNvSpPr/>
          <p:nvPr/>
        </p:nvSpPr>
        <p:spPr>
          <a:xfrm>
            <a:off x="8315325" y="5324094"/>
            <a:ext cx="1781175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zh-CN" sz="1500" b="0">
                <a:solidFill>
                  <a:srgbClr val="727E87"/>
                </a:solidFill>
                <a:latin typeface="Noto Sans CJK SC"/>
                <a:ea typeface="Noto Sans CJK SC"/>
              </a:rPr>
              <a:t>S 个历史 词元</a:t>
            </a:r>
          </a:p>
        </p:txBody>
      </p:sp>
      <p:sp>
        <p:nvSpPr>
          <p:cNvPr id="586" name="native586"/>
          <p:cNvSpPr/>
          <p:nvPr/>
        </p:nvSpPr>
        <p:spPr>
          <a:xfrm>
            <a:off x="6538912" y="4543044"/>
            <a:ext cx="1781175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727E87"/>
                </a:solidFill>
                <a:latin typeface="Noto Sans CJK SC"/>
                <a:ea typeface="Noto Sans CJK SC"/>
              </a:rPr>
              <a:t>4 个 Q 头各自保留</a:t>
            </a:r>
            <a:endParaRPr lang="zh-CN" sz="1275"/>
          </a:p>
        </p:txBody>
      </p:sp>
      <p:sp>
        <p:nvSpPr>
          <p:cNvPr id="587" name="native587"/>
          <p:cNvSpPr/>
          <p:nvPr/>
        </p:nvSpPr>
        <p:spPr>
          <a:xfrm>
            <a:off x="5600700" y="5781675"/>
            <a:ext cx="1095375" cy="952"/>
          </a:xfrm>
          <a:custGeom>
            <a:avLst/>
            <a:gdLst/>
            <a:ahLst/>
            <a:cxnLst/>
            <a:rect l="0" t="0" r="r" b="b"/>
            <a:pathLst>
              <a:path w="1095375" h="952" fill="none">
                <a:moveTo>
                  <a:pt x="0" y="0"/>
                </a:moveTo>
                <a:lnTo>
                  <a:pt x="1095375" y="0"/>
                </a:lnTo>
              </a:path>
            </a:pathLst>
          </a:custGeom>
          <a:noFill/>
          <a:ln w="19050">
            <a:solidFill>
              <a:srgbClr val="78628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8" name="native588"/>
          <p:cNvSpPr/>
          <p:nvPr/>
        </p:nvSpPr>
        <p:spPr>
          <a:xfrm>
            <a:off x="5591175" y="5466969"/>
            <a:ext cx="97155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78628F"/>
                </a:solidFill>
                <a:latin typeface="Noto Sans CJK SC"/>
                <a:ea typeface="Noto Sans CJK SC"/>
              </a:rPr>
              <a:t>坐标选取</a:t>
            </a:r>
          </a:p>
        </p:txBody>
      </p:sp>
      <p:sp>
        <p:nvSpPr>
          <p:cNvPr id="589" name="native589"/>
          <p:cNvSpPr/>
          <p:nvPr/>
        </p:nvSpPr>
        <p:spPr>
          <a:xfrm>
            <a:off x="6705600" y="4514850"/>
            <a:ext cx="1819275" cy="1257300"/>
          </a:xfrm>
          <a:custGeom>
            <a:avLst/>
            <a:gdLst/>
            <a:ahLst/>
            <a:cxnLst/>
            <a:rect l="0" t="0" r="r" b="b"/>
            <a:pathLst>
              <a:path w="1819275" h="1257300" fill="none">
                <a:moveTo>
                  <a:pt x="0" y="0"/>
                </a:moveTo>
                <a:lnTo>
                  <a:pt x="0" y="1257300"/>
                </a:lnTo>
                <a:lnTo>
                  <a:pt x="1819275" y="1257300"/>
                </a:lnTo>
                <a:lnTo>
                  <a:pt x="1819275" y="809625"/>
                </a:lnTo>
              </a:path>
            </a:pathLst>
          </a:custGeom>
          <a:noFill/>
          <a:ln w="15240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0" name="native590"/>
          <p:cNvSpPr/>
          <p:nvPr/>
        </p:nvSpPr>
        <p:spPr>
          <a:xfrm>
            <a:off x="7600950" y="5772150"/>
            <a:ext cx="2581275" cy="952"/>
          </a:xfrm>
          <a:custGeom>
            <a:avLst/>
            <a:gdLst/>
            <a:ahLst/>
            <a:cxnLst/>
            <a:rect l="0" t="0" r="r" b="b"/>
            <a:pathLst>
              <a:path w="2581275" h="952" fill="none">
                <a:moveTo>
                  <a:pt x="0" y="0"/>
                </a:moveTo>
                <a:lnTo>
                  <a:pt x="2581275" y="0"/>
                </a:lnTo>
              </a:path>
            </a:pathLst>
          </a:custGeom>
          <a:noFill/>
          <a:ln w="19050">
            <a:solidFill>
              <a:srgbClr val="78628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1" name="native591"/>
          <p:cNvSpPr/>
          <p:nvPr/>
        </p:nvSpPr>
        <p:spPr>
          <a:xfrm>
            <a:off x="7115175" y="587311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78628F"/>
                </a:solidFill>
                <a:latin typeface="Noto Sans CJK SC"/>
                <a:ea typeface="Noto Sans CJK SC"/>
              </a:rPr>
              <a:t>无学习投影；维度索引固定</a:t>
            </a:r>
            <a:endParaRPr lang="zh-CN" sz="1500"/>
          </a:p>
        </p:txBody>
      </p:sp>
      <p:sp>
        <p:nvSpPr>
          <p:cNvPr id="592" name="native592"/>
          <p:cNvSpPr/>
          <p:nvPr/>
        </p:nvSpPr>
        <p:spPr>
          <a:xfrm>
            <a:off x="6810375" y="6198108"/>
            <a:ext cx="289560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Q 头独立 · K 视图组内共享</a:t>
            </a:r>
            <a:endParaRPr lang="zh-CN" sz="1425"/>
          </a:p>
        </p:txBody>
      </p:sp>
      <p:sp>
        <p:nvSpPr>
          <p:cNvPr id="593" name="native593"/>
          <p:cNvSpPr/>
          <p:nvPr/>
        </p:nvSpPr>
        <p:spPr>
          <a:xfrm>
            <a:off x="10439400" y="2521458"/>
            <a:ext cx="361950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表示共享先于 近区 / 远区 分区</a:t>
            </a:r>
          </a:p>
        </p:txBody>
      </p:sp>
      <p:sp>
        <p:nvSpPr>
          <p:cNvPr id="594" name="native594"/>
          <p:cNvSpPr/>
          <p:nvPr/>
        </p:nvSpPr>
        <p:spPr>
          <a:xfrm>
            <a:off x="10201275" y="3590925"/>
            <a:ext cx="409575" cy="2181225"/>
          </a:xfrm>
          <a:custGeom>
            <a:avLst/>
            <a:gdLst/>
            <a:ahLst/>
            <a:cxnLst/>
            <a:rect l="0" t="0" r="r" b="b"/>
            <a:pathLst>
              <a:path w="409575" h="2181225" fill="none">
                <a:moveTo>
                  <a:pt x="0" y="2181225"/>
                </a:moveTo>
                <a:lnTo>
                  <a:pt x="161925" y="2181225"/>
                </a:lnTo>
                <a:lnTo>
                  <a:pt x="161925" y="0"/>
                </a:lnTo>
                <a:lnTo>
                  <a:pt x="409575" y="0"/>
                </a:lnTo>
              </a:path>
            </a:pathLst>
          </a:custGeom>
          <a:noFill/>
          <a:ln w="19050">
            <a:solidFill>
              <a:srgbClr val="78628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5" name="native595"/>
          <p:cNvSpPr/>
          <p:nvPr/>
        </p:nvSpPr>
        <p:spPr>
          <a:xfrm>
            <a:off x="10363200" y="5010150"/>
            <a:ext cx="247650" cy="952"/>
          </a:xfrm>
          <a:custGeom>
            <a:avLst/>
            <a:gdLst/>
            <a:ahLst/>
            <a:cxnLst/>
            <a:rect l="0" t="0" r="r" b="b"/>
            <a:pathLst>
              <a:path w="247650" h="952" fill="none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9050">
            <a:solidFill>
              <a:srgbClr val="78628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6" name="native596"/>
          <p:cNvSpPr/>
          <p:nvPr/>
        </p:nvSpPr>
        <p:spPr>
          <a:xfrm>
            <a:off x="10629900" y="3276600"/>
            <a:ext cx="1504950" cy="628650"/>
          </a:xfrm>
          <a:prstGeom prst="roundRect">
            <a:avLst/>
          </a:prstGeom>
          <a:solidFill>
            <a:srgbClr val="F1EDF5"/>
          </a:solidFill>
          <a:ln w="12382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7" name="native597"/>
          <p:cNvSpPr/>
          <p:nvPr/>
        </p:nvSpPr>
        <p:spPr>
          <a:xfrm>
            <a:off x="10953750" y="3278886"/>
            <a:ext cx="857250" cy="35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725" b="1">
                <a:solidFill>
                  <a:srgbClr val="78628F"/>
                </a:solidFill>
                <a:latin typeface="Noto Sans CJK SC"/>
                <a:ea typeface="Noto Sans CJK SC"/>
              </a:rPr>
              <a:t>L1</a:t>
            </a:r>
            <a:endParaRPr lang="zh-CN" sz="1725"/>
          </a:p>
        </p:txBody>
      </p:sp>
      <p:sp>
        <p:nvSpPr>
          <p:cNvPr id="598" name="native598"/>
          <p:cNvSpPr/>
          <p:nvPr/>
        </p:nvSpPr>
        <p:spPr>
          <a:xfrm>
            <a:off x="10953750" y="3569208"/>
            <a:ext cx="85725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页评分</a:t>
            </a:r>
            <a:endParaRPr lang="zh-CN" sz="1425"/>
          </a:p>
        </p:txBody>
      </p:sp>
      <p:sp>
        <p:nvSpPr>
          <p:cNvPr id="599" name="native599"/>
          <p:cNvSpPr/>
          <p:nvPr/>
        </p:nvSpPr>
        <p:spPr>
          <a:xfrm>
            <a:off x="10629900" y="4695825"/>
            <a:ext cx="1504950" cy="628650"/>
          </a:xfrm>
          <a:prstGeom prst="roundRect">
            <a:avLst/>
          </a:prstGeom>
          <a:solidFill>
            <a:srgbClr val="F1EDF5"/>
          </a:solidFill>
          <a:ln w="12382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0" name="native600"/>
          <p:cNvSpPr/>
          <p:nvPr/>
        </p:nvSpPr>
        <p:spPr>
          <a:xfrm>
            <a:off x="10953750" y="4698111"/>
            <a:ext cx="857250" cy="35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725" b="1">
                <a:solidFill>
                  <a:srgbClr val="78628F"/>
                </a:solidFill>
                <a:latin typeface="Noto Sans CJK SC"/>
                <a:ea typeface="Noto Sans CJK SC"/>
              </a:rPr>
              <a:t>L2</a:t>
            </a:r>
            <a:endParaRPr lang="zh-CN" sz="1725"/>
          </a:p>
        </p:txBody>
      </p:sp>
      <p:sp>
        <p:nvSpPr>
          <p:cNvPr id="601" name="native601"/>
          <p:cNvSpPr/>
          <p:nvPr/>
        </p:nvSpPr>
        <p:spPr>
          <a:xfrm>
            <a:off x="10296525" y="4988433"/>
            <a:ext cx="217170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全 S 词元 评分</a:t>
            </a:r>
          </a:p>
        </p:txBody>
      </p:sp>
      <p:sp>
        <p:nvSpPr>
          <p:cNvPr id="602" name="native602"/>
          <p:cNvSpPr/>
          <p:nvPr/>
        </p:nvSpPr>
        <p:spPr>
          <a:xfrm>
            <a:off x="12163425" y="3590925"/>
            <a:ext cx="123825" cy="952"/>
          </a:xfrm>
          <a:custGeom>
            <a:avLst/>
            <a:gdLst/>
            <a:ahLst/>
            <a:cxnLst/>
            <a:rect l="0" t="0" r="r" b="b"/>
            <a:pathLst>
              <a:path w="123825" h="952" fill="none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6192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3" name="native603"/>
          <p:cNvSpPr/>
          <p:nvPr/>
        </p:nvSpPr>
        <p:spPr>
          <a:xfrm>
            <a:off x="12287250" y="3314700"/>
            <a:ext cx="466725" cy="276225"/>
          </a:xfrm>
          <a:custGeom>
            <a:avLst/>
            <a:gdLst/>
            <a:ahLst/>
            <a:cxnLst/>
            <a:rect l="0" t="0" r="r" b="b"/>
            <a:pathLst>
              <a:path w="466725" h="276225" fill="none">
                <a:moveTo>
                  <a:pt x="0" y="276225"/>
                </a:moveTo>
                <a:lnTo>
                  <a:pt x="0" y="0"/>
                </a:lnTo>
                <a:lnTo>
                  <a:pt x="466725" y="0"/>
                </a:lnTo>
                <a:lnTo>
                  <a:pt x="466725" y="104775"/>
                </a:lnTo>
              </a:path>
            </a:pathLst>
          </a:custGeom>
          <a:noFill/>
          <a:ln w="14288">
            <a:solidFill>
              <a:srgbClr val="12817B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" name="native604"/>
          <p:cNvSpPr/>
          <p:nvPr/>
        </p:nvSpPr>
        <p:spPr>
          <a:xfrm>
            <a:off x="12287250" y="3590925"/>
            <a:ext cx="1476375" cy="304800"/>
          </a:xfrm>
          <a:custGeom>
            <a:avLst/>
            <a:gdLst/>
            <a:ahLst/>
            <a:cxnLst/>
            <a:rect l="0" t="0" r="r" b="b"/>
            <a:pathLst>
              <a:path w="1476375" h="304800" fill="none">
                <a:moveTo>
                  <a:pt x="0" y="0"/>
                </a:moveTo>
                <a:lnTo>
                  <a:pt x="0" y="304800"/>
                </a:lnTo>
                <a:lnTo>
                  <a:pt x="1476375" y="304800"/>
                </a:lnTo>
                <a:lnTo>
                  <a:pt x="1476375" y="171450"/>
                </a:lnTo>
              </a:path>
            </a:pathLst>
          </a:custGeom>
          <a:noFill/>
          <a:ln w="14288">
            <a:solidFill>
              <a:srgbClr val="32689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5" name="native605"/>
          <p:cNvSpPr/>
          <p:nvPr/>
        </p:nvSpPr>
        <p:spPr>
          <a:xfrm>
            <a:off x="12382500" y="3438525"/>
            <a:ext cx="742950" cy="304800"/>
          </a:xfrm>
          <a:prstGeom prst="roundRect">
            <a:avLst/>
          </a:prstGeom>
          <a:solidFill>
            <a:srgbClr val="EAF6F3"/>
          </a:solidFill>
          <a:ln w="13335">
            <a:solidFill>
              <a:srgbClr val="12817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6" name="native606"/>
          <p:cNvSpPr/>
          <p:nvPr/>
        </p:nvSpPr>
        <p:spPr>
          <a:xfrm>
            <a:off x="12325350" y="3444240"/>
            <a:ext cx="857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12817B"/>
                </a:solidFill>
                <a:latin typeface="Noto Sans CJK SC"/>
                <a:ea typeface="Noto Sans CJK SC"/>
              </a:rPr>
              <a:t>远区</a:t>
            </a:r>
          </a:p>
        </p:txBody>
      </p:sp>
      <p:sp>
        <p:nvSpPr>
          <p:cNvPr id="607" name="native607"/>
          <p:cNvSpPr/>
          <p:nvPr/>
        </p:nvSpPr>
        <p:spPr>
          <a:xfrm>
            <a:off x="13392150" y="3438525"/>
            <a:ext cx="742950" cy="304800"/>
          </a:xfrm>
          <a:prstGeom prst="roundRect">
            <a:avLst/>
          </a:prstGeom>
          <a:solidFill>
            <a:srgbClr val="ECF2F8"/>
          </a:solidFill>
          <a:ln w="13335">
            <a:solidFill>
              <a:srgbClr val="3268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8" name="native608"/>
          <p:cNvSpPr/>
          <p:nvPr/>
        </p:nvSpPr>
        <p:spPr>
          <a:xfrm>
            <a:off x="13335000" y="3444240"/>
            <a:ext cx="857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32689F"/>
                </a:solidFill>
                <a:latin typeface="Noto Sans CJK SC"/>
                <a:ea typeface="Noto Sans CJK SC"/>
              </a:rPr>
              <a:t>近区</a:t>
            </a:r>
          </a:p>
        </p:txBody>
      </p:sp>
      <p:sp>
        <p:nvSpPr>
          <p:cNvPr id="609" name="native609"/>
          <p:cNvSpPr/>
          <p:nvPr/>
        </p:nvSpPr>
        <p:spPr>
          <a:xfrm>
            <a:off x="12163425" y="5010150"/>
            <a:ext cx="123825" cy="952"/>
          </a:xfrm>
          <a:custGeom>
            <a:avLst/>
            <a:gdLst/>
            <a:ahLst/>
            <a:cxnLst/>
            <a:rect l="0" t="0" r="r" b="b"/>
            <a:pathLst>
              <a:path w="123825" h="952" fill="none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6192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0" name="native610"/>
          <p:cNvSpPr/>
          <p:nvPr/>
        </p:nvSpPr>
        <p:spPr>
          <a:xfrm>
            <a:off x="12287250" y="4733925"/>
            <a:ext cx="466725" cy="276225"/>
          </a:xfrm>
          <a:custGeom>
            <a:avLst/>
            <a:gdLst/>
            <a:ahLst/>
            <a:cxnLst/>
            <a:rect l="0" t="0" r="r" b="b"/>
            <a:pathLst>
              <a:path w="466725" h="276225" fill="none">
                <a:moveTo>
                  <a:pt x="0" y="276225"/>
                </a:moveTo>
                <a:lnTo>
                  <a:pt x="0" y="0"/>
                </a:lnTo>
                <a:lnTo>
                  <a:pt x="466725" y="0"/>
                </a:lnTo>
                <a:lnTo>
                  <a:pt x="466725" y="104775"/>
                </a:lnTo>
              </a:path>
            </a:pathLst>
          </a:custGeom>
          <a:noFill/>
          <a:ln w="14288">
            <a:solidFill>
              <a:srgbClr val="12817B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1" name="native611"/>
          <p:cNvSpPr/>
          <p:nvPr/>
        </p:nvSpPr>
        <p:spPr>
          <a:xfrm>
            <a:off x="12287250" y="5010150"/>
            <a:ext cx="1476375" cy="304800"/>
          </a:xfrm>
          <a:custGeom>
            <a:avLst/>
            <a:gdLst/>
            <a:ahLst/>
            <a:cxnLst/>
            <a:rect l="0" t="0" r="r" b="b"/>
            <a:pathLst>
              <a:path w="1476375" h="304800" fill="none">
                <a:moveTo>
                  <a:pt x="0" y="0"/>
                </a:moveTo>
                <a:lnTo>
                  <a:pt x="0" y="304800"/>
                </a:lnTo>
                <a:lnTo>
                  <a:pt x="1476375" y="304800"/>
                </a:lnTo>
                <a:lnTo>
                  <a:pt x="1476375" y="171450"/>
                </a:lnTo>
              </a:path>
            </a:pathLst>
          </a:custGeom>
          <a:noFill/>
          <a:ln w="14288">
            <a:solidFill>
              <a:srgbClr val="32689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2" name="native612"/>
          <p:cNvSpPr/>
          <p:nvPr/>
        </p:nvSpPr>
        <p:spPr>
          <a:xfrm>
            <a:off x="12382500" y="4857750"/>
            <a:ext cx="742950" cy="304800"/>
          </a:xfrm>
          <a:prstGeom prst="roundRect">
            <a:avLst/>
          </a:prstGeom>
          <a:solidFill>
            <a:srgbClr val="EAF6F3"/>
          </a:solidFill>
          <a:ln w="13335">
            <a:solidFill>
              <a:srgbClr val="12817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3" name="native613"/>
          <p:cNvSpPr/>
          <p:nvPr/>
        </p:nvSpPr>
        <p:spPr>
          <a:xfrm>
            <a:off x="12325350" y="4863465"/>
            <a:ext cx="857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12817B"/>
                </a:solidFill>
                <a:latin typeface="Noto Sans CJK SC"/>
                <a:ea typeface="Noto Sans CJK SC"/>
              </a:rPr>
              <a:t>远区</a:t>
            </a:r>
          </a:p>
        </p:txBody>
      </p:sp>
      <p:sp>
        <p:nvSpPr>
          <p:cNvPr id="614" name="native614"/>
          <p:cNvSpPr/>
          <p:nvPr/>
        </p:nvSpPr>
        <p:spPr>
          <a:xfrm>
            <a:off x="13392150" y="4857750"/>
            <a:ext cx="742950" cy="304800"/>
          </a:xfrm>
          <a:prstGeom prst="roundRect">
            <a:avLst/>
          </a:prstGeom>
          <a:solidFill>
            <a:srgbClr val="ECF2F8"/>
          </a:solidFill>
          <a:ln w="13335">
            <a:solidFill>
              <a:srgbClr val="3268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" name="native615"/>
          <p:cNvSpPr/>
          <p:nvPr/>
        </p:nvSpPr>
        <p:spPr>
          <a:xfrm>
            <a:off x="13335000" y="4863465"/>
            <a:ext cx="857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32689F"/>
                </a:solidFill>
                <a:latin typeface="Noto Sans CJK SC"/>
                <a:ea typeface="Noto Sans CJK SC"/>
              </a:rPr>
              <a:t>近区</a:t>
            </a:r>
          </a:p>
        </p:txBody>
      </p:sp>
      <p:sp>
        <p:nvSpPr>
          <p:cNvPr id="616" name="native616"/>
          <p:cNvSpPr/>
          <p:nvPr/>
        </p:nvSpPr>
        <p:spPr>
          <a:xfrm>
            <a:off x="11382375" y="3762375"/>
            <a:ext cx="1371600" cy="904875"/>
          </a:xfrm>
          <a:custGeom>
            <a:avLst/>
            <a:gdLst/>
            <a:ahLst/>
            <a:cxnLst/>
            <a:rect l="0" t="0" r="r" b="b"/>
            <a:pathLst>
              <a:path w="1371600" h="904875" fill="none">
                <a:moveTo>
                  <a:pt x="1371600" y="0"/>
                </a:moveTo>
                <a:lnTo>
                  <a:pt x="1371600" y="495300"/>
                </a:lnTo>
                <a:lnTo>
                  <a:pt x="0" y="495300"/>
                </a:lnTo>
                <a:lnTo>
                  <a:pt x="0" y="904875"/>
                </a:lnTo>
              </a:path>
            </a:pathLst>
          </a:custGeom>
          <a:noFill/>
          <a:ln w="13335">
            <a:solidFill>
              <a:srgbClr val="727E8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7" name="native617"/>
          <p:cNvSpPr/>
          <p:nvPr/>
        </p:nvSpPr>
        <p:spPr>
          <a:xfrm>
            <a:off x="12753975" y="3762375"/>
            <a:ext cx="1009650" cy="495300"/>
          </a:xfrm>
          <a:custGeom>
            <a:avLst/>
            <a:gdLst/>
            <a:ahLst/>
            <a:cxnLst/>
            <a:rect l="0" t="0" r="r" b="b"/>
            <a:pathLst>
              <a:path w="1009650" h="495300" fill="none">
                <a:moveTo>
                  <a:pt x="1009650" y="0"/>
                </a:moveTo>
                <a:lnTo>
                  <a:pt x="1009650" y="495300"/>
                </a:lnTo>
                <a:lnTo>
                  <a:pt x="0" y="495300"/>
                </a:lnTo>
              </a:path>
            </a:pathLst>
          </a:custGeom>
          <a:noFill/>
          <a:ln w="13335">
            <a:solidFill>
              <a:srgbClr val="727E8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8" name="native618"/>
          <p:cNvSpPr/>
          <p:nvPr/>
        </p:nvSpPr>
        <p:spPr>
          <a:xfrm>
            <a:off x="12134850" y="4095750"/>
            <a:ext cx="1924050" cy="23812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9" name="native619"/>
          <p:cNvSpPr/>
          <p:nvPr/>
        </p:nvSpPr>
        <p:spPr>
          <a:xfrm>
            <a:off x="12449175" y="4095369"/>
            <a:ext cx="129540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727E87"/>
                </a:solidFill>
                <a:latin typeface="Noto Sans CJK SC"/>
                <a:ea typeface="Noto Sans CJK SC"/>
              </a:rPr>
              <a:t>评分后 掩码</a:t>
            </a:r>
          </a:p>
        </p:txBody>
      </p:sp>
      <p:sp>
        <p:nvSpPr>
          <p:cNvPr id="620" name="native620"/>
          <p:cNvSpPr/>
          <p:nvPr/>
        </p:nvSpPr>
        <p:spPr>
          <a:xfrm>
            <a:off x="12753975" y="5191125"/>
            <a:ext cx="504825" cy="657225"/>
          </a:xfrm>
          <a:custGeom>
            <a:avLst/>
            <a:gdLst/>
            <a:ahLst/>
            <a:cxnLst/>
            <a:rect l="0" t="0" r="r" b="b"/>
            <a:pathLst>
              <a:path w="504825" h="657225" fill="none">
                <a:moveTo>
                  <a:pt x="0" y="0"/>
                </a:moveTo>
                <a:lnTo>
                  <a:pt x="0" y="495300"/>
                </a:lnTo>
                <a:lnTo>
                  <a:pt x="504825" y="495300"/>
                </a:lnTo>
                <a:lnTo>
                  <a:pt x="504825" y="657225"/>
                </a:lnTo>
              </a:path>
            </a:pathLst>
          </a:custGeom>
          <a:noFill/>
          <a:ln w="15240">
            <a:solidFill>
              <a:srgbClr val="12817B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1" name="native621"/>
          <p:cNvSpPr/>
          <p:nvPr/>
        </p:nvSpPr>
        <p:spPr>
          <a:xfrm>
            <a:off x="13258800" y="5191125"/>
            <a:ext cx="504825" cy="495300"/>
          </a:xfrm>
          <a:custGeom>
            <a:avLst/>
            <a:gdLst/>
            <a:ahLst/>
            <a:cxnLst/>
            <a:rect l="0" t="0" r="r" b="b"/>
            <a:pathLst>
              <a:path w="504825" h="495300" fill="none">
                <a:moveTo>
                  <a:pt x="504825" y="0"/>
                </a:moveTo>
                <a:lnTo>
                  <a:pt x="504825" y="495300"/>
                </a:lnTo>
                <a:lnTo>
                  <a:pt x="0" y="495300"/>
                </a:lnTo>
              </a:path>
            </a:pathLst>
          </a:custGeom>
          <a:noFill/>
          <a:ln w="15240">
            <a:solidFill>
              <a:srgbClr val="3268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2" name="native622"/>
          <p:cNvSpPr/>
          <p:nvPr/>
        </p:nvSpPr>
        <p:spPr>
          <a:xfrm>
            <a:off x="12058650" y="5862447"/>
            <a:ext cx="24003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75" b="1">
                <a:solidFill>
                  <a:srgbClr val="193247"/>
                </a:solidFill>
                <a:latin typeface="Noto Sans CJK SC"/>
                <a:ea typeface="Noto Sans CJK SC"/>
              </a:rPr>
              <a:t>共享词元索引</a:t>
            </a:r>
          </a:p>
        </p:txBody>
      </p:sp>
      <p:sp>
        <p:nvSpPr>
          <p:cNvPr id="623" name="native623"/>
          <p:cNvSpPr/>
          <p:nvPr/>
        </p:nvSpPr>
        <p:spPr>
          <a:xfrm>
            <a:off x="13258800" y="6143625"/>
            <a:ext cx="952" cy="152400"/>
          </a:xfrm>
          <a:custGeom>
            <a:avLst/>
            <a:gdLst/>
            <a:ahLst/>
            <a:cxnLst/>
            <a:rect l="0" t="0" r="r" b="b"/>
            <a:pathLst>
              <a:path w="952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192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4" name="native624"/>
          <p:cNvSpPr/>
          <p:nvPr/>
        </p:nvSpPr>
        <p:spPr>
          <a:xfrm>
            <a:off x="12163425" y="6334125"/>
            <a:ext cx="2076450" cy="514350"/>
          </a:xfrm>
          <a:prstGeom prst="roundRect">
            <a:avLst/>
          </a:prstGeom>
          <a:solidFill>
            <a:srgbClr val="F5F7F9"/>
          </a:solidFill>
          <a:ln w="14288">
            <a:solidFill>
              <a:srgbClr val="19324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5" name="native625"/>
          <p:cNvSpPr/>
          <p:nvPr/>
        </p:nvSpPr>
        <p:spPr>
          <a:xfrm>
            <a:off x="11701462" y="6329172"/>
            <a:ext cx="3000375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75" b="1">
                <a:solidFill>
                  <a:srgbClr val="193247"/>
                </a:solidFill>
                <a:latin typeface="Noto Sans CJK SC"/>
                <a:ea typeface="Noto Sans CJK SC"/>
              </a:rPr>
              <a:t>128 维 注意力</a:t>
            </a:r>
          </a:p>
        </p:txBody>
      </p:sp>
      <p:sp>
        <p:nvSpPr>
          <p:cNvPr id="626" name="native626"/>
          <p:cNvSpPr/>
          <p:nvPr/>
        </p:nvSpPr>
        <p:spPr>
          <a:xfrm>
            <a:off x="12668250" y="6582537"/>
            <a:ext cx="106680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727E87"/>
                </a:solidFill>
                <a:latin typeface="Noto Sans CJK SC"/>
                <a:ea typeface="Noto Sans CJK SC"/>
              </a:rPr>
              <a:t>4Q 独立计算</a:t>
            </a:r>
            <a:endParaRPr lang="zh-CN" sz="1200"/>
          </a:p>
        </p:txBody>
      </p:sp>
      <p:sp>
        <p:nvSpPr>
          <p:cNvPr id="627" name="native627"/>
          <p:cNvSpPr/>
          <p:nvPr/>
        </p:nvSpPr>
        <p:spPr>
          <a:xfrm>
            <a:off x="952500" y="676465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Q</a:t>
            </a:r>
            <a:endParaRPr lang="zh-CN" sz="1125"/>
          </a:p>
        </p:txBody>
      </p:sp>
      <p:sp>
        <p:nvSpPr>
          <p:cNvPr id="628" name="native628"/>
          <p:cNvSpPr/>
          <p:nvPr/>
        </p:nvSpPr>
        <p:spPr>
          <a:xfrm>
            <a:off x="1171575" y="681990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9" name="native629"/>
          <p:cNvSpPr/>
          <p:nvPr/>
        </p:nvSpPr>
        <p:spPr>
          <a:xfrm>
            <a:off x="1247775" y="681990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0" name="native630"/>
          <p:cNvSpPr/>
          <p:nvPr/>
        </p:nvSpPr>
        <p:spPr>
          <a:xfrm>
            <a:off x="1323975" y="681990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1" name="native631"/>
          <p:cNvSpPr/>
          <p:nvPr/>
        </p:nvSpPr>
        <p:spPr>
          <a:xfrm>
            <a:off x="1400175" y="681990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2" name="native632"/>
          <p:cNvSpPr/>
          <p:nvPr/>
        </p:nvSpPr>
        <p:spPr>
          <a:xfrm>
            <a:off x="1476375" y="681990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3" name="native633"/>
          <p:cNvSpPr/>
          <p:nvPr/>
        </p:nvSpPr>
        <p:spPr>
          <a:xfrm>
            <a:off x="1552575" y="681990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4" name="native634"/>
          <p:cNvSpPr/>
          <p:nvPr/>
        </p:nvSpPr>
        <p:spPr>
          <a:xfrm>
            <a:off x="1628775" y="681990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5" name="native635"/>
          <p:cNvSpPr/>
          <p:nvPr/>
        </p:nvSpPr>
        <p:spPr>
          <a:xfrm>
            <a:off x="1704975" y="681990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6" name="native636"/>
          <p:cNvSpPr/>
          <p:nvPr/>
        </p:nvSpPr>
        <p:spPr>
          <a:xfrm>
            <a:off x="1781175" y="681990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7" name="native637"/>
          <p:cNvSpPr/>
          <p:nvPr/>
        </p:nvSpPr>
        <p:spPr>
          <a:xfrm>
            <a:off x="1857375" y="681990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8" name="native638"/>
          <p:cNvSpPr/>
          <p:nvPr/>
        </p:nvSpPr>
        <p:spPr>
          <a:xfrm>
            <a:off x="1933575" y="681990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9" name="native639"/>
          <p:cNvSpPr/>
          <p:nvPr/>
        </p:nvSpPr>
        <p:spPr>
          <a:xfrm>
            <a:off x="2009775" y="681990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0" name="native640"/>
          <p:cNvSpPr/>
          <p:nvPr/>
        </p:nvSpPr>
        <p:spPr>
          <a:xfrm>
            <a:off x="952500" y="698158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K</a:t>
            </a:r>
            <a:endParaRPr lang="zh-CN" sz="1125"/>
          </a:p>
        </p:txBody>
      </p:sp>
      <p:sp>
        <p:nvSpPr>
          <p:cNvPr id="641" name="native641"/>
          <p:cNvSpPr/>
          <p:nvPr/>
        </p:nvSpPr>
        <p:spPr>
          <a:xfrm>
            <a:off x="1171575" y="7036825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2" name="native642"/>
          <p:cNvSpPr/>
          <p:nvPr/>
        </p:nvSpPr>
        <p:spPr>
          <a:xfrm>
            <a:off x="1247775" y="7036825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3" name="native643"/>
          <p:cNvSpPr/>
          <p:nvPr/>
        </p:nvSpPr>
        <p:spPr>
          <a:xfrm>
            <a:off x="1323975" y="7036825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4" name="native644"/>
          <p:cNvSpPr/>
          <p:nvPr/>
        </p:nvSpPr>
        <p:spPr>
          <a:xfrm>
            <a:off x="1400175" y="7036825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5" name="native645"/>
          <p:cNvSpPr/>
          <p:nvPr/>
        </p:nvSpPr>
        <p:spPr>
          <a:xfrm>
            <a:off x="1476375" y="7036825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6" name="native646"/>
          <p:cNvSpPr/>
          <p:nvPr/>
        </p:nvSpPr>
        <p:spPr>
          <a:xfrm>
            <a:off x="1552575" y="7036825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7" name="native647"/>
          <p:cNvSpPr/>
          <p:nvPr/>
        </p:nvSpPr>
        <p:spPr>
          <a:xfrm>
            <a:off x="1628775" y="7036825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8" name="native648"/>
          <p:cNvSpPr/>
          <p:nvPr/>
        </p:nvSpPr>
        <p:spPr>
          <a:xfrm>
            <a:off x="1704975" y="7036825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9" name="native649"/>
          <p:cNvSpPr/>
          <p:nvPr/>
        </p:nvSpPr>
        <p:spPr>
          <a:xfrm>
            <a:off x="1781175" y="7036825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0" name="native650"/>
          <p:cNvSpPr/>
          <p:nvPr/>
        </p:nvSpPr>
        <p:spPr>
          <a:xfrm>
            <a:off x="1857375" y="7036825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1" name="native651"/>
          <p:cNvSpPr/>
          <p:nvPr/>
        </p:nvSpPr>
        <p:spPr>
          <a:xfrm>
            <a:off x="1933575" y="7036825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2" name="native652"/>
          <p:cNvSpPr/>
          <p:nvPr/>
        </p:nvSpPr>
        <p:spPr>
          <a:xfrm>
            <a:off x="2009775" y="7036825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3" name="native653"/>
          <p:cNvSpPr/>
          <p:nvPr/>
        </p:nvSpPr>
        <p:spPr>
          <a:xfrm>
            <a:off x="952500" y="719850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V</a:t>
            </a:r>
            <a:endParaRPr lang="zh-CN" sz="1125"/>
          </a:p>
        </p:txBody>
      </p:sp>
      <p:sp>
        <p:nvSpPr>
          <p:cNvPr id="654" name="native654"/>
          <p:cNvSpPr/>
          <p:nvPr/>
        </p:nvSpPr>
        <p:spPr>
          <a:xfrm>
            <a:off x="1171575" y="725375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" name="native655"/>
          <p:cNvSpPr/>
          <p:nvPr/>
        </p:nvSpPr>
        <p:spPr>
          <a:xfrm>
            <a:off x="1247775" y="725375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6" name="native656"/>
          <p:cNvSpPr/>
          <p:nvPr/>
        </p:nvSpPr>
        <p:spPr>
          <a:xfrm>
            <a:off x="1323975" y="725375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7" name="native657"/>
          <p:cNvSpPr/>
          <p:nvPr/>
        </p:nvSpPr>
        <p:spPr>
          <a:xfrm>
            <a:off x="1400175" y="725375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8" name="native658"/>
          <p:cNvSpPr/>
          <p:nvPr/>
        </p:nvSpPr>
        <p:spPr>
          <a:xfrm>
            <a:off x="1476375" y="725375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9" name="native659"/>
          <p:cNvSpPr/>
          <p:nvPr/>
        </p:nvSpPr>
        <p:spPr>
          <a:xfrm>
            <a:off x="1552575" y="725375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0" name="native660"/>
          <p:cNvSpPr/>
          <p:nvPr/>
        </p:nvSpPr>
        <p:spPr>
          <a:xfrm>
            <a:off x="1628775" y="725375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1" name="native661"/>
          <p:cNvSpPr/>
          <p:nvPr/>
        </p:nvSpPr>
        <p:spPr>
          <a:xfrm>
            <a:off x="1704975" y="725375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2" name="native662"/>
          <p:cNvSpPr/>
          <p:nvPr/>
        </p:nvSpPr>
        <p:spPr>
          <a:xfrm>
            <a:off x="1781175" y="725375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3" name="native663"/>
          <p:cNvSpPr/>
          <p:nvPr/>
        </p:nvSpPr>
        <p:spPr>
          <a:xfrm>
            <a:off x="1857375" y="725375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4" name="native664"/>
          <p:cNvSpPr/>
          <p:nvPr/>
        </p:nvSpPr>
        <p:spPr>
          <a:xfrm>
            <a:off x="1933575" y="725375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5" name="native665"/>
          <p:cNvSpPr/>
          <p:nvPr/>
        </p:nvSpPr>
        <p:spPr>
          <a:xfrm>
            <a:off x="2009775" y="7253750"/>
            <a:ext cx="5524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6" name="native666"/>
          <p:cNvSpPr/>
          <p:nvPr/>
        </p:nvSpPr>
        <p:spPr>
          <a:xfrm>
            <a:off x="2362200" y="6843522"/>
            <a:ext cx="400050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75" b="1">
                <a:solidFill>
                  <a:srgbClr val="193247"/>
                </a:solidFill>
                <a:latin typeface="Noto Sans CJK SC"/>
                <a:ea typeface="Noto Sans CJK SC"/>
              </a:rPr>
              <a:t>原始 Q / K / V · 128 维</a:t>
            </a:r>
            <a:endParaRPr lang="zh-CN" sz="1575"/>
          </a:p>
        </p:txBody>
      </p:sp>
      <p:sp>
        <p:nvSpPr>
          <p:cNvPr id="667" name="native667"/>
          <p:cNvSpPr/>
          <p:nvPr/>
        </p:nvSpPr>
        <p:spPr>
          <a:xfrm>
            <a:off x="5314950" y="6591300"/>
            <a:ext cx="6819900" cy="409575"/>
          </a:xfrm>
          <a:custGeom>
            <a:avLst/>
            <a:gdLst/>
            <a:ahLst/>
            <a:cxnLst/>
            <a:rect l="0" t="0" r="r" b="b"/>
            <a:pathLst>
              <a:path w="6819900" h="409575" fill="none">
                <a:moveTo>
                  <a:pt x="0" y="409575"/>
                </a:moveTo>
                <a:lnTo>
                  <a:pt x="6572250" y="409575"/>
                </a:lnTo>
                <a:lnTo>
                  <a:pt x="6572250" y="0"/>
                </a:lnTo>
                <a:lnTo>
                  <a:pt x="6819900" y="0"/>
                </a:lnTo>
              </a:path>
            </a:pathLst>
          </a:custGeom>
          <a:noFill/>
          <a:ln w="23812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8" name="native668"/>
          <p:cNvSpPr/>
          <p:nvPr/>
        </p:nvSpPr>
        <p:spPr>
          <a:xfrm>
            <a:off x="7448550" y="6848475"/>
            <a:ext cx="3771900" cy="27622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9" name="native669"/>
          <p:cNvSpPr/>
          <p:nvPr/>
        </p:nvSpPr>
        <p:spPr>
          <a:xfrm>
            <a:off x="7362825" y="6866001"/>
            <a:ext cx="39433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绕过选择视图，按共享词元索引读取原始 K / V</a:t>
            </a:r>
          </a:p>
        </p:txBody>
      </p:sp>
      <p:sp>
        <p:nvSpPr>
          <p:cNvPr id="674" name="native674"/>
          <p:cNvSpPr/>
          <p:nvPr/>
        </p:nvSpPr>
        <p:spPr>
          <a:xfrm>
            <a:off x="13906500" y="8067675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36574"/>
                </a:solidFill>
                <a:latin typeface="Noto Sans CJK SC"/>
                <a:ea typeface="Noto Sans CJK S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8732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2"/>
          <p:cNvSpPr/>
          <p:nvPr/>
        </p:nvSpPr>
        <p:spPr>
          <a:xfrm>
            <a:off x="762000" y="266700"/>
            <a:ext cx="13335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25" b="1" baseline="0">
                <a:solidFill>
                  <a:srgbClr val="32689F"/>
                </a:solidFill>
                <a:latin typeface="Noto Sans CJK SC"/>
                <a:ea typeface="Noto Sans CJK SC"/>
              </a:rPr>
              <a:t>Method · Architecture</a:t>
            </a:r>
            <a:endParaRPr lang="zh-CN" sz="1425"/>
          </a:p>
        </p:txBody>
      </p:sp>
      <p:sp>
        <p:nvSpPr>
          <p:cNvPr id="3" name="native3"/>
          <p:cNvSpPr/>
          <p:nvPr/>
        </p:nvSpPr>
        <p:spPr>
          <a:xfrm>
            <a:off x="762000" y="742950"/>
            <a:ext cx="13716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000" b="1">
                <a:solidFill>
                  <a:srgbClr val="193247"/>
                </a:solidFill>
                <a:latin typeface="Noto Sans CJK SC"/>
                <a:ea typeface="Noto Sans CJK SC"/>
              </a:rPr>
              <a:t>近远两级筛选：位置、页预算与词元预算</a:t>
            </a:r>
          </a:p>
        </p:txBody>
      </p:sp>
      <p:sp>
        <p:nvSpPr>
          <p:cNvPr id="4" name="native4"/>
          <p:cNvSpPr/>
          <p:nvPr/>
        </p:nvSpPr>
        <p:spPr>
          <a:xfrm>
            <a:off x="762000" y="1371600"/>
            <a:ext cx="13716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50" b="0">
                <a:solidFill>
                  <a:srgbClr val="536574"/>
                </a:solidFill>
                <a:latin typeface="Noto Sans CJK SC"/>
                <a:ea typeface="Noto Sans CJK SC"/>
              </a:rPr>
              <a:t>候选充足的4/128示例；远区可重复选中至多4个前缀词元</a:t>
            </a:r>
          </a:p>
        </p:txBody>
      </p:sp>
      <p:sp>
        <p:nvSpPr>
          <p:cNvPr id="21" name="native21"/>
          <p:cNvSpPr/>
          <p:nvPr/>
        </p:nvSpPr>
        <p:spPr>
          <a:xfrm>
            <a:off x="762000" y="1905000"/>
            <a:ext cx="13716000" cy="59055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native22"/>
          <p:cNvSpPr/>
          <p:nvPr/>
        </p:nvSpPr>
        <p:spPr>
          <a:xfrm>
            <a:off x="3657600" y="2514600"/>
            <a:ext cx="952" cy="4476750"/>
          </a:xfrm>
          <a:custGeom>
            <a:avLst/>
            <a:gdLst/>
            <a:ahLst/>
            <a:cxnLst/>
            <a:rect l="0" t="0" r="r" b="b"/>
            <a:pathLst>
              <a:path w="952" h="4476750" fill="none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8572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native23"/>
          <p:cNvSpPr/>
          <p:nvPr/>
        </p:nvSpPr>
        <p:spPr>
          <a:xfrm>
            <a:off x="7029450" y="2514600"/>
            <a:ext cx="952" cy="4476750"/>
          </a:xfrm>
          <a:custGeom>
            <a:avLst/>
            <a:gdLst/>
            <a:ahLst/>
            <a:cxnLst/>
            <a:rect l="0" t="0" r="r" b="b"/>
            <a:pathLst>
              <a:path w="952" h="4476750" fill="none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8572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native24"/>
          <p:cNvSpPr/>
          <p:nvPr/>
        </p:nvSpPr>
        <p:spPr>
          <a:xfrm>
            <a:off x="10715625" y="2514600"/>
            <a:ext cx="952" cy="4476750"/>
          </a:xfrm>
          <a:custGeom>
            <a:avLst/>
            <a:gdLst/>
            <a:ahLst/>
            <a:cxnLst/>
            <a:rect l="0" t="0" r="r" b="b"/>
            <a:pathLst>
              <a:path w="952" h="4476750" fill="none">
                <a:moveTo>
                  <a:pt x="0" y="0"/>
                </a:moveTo>
                <a:lnTo>
                  <a:pt x="0" y="4476750"/>
                </a:lnTo>
              </a:path>
            </a:pathLst>
          </a:custGeom>
          <a:noFill/>
          <a:ln w="8572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native25"/>
          <p:cNvSpPr/>
          <p:nvPr/>
        </p:nvSpPr>
        <p:spPr>
          <a:xfrm>
            <a:off x="895350" y="1963293"/>
            <a:ext cx="27432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193247"/>
                </a:solidFill>
                <a:latin typeface="Noto Sans CJK SC"/>
                <a:ea typeface="Noto Sans CJK SC"/>
              </a:rPr>
              <a:t>a  共享 RoPE32</a:t>
            </a:r>
            <a:endParaRPr lang="zh-CN" sz="1800"/>
          </a:p>
        </p:txBody>
      </p:sp>
      <p:sp>
        <p:nvSpPr>
          <p:cNvPr id="26" name="native26"/>
          <p:cNvSpPr/>
          <p:nvPr/>
        </p:nvSpPr>
        <p:spPr>
          <a:xfrm>
            <a:off x="3867150" y="1963293"/>
            <a:ext cx="25146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193247"/>
                </a:solidFill>
                <a:latin typeface="Noto Sans CJK SC"/>
                <a:ea typeface="Noto Sans CJK SC"/>
              </a:rPr>
              <a:t>b  L1：区域页筛选</a:t>
            </a:r>
            <a:endParaRPr lang="zh-CN" sz="1800"/>
          </a:p>
        </p:txBody>
      </p:sp>
      <p:sp>
        <p:nvSpPr>
          <p:cNvPr id="27" name="native27"/>
          <p:cNvSpPr/>
          <p:nvPr/>
        </p:nvSpPr>
        <p:spPr>
          <a:xfrm>
            <a:off x="7239000" y="1963293"/>
            <a:ext cx="38862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193247"/>
                </a:solidFill>
                <a:latin typeface="Noto Sans CJK SC"/>
                <a:ea typeface="Noto Sans CJK SC"/>
              </a:rPr>
              <a:t>c  L2：区域 词元 筛选</a:t>
            </a:r>
          </a:p>
        </p:txBody>
      </p:sp>
      <p:sp>
        <p:nvSpPr>
          <p:cNvPr id="28" name="native28"/>
          <p:cNvSpPr/>
          <p:nvPr/>
        </p:nvSpPr>
        <p:spPr>
          <a:xfrm>
            <a:off x="10944225" y="1963293"/>
            <a:ext cx="182880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00" b="1">
                <a:solidFill>
                  <a:srgbClr val="193247"/>
                </a:solidFill>
                <a:latin typeface="Noto Sans CJK SC"/>
                <a:ea typeface="Noto Sans CJK SC"/>
              </a:rPr>
              <a:t>d  原维注意力</a:t>
            </a:r>
            <a:endParaRPr lang="zh-CN" sz="1800"/>
          </a:p>
        </p:txBody>
      </p:sp>
      <p:sp>
        <p:nvSpPr>
          <p:cNvPr id="29" name="native29"/>
          <p:cNvSpPr/>
          <p:nvPr/>
        </p:nvSpPr>
        <p:spPr>
          <a:xfrm>
            <a:off x="895350" y="2362200"/>
            <a:ext cx="13439775" cy="952"/>
          </a:xfrm>
          <a:custGeom>
            <a:avLst/>
            <a:gdLst/>
            <a:ahLst/>
            <a:cxnLst/>
            <a:rect l="0" t="0" r="r" b="b"/>
            <a:pathLst>
              <a:path w="13439775" h="952" fill="none">
                <a:moveTo>
                  <a:pt x="0" y="0"/>
                </a:moveTo>
                <a:lnTo>
                  <a:pt x="13439775" y="0"/>
                </a:lnTo>
              </a:path>
            </a:pathLst>
          </a:custGeom>
          <a:noFill/>
          <a:ln w="9525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native30"/>
          <p:cNvSpPr/>
          <p:nvPr/>
        </p:nvSpPr>
        <p:spPr>
          <a:xfrm>
            <a:off x="895350" y="247269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RoPE 后：4Q / 1 KV 组</a:t>
            </a:r>
            <a:endParaRPr lang="zh-CN" sz="1500"/>
          </a:p>
        </p:txBody>
      </p:sp>
      <p:sp>
        <p:nvSpPr>
          <p:cNvPr id="31" name="native31"/>
          <p:cNvSpPr/>
          <p:nvPr/>
        </p:nvSpPr>
        <p:spPr>
          <a:xfrm>
            <a:off x="923925" y="2928747"/>
            <a:ext cx="85725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75" b="1">
                <a:solidFill>
                  <a:srgbClr val="193247"/>
                </a:solidFill>
                <a:latin typeface="Noto Sans CJK SC"/>
                <a:ea typeface="Noto Sans CJK SC"/>
              </a:rPr>
              <a:t>Q</a:t>
            </a:r>
            <a:endParaRPr lang="zh-CN" sz="1575"/>
          </a:p>
        </p:txBody>
      </p:sp>
      <p:sp>
        <p:nvSpPr>
          <p:cNvPr id="32" name="native32"/>
          <p:cNvSpPr/>
          <p:nvPr/>
        </p:nvSpPr>
        <p:spPr>
          <a:xfrm>
            <a:off x="1228725" y="29622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native33"/>
          <p:cNvSpPr/>
          <p:nvPr/>
        </p:nvSpPr>
        <p:spPr>
          <a:xfrm>
            <a:off x="1495425" y="29622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native34"/>
          <p:cNvSpPr/>
          <p:nvPr/>
        </p:nvSpPr>
        <p:spPr>
          <a:xfrm>
            <a:off x="1762125" y="29622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native35"/>
          <p:cNvSpPr/>
          <p:nvPr/>
        </p:nvSpPr>
        <p:spPr>
          <a:xfrm>
            <a:off x="2028825" y="2962275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native36"/>
          <p:cNvSpPr/>
          <p:nvPr/>
        </p:nvSpPr>
        <p:spPr>
          <a:xfrm>
            <a:off x="2295525" y="29622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native37"/>
          <p:cNvSpPr/>
          <p:nvPr/>
        </p:nvSpPr>
        <p:spPr>
          <a:xfrm>
            <a:off x="2562225" y="29622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native38"/>
          <p:cNvSpPr/>
          <p:nvPr/>
        </p:nvSpPr>
        <p:spPr>
          <a:xfrm>
            <a:off x="2828925" y="29622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native39"/>
          <p:cNvSpPr/>
          <p:nvPr/>
        </p:nvSpPr>
        <p:spPr>
          <a:xfrm>
            <a:off x="3095625" y="2962275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native40"/>
          <p:cNvSpPr/>
          <p:nvPr/>
        </p:nvSpPr>
        <p:spPr>
          <a:xfrm>
            <a:off x="1228725" y="312420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native41"/>
          <p:cNvSpPr/>
          <p:nvPr/>
        </p:nvSpPr>
        <p:spPr>
          <a:xfrm>
            <a:off x="1495425" y="312420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native42"/>
          <p:cNvSpPr/>
          <p:nvPr/>
        </p:nvSpPr>
        <p:spPr>
          <a:xfrm>
            <a:off x="1762125" y="312420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native43"/>
          <p:cNvSpPr/>
          <p:nvPr/>
        </p:nvSpPr>
        <p:spPr>
          <a:xfrm>
            <a:off x="2028825" y="3124200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native44"/>
          <p:cNvSpPr/>
          <p:nvPr/>
        </p:nvSpPr>
        <p:spPr>
          <a:xfrm>
            <a:off x="2295525" y="312420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native45"/>
          <p:cNvSpPr/>
          <p:nvPr/>
        </p:nvSpPr>
        <p:spPr>
          <a:xfrm>
            <a:off x="2562225" y="312420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native46"/>
          <p:cNvSpPr/>
          <p:nvPr/>
        </p:nvSpPr>
        <p:spPr>
          <a:xfrm>
            <a:off x="2828925" y="312420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native47"/>
          <p:cNvSpPr/>
          <p:nvPr/>
        </p:nvSpPr>
        <p:spPr>
          <a:xfrm>
            <a:off x="3095625" y="3124200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native48"/>
          <p:cNvSpPr/>
          <p:nvPr/>
        </p:nvSpPr>
        <p:spPr>
          <a:xfrm>
            <a:off x="1228725" y="328612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native49"/>
          <p:cNvSpPr/>
          <p:nvPr/>
        </p:nvSpPr>
        <p:spPr>
          <a:xfrm>
            <a:off x="1495425" y="328612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native50"/>
          <p:cNvSpPr/>
          <p:nvPr/>
        </p:nvSpPr>
        <p:spPr>
          <a:xfrm>
            <a:off x="1762125" y="328612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native51"/>
          <p:cNvSpPr/>
          <p:nvPr/>
        </p:nvSpPr>
        <p:spPr>
          <a:xfrm>
            <a:off x="2028825" y="3286125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native52"/>
          <p:cNvSpPr/>
          <p:nvPr/>
        </p:nvSpPr>
        <p:spPr>
          <a:xfrm>
            <a:off x="2295525" y="328612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native53"/>
          <p:cNvSpPr/>
          <p:nvPr/>
        </p:nvSpPr>
        <p:spPr>
          <a:xfrm>
            <a:off x="2562225" y="328612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native54"/>
          <p:cNvSpPr/>
          <p:nvPr/>
        </p:nvSpPr>
        <p:spPr>
          <a:xfrm>
            <a:off x="2828925" y="328612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native55"/>
          <p:cNvSpPr/>
          <p:nvPr/>
        </p:nvSpPr>
        <p:spPr>
          <a:xfrm>
            <a:off x="3095625" y="3286125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native56"/>
          <p:cNvSpPr/>
          <p:nvPr/>
        </p:nvSpPr>
        <p:spPr>
          <a:xfrm>
            <a:off x="1228725" y="34480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native57"/>
          <p:cNvSpPr/>
          <p:nvPr/>
        </p:nvSpPr>
        <p:spPr>
          <a:xfrm>
            <a:off x="1495425" y="34480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native58"/>
          <p:cNvSpPr/>
          <p:nvPr/>
        </p:nvSpPr>
        <p:spPr>
          <a:xfrm>
            <a:off x="1762125" y="34480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native59"/>
          <p:cNvSpPr/>
          <p:nvPr/>
        </p:nvSpPr>
        <p:spPr>
          <a:xfrm>
            <a:off x="2028825" y="3448050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native60"/>
          <p:cNvSpPr/>
          <p:nvPr/>
        </p:nvSpPr>
        <p:spPr>
          <a:xfrm>
            <a:off x="2295525" y="34480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native61"/>
          <p:cNvSpPr/>
          <p:nvPr/>
        </p:nvSpPr>
        <p:spPr>
          <a:xfrm>
            <a:off x="2562225" y="34480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native62"/>
          <p:cNvSpPr/>
          <p:nvPr/>
        </p:nvSpPr>
        <p:spPr>
          <a:xfrm>
            <a:off x="2828925" y="34480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native63"/>
          <p:cNvSpPr/>
          <p:nvPr/>
        </p:nvSpPr>
        <p:spPr>
          <a:xfrm>
            <a:off x="3095625" y="3448050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native64"/>
          <p:cNvSpPr/>
          <p:nvPr/>
        </p:nvSpPr>
        <p:spPr>
          <a:xfrm>
            <a:off x="923925" y="3909822"/>
            <a:ext cx="85725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75" b="1">
                <a:solidFill>
                  <a:srgbClr val="193247"/>
                </a:solidFill>
                <a:latin typeface="Noto Sans CJK SC"/>
                <a:ea typeface="Noto Sans CJK SC"/>
              </a:rPr>
              <a:t>K</a:t>
            </a:r>
            <a:endParaRPr lang="zh-CN" sz="1575"/>
          </a:p>
        </p:txBody>
      </p:sp>
      <p:sp>
        <p:nvSpPr>
          <p:cNvPr id="65" name="native65"/>
          <p:cNvSpPr/>
          <p:nvPr/>
        </p:nvSpPr>
        <p:spPr>
          <a:xfrm>
            <a:off x="1228725" y="39433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native66"/>
          <p:cNvSpPr/>
          <p:nvPr/>
        </p:nvSpPr>
        <p:spPr>
          <a:xfrm>
            <a:off x="1495425" y="39433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native67"/>
          <p:cNvSpPr/>
          <p:nvPr/>
        </p:nvSpPr>
        <p:spPr>
          <a:xfrm>
            <a:off x="1762125" y="39433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native68"/>
          <p:cNvSpPr/>
          <p:nvPr/>
        </p:nvSpPr>
        <p:spPr>
          <a:xfrm>
            <a:off x="2028825" y="3943350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native69"/>
          <p:cNvSpPr/>
          <p:nvPr/>
        </p:nvSpPr>
        <p:spPr>
          <a:xfrm>
            <a:off x="2295525" y="39433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native70"/>
          <p:cNvSpPr/>
          <p:nvPr/>
        </p:nvSpPr>
        <p:spPr>
          <a:xfrm>
            <a:off x="2562225" y="39433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native71"/>
          <p:cNvSpPr/>
          <p:nvPr/>
        </p:nvSpPr>
        <p:spPr>
          <a:xfrm>
            <a:off x="2828925" y="39433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native72"/>
          <p:cNvSpPr/>
          <p:nvPr/>
        </p:nvSpPr>
        <p:spPr>
          <a:xfrm>
            <a:off x="3095625" y="3943350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native73"/>
          <p:cNvSpPr/>
          <p:nvPr/>
        </p:nvSpPr>
        <p:spPr>
          <a:xfrm>
            <a:off x="1228725" y="41052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native74"/>
          <p:cNvSpPr/>
          <p:nvPr/>
        </p:nvSpPr>
        <p:spPr>
          <a:xfrm>
            <a:off x="1495425" y="41052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native75"/>
          <p:cNvSpPr/>
          <p:nvPr/>
        </p:nvSpPr>
        <p:spPr>
          <a:xfrm>
            <a:off x="1762125" y="41052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native76"/>
          <p:cNvSpPr/>
          <p:nvPr/>
        </p:nvSpPr>
        <p:spPr>
          <a:xfrm>
            <a:off x="2028825" y="4105275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native77"/>
          <p:cNvSpPr/>
          <p:nvPr/>
        </p:nvSpPr>
        <p:spPr>
          <a:xfrm>
            <a:off x="2295525" y="41052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native78"/>
          <p:cNvSpPr/>
          <p:nvPr/>
        </p:nvSpPr>
        <p:spPr>
          <a:xfrm>
            <a:off x="2562225" y="41052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native79"/>
          <p:cNvSpPr/>
          <p:nvPr/>
        </p:nvSpPr>
        <p:spPr>
          <a:xfrm>
            <a:off x="2828925" y="41052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native80"/>
          <p:cNvSpPr/>
          <p:nvPr/>
        </p:nvSpPr>
        <p:spPr>
          <a:xfrm>
            <a:off x="3095625" y="4105275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native81"/>
          <p:cNvSpPr/>
          <p:nvPr/>
        </p:nvSpPr>
        <p:spPr>
          <a:xfrm>
            <a:off x="1228725" y="426720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native82"/>
          <p:cNvSpPr/>
          <p:nvPr/>
        </p:nvSpPr>
        <p:spPr>
          <a:xfrm>
            <a:off x="1495425" y="426720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native83"/>
          <p:cNvSpPr/>
          <p:nvPr/>
        </p:nvSpPr>
        <p:spPr>
          <a:xfrm>
            <a:off x="1762125" y="426720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native84"/>
          <p:cNvSpPr/>
          <p:nvPr/>
        </p:nvSpPr>
        <p:spPr>
          <a:xfrm>
            <a:off x="2028825" y="4267200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native85"/>
          <p:cNvSpPr/>
          <p:nvPr/>
        </p:nvSpPr>
        <p:spPr>
          <a:xfrm>
            <a:off x="2295525" y="426720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native86"/>
          <p:cNvSpPr/>
          <p:nvPr/>
        </p:nvSpPr>
        <p:spPr>
          <a:xfrm>
            <a:off x="2562225" y="426720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native87"/>
          <p:cNvSpPr/>
          <p:nvPr/>
        </p:nvSpPr>
        <p:spPr>
          <a:xfrm>
            <a:off x="2828925" y="426720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native88"/>
          <p:cNvSpPr/>
          <p:nvPr/>
        </p:nvSpPr>
        <p:spPr>
          <a:xfrm>
            <a:off x="3095625" y="4267200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native89"/>
          <p:cNvSpPr/>
          <p:nvPr/>
        </p:nvSpPr>
        <p:spPr>
          <a:xfrm>
            <a:off x="1228725" y="442912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native90"/>
          <p:cNvSpPr/>
          <p:nvPr/>
        </p:nvSpPr>
        <p:spPr>
          <a:xfrm>
            <a:off x="1495425" y="442912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native91"/>
          <p:cNvSpPr/>
          <p:nvPr/>
        </p:nvSpPr>
        <p:spPr>
          <a:xfrm>
            <a:off x="1762125" y="442912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native92"/>
          <p:cNvSpPr/>
          <p:nvPr/>
        </p:nvSpPr>
        <p:spPr>
          <a:xfrm>
            <a:off x="2028825" y="4429125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native93"/>
          <p:cNvSpPr/>
          <p:nvPr/>
        </p:nvSpPr>
        <p:spPr>
          <a:xfrm>
            <a:off x="2295525" y="442912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native94"/>
          <p:cNvSpPr/>
          <p:nvPr/>
        </p:nvSpPr>
        <p:spPr>
          <a:xfrm>
            <a:off x="2562225" y="442912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native95"/>
          <p:cNvSpPr/>
          <p:nvPr/>
        </p:nvSpPr>
        <p:spPr>
          <a:xfrm>
            <a:off x="2828925" y="442912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native96"/>
          <p:cNvSpPr/>
          <p:nvPr/>
        </p:nvSpPr>
        <p:spPr>
          <a:xfrm>
            <a:off x="3095625" y="4429125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native97"/>
          <p:cNvSpPr/>
          <p:nvPr/>
        </p:nvSpPr>
        <p:spPr>
          <a:xfrm>
            <a:off x="1228725" y="45910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native98"/>
          <p:cNvSpPr/>
          <p:nvPr/>
        </p:nvSpPr>
        <p:spPr>
          <a:xfrm>
            <a:off x="1495425" y="45910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native99"/>
          <p:cNvSpPr/>
          <p:nvPr/>
        </p:nvSpPr>
        <p:spPr>
          <a:xfrm>
            <a:off x="1762125" y="45910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native100"/>
          <p:cNvSpPr/>
          <p:nvPr/>
        </p:nvSpPr>
        <p:spPr>
          <a:xfrm>
            <a:off x="2028825" y="4591050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native101"/>
          <p:cNvSpPr/>
          <p:nvPr/>
        </p:nvSpPr>
        <p:spPr>
          <a:xfrm>
            <a:off x="2295525" y="45910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native102"/>
          <p:cNvSpPr/>
          <p:nvPr/>
        </p:nvSpPr>
        <p:spPr>
          <a:xfrm>
            <a:off x="2562225" y="45910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native103"/>
          <p:cNvSpPr/>
          <p:nvPr/>
        </p:nvSpPr>
        <p:spPr>
          <a:xfrm>
            <a:off x="2828925" y="4591050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native104"/>
          <p:cNvSpPr/>
          <p:nvPr/>
        </p:nvSpPr>
        <p:spPr>
          <a:xfrm>
            <a:off x="3095625" y="4591050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native105"/>
          <p:cNvSpPr/>
          <p:nvPr/>
        </p:nvSpPr>
        <p:spPr>
          <a:xfrm>
            <a:off x="1228725" y="47529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native106"/>
          <p:cNvSpPr/>
          <p:nvPr/>
        </p:nvSpPr>
        <p:spPr>
          <a:xfrm>
            <a:off x="1495425" y="47529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native107"/>
          <p:cNvSpPr/>
          <p:nvPr/>
        </p:nvSpPr>
        <p:spPr>
          <a:xfrm>
            <a:off x="1762125" y="47529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native108"/>
          <p:cNvSpPr/>
          <p:nvPr/>
        </p:nvSpPr>
        <p:spPr>
          <a:xfrm>
            <a:off x="2028825" y="4752975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native109"/>
          <p:cNvSpPr/>
          <p:nvPr/>
        </p:nvSpPr>
        <p:spPr>
          <a:xfrm>
            <a:off x="2295525" y="47529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native110"/>
          <p:cNvSpPr/>
          <p:nvPr/>
        </p:nvSpPr>
        <p:spPr>
          <a:xfrm>
            <a:off x="2562225" y="47529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native111"/>
          <p:cNvSpPr/>
          <p:nvPr/>
        </p:nvSpPr>
        <p:spPr>
          <a:xfrm>
            <a:off x="2828925" y="4752975"/>
            <a:ext cx="228600" cy="11430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native112"/>
          <p:cNvSpPr/>
          <p:nvPr/>
        </p:nvSpPr>
        <p:spPr>
          <a:xfrm>
            <a:off x="3095625" y="4752975"/>
            <a:ext cx="228600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native113"/>
          <p:cNvSpPr/>
          <p:nvPr/>
        </p:nvSpPr>
        <p:spPr>
          <a:xfrm>
            <a:off x="2143125" y="2876550"/>
            <a:ext cx="1066800" cy="85725"/>
          </a:xfrm>
          <a:custGeom>
            <a:avLst/>
            <a:gdLst/>
            <a:ahLst/>
            <a:cxnLst/>
            <a:rect l="0" t="0" r="r" b="b"/>
            <a:pathLst>
              <a:path w="1066800" h="85725" fill="none">
                <a:moveTo>
                  <a:pt x="0" y="85725"/>
                </a:moveTo>
                <a:lnTo>
                  <a:pt x="0" y="0"/>
                </a:lnTo>
                <a:lnTo>
                  <a:pt x="1066800" y="0"/>
                </a:lnTo>
                <a:lnTo>
                  <a:pt x="1066800" y="85725"/>
                </a:lnTo>
              </a:path>
            </a:pathLst>
          </a:custGeom>
          <a:noFill/>
          <a:ln w="12382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native114"/>
          <p:cNvSpPr/>
          <p:nvPr/>
        </p:nvSpPr>
        <p:spPr>
          <a:xfrm>
            <a:off x="1266825" y="3591687"/>
            <a:ext cx="85725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0…63</a:t>
            </a:r>
            <a:endParaRPr lang="zh-CN" sz="1200"/>
          </a:p>
        </p:txBody>
      </p:sp>
      <p:sp>
        <p:nvSpPr>
          <p:cNvPr id="115" name="native115"/>
          <p:cNvSpPr/>
          <p:nvPr/>
        </p:nvSpPr>
        <p:spPr>
          <a:xfrm>
            <a:off x="2409825" y="3591687"/>
            <a:ext cx="91440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64…127</a:t>
            </a:r>
            <a:endParaRPr lang="zh-CN" sz="1200"/>
          </a:p>
        </p:txBody>
      </p:sp>
      <p:sp>
        <p:nvSpPr>
          <p:cNvPr id="116" name="native116"/>
          <p:cNvSpPr/>
          <p:nvPr/>
        </p:nvSpPr>
        <p:spPr>
          <a:xfrm>
            <a:off x="628650" y="4922901"/>
            <a:ext cx="32575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78628F"/>
                </a:solidFill>
                <a:latin typeface="Noto Sans CJK SC"/>
                <a:ea typeface="Noto Sans CJK SC"/>
              </a:rPr>
              <a:t>[48…63] ∪ [112…127]</a:t>
            </a:r>
            <a:endParaRPr lang="zh-CN" sz="1350"/>
          </a:p>
        </p:txBody>
      </p:sp>
      <p:sp>
        <p:nvSpPr>
          <p:cNvPr id="117" name="native117"/>
          <p:cNvSpPr/>
          <p:nvPr/>
        </p:nvSpPr>
        <p:spPr>
          <a:xfrm>
            <a:off x="990600" y="5150358"/>
            <a:ext cx="253365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78628F"/>
                </a:solidFill>
                <a:latin typeface="Noto Sans CJK SC"/>
                <a:ea typeface="Noto Sans CJK SC"/>
              </a:rPr>
              <a:t>16 对完整 RoPE 坐标</a:t>
            </a:r>
            <a:endParaRPr lang="zh-CN" sz="1425"/>
          </a:p>
        </p:txBody>
      </p:sp>
      <p:sp>
        <p:nvSpPr>
          <p:cNvPr id="118" name="native118"/>
          <p:cNvSpPr/>
          <p:nvPr/>
        </p:nvSpPr>
        <p:spPr>
          <a:xfrm>
            <a:off x="2238375" y="5467350"/>
            <a:ext cx="952" cy="180975"/>
          </a:xfrm>
          <a:custGeom>
            <a:avLst/>
            <a:gdLst/>
            <a:ahLst/>
            <a:cxnLst/>
            <a:rect l="0" t="0" r="r" b="b"/>
            <a:pathLst>
              <a:path w="952" h="180975" fill="none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7145">
            <a:solidFill>
              <a:srgbClr val="78628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native119"/>
          <p:cNvSpPr/>
          <p:nvPr/>
        </p:nvSpPr>
        <p:spPr>
          <a:xfrm>
            <a:off x="1000125" y="5713476"/>
            <a:ext cx="10287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4 × 32</a:t>
            </a:r>
            <a:endParaRPr lang="zh-CN" sz="1350"/>
          </a:p>
        </p:txBody>
      </p:sp>
      <p:sp>
        <p:nvSpPr>
          <p:cNvPr id="120" name="native120"/>
          <p:cNvSpPr/>
          <p:nvPr/>
        </p:nvSpPr>
        <p:spPr>
          <a:xfrm>
            <a:off x="2343150" y="5713476"/>
            <a:ext cx="10287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S × 32</a:t>
            </a:r>
            <a:endParaRPr lang="zh-CN" sz="1350"/>
          </a:p>
        </p:txBody>
      </p:sp>
      <p:sp>
        <p:nvSpPr>
          <p:cNvPr id="121" name="native121"/>
          <p:cNvSpPr/>
          <p:nvPr/>
        </p:nvSpPr>
        <p:spPr>
          <a:xfrm>
            <a:off x="1162050" y="60293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native122"/>
          <p:cNvSpPr/>
          <p:nvPr/>
        </p:nvSpPr>
        <p:spPr>
          <a:xfrm>
            <a:off x="1343025" y="60293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native123"/>
          <p:cNvSpPr/>
          <p:nvPr/>
        </p:nvSpPr>
        <p:spPr>
          <a:xfrm>
            <a:off x="1524000" y="60293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native124"/>
          <p:cNvSpPr/>
          <p:nvPr/>
        </p:nvSpPr>
        <p:spPr>
          <a:xfrm>
            <a:off x="1704975" y="60293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native125"/>
          <p:cNvSpPr/>
          <p:nvPr/>
        </p:nvSpPr>
        <p:spPr>
          <a:xfrm>
            <a:off x="1162050" y="61626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native126"/>
          <p:cNvSpPr/>
          <p:nvPr/>
        </p:nvSpPr>
        <p:spPr>
          <a:xfrm>
            <a:off x="1343025" y="61626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native127"/>
          <p:cNvSpPr/>
          <p:nvPr/>
        </p:nvSpPr>
        <p:spPr>
          <a:xfrm>
            <a:off x="1524000" y="61626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native128"/>
          <p:cNvSpPr/>
          <p:nvPr/>
        </p:nvSpPr>
        <p:spPr>
          <a:xfrm>
            <a:off x="1704975" y="61626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native129"/>
          <p:cNvSpPr/>
          <p:nvPr/>
        </p:nvSpPr>
        <p:spPr>
          <a:xfrm>
            <a:off x="1162050" y="62960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native130"/>
          <p:cNvSpPr/>
          <p:nvPr/>
        </p:nvSpPr>
        <p:spPr>
          <a:xfrm>
            <a:off x="1343025" y="62960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native131"/>
          <p:cNvSpPr/>
          <p:nvPr/>
        </p:nvSpPr>
        <p:spPr>
          <a:xfrm>
            <a:off x="1524000" y="62960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native132"/>
          <p:cNvSpPr/>
          <p:nvPr/>
        </p:nvSpPr>
        <p:spPr>
          <a:xfrm>
            <a:off x="1704975" y="62960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native133"/>
          <p:cNvSpPr/>
          <p:nvPr/>
        </p:nvSpPr>
        <p:spPr>
          <a:xfrm>
            <a:off x="1162050" y="64293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native134"/>
          <p:cNvSpPr/>
          <p:nvPr/>
        </p:nvSpPr>
        <p:spPr>
          <a:xfrm>
            <a:off x="1343025" y="64293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native135"/>
          <p:cNvSpPr/>
          <p:nvPr/>
        </p:nvSpPr>
        <p:spPr>
          <a:xfrm>
            <a:off x="1524000" y="64293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native136"/>
          <p:cNvSpPr/>
          <p:nvPr/>
        </p:nvSpPr>
        <p:spPr>
          <a:xfrm>
            <a:off x="1704975" y="64293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native137"/>
          <p:cNvSpPr/>
          <p:nvPr/>
        </p:nvSpPr>
        <p:spPr>
          <a:xfrm>
            <a:off x="2514600" y="60293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native138"/>
          <p:cNvSpPr/>
          <p:nvPr/>
        </p:nvSpPr>
        <p:spPr>
          <a:xfrm>
            <a:off x="2695575" y="60293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native139"/>
          <p:cNvSpPr/>
          <p:nvPr/>
        </p:nvSpPr>
        <p:spPr>
          <a:xfrm>
            <a:off x="2876550" y="60293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native140"/>
          <p:cNvSpPr/>
          <p:nvPr/>
        </p:nvSpPr>
        <p:spPr>
          <a:xfrm>
            <a:off x="3057525" y="60293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native141"/>
          <p:cNvSpPr/>
          <p:nvPr/>
        </p:nvSpPr>
        <p:spPr>
          <a:xfrm>
            <a:off x="2514600" y="61626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native142"/>
          <p:cNvSpPr/>
          <p:nvPr/>
        </p:nvSpPr>
        <p:spPr>
          <a:xfrm>
            <a:off x="2695575" y="61626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native143"/>
          <p:cNvSpPr/>
          <p:nvPr/>
        </p:nvSpPr>
        <p:spPr>
          <a:xfrm>
            <a:off x="2876550" y="61626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" name="native144"/>
          <p:cNvSpPr/>
          <p:nvPr/>
        </p:nvSpPr>
        <p:spPr>
          <a:xfrm>
            <a:off x="3057525" y="61626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native145"/>
          <p:cNvSpPr/>
          <p:nvPr/>
        </p:nvSpPr>
        <p:spPr>
          <a:xfrm>
            <a:off x="2514600" y="62960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native146"/>
          <p:cNvSpPr/>
          <p:nvPr/>
        </p:nvSpPr>
        <p:spPr>
          <a:xfrm>
            <a:off x="2695575" y="62960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7" name="native147"/>
          <p:cNvSpPr/>
          <p:nvPr/>
        </p:nvSpPr>
        <p:spPr>
          <a:xfrm>
            <a:off x="2876550" y="62960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native148"/>
          <p:cNvSpPr/>
          <p:nvPr/>
        </p:nvSpPr>
        <p:spPr>
          <a:xfrm>
            <a:off x="3057525" y="62960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" name="native149"/>
          <p:cNvSpPr/>
          <p:nvPr/>
        </p:nvSpPr>
        <p:spPr>
          <a:xfrm>
            <a:off x="2514600" y="64293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native150"/>
          <p:cNvSpPr/>
          <p:nvPr/>
        </p:nvSpPr>
        <p:spPr>
          <a:xfrm>
            <a:off x="2695575" y="64293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native151"/>
          <p:cNvSpPr/>
          <p:nvPr/>
        </p:nvSpPr>
        <p:spPr>
          <a:xfrm>
            <a:off x="2876550" y="64293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native152"/>
          <p:cNvSpPr/>
          <p:nvPr/>
        </p:nvSpPr>
        <p:spPr>
          <a:xfrm>
            <a:off x="3057525" y="64293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native153"/>
          <p:cNvSpPr/>
          <p:nvPr/>
        </p:nvSpPr>
        <p:spPr>
          <a:xfrm>
            <a:off x="2514600" y="65627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native154"/>
          <p:cNvSpPr/>
          <p:nvPr/>
        </p:nvSpPr>
        <p:spPr>
          <a:xfrm>
            <a:off x="2695575" y="65627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native155"/>
          <p:cNvSpPr/>
          <p:nvPr/>
        </p:nvSpPr>
        <p:spPr>
          <a:xfrm>
            <a:off x="2876550" y="65627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6" name="native156"/>
          <p:cNvSpPr/>
          <p:nvPr/>
        </p:nvSpPr>
        <p:spPr>
          <a:xfrm>
            <a:off x="3057525" y="656272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native157"/>
          <p:cNvSpPr/>
          <p:nvPr/>
        </p:nvSpPr>
        <p:spPr>
          <a:xfrm>
            <a:off x="2514600" y="66960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native158"/>
          <p:cNvSpPr/>
          <p:nvPr/>
        </p:nvSpPr>
        <p:spPr>
          <a:xfrm>
            <a:off x="2695575" y="66960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9" name="native159"/>
          <p:cNvSpPr/>
          <p:nvPr/>
        </p:nvSpPr>
        <p:spPr>
          <a:xfrm>
            <a:off x="2876550" y="66960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native160"/>
          <p:cNvSpPr/>
          <p:nvPr/>
        </p:nvSpPr>
        <p:spPr>
          <a:xfrm>
            <a:off x="3057525" y="6696075"/>
            <a:ext cx="142875" cy="9525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1" name="native161"/>
          <p:cNvSpPr/>
          <p:nvPr/>
        </p:nvSpPr>
        <p:spPr>
          <a:xfrm>
            <a:off x="1071562" y="6550533"/>
            <a:ext cx="904875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78628F"/>
                </a:solidFill>
                <a:latin typeface="Noto Sans CJK SC"/>
                <a:ea typeface="Noto Sans CJK SC"/>
              </a:rPr>
              <a:t>q₁…q₄</a:t>
            </a:r>
            <a:endParaRPr lang="zh-CN" sz="1425"/>
          </a:p>
        </p:txBody>
      </p:sp>
      <p:sp>
        <p:nvSpPr>
          <p:cNvPr id="162" name="native162"/>
          <p:cNvSpPr/>
          <p:nvPr/>
        </p:nvSpPr>
        <p:spPr>
          <a:xfrm>
            <a:off x="2428875" y="6730365"/>
            <a:ext cx="857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78628F"/>
                </a:solidFill>
                <a:latin typeface="Noto Sans CJK SC"/>
                <a:ea typeface="Noto Sans CJK SC"/>
              </a:rPr>
              <a:t>Kₛ</a:t>
            </a:r>
            <a:endParaRPr lang="zh-CN" sz="1500"/>
          </a:p>
        </p:txBody>
      </p:sp>
      <p:sp>
        <p:nvSpPr>
          <p:cNvPr id="163" name="native163"/>
          <p:cNvSpPr/>
          <p:nvPr/>
        </p:nvSpPr>
        <p:spPr>
          <a:xfrm>
            <a:off x="3371850" y="2800350"/>
            <a:ext cx="447675" cy="3409950"/>
          </a:xfrm>
          <a:custGeom>
            <a:avLst/>
            <a:gdLst/>
            <a:ahLst/>
            <a:cxnLst/>
            <a:rect l="0" t="0" r="r" b="b"/>
            <a:pathLst>
              <a:path w="447675" h="3409950" fill="none">
                <a:moveTo>
                  <a:pt x="0" y="3409950"/>
                </a:moveTo>
                <a:lnTo>
                  <a:pt x="171450" y="3409950"/>
                </a:lnTo>
                <a:lnTo>
                  <a:pt x="171450" y="0"/>
                </a:lnTo>
                <a:lnTo>
                  <a:pt x="447675" y="0"/>
                </a:lnTo>
              </a:path>
            </a:pathLst>
          </a:custGeom>
          <a:noFill/>
          <a:ln w="15716">
            <a:solidFill>
              <a:srgbClr val="78628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" name="native164"/>
          <p:cNvSpPr/>
          <p:nvPr/>
        </p:nvSpPr>
        <p:spPr>
          <a:xfrm>
            <a:off x="3867150" y="2483358"/>
            <a:ext cx="217170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按位置划分未保护中间历史</a:t>
            </a:r>
            <a:endParaRPr lang="zh-CN" sz="1425"/>
          </a:p>
        </p:txBody>
      </p:sp>
      <p:sp>
        <p:nvSpPr>
          <p:cNvPr id="165" name="native165"/>
          <p:cNvSpPr/>
          <p:nvPr/>
        </p:nvSpPr>
        <p:spPr>
          <a:xfrm>
            <a:off x="3867150" y="2867025"/>
            <a:ext cx="323850" cy="26670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6" name="native166"/>
          <p:cNvSpPr/>
          <p:nvPr/>
        </p:nvSpPr>
        <p:spPr>
          <a:xfrm>
            <a:off x="3600450" y="2885694"/>
            <a:ext cx="85725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Noto Sans CJK SC"/>
                <a:ea typeface="Noto Sans CJK SC"/>
              </a:rPr>
              <a:t>P</a:t>
            </a:r>
            <a:endParaRPr lang="zh-CN" sz="1275"/>
          </a:p>
        </p:txBody>
      </p:sp>
      <p:sp>
        <p:nvSpPr>
          <p:cNvPr id="167" name="native167"/>
          <p:cNvSpPr/>
          <p:nvPr/>
        </p:nvSpPr>
        <p:spPr>
          <a:xfrm>
            <a:off x="4219575" y="2867025"/>
            <a:ext cx="1571625" cy="26670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" name="native168"/>
          <p:cNvSpPr/>
          <p:nvPr/>
        </p:nvSpPr>
        <p:spPr>
          <a:xfrm>
            <a:off x="4576762" y="2885694"/>
            <a:ext cx="85725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FFFFFF"/>
                </a:solidFill>
                <a:latin typeface="Noto Sans CJK SC"/>
                <a:ea typeface="Noto Sans CJK SC"/>
              </a:rPr>
              <a:t>远区</a:t>
            </a:r>
          </a:p>
        </p:txBody>
      </p:sp>
      <p:sp>
        <p:nvSpPr>
          <p:cNvPr id="169" name="native169"/>
          <p:cNvSpPr/>
          <p:nvPr/>
        </p:nvSpPr>
        <p:spPr>
          <a:xfrm>
            <a:off x="5819775" y="2867025"/>
            <a:ext cx="666750" cy="2667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" name="native170"/>
          <p:cNvSpPr/>
          <p:nvPr/>
        </p:nvSpPr>
        <p:spPr>
          <a:xfrm>
            <a:off x="5724525" y="2885694"/>
            <a:ext cx="85725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FFFFFF"/>
                </a:solidFill>
                <a:latin typeface="Noto Sans CJK SC"/>
                <a:ea typeface="Noto Sans CJK SC"/>
              </a:rPr>
              <a:t>近区</a:t>
            </a:r>
          </a:p>
        </p:txBody>
      </p:sp>
      <p:sp>
        <p:nvSpPr>
          <p:cNvPr id="171" name="native171"/>
          <p:cNvSpPr/>
          <p:nvPr/>
        </p:nvSpPr>
        <p:spPr>
          <a:xfrm>
            <a:off x="6515100" y="2867025"/>
            <a:ext cx="323850" cy="26670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" name="native172"/>
          <p:cNvSpPr/>
          <p:nvPr/>
        </p:nvSpPr>
        <p:spPr>
          <a:xfrm>
            <a:off x="6248400" y="2885694"/>
            <a:ext cx="85725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Noto Sans CJK SC"/>
                <a:ea typeface="Noto Sans CJK SC"/>
              </a:rPr>
              <a:t>P</a:t>
            </a:r>
            <a:endParaRPr lang="zh-CN" sz="1275"/>
          </a:p>
        </p:txBody>
      </p:sp>
      <p:sp>
        <p:nvSpPr>
          <p:cNvPr id="173" name="native173"/>
          <p:cNvSpPr/>
          <p:nvPr/>
        </p:nvSpPr>
        <p:spPr>
          <a:xfrm>
            <a:off x="4219575" y="3190875"/>
            <a:ext cx="2266950" cy="57150"/>
          </a:xfrm>
          <a:custGeom>
            <a:avLst/>
            <a:gdLst/>
            <a:ahLst/>
            <a:cxnLst/>
            <a:rect l="0" t="0" r="r" b="b"/>
            <a:pathLst>
              <a:path w="2266950" h="57150" fill="none">
                <a:moveTo>
                  <a:pt x="0" y="0"/>
                </a:moveTo>
                <a:lnTo>
                  <a:pt x="0" y="57150"/>
                </a:lnTo>
                <a:lnTo>
                  <a:pt x="2266950" y="57150"/>
                </a:lnTo>
                <a:lnTo>
                  <a:pt x="2266950" y="0"/>
                </a:lnTo>
              </a:path>
            </a:pathLst>
          </a:custGeom>
          <a:noFill/>
          <a:ln w="10478">
            <a:solidFill>
              <a:srgbClr val="52677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" name="native174"/>
          <p:cNvSpPr/>
          <p:nvPr/>
        </p:nvSpPr>
        <p:spPr>
          <a:xfrm>
            <a:off x="3552825" y="3256026"/>
            <a:ext cx="36004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|Mₜ| = S − |Pₜ|</a:t>
            </a:r>
          </a:p>
        </p:txBody>
      </p:sp>
      <p:sp>
        <p:nvSpPr>
          <p:cNvPr id="175" name="native175"/>
          <p:cNvSpPr/>
          <p:nvPr/>
        </p:nvSpPr>
        <p:spPr>
          <a:xfrm>
            <a:off x="3867150" y="3513201"/>
            <a:ext cx="36004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α=.25 定边界；页对齐，近区≥64</a:t>
            </a:r>
          </a:p>
        </p:txBody>
      </p:sp>
      <p:sp>
        <p:nvSpPr>
          <p:cNvPr id="176" name="native176"/>
          <p:cNvSpPr/>
          <p:nvPr/>
        </p:nvSpPr>
        <p:spPr>
          <a:xfrm>
            <a:off x="3867150" y="3760851"/>
            <a:ext cx="29146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727E87"/>
                </a:solidFill>
                <a:latin typeface="Noto Sans CJK SC"/>
                <a:ea typeface="Noto Sans CJK SC"/>
              </a:rPr>
              <a:t>近区∩P=∅；|Pₜ|=132示例</a:t>
            </a:r>
          </a:p>
        </p:txBody>
      </p:sp>
      <p:sp>
        <p:nvSpPr>
          <p:cNvPr id="177" name="native177"/>
          <p:cNvSpPr/>
          <p:nvPr/>
        </p:nvSpPr>
        <p:spPr>
          <a:xfrm>
            <a:off x="3867150" y="4056126"/>
            <a:ext cx="39433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每 Q 页分 → 组内 均值 → TopK</a:t>
            </a:r>
          </a:p>
        </p:txBody>
      </p:sp>
      <p:sp>
        <p:nvSpPr>
          <p:cNvPr id="178" name="native178"/>
          <p:cNvSpPr/>
          <p:nvPr/>
        </p:nvSpPr>
        <p:spPr>
          <a:xfrm>
            <a:off x="3867150" y="433006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2817B"/>
                </a:solidFill>
                <a:latin typeface="Noto Sans CJK SC"/>
                <a:ea typeface="Noto Sans CJK SC"/>
              </a:rPr>
              <a:t>远区 · 极值</a:t>
            </a:r>
          </a:p>
        </p:txBody>
      </p:sp>
      <p:sp>
        <p:nvSpPr>
          <p:cNvPr id="179" name="native179"/>
          <p:cNvSpPr/>
          <p:nvPr/>
        </p:nvSpPr>
        <p:spPr>
          <a:xfrm>
            <a:off x="3924300" y="4667250"/>
            <a:ext cx="438150" cy="352425"/>
          </a:xfrm>
          <a:prstGeom prst="roundRect">
            <a:avLst/>
          </a:prstGeom>
          <a:solidFill>
            <a:srgbClr val="FFFFFF"/>
          </a:solidFill>
          <a:ln w="15716">
            <a:solidFill>
              <a:srgbClr val="12817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" name="native180"/>
          <p:cNvSpPr/>
          <p:nvPr/>
        </p:nvSpPr>
        <p:spPr>
          <a:xfrm>
            <a:off x="3971925" y="472440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1" name="native181"/>
          <p:cNvSpPr/>
          <p:nvPr/>
        </p:nvSpPr>
        <p:spPr>
          <a:xfrm>
            <a:off x="4095750" y="472440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2" name="native182"/>
          <p:cNvSpPr/>
          <p:nvPr/>
        </p:nvSpPr>
        <p:spPr>
          <a:xfrm>
            <a:off x="4219575" y="472440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3" name="native183"/>
          <p:cNvSpPr/>
          <p:nvPr/>
        </p:nvSpPr>
        <p:spPr>
          <a:xfrm>
            <a:off x="3971925" y="485775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" name="native184"/>
          <p:cNvSpPr/>
          <p:nvPr/>
        </p:nvSpPr>
        <p:spPr>
          <a:xfrm>
            <a:off x="4095750" y="485775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" name="native185"/>
          <p:cNvSpPr/>
          <p:nvPr/>
        </p:nvSpPr>
        <p:spPr>
          <a:xfrm>
            <a:off x="4219575" y="485775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" name="native186"/>
          <p:cNvSpPr/>
          <p:nvPr/>
        </p:nvSpPr>
        <p:spPr>
          <a:xfrm>
            <a:off x="4495800" y="4667250"/>
            <a:ext cx="438150" cy="352425"/>
          </a:xfrm>
          <a:prstGeom prst="roundRect">
            <a:avLst/>
          </a:prstGeom>
          <a:solidFill>
            <a:srgbClr val="FFFFFF"/>
          </a:solidFill>
          <a:ln w="15716">
            <a:solidFill>
              <a:srgbClr val="12817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7" name="native187"/>
          <p:cNvSpPr/>
          <p:nvPr/>
        </p:nvSpPr>
        <p:spPr>
          <a:xfrm>
            <a:off x="4543425" y="472440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8" name="native188"/>
          <p:cNvSpPr/>
          <p:nvPr/>
        </p:nvSpPr>
        <p:spPr>
          <a:xfrm>
            <a:off x="4667250" y="472440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9" name="native189"/>
          <p:cNvSpPr/>
          <p:nvPr/>
        </p:nvSpPr>
        <p:spPr>
          <a:xfrm>
            <a:off x="4791075" y="472440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0" name="native190"/>
          <p:cNvSpPr/>
          <p:nvPr/>
        </p:nvSpPr>
        <p:spPr>
          <a:xfrm>
            <a:off x="4543425" y="485775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1" name="native191"/>
          <p:cNvSpPr/>
          <p:nvPr/>
        </p:nvSpPr>
        <p:spPr>
          <a:xfrm>
            <a:off x="4667250" y="485775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2" name="native192"/>
          <p:cNvSpPr/>
          <p:nvPr/>
        </p:nvSpPr>
        <p:spPr>
          <a:xfrm>
            <a:off x="4791075" y="485775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3" name="native193"/>
          <p:cNvSpPr/>
          <p:nvPr/>
        </p:nvSpPr>
        <p:spPr>
          <a:xfrm>
            <a:off x="5067300" y="4667250"/>
            <a:ext cx="438150" cy="352425"/>
          </a:xfrm>
          <a:prstGeom prst="roundRect">
            <a:avLst/>
          </a:prstGeom>
          <a:solidFill>
            <a:srgbClr val="FFFFFF"/>
          </a:solidFill>
          <a:ln w="8572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" name="native194"/>
          <p:cNvSpPr/>
          <p:nvPr/>
        </p:nvSpPr>
        <p:spPr>
          <a:xfrm>
            <a:off x="5114925" y="4724400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" name="native195"/>
          <p:cNvSpPr/>
          <p:nvPr/>
        </p:nvSpPr>
        <p:spPr>
          <a:xfrm>
            <a:off x="5238750" y="4724400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" name="native196"/>
          <p:cNvSpPr/>
          <p:nvPr/>
        </p:nvSpPr>
        <p:spPr>
          <a:xfrm>
            <a:off x="5362575" y="4724400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7" name="native197"/>
          <p:cNvSpPr/>
          <p:nvPr/>
        </p:nvSpPr>
        <p:spPr>
          <a:xfrm>
            <a:off x="5114925" y="4857750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" name="native198"/>
          <p:cNvSpPr/>
          <p:nvPr/>
        </p:nvSpPr>
        <p:spPr>
          <a:xfrm>
            <a:off x="5238750" y="4857750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9" name="native199"/>
          <p:cNvSpPr/>
          <p:nvPr/>
        </p:nvSpPr>
        <p:spPr>
          <a:xfrm>
            <a:off x="5362575" y="4857750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0" name="native200"/>
          <p:cNvSpPr/>
          <p:nvPr/>
        </p:nvSpPr>
        <p:spPr>
          <a:xfrm>
            <a:off x="5638800" y="4667250"/>
            <a:ext cx="438150" cy="352425"/>
          </a:xfrm>
          <a:prstGeom prst="roundRect">
            <a:avLst/>
          </a:prstGeom>
          <a:solidFill>
            <a:srgbClr val="FFFFFF"/>
          </a:solidFill>
          <a:ln w="15716">
            <a:solidFill>
              <a:srgbClr val="12817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1" name="native201"/>
          <p:cNvSpPr/>
          <p:nvPr/>
        </p:nvSpPr>
        <p:spPr>
          <a:xfrm>
            <a:off x="5686425" y="472440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2" name="native202"/>
          <p:cNvSpPr/>
          <p:nvPr/>
        </p:nvSpPr>
        <p:spPr>
          <a:xfrm>
            <a:off x="5810250" y="472440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3" name="native203"/>
          <p:cNvSpPr/>
          <p:nvPr/>
        </p:nvSpPr>
        <p:spPr>
          <a:xfrm>
            <a:off x="5934075" y="472440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" name="native204"/>
          <p:cNvSpPr/>
          <p:nvPr/>
        </p:nvSpPr>
        <p:spPr>
          <a:xfrm>
            <a:off x="5686425" y="485775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" name="native205"/>
          <p:cNvSpPr/>
          <p:nvPr/>
        </p:nvSpPr>
        <p:spPr>
          <a:xfrm>
            <a:off x="5810250" y="485775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6" name="native206"/>
          <p:cNvSpPr/>
          <p:nvPr/>
        </p:nvSpPr>
        <p:spPr>
          <a:xfrm>
            <a:off x="5934075" y="485775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7" name="native207"/>
          <p:cNvSpPr/>
          <p:nvPr/>
        </p:nvSpPr>
        <p:spPr>
          <a:xfrm>
            <a:off x="6210300" y="4667250"/>
            <a:ext cx="438150" cy="352425"/>
          </a:xfrm>
          <a:prstGeom prst="roundRect">
            <a:avLst/>
          </a:prstGeom>
          <a:solidFill>
            <a:srgbClr val="FFFFFF"/>
          </a:solidFill>
          <a:ln w="15716">
            <a:solidFill>
              <a:srgbClr val="12817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8" name="native208"/>
          <p:cNvSpPr/>
          <p:nvPr/>
        </p:nvSpPr>
        <p:spPr>
          <a:xfrm>
            <a:off x="6257925" y="472440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9" name="native209"/>
          <p:cNvSpPr/>
          <p:nvPr/>
        </p:nvSpPr>
        <p:spPr>
          <a:xfrm>
            <a:off x="6381750" y="472440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0" name="native210"/>
          <p:cNvSpPr/>
          <p:nvPr/>
        </p:nvSpPr>
        <p:spPr>
          <a:xfrm>
            <a:off x="6505575" y="472440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" name="native211"/>
          <p:cNvSpPr/>
          <p:nvPr/>
        </p:nvSpPr>
        <p:spPr>
          <a:xfrm>
            <a:off x="6257925" y="485775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2" name="native212"/>
          <p:cNvSpPr/>
          <p:nvPr/>
        </p:nvSpPr>
        <p:spPr>
          <a:xfrm>
            <a:off x="6381750" y="485775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3" name="native213"/>
          <p:cNvSpPr/>
          <p:nvPr/>
        </p:nvSpPr>
        <p:spPr>
          <a:xfrm>
            <a:off x="6505575" y="4857750"/>
            <a:ext cx="85725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4" name="native214"/>
          <p:cNvSpPr/>
          <p:nvPr/>
        </p:nvSpPr>
        <p:spPr>
          <a:xfrm>
            <a:off x="4852988" y="5033772"/>
            <a:ext cx="1000125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75" b="1">
                <a:solidFill>
                  <a:srgbClr val="12817B"/>
                </a:solidFill>
                <a:latin typeface="Noto Sans CJK SC"/>
                <a:ea typeface="Noto Sans CJK SC"/>
              </a:rPr>
              <a:t>112 页</a:t>
            </a:r>
            <a:endParaRPr lang="zh-CN" sz="1575"/>
          </a:p>
        </p:txBody>
      </p:sp>
      <p:sp>
        <p:nvSpPr>
          <p:cNvPr id="215" name="native215"/>
          <p:cNvSpPr/>
          <p:nvPr/>
        </p:nvSpPr>
        <p:spPr>
          <a:xfrm>
            <a:off x="3867150" y="536829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32689F"/>
                </a:solidFill>
                <a:latin typeface="Noto Sans CJK SC"/>
                <a:ea typeface="Noto Sans CJK SC"/>
              </a:rPr>
              <a:t>近区 · 均值</a:t>
            </a:r>
          </a:p>
        </p:txBody>
      </p:sp>
      <p:sp>
        <p:nvSpPr>
          <p:cNvPr id="216" name="native216"/>
          <p:cNvSpPr/>
          <p:nvPr/>
        </p:nvSpPr>
        <p:spPr>
          <a:xfrm>
            <a:off x="3924300" y="5705475"/>
            <a:ext cx="438150" cy="352425"/>
          </a:xfrm>
          <a:prstGeom prst="roundRect">
            <a:avLst/>
          </a:prstGeom>
          <a:solidFill>
            <a:srgbClr val="FFFFFF"/>
          </a:solidFill>
          <a:ln w="8572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7" name="native217"/>
          <p:cNvSpPr/>
          <p:nvPr/>
        </p:nvSpPr>
        <p:spPr>
          <a:xfrm>
            <a:off x="3971925" y="576262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8" name="native218"/>
          <p:cNvSpPr/>
          <p:nvPr/>
        </p:nvSpPr>
        <p:spPr>
          <a:xfrm>
            <a:off x="4095750" y="576262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9" name="native219"/>
          <p:cNvSpPr/>
          <p:nvPr/>
        </p:nvSpPr>
        <p:spPr>
          <a:xfrm>
            <a:off x="4219575" y="576262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0" name="native220"/>
          <p:cNvSpPr/>
          <p:nvPr/>
        </p:nvSpPr>
        <p:spPr>
          <a:xfrm>
            <a:off x="3971925" y="589597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1" name="native221"/>
          <p:cNvSpPr/>
          <p:nvPr/>
        </p:nvSpPr>
        <p:spPr>
          <a:xfrm>
            <a:off x="4095750" y="589597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2" name="native222"/>
          <p:cNvSpPr/>
          <p:nvPr/>
        </p:nvSpPr>
        <p:spPr>
          <a:xfrm>
            <a:off x="4219575" y="589597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3" name="native223"/>
          <p:cNvSpPr/>
          <p:nvPr/>
        </p:nvSpPr>
        <p:spPr>
          <a:xfrm>
            <a:off x="4495800" y="5705475"/>
            <a:ext cx="438150" cy="352425"/>
          </a:xfrm>
          <a:prstGeom prst="roundRect">
            <a:avLst/>
          </a:prstGeom>
          <a:solidFill>
            <a:srgbClr val="FFFFFF"/>
          </a:solidFill>
          <a:ln w="15716">
            <a:solidFill>
              <a:srgbClr val="3268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4" name="native224"/>
          <p:cNvSpPr/>
          <p:nvPr/>
        </p:nvSpPr>
        <p:spPr>
          <a:xfrm>
            <a:off x="4543425" y="5762625"/>
            <a:ext cx="85725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" name="native225"/>
          <p:cNvSpPr/>
          <p:nvPr/>
        </p:nvSpPr>
        <p:spPr>
          <a:xfrm>
            <a:off x="4667250" y="5762625"/>
            <a:ext cx="85725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6" name="native226"/>
          <p:cNvSpPr/>
          <p:nvPr/>
        </p:nvSpPr>
        <p:spPr>
          <a:xfrm>
            <a:off x="4791075" y="5762625"/>
            <a:ext cx="85725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7" name="native227"/>
          <p:cNvSpPr/>
          <p:nvPr/>
        </p:nvSpPr>
        <p:spPr>
          <a:xfrm>
            <a:off x="4543425" y="5895975"/>
            <a:ext cx="85725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8" name="native228"/>
          <p:cNvSpPr/>
          <p:nvPr/>
        </p:nvSpPr>
        <p:spPr>
          <a:xfrm>
            <a:off x="4667250" y="5895975"/>
            <a:ext cx="85725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9" name="native229"/>
          <p:cNvSpPr/>
          <p:nvPr/>
        </p:nvSpPr>
        <p:spPr>
          <a:xfrm>
            <a:off x="4791075" y="5895975"/>
            <a:ext cx="85725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0" name="native230"/>
          <p:cNvSpPr/>
          <p:nvPr/>
        </p:nvSpPr>
        <p:spPr>
          <a:xfrm>
            <a:off x="5067300" y="5705475"/>
            <a:ext cx="438150" cy="352425"/>
          </a:xfrm>
          <a:prstGeom prst="roundRect">
            <a:avLst/>
          </a:prstGeom>
          <a:solidFill>
            <a:srgbClr val="FFFFFF"/>
          </a:solidFill>
          <a:ln w="8572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1" name="native231"/>
          <p:cNvSpPr/>
          <p:nvPr/>
        </p:nvSpPr>
        <p:spPr>
          <a:xfrm>
            <a:off x="5114925" y="576262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" name="native232"/>
          <p:cNvSpPr/>
          <p:nvPr/>
        </p:nvSpPr>
        <p:spPr>
          <a:xfrm>
            <a:off x="5238750" y="576262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3" name="native233"/>
          <p:cNvSpPr/>
          <p:nvPr/>
        </p:nvSpPr>
        <p:spPr>
          <a:xfrm>
            <a:off x="5362575" y="576262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4" name="native234"/>
          <p:cNvSpPr/>
          <p:nvPr/>
        </p:nvSpPr>
        <p:spPr>
          <a:xfrm>
            <a:off x="5114925" y="589597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5" name="native235"/>
          <p:cNvSpPr/>
          <p:nvPr/>
        </p:nvSpPr>
        <p:spPr>
          <a:xfrm>
            <a:off x="5238750" y="589597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6" name="native236"/>
          <p:cNvSpPr/>
          <p:nvPr/>
        </p:nvSpPr>
        <p:spPr>
          <a:xfrm>
            <a:off x="5362575" y="589597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7" name="native237"/>
          <p:cNvSpPr/>
          <p:nvPr/>
        </p:nvSpPr>
        <p:spPr>
          <a:xfrm>
            <a:off x="5638800" y="5705475"/>
            <a:ext cx="438150" cy="352425"/>
          </a:xfrm>
          <a:prstGeom prst="roundRect">
            <a:avLst/>
          </a:prstGeom>
          <a:solidFill>
            <a:srgbClr val="FFFFFF"/>
          </a:solidFill>
          <a:ln w="15716">
            <a:solidFill>
              <a:srgbClr val="3268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8" name="native238"/>
          <p:cNvSpPr/>
          <p:nvPr/>
        </p:nvSpPr>
        <p:spPr>
          <a:xfrm>
            <a:off x="5686425" y="5762625"/>
            <a:ext cx="85725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9" name="native239"/>
          <p:cNvSpPr/>
          <p:nvPr/>
        </p:nvSpPr>
        <p:spPr>
          <a:xfrm>
            <a:off x="5810250" y="5762625"/>
            <a:ext cx="85725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0" name="native240"/>
          <p:cNvSpPr/>
          <p:nvPr/>
        </p:nvSpPr>
        <p:spPr>
          <a:xfrm>
            <a:off x="5934075" y="5762625"/>
            <a:ext cx="85725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1" name="native241"/>
          <p:cNvSpPr/>
          <p:nvPr/>
        </p:nvSpPr>
        <p:spPr>
          <a:xfrm>
            <a:off x="5686425" y="5895975"/>
            <a:ext cx="85725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2" name="native242"/>
          <p:cNvSpPr/>
          <p:nvPr/>
        </p:nvSpPr>
        <p:spPr>
          <a:xfrm>
            <a:off x="5810250" y="5895975"/>
            <a:ext cx="85725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3" name="native243"/>
          <p:cNvSpPr/>
          <p:nvPr/>
        </p:nvSpPr>
        <p:spPr>
          <a:xfrm>
            <a:off x="5934075" y="5895975"/>
            <a:ext cx="85725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4" name="native244"/>
          <p:cNvSpPr/>
          <p:nvPr/>
        </p:nvSpPr>
        <p:spPr>
          <a:xfrm>
            <a:off x="6210300" y="5705475"/>
            <a:ext cx="438150" cy="352425"/>
          </a:xfrm>
          <a:prstGeom prst="roundRect">
            <a:avLst/>
          </a:prstGeom>
          <a:solidFill>
            <a:srgbClr val="FFFFFF"/>
          </a:solidFill>
          <a:ln w="8572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" name="native245"/>
          <p:cNvSpPr/>
          <p:nvPr/>
        </p:nvSpPr>
        <p:spPr>
          <a:xfrm>
            <a:off x="6257925" y="576262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6" name="native246"/>
          <p:cNvSpPr/>
          <p:nvPr/>
        </p:nvSpPr>
        <p:spPr>
          <a:xfrm>
            <a:off x="6381750" y="576262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7" name="native247"/>
          <p:cNvSpPr/>
          <p:nvPr/>
        </p:nvSpPr>
        <p:spPr>
          <a:xfrm>
            <a:off x="6505575" y="576262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8" name="native248"/>
          <p:cNvSpPr/>
          <p:nvPr/>
        </p:nvSpPr>
        <p:spPr>
          <a:xfrm>
            <a:off x="6257925" y="589597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9" name="native249"/>
          <p:cNvSpPr/>
          <p:nvPr/>
        </p:nvSpPr>
        <p:spPr>
          <a:xfrm>
            <a:off x="6381750" y="589597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0" name="native250"/>
          <p:cNvSpPr/>
          <p:nvPr/>
        </p:nvSpPr>
        <p:spPr>
          <a:xfrm>
            <a:off x="6505575" y="5895975"/>
            <a:ext cx="85725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1" name="native251"/>
          <p:cNvSpPr/>
          <p:nvPr/>
        </p:nvSpPr>
        <p:spPr>
          <a:xfrm>
            <a:off x="4924425" y="6062472"/>
            <a:ext cx="85725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75" b="1">
                <a:solidFill>
                  <a:srgbClr val="32689F"/>
                </a:solidFill>
                <a:latin typeface="Noto Sans CJK SC"/>
                <a:ea typeface="Noto Sans CJK SC"/>
              </a:rPr>
              <a:t>16 页</a:t>
            </a:r>
            <a:endParaRPr lang="zh-CN" sz="1575"/>
          </a:p>
        </p:txBody>
      </p:sp>
      <p:sp>
        <p:nvSpPr>
          <p:cNvPr id="252" name="native252"/>
          <p:cNvSpPr/>
          <p:nvPr/>
        </p:nvSpPr>
        <p:spPr>
          <a:xfrm>
            <a:off x="6172200" y="5200650"/>
            <a:ext cx="647700" cy="1409700"/>
          </a:xfrm>
          <a:custGeom>
            <a:avLst/>
            <a:gdLst/>
            <a:ahLst/>
            <a:cxnLst/>
            <a:rect l="0" t="0" r="r" b="b"/>
            <a:pathLst>
              <a:path w="647700" h="1409700" fill="none">
                <a:moveTo>
                  <a:pt x="0" y="0"/>
                </a:moveTo>
                <a:lnTo>
                  <a:pt x="647700" y="0"/>
                </a:lnTo>
                <a:lnTo>
                  <a:pt x="647700" y="1409700"/>
                </a:lnTo>
              </a:path>
            </a:pathLst>
          </a:custGeom>
          <a:noFill/>
          <a:ln w="15240">
            <a:solidFill>
              <a:srgbClr val="12817B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3" name="native253"/>
          <p:cNvSpPr/>
          <p:nvPr/>
        </p:nvSpPr>
        <p:spPr>
          <a:xfrm>
            <a:off x="6172200" y="6219825"/>
            <a:ext cx="495300" cy="390525"/>
          </a:xfrm>
          <a:custGeom>
            <a:avLst/>
            <a:gdLst/>
            <a:ahLst/>
            <a:cxnLst/>
            <a:rect l="0" t="0" r="r" b="b"/>
            <a:pathLst>
              <a:path w="495300" h="390525" fill="none">
                <a:moveTo>
                  <a:pt x="0" y="0"/>
                </a:moveTo>
                <a:lnTo>
                  <a:pt x="495300" y="0"/>
                </a:lnTo>
                <a:lnTo>
                  <a:pt x="495300" y="390525"/>
                </a:lnTo>
              </a:path>
            </a:pathLst>
          </a:custGeom>
          <a:noFill/>
          <a:ln w="15240">
            <a:solidFill>
              <a:srgbClr val="32689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4" name="native254"/>
          <p:cNvSpPr/>
          <p:nvPr/>
        </p:nvSpPr>
        <p:spPr>
          <a:xfrm>
            <a:off x="3867150" y="6398133"/>
            <a:ext cx="1990725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L1 候选页 掩码</a:t>
            </a:r>
          </a:p>
        </p:txBody>
      </p:sp>
      <p:sp>
        <p:nvSpPr>
          <p:cNvPr id="255" name="native255"/>
          <p:cNvSpPr/>
          <p:nvPr/>
        </p:nvSpPr>
        <p:spPr>
          <a:xfrm>
            <a:off x="3867150" y="6724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" name="native256"/>
          <p:cNvSpPr/>
          <p:nvPr/>
        </p:nvSpPr>
        <p:spPr>
          <a:xfrm>
            <a:off x="4031932" y="6724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7" name="native257"/>
          <p:cNvSpPr/>
          <p:nvPr/>
        </p:nvSpPr>
        <p:spPr>
          <a:xfrm>
            <a:off x="4196715" y="6724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8" name="native258"/>
          <p:cNvSpPr/>
          <p:nvPr/>
        </p:nvSpPr>
        <p:spPr>
          <a:xfrm>
            <a:off x="4361498" y="6724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9" name="native259"/>
          <p:cNvSpPr/>
          <p:nvPr/>
        </p:nvSpPr>
        <p:spPr>
          <a:xfrm>
            <a:off x="4526280" y="6724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0" name="native260"/>
          <p:cNvSpPr/>
          <p:nvPr/>
        </p:nvSpPr>
        <p:spPr>
          <a:xfrm>
            <a:off x="4691062" y="6724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1" name="native261"/>
          <p:cNvSpPr/>
          <p:nvPr/>
        </p:nvSpPr>
        <p:spPr>
          <a:xfrm>
            <a:off x="4855845" y="6724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2" name="native262"/>
          <p:cNvSpPr/>
          <p:nvPr/>
        </p:nvSpPr>
        <p:spPr>
          <a:xfrm>
            <a:off x="5020628" y="6724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3" name="native263"/>
          <p:cNvSpPr/>
          <p:nvPr/>
        </p:nvSpPr>
        <p:spPr>
          <a:xfrm>
            <a:off x="5185410" y="6724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4" name="native264"/>
          <p:cNvSpPr/>
          <p:nvPr/>
        </p:nvSpPr>
        <p:spPr>
          <a:xfrm>
            <a:off x="5350192" y="6724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" name="native265"/>
          <p:cNvSpPr/>
          <p:nvPr/>
        </p:nvSpPr>
        <p:spPr>
          <a:xfrm>
            <a:off x="5514975" y="6724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" name="native266"/>
          <p:cNvSpPr/>
          <p:nvPr/>
        </p:nvSpPr>
        <p:spPr>
          <a:xfrm>
            <a:off x="5679758" y="6724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7" name="native267"/>
          <p:cNvSpPr/>
          <p:nvPr/>
        </p:nvSpPr>
        <p:spPr>
          <a:xfrm>
            <a:off x="5844540" y="6724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8" name="native268"/>
          <p:cNvSpPr/>
          <p:nvPr/>
        </p:nvSpPr>
        <p:spPr>
          <a:xfrm>
            <a:off x="6009322" y="6724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9" name="native269"/>
          <p:cNvSpPr/>
          <p:nvPr/>
        </p:nvSpPr>
        <p:spPr>
          <a:xfrm>
            <a:off x="6174105" y="6724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0" name="native270"/>
          <p:cNvSpPr/>
          <p:nvPr/>
        </p:nvSpPr>
        <p:spPr>
          <a:xfrm>
            <a:off x="6338888" y="6724650"/>
            <a:ext cx="133350" cy="1714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1" name="native271"/>
          <p:cNvSpPr/>
          <p:nvPr/>
        </p:nvSpPr>
        <p:spPr>
          <a:xfrm>
            <a:off x="6503670" y="6724650"/>
            <a:ext cx="133350" cy="1714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2" name="native272"/>
          <p:cNvSpPr/>
          <p:nvPr/>
        </p:nvSpPr>
        <p:spPr>
          <a:xfrm>
            <a:off x="6668452" y="6724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3" name="native273"/>
          <p:cNvSpPr/>
          <p:nvPr/>
        </p:nvSpPr>
        <p:spPr>
          <a:xfrm>
            <a:off x="6867525" y="4505325"/>
            <a:ext cx="342900" cy="2305050"/>
          </a:xfrm>
          <a:custGeom>
            <a:avLst/>
            <a:gdLst/>
            <a:ahLst/>
            <a:cxnLst/>
            <a:rect l="0" t="0" r="r" b="b"/>
            <a:pathLst>
              <a:path w="342900" h="2305050" fill="none">
                <a:moveTo>
                  <a:pt x="0" y="2305050"/>
                </a:moveTo>
                <a:lnTo>
                  <a:pt x="76200" y="2305050"/>
                </a:lnTo>
                <a:lnTo>
                  <a:pt x="76200" y="0"/>
                </a:lnTo>
                <a:lnTo>
                  <a:pt x="342900" y="0"/>
                </a:lnTo>
              </a:path>
            </a:pathLst>
          </a:custGeom>
          <a:noFill/>
          <a:ln w="15240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4" name="native274"/>
          <p:cNvSpPr/>
          <p:nvPr/>
        </p:nvSpPr>
        <p:spPr>
          <a:xfrm>
            <a:off x="7239000" y="2472690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普通 L2：32 维全 S 评分</a:t>
            </a:r>
            <a:endParaRPr lang="zh-CN" sz="1500"/>
          </a:p>
        </p:txBody>
      </p:sp>
      <p:sp>
        <p:nvSpPr>
          <p:cNvPr id="275" name="native275"/>
          <p:cNvSpPr/>
          <p:nvPr/>
        </p:nvSpPr>
        <p:spPr>
          <a:xfrm>
            <a:off x="9667875" y="2715387"/>
            <a:ext cx="85725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S</a:t>
            </a:r>
            <a:endParaRPr lang="zh-CN" sz="1200"/>
          </a:p>
        </p:txBody>
      </p:sp>
      <p:sp>
        <p:nvSpPr>
          <p:cNvPr id="276" name="native276"/>
          <p:cNvSpPr/>
          <p:nvPr/>
        </p:nvSpPr>
        <p:spPr>
          <a:xfrm>
            <a:off x="7239000" y="2972562"/>
            <a:ext cx="85725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q1</a:t>
            </a:r>
            <a:endParaRPr lang="zh-CN" sz="1200"/>
          </a:p>
        </p:txBody>
      </p:sp>
      <p:sp>
        <p:nvSpPr>
          <p:cNvPr id="277" name="native277"/>
          <p:cNvSpPr/>
          <p:nvPr/>
        </p:nvSpPr>
        <p:spPr>
          <a:xfrm>
            <a:off x="7543800" y="2990850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8" name="native278"/>
          <p:cNvSpPr/>
          <p:nvPr/>
        </p:nvSpPr>
        <p:spPr>
          <a:xfrm>
            <a:off x="7710488" y="2990850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9" name="native279"/>
          <p:cNvSpPr/>
          <p:nvPr/>
        </p:nvSpPr>
        <p:spPr>
          <a:xfrm>
            <a:off x="7877175" y="2990850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0" name="native280"/>
          <p:cNvSpPr/>
          <p:nvPr/>
        </p:nvSpPr>
        <p:spPr>
          <a:xfrm>
            <a:off x="8043862" y="2990850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1" name="native281"/>
          <p:cNvSpPr/>
          <p:nvPr/>
        </p:nvSpPr>
        <p:spPr>
          <a:xfrm>
            <a:off x="8210550" y="2990850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2" name="native282"/>
          <p:cNvSpPr/>
          <p:nvPr/>
        </p:nvSpPr>
        <p:spPr>
          <a:xfrm>
            <a:off x="8377238" y="2990850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3" name="native283"/>
          <p:cNvSpPr/>
          <p:nvPr/>
        </p:nvSpPr>
        <p:spPr>
          <a:xfrm>
            <a:off x="8543925" y="2990850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4" name="native284"/>
          <p:cNvSpPr/>
          <p:nvPr/>
        </p:nvSpPr>
        <p:spPr>
          <a:xfrm>
            <a:off x="8710612" y="2990850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5" name="native285"/>
          <p:cNvSpPr/>
          <p:nvPr/>
        </p:nvSpPr>
        <p:spPr>
          <a:xfrm>
            <a:off x="8877300" y="2990850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" name="native286"/>
          <p:cNvSpPr/>
          <p:nvPr/>
        </p:nvSpPr>
        <p:spPr>
          <a:xfrm>
            <a:off x="9043988" y="2990850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7" name="native287"/>
          <p:cNvSpPr/>
          <p:nvPr/>
        </p:nvSpPr>
        <p:spPr>
          <a:xfrm>
            <a:off x="9210675" y="2990850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8" name="native288"/>
          <p:cNvSpPr/>
          <p:nvPr/>
        </p:nvSpPr>
        <p:spPr>
          <a:xfrm>
            <a:off x="9377362" y="2990850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" name="native289"/>
          <p:cNvSpPr/>
          <p:nvPr/>
        </p:nvSpPr>
        <p:spPr>
          <a:xfrm>
            <a:off x="9544050" y="2990850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0" name="native290"/>
          <p:cNvSpPr/>
          <p:nvPr/>
        </p:nvSpPr>
        <p:spPr>
          <a:xfrm>
            <a:off x="9710738" y="2990850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1" name="native291"/>
          <p:cNvSpPr/>
          <p:nvPr/>
        </p:nvSpPr>
        <p:spPr>
          <a:xfrm>
            <a:off x="9877425" y="2990850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2" name="native292"/>
          <p:cNvSpPr/>
          <p:nvPr/>
        </p:nvSpPr>
        <p:spPr>
          <a:xfrm>
            <a:off x="10044112" y="2990850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3" name="native293"/>
          <p:cNvSpPr/>
          <p:nvPr/>
        </p:nvSpPr>
        <p:spPr>
          <a:xfrm>
            <a:off x="10210800" y="2990850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4" name="native294"/>
          <p:cNvSpPr/>
          <p:nvPr/>
        </p:nvSpPr>
        <p:spPr>
          <a:xfrm>
            <a:off x="10377488" y="2990850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" name="native295"/>
          <p:cNvSpPr/>
          <p:nvPr/>
        </p:nvSpPr>
        <p:spPr>
          <a:xfrm>
            <a:off x="7239000" y="3191637"/>
            <a:ext cx="85725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q2</a:t>
            </a:r>
            <a:endParaRPr lang="zh-CN" sz="1200"/>
          </a:p>
        </p:txBody>
      </p:sp>
      <p:sp>
        <p:nvSpPr>
          <p:cNvPr id="296" name="native296"/>
          <p:cNvSpPr/>
          <p:nvPr/>
        </p:nvSpPr>
        <p:spPr>
          <a:xfrm>
            <a:off x="7543800" y="3209925"/>
            <a:ext cx="133350" cy="152400"/>
          </a:xfrm>
          <a:prstGeom prst="rect">
            <a:avLst/>
          </a:prstGeom>
          <a:solidFill>
            <a:srgbClr val="E9E3EE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" name="native297"/>
          <p:cNvSpPr/>
          <p:nvPr/>
        </p:nvSpPr>
        <p:spPr>
          <a:xfrm>
            <a:off x="7710488" y="3209925"/>
            <a:ext cx="133350" cy="15240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8" name="native298"/>
          <p:cNvSpPr/>
          <p:nvPr/>
        </p:nvSpPr>
        <p:spPr>
          <a:xfrm>
            <a:off x="7877175" y="3209925"/>
            <a:ext cx="133350" cy="15240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9" name="native299"/>
          <p:cNvSpPr/>
          <p:nvPr/>
        </p:nvSpPr>
        <p:spPr>
          <a:xfrm>
            <a:off x="8043862" y="3209925"/>
            <a:ext cx="133350" cy="152400"/>
          </a:xfrm>
          <a:prstGeom prst="rect">
            <a:avLst/>
          </a:prstGeom>
          <a:solidFill>
            <a:srgbClr val="E9E3EE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0" name="native300"/>
          <p:cNvSpPr/>
          <p:nvPr/>
        </p:nvSpPr>
        <p:spPr>
          <a:xfrm>
            <a:off x="8210550" y="3209925"/>
            <a:ext cx="133350" cy="15240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1" name="native301"/>
          <p:cNvSpPr/>
          <p:nvPr/>
        </p:nvSpPr>
        <p:spPr>
          <a:xfrm>
            <a:off x="8377238" y="3209925"/>
            <a:ext cx="133350" cy="15240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2" name="native302"/>
          <p:cNvSpPr/>
          <p:nvPr/>
        </p:nvSpPr>
        <p:spPr>
          <a:xfrm>
            <a:off x="8543925" y="3209925"/>
            <a:ext cx="133350" cy="152400"/>
          </a:xfrm>
          <a:prstGeom prst="rect">
            <a:avLst/>
          </a:prstGeom>
          <a:solidFill>
            <a:srgbClr val="E9E3EE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3" name="native303"/>
          <p:cNvSpPr/>
          <p:nvPr/>
        </p:nvSpPr>
        <p:spPr>
          <a:xfrm>
            <a:off x="8710612" y="3209925"/>
            <a:ext cx="133350" cy="15240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4" name="native304"/>
          <p:cNvSpPr/>
          <p:nvPr/>
        </p:nvSpPr>
        <p:spPr>
          <a:xfrm>
            <a:off x="8877300" y="3209925"/>
            <a:ext cx="133350" cy="15240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5" name="native305"/>
          <p:cNvSpPr/>
          <p:nvPr/>
        </p:nvSpPr>
        <p:spPr>
          <a:xfrm>
            <a:off x="9043988" y="3209925"/>
            <a:ext cx="133350" cy="152400"/>
          </a:xfrm>
          <a:prstGeom prst="rect">
            <a:avLst/>
          </a:prstGeom>
          <a:solidFill>
            <a:srgbClr val="E9E3EE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6" name="native306"/>
          <p:cNvSpPr/>
          <p:nvPr/>
        </p:nvSpPr>
        <p:spPr>
          <a:xfrm>
            <a:off x="9210675" y="3209925"/>
            <a:ext cx="133350" cy="15240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" name="native307"/>
          <p:cNvSpPr/>
          <p:nvPr/>
        </p:nvSpPr>
        <p:spPr>
          <a:xfrm>
            <a:off x="9377362" y="3209925"/>
            <a:ext cx="133350" cy="15240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" name="native308"/>
          <p:cNvSpPr/>
          <p:nvPr/>
        </p:nvSpPr>
        <p:spPr>
          <a:xfrm>
            <a:off x="9544050" y="3209925"/>
            <a:ext cx="133350" cy="152400"/>
          </a:xfrm>
          <a:prstGeom prst="rect">
            <a:avLst/>
          </a:prstGeom>
          <a:solidFill>
            <a:srgbClr val="E9E3EE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" name="native309"/>
          <p:cNvSpPr/>
          <p:nvPr/>
        </p:nvSpPr>
        <p:spPr>
          <a:xfrm>
            <a:off x="9710738" y="3209925"/>
            <a:ext cx="133350" cy="15240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0" name="native310"/>
          <p:cNvSpPr/>
          <p:nvPr/>
        </p:nvSpPr>
        <p:spPr>
          <a:xfrm>
            <a:off x="9877425" y="3209925"/>
            <a:ext cx="133350" cy="15240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1" name="native311"/>
          <p:cNvSpPr/>
          <p:nvPr/>
        </p:nvSpPr>
        <p:spPr>
          <a:xfrm>
            <a:off x="10044112" y="3209925"/>
            <a:ext cx="133350" cy="152400"/>
          </a:xfrm>
          <a:prstGeom prst="rect">
            <a:avLst/>
          </a:prstGeom>
          <a:solidFill>
            <a:srgbClr val="E9E3EE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2" name="native312"/>
          <p:cNvSpPr/>
          <p:nvPr/>
        </p:nvSpPr>
        <p:spPr>
          <a:xfrm>
            <a:off x="10210800" y="3209925"/>
            <a:ext cx="133350" cy="15240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3" name="native313"/>
          <p:cNvSpPr/>
          <p:nvPr/>
        </p:nvSpPr>
        <p:spPr>
          <a:xfrm>
            <a:off x="10377488" y="3209925"/>
            <a:ext cx="133350" cy="15240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4" name="native314"/>
          <p:cNvSpPr/>
          <p:nvPr/>
        </p:nvSpPr>
        <p:spPr>
          <a:xfrm>
            <a:off x="7239000" y="3410712"/>
            <a:ext cx="85725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q3</a:t>
            </a:r>
            <a:endParaRPr lang="zh-CN" sz="1200"/>
          </a:p>
        </p:txBody>
      </p:sp>
      <p:sp>
        <p:nvSpPr>
          <p:cNvPr id="315" name="native315"/>
          <p:cNvSpPr/>
          <p:nvPr/>
        </p:nvSpPr>
        <p:spPr>
          <a:xfrm>
            <a:off x="7543800" y="3429000"/>
            <a:ext cx="133350" cy="15240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6" name="native316"/>
          <p:cNvSpPr/>
          <p:nvPr/>
        </p:nvSpPr>
        <p:spPr>
          <a:xfrm>
            <a:off x="7710488" y="3429000"/>
            <a:ext cx="133350" cy="15240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" name="native317"/>
          <p:cNvSpPr/>
          <p:nvPr/>
        </p:nvSpPr>
        <p:spPr>
          <a:xfrm>
            <a:off x="7877175" y="3429000"/>
            <a:ext cx="133350" cy="152400"/>
          </a:xfrm>
          <a:prstGeom prst="rect">
            <a:avLst/>
          </a:prstGeom>
          <a:solidFill>
            <a:srgbClr val="CDBED9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8" name="native318"/>
          <p:cNvSpPr/>
          <p:nvPr/>
        </p:nvSpPr>
        <p:spPr>
          <a:xfrm>
            <a:off x="8043862" y="3429000"/>
            <a:ext cx="133350" cy="15240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9" name="native319"/>
          <p:cNvSpPr/>
          <p:nvPr/>
        </p:nvSpPr>
        <p:spPr>
          <a:xfrm>
            <a:off x="8210550" y="3429000"/>
            <a:ext cx="133350" cy="15240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0" name="native320"/>
          <p:cNvSpPr/>
          <p:nvPr/>
        </p:nvSpPr>
        <p:spPr>
          <a:xfrm>
            <a:off x="8377238" y="3429000"/>
            <a:ext cx="133350" cy="152400"/>
          </a:xfrm>
          <a:prstGeom prst="rect">
            <a:avLst/>
          </a:prstGeom>
          <a:solidFill>
            <a:srgbClr val="CDBED9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1" name="native321"/>
          <p:cNvSpPr/>
          <p:nvPr/>
        </p:nvSpPr>
        <p:spPr>
          <a:xfrm>
            <a:off x="8543925" y="3429000"/>
            <a:ext cx="133350" cy="15240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2" name="native322"/>
          <p:cNvSpPr/>
          <p:nvPr/>
        </p:nvSpPr>
        <p:spPr>
          <a:xfrm>
            <a:off x="8710612" y="3429000"/>
            <a:ext cx="133350" cy="15240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3" name="native323"/>
          <p:cNvSpPr/>
          <p:nvPr/>
        </p:nvSpPr>
        <p:spPr>
          <a:xfrm>
            <a:off x="8877300" y="3429000"/>
            <a:ext cx="133350" cy="152400"/>
          </a:xfrm>
          <a:prstGeom prst="rect">
            <a:avLst/>
          </a:prstGeom>
          <a:solidFill>
            <a:srgbClr val="CDBED9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4" name="native324"/>
          <p:cNvSpPr/>
          <p:nvPr/>
        </p:nvSpPr>
        <p:spPr>
          <a:xfrm>
            <a:off x="9043988" y="3429000"/>
            <a:ext cx="133350" cy="15240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5" name="native325"/>
          <p:cNvSpPr/>
          <p:nvPr/>
        </p:nvSpPr>
        <p:spPr>
          <a:xfrm>
            <a:off x="9210675" y="3429000"/>
            <a:ext cx="133350" cy="15240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6" name="native326"/>
          <p:cNvSpPr/>
          <p:nvPr/>
        </p:nvSpPr>
        <p:spPr>
          <a:xfrm>
            <a:off x="9377362" y="3429000"/>
            <a:ext cx="133350" cy="152400"/>
          </a:xfrm>
          <a:prstGeom prst="rect">
            <a:avLst/>
          </a:prstGeom>
          <a:solidFill>
            <a:srgbClr val="CDBED9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" name="native327"/>
          <p:cNvSpPr/>
          <p:nvPr/>
        </p:nvSpPr>
        <p:spPr>
          <a:xfrm>
            <a:off x="9544050" y="3429000"/>
            <a:ext cx="133350" cy="15240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8" name="native328"/>
          <p:cNvSpPr/>
          <p:nvPr/>
        </p:nvSpPr>
        <p:spPr>
          <a:xfrm>
            <a:off x="9710738" y="3429000"/>
            <a:ext cx="133350" cy="15240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9" name="native329"/>
          <p:cNvSpPr/>
          <p:nvPr/>
        </p:nvSpPr>
        <p:spPr>
          <a:xfrm>
            <a:off x="9877425" y="3429000"/>
            <a:ext cx="133350" cy="152400"/>
          </a:xfrm>
          <a:prstGeom prst="rect">
            <a:avLst/>
          </a:prstGeom>
          <a:solidFill>
            <a:srgbClr val="CDBED9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0" name="native330"/>
          <p:cNvSpPr/>
          <p:nvPr/>
        </p:nvSpPr>
        <p:spPr>
          <a:xfrm>
            <a:off x="10044112" y="3429000"/>
            <a:ext cx="133350" cy="15240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1" name="native331"/>
          <p:cNvSpPr/>
          <p:nvPr/>
        </p:nvSpPr>
        <p:spPr>
          <a:xfrm>
            <a:off x="10210800" y="3429000"/>
            <a:ext cx="133350" cy="15240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2" name="native332"/>
          <p:cNvSpPr/>
          <p:nvPr/>
        </p:nvSpPr>
        <p:spPr>
          <a:xfrm>
            <a:off x="10377488" y="3429000"/>
            <a:ext cx="133350" cy="152400"/>
          </a:xfrm>
          <a:prstGeom prst="rect">
            <a:avLst/>
          </a:prstGeom>
          <a:solidFill>
            <a:srgbClr val="CDBED9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3" name="native333"/>
          <p:cNvSpPr/>
          <p:nvPr/>
        </p:nvSpPr>
        <p:spPr>
          <a:xfrm>
            <a:off x="7239000" y="3629787"/>
            <a:ext cx="85725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q4</a:t>
            </a:r>
            <a:endParaRPr lang="zh-CN" sz="1200"/>
          </a:p>
        </p:txBody>
      </p:sp>
      <p:sp>
        <p:nvSpPr>
          <p:cNvPr id="334" name="native334"/>
          <p:cNvSpPr/>
          <p:nvPr/>
        </p:nvSpPr>
        <p:spPr>
          <a:xfrm>
            <a:off x="7543800" y="3648075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5" name="native335"/>
          <p:cNvSpPr/>
          <p:nvPr/>
        </p:nvSpPr>
        <p:spPr>
          <a:xfrm>
            <a:off x="7710488" y="3648075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6" name="native336"/>
          <p:cNvSpPr/>
          <p:nvPr/>
        </p:nvSpPr>
        <p:spPr>
          <a:xfrm>
            <a:off x="7877175" y="3648075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7" name="native337"/>
          <p:cNvSpPr/>
          <p:nvPr/>
        </p:nvSpPr>
        <p:spPr>
          <a:xfrm>
            <a:off x="8043862" y="3648075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" name="native338"/>
          <p:cNvSpPr/>
          <p:nvPr/>
        </p:nvSpPr>
        <p:spPr>
          <a:xfrm>
            <a:off x="8210550" y="3648075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9" name="native339"/>
          <p:cNvSpPr/>
          <p:nvPr/>
        </p:nvSpPr>
        <p:spPr>
          <a:xfrm>
            <a:off x="8377238" y="3648075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0" name="native340"/>
          <p:cNvSpPr/>
          <p:nvPr/>
        </p:nvSpPr>
        <p:spPr>
          <a:xfrm>
            <a:off x="8543925" y="3648075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1" name="native341"/>
          <p:cNvSpPr/>
          <p:nvPr/>
        </p:nvSpPr>
        <p:spPr>
          <a:xfrm>
            <a:off x="8710612" y="3648075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2" name="native342"/>
          <p:cNvSpPr/>
          <p:nvPr/>
        </p:nvSpPr>
        <p:spPr>
          <a:xfrm>
            <a:off x="8877300" y="3648075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3" name="native343"/>
          <p:cNvSpPr/>
          <p:nvPr/>
        </p:nvSpPr>
        <p:spPr>
          <a:xfrm>
            <a:off x="9043988" y="3648075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4" name="native344"/>
          <p:cNvSpPr/>
          <p:nvPr/>
        </p:nvSpPr>
        <p:spPr>
          <a:xfrm>
            <a:off x="9210675" y="3648075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5" name="native345"/>
          <p:cNvSpPr/>
          <p:nvPr/>
        </p:nvSpPr>
        <p:spPr>
          <a:xfrm>
            <a:off x="9377362" y="3648075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6" name="native346"/>
          <p:cNvSpPr/>
          <p:nvPr/>
        </p:nvSpPr>
        <p:spPr>
          <a:xfrm>
            <a:off x="9544050" y="3648075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7" name="native347"/>
          <p:cNvSpPr/>
          <p:nvPr/>
        </p:nvSpPr>
        <p:spPr>
          <a:xfrm>
            <a:off x="9710738" y="3648075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" name="native348"/>
          <p:cNvSpPr/>
          <p:nvPr/>
        </p:nvSpPr>
        <p:spPr>
          <a:xfrm>
            <a:off x="9877425" y="3648075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9" name="native349"/>
          <p:cNvSpPr/>
          <p:nvPr/>
        </p:nvSpPr>
        <p:spPr>
          <a:xfrm>
            <a:off x="10044112" y="3648075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0" name="native350"/>
          <p:cNvSpPr/>
          <p:nvPr/>
        </p:nvSpPr>
        <p:spPr>
          <a:xfrm>
            <a:off x="10210800" y="3648075"/>
            <a:ext cx="133350" cy="15240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1" name="native351"/>
          <p:cNvSpPr/>
          <p:nvPr/>
        </p:nvSpPr>
        <p:spPr>
          <a:xfrm>
            <a:off x="10377488" y="3648075"/>
            <a:ext cx="133350" cy="15240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2" name="native352"/>
          <p:cNvSpPr/>
          <p:nvPr/>
        </p:nvSpPr>
        <p:spPr>
          <a:xfrm>
            <a:off x="9544050" y="3800094"/>
            <a:ext cx="97155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[4, S]</a:t>
            </a:r>
            <a:endParaRPr lang="zh-CN" sz="1275"/>
          </a:p>
        </p:txBody>
      </p:sp>
      <p:sp>
        <p:nvSpPr>
          <p:cNvPr id="353" name="native353"/>
          <p:cNvSpPr/>
          <p:nvPr/>
        </p:nvSpPr>
        <p:spPr>
          <a:xfrm>
            <a:off x="8982075" y="3952875"/>
            <a:ext cx="952" cy="180975"/>
          </a:xfrm>
          <a:custGeom>
            <a:avLst/>
            <a:gdLst/>
            <a:ahLst/>
            <a:cxnLst/>
            <a:rect l="0" t="0" r="r" b="b"/>
            <a:pathLst>
              <a:path w="952" h="180975" fill="none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5240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4" name="native354"/>
          <p:cNvSpPr/>
          <p:nvPr/>
        </p:nvSpPr>
        <p:spPr>
          <a:xfrm>
            <a:off x="7239000" y="411099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加 L1 掩码</a:t>
            </a:r>
          </a:p>
        </p:txBody>
      </p:sp>
      <p:sp>
        <p:nvSpPr>
          <p:cNvPr id="355" name="native355"/>
          <p:cNvSpPr/>
          <p:nvPr/>
        </p:nvSpPr>
        <p:spPr>
          <a:xfrm>
            <a:off x="7543800" y="4438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6" name="native356"/>
          <p:cNvSpPr/>
          <p:nvPr/>
        </p:nvSpPr>
        <p:spPr>
          <a:xfrm>
            <a:off x="7710488" y="4438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7" name="native357"/>
          <p:cNvSpPr/>
          <p:nvPr/>
        </p:nvSpPr>
        <p:spPr>
          <a:xfrm>
            <a:off x="7877175" y="4438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" name="native358"/>
          <p:cNvSpPr/>
          <p:nvPr/>
        </p:nvSpPr>
        <p:spPr>
          <a:xfrm>
            <a:off x="7886700" y="4457700"/>
            <a:ext cx="104775" cy="133350"/>
          </a:xfrm>
          <a:custGeom>
            <a:avLst/>
            <a:gdLst/>
            <a:ahLst/>
            <a:cxnLst/>
            <a:rect l="0" t="0" r="r" b="b"/>
            <a:pathLst>
              <a:path w="104775" h="133350" fill="none">
                <a:moveTo>
                  <a:pt x="0" y="133350"/>
                </a:moveTo>
                <a:lnTo>
                  <a:pt x="104775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9" name="native359"/>
          <p:cNvSpPr/>
          <p:nvPr/>
        </p:nvSpPr>
        <p:spPr>
          <a:xfrm>
            <a:off x="8043862" y="4438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0" name="native360"/>
          <p:cNvSpPr/>
          <p:nvPr/>
        </p:nvSpPr>
        <p:spPr>
          <a:xfrm>
            <a:off x="8053388" y="4457700"/>
            <a:ext cx="104775" cy="133350"/>
          </a:xfrm>
          <a:custGeom>
            <a:avLst/>
            <a:gdLst/>
            <a:ahLst/>
            <a:cxnLst/>
            <a:rect l="0" t="0" r="r" b="b"/>
            <a:pathLst>
              <a:path w="104775" h="133350" fill="none">
                <a:moveTo>
                  <a:pt x="0" y="133350"/>
                </a:moveTo>
                <a:lnTo>
                  <a:pt x="104775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1" name="native361"/>
          <p:cNvSpPr/>
          <p:nvPr/>
        </p:nvSpPr>
        <p:spPr>
          <a:xfrm>
            <a:off x="8210550" y="4438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2" name="native362"/>
          <p:cNvSpPr/>
          <p:nvPr/>
        </p:nvSpPr>
        <p:spPr>
          <a:xfrm>
            <a:off x="8377238" y="4438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3" name="native363"/>
          <p:cNvSpPr/>
          <p:nvPr/>
        </p:nvSpPr>
        <p:spPr>
          <a:xfrm>
            <a:off x="8543925" y="4438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4" name="native364"/>
          <p:cNvSpPr/>
          <p:nvPr/>
        </p:nvSpPr>
        <p:spPr>
          <a:xfrm>
            <a:off x="8553450" y="4457700"/>
            <a:ext cx="104775" cy="133350"/>
          </a:xfrm>
          <a:custGeom>
            <a:avLst/>
            <a:gdLst/>
            <a:ahLst/>
            <a:cxnLst/>
            <a:rect l="0" t="0" r="r" b="b"/>
            <a:pathLst>
              <a:path w="104775" h="133350" fill="none">
                <a:moveTo>
                  <a:pt x="0" y="133350"/>
                </a:moveTo>
                <a:lnTo>
                  <a:pt x="104775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5" name="native365"/>
          <p:cNvSpPr/>
          <p:nvPr/>
        </p:nvSpPr>
        <p:spPr>
          <a:xfrm>
            <a:off x="8710612" y="4438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6" name="native366"/>
          <p:cNvSpPr/>
          <p:nvPr/>
        </p:nvSpPr>
        <p:spPr>
          <a:xfrm>
            <a:off x="8877300" y="4438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7" name="native367"/>
          <p:cNvSpPr/>
          <p:nvPr/>
        </p:nvSpPr>
        <p:spPr>
          <a:xfrm>
            <a:off x="8886825" y="4457700"/>
            <a:ext cx="104775" cy="133350"/>
          </a:xfrm>
          <a:custGeom>
            <a:avLst/>
            <a:gdLst/>
            <a:ahLst/>
            <a:cxnLst/>
            <a:rect l="0" t="0" r="r" b="b"/>
            <a:pathLst>
              <a:path w="104775" h="133350" fill="none">
                <a:moveTo>
                  <a:pt x="0" y="133350"/>
                </a:moveTo>
                <a:lnTo>
                  <a:pt x="104775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" name="native368"/>
          <p:cNvSpPr/>
          <p:nvPr/>
        </p:nvSpPr>
        <p:spPr>
          <a:xfrm>
            <a:off x="9043988" y="4438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9" name="native369"/>
          <p:cNvSpPr/>
          <p:nvPr/>
        </p:nvSpPr>
        <p:spPr>
          <a:xfrm>
            <a:off x="9210675" y="4438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0" name="native370"/>
          <p:cNvSpPr/>
          <p:nvPr/>
        </p:nvSpPr>
        <p:spPr>
          <a:xfrm>
            <a:off x="9377362" y="4438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1" name="native371"/>
          <p:cNvSpPr/>
          <p:nvPr/>
        </p:nvSpPr>
        <p:spPr>
          <a:xfrm>
            <a:off x="9386888" y="4457700"/>
            <a:ext cx="104775" cy="133350"/>
          </a:xfrm>
          <a:custGeom>
            <a:avLst/>
            <a:gdLst/>
            <a:ahLst/>
            <a:cxnLst/>
            <a:rect l="0" t="0" r="r" b="b"/>
            <a:pathLst>
              <a:path w="104775" h="133350" fill="none">
                <a:moveTo>
                  <a:pt x="0" y="133350"/>
                </a:moveTo>
                <a:lnTo>
                  <a:pt x="104775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2" name="native372"/>
          <p:cNvSpPr/>
          <p:nvPr/>
        </p:nvSpPr>
        <p:spPr>
          <a:xfrm>
            <a:off x="9544050" y="4438650"/>
            <a:ext cx="133350" cy="1714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3" name="native373"/>
          <p:cNvSpPr/>
          <p:nvPr/>
        </p:nvSpPr>
        <p:spPr>
          <a:xfrm>
            <a:off x="9710738" y="4438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4" name="native374"/>
          <p:cNvSpPr/>
          <p:nvPr/>
        </p:nvSpPr>
        <p:spPr>
          <a:xfrm>
            <a:off x="9720262" y="4457700"/>
            <a:ext cx="104775" cy="133350"/>
          </a:xfrm>
          <a:custGeom>
            <a:avLst/>
            <a:gdLst/>
            <a:ahLst/>
            <a:cxnLst/>
            <a:rect l="0" t="0" r="r" b="b"/>
            <a:pathLst>
              <a:path w="104775" h="133350" fill="none">
                <a:moveTo>
                  <a:pt x="0" y="133350"/>
                </a:moveTo>
                <a:lnTo>
                  <a:pt x="104775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5" name="native375"/>
          <p:cNvSpPr/>
          <p:nvPr/>
        </p:nvSpPr>
        <p:spPr>
          <a:xfrm>
            <a:off x="9877425" y="4438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6" name="native376"/>
          <p:cNvSpPr/>
          <p:nvPr/>
        </p:nvSpPr>
        <p:spPr>
          <a:xfrm>
            <a:off x="9886950" y="4457700"/>
            <a:ext cx="104775" cy="133350"/>
          </a:xfrm>
          <a:custGeom>
            <a:avLst/>
            <a:gdLst/>
            <a:ahLst/>
            <a:cxnLst/>
            <a:rect l="0" t="0" r="r" b="b"/>
            <a:pathLst>
              <a:path w="104775" h="133350" fill="none">
                <a:moveTo>
                  <a:pt x="0" y="133350"/>
                </a:moveTo>
                <a:lnTo>
                  <a:pt x="104775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7" name="native377"/>
          <p:cNvSpPr/>
          <p:nvPr/>
        </p:nvSpPr>
        <p:spPr>
          <a:xfrm>
            <a:off x="10044112" y="4438650"/>
            <a:ext cx="133350" cy="1714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" name="native378"/>
          <p:cNvSpPr/>
          <p:nvPr/>
        </p:nvSpPr>
        <p:spPr>
          <a:xfrm>
            <a:off x="10210800" y="4438650"/>
            <a:ext cx="133350" cy="1714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" name="native379"/>
          <p:cNvSpPr/>
          <p:nvPr/>
        </p:nvSpPr>
        <p:spPr>
          <a:xfrm>
            <a:off x="10377488" y="4438650"/>
            <a:ext cx="133350" cy="1714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0" name="native380"/>
          <p:cNvSpPr/>
          <p:nvPr/>
        </p:nvSpPr>
        <p:spPr>
          <a:xfrm>
            <a:off x="10387012" y="4457700"/>
            <a:ext cx="104775" cy="133350"/>
          </a:xfrm>
          <a:custGeom>
            <a:avLst/>
            <a:gdLst/>
            <a:ahLst/>
            <a:cxnLst/>
            <a:rect l="0" t="0" r="r" b="b"/>
            <a:pathLst>
              <a:path w="104775" h="133350" fill="none">
                <a:moveTo>
                  <a:pt x="0" y="133350"/>
                </a:moveTo>
                <a:lnTo>
                  <a:pt x="104775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1" name="native381"/>
          <p:cNvSpPr/>
          <p:nvPr/>
        </p:nvSpPr>
        <p:spPr>
          <a:xfrm>
            <a:off x="8982075" y="4667250"/>
            <a:ext cx="952" cy="171450"/>
          </a:xfrm>
          <a:custGeom>
            <a:avLst/>
            <a:gdLst/>
            <a:ahLst/>
            <a:cxnLst/>
            <a:rect l="0" t="0" r="r" b="b"/>
            <a:pathLst>
              <a:path w="952" h="171450" fill="none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2" name="native382"/>
          <p:cNvSpPr/>
          <p:nvPr/>
        </p:nvSpPr>
        <p:spPr>
          <a:xfrm>
            <a:off x="7239000" y="4864608"/>
            <a:ext cx="1990725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每 Q softmax</a:t>
            </a:r>
            <a:endParaRPr lang="zh-CN" sz="1425"/>
          </a:p>
        </p:txBody>
      </p:sp>
      <p:sp>
        <p:nvSpPr>
          <p:cNvPr id="383" name="native383"/>
          <p:cNvSpPr/>
          <p:nvPr/>
        </p:nvSpPr>
        <p:spPr>
          <a:xfrm>
            <a:off x="8872538" y="4864608"/>
            <a:ext cx="1266825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组内 均值</a:t>
            </a:r>
          </a:p>
        </p:txBody>
      </p:sp>
      <p:sp>
        <p:nvSpPr>
          <p:cNvPr id="384" name="native384"/>
          <p:cNvSpPr/>
          <p:nvPr/>
        </p:nvSpPr>
        <p:spPr>
          <a:xfrm>
            <a:off x="7391400" y="5191125"/>
            <a:ext cx="123825" cy="9525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5" name="native385"/>
          <p:cNvSpPr/>
          <p:nvPr/>
        </p:nvSpPr>
        <p:spPr>
          <a:xfrm>
            <a:off x="7553325" y="5191125"/>
            <a:ext cx="123825" cy="9525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6" name="native386"/>
          <p:cNvSpPr/>
          <p:nvPr/>
        </p:nvSpPr>
        <p:spPr>
          <a:xfrm>
            <a:off x="7715250" y="5191125"/>
            <a:ext cx="123825" cy="9525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7" name="native387"/>
          <p:cNvSpPr/>
          <p:nvPr/>
        </p:nvSpPr>
        <p:spPr>
          <a:xfrm>
            <a:off x="7877175" y="5191125"/>
            <a:ext cx="123825" cy="9525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8" name="native388"/>
          <p:cNvSpPr/>
          <p:nvPr/>
        </p:nvSpPr>
        <p:spPr>
          <a:xfrm>
            <a:off x="8039100" y="5191125"/>
            <a:ext cx="123825" cy="95250"/>
          </a:xfrm>
          <a:prstGeom prst="rect">
            <a:avLst/>
          </a:prstGeom>
          <a:solidFill>
            <a:srgbClr val="E9E3EE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" name="native389"/>
          <p:cNvSpPr/>
          <p:nvPr/>
        </p:nvSpPr>
        <p:spPr>
          <a:xfrm>
            <a:off x="8201025" y="5191125"/>
            <a:ext cx="123825" cy="95250"/>
          </a:xfrm>
          <a:prstGeom prst="rect">
            <a:avLst/>
          </a:prstGeom>
          <a:solidFill>
            <a:srgbClr val="CDBED9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0" name="native390"/>
          <p:cNvSpPr/>
          <p:nvPr/>
        </p:nvSpPr>
        <p:spPr>
          <a:xfrm>
            <a:off x="8362950" y="5191125"/>
            <a:ext cx="123825" cy="9525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1" name="native391"/>
          <p:cNvSpPr/>
          <p:nvPr/>
        </p:nvSpPr>
        <p:spPr>
          <a:xfrm>
            <a:off x="8524875" y="5191125"/>
            <a:ext cx="123825" cy="9525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2" name="native392"/>
          <p:cNvSpPr/>
          <p:nvPr/>
        </p:nvSpPr>
        <p:spPr>
          <a:xfrm>
            <a:off x="7391400" y="5343525"/>
            <a:ext cx="123825" cy="9525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3" name="native393"/>
          <p:cNvSpPr/>
          <p:nvPr/>
        </p:nvSpPr>
        <p:spPr>
          <a:xfrm>
            <a:off x="7553325" y="5343525"/>
            <a:ext cx="123825" cy="9525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4" name="native394"/>
          <p:cNvSpPr/>
          <p:nvPr/>
        </p:nvSpPr>
        <p:spPr>
          <a:xfrm>
            <a:off x="7715250" y="5343525"/>
            <a:ext cx="123825" cy="9525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5" name="native395"/>
          <p:cNvSpPr/>
          <p:nvPr/>
        </p:nvSpPr>
        <p:spPr>
          <a:xfrm>
            <a:off x="7877175" y="5343525"/>
            <a:ext cx="123825" cy="95250"/>
          </a:xfrm>
          <a:prstGeom prst="rect">
            <a:avLst/>
          </a:prstGeom>
          <a:solidFill>
            <a:srgbClr val="E9E3EE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6" name="native396"/>
          <p:cNvSpPr/>
          <p:nvPr/>
        </p:nvSpPr>
        <p:spPr>
          <a:xfrm>
            <a:off x="8039100" y="5343525"/>
            <a:ext cx="123825" cy="95250"/>
          </a:xfrm>
          <a:prstGeom prst="rect">
            <a:avLst/>
          </a:prstGeom>
          <a:solidFill>
            <a:srgbClr val="CDBED9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7" name="native397"/>
          <p:cNvSpPr/>
          <p:nvPr/>
        </p:nvSpPr>
        <p:spPr>
          <a:xfrm>
            <a:off x="8201025" y="5343525"/>
            <a:ext cx="123825" cy="9525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8" name="native398"/>
          <p:cNvSpPr/>
          <p:nvPr/>
        </p:nvSpPr>
        <p:spPr>
          <a:xfrm>
            <a:off x="8362950" y="5343525"/>
            <a:ext cx="123825" cy="9525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" name="native399"/>
          <p:cNvSpPr/>
          <p:nvPr/>
        </p:nvSpPr>
        <p:spPr>
          <a:xfrm>
            <a:off x="8524875" y="5343525"/>
            <a:ext cx="123825" cy="9525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0" name="native400"/>
          <p:cNvSpPr/>
          <p:nvPr/>
        </p:nvSpPr>
        <p:spPr>
          <a:xfrm>
            <a:off x="7391400" y="5495925"/>
            <a:ext cx="123825" cy="9525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1" name="native401"/>
          <p:cNvSpPr/>
          <p:nvPr/>
        </p:nvSpPr>
        <p:spPr>
          <a:xfrm>
            <a:off x="7553325" y="5495925"/>
            <a:ext cx="123825" cy="9525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2" name="native402"/>
          <p:cNvSpPr/>
          <p:nvPr/>
        </p:nvSpPr>
        <p:spPr>
          <a:xfrm>
            <a:off x="7715250" y="5495925"/>
            <a:ext cx="123825" cy="95250"/>
          </a:xfrm>
          <a:prstGeom prst="rect">
            <a:avLst/>
          </a:prstGeom>
          <a:solidFill>
            <a:srgbClr val="E9E3EE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3" name="native403"/>
          <p:cNvSpPr/>
          <p:nvPr/>
        </p:nvSpPr>
        <p:spPr>
          <a:xfrm>
            <a:off x="7877175" y="5495925"/>
            <a:ext cx="123825" cy="95250"/>
          </a:xfrm>
          <a:prstGeom prst="rect">
            <a:avLst/>
          </a:prstGeom>
          <a:solidFill>
            <a:srgbClr val="CDBED9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4" name="native404"/>
          <p:cNvSpPr/>
          <p:nvPr/>
        </p:nvSpPr>
        <p:spPr>
          <a:xfrm>
            <a:off x="8039100" y="5495925"/>
            <a:ext cx="123825" cy="9525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5" name="native405"/>
          <p:cNvSpPr/>
          <p:nvPr/>
        </p:nvSpPr>
        <p:spPr>
          <a:xfrm>
            <a:off x="8201025" y="5495925"/>
            <a:ext cx="123825" cy="9525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6" name="native406"/>
          <p:cNvSpPr/>
          <p:nvPr/>
        </p:nvSpPr>
        <p:spPr>
          <a:xfrm>
            <a:off x="8362950" y="5495925"/>
            <a:ext cx="123825" cy="9525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7" name="native407"/>
          <p:cNvSpPr/>
          <p:nvPr/>
        </p:nvSpPr>
        <p:spPr>
          <a:xfrm>
            <a:off x="8524875" y="5495925"/>
            <a:ext cx="123825" cy="9525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8" name="native408"/>
          <p:cNvSpPr/>
          <p:nvPr/>
        </p:nvSpPr>
        <p:spPr>
          <a:xfrm>
            <a:off x="7391400" y="5648325"/>
            <a:ext cx="123825" cy="9525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9" name="native409"/>
          <p:cNvSpPr/>
          <p:nvPr/>
        </p:nvSpPr>
        <p:spPr>
          <a:xfrm>
            <a:off x="7553325" y="5648325"/>
            <a:ext cx="123825" cy="95250"/>
          </a:xfrm>
          <a:prstGeom prst="rect">
            <a:avLst/>
          </a:prstGeom>
          <a:solidFill>
            <a:srgbClr val="E9E3EE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0" name="native410"/>
          <p:cNvSpPr/>
          <p:nvPr/>
        </p:nvSpPr>
        <p:spPr>
          <a:xfrm>
            <a:off x="7715250" y="5648325"/>
            <a:ext cx="123825" cy="95250"/>
          </a:xfrm>
          <a:prstGeom prst="rect">
            <a:avLst/>
          </a:prstGeom>
          <a:solidFill>
            <a:srgbClr val="CDBED9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1" name="native411"/>
          <p:cNvSpPr/>
          <p:nvPr/>
        </p:nvSpPr>
        <p:spPr>
          <a:xfrm>
            <a:off x="7877175" y="5648325"/>
            <a:ext cx="123825" cy="95250"/>
          </a:xfrm>
          <a:prstGeom prst="rect">
            <a:avLst/>
          </a:prstGeom>
          <a:solidFill>
            <a:srgbClr val="AD98C0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2" name="native412"/>
          <p:cNvSpPr/>
          <p:nvPr/>
        </p:nvSpPr>
        <p:spPr>
          <a:xfrm>
            <a:off x="8039100" y="5648325"/>
            <a:ext cx="123825" cy="95250"/>
          </a:xfrm>
          <a:prstGeom prst="rect">
            <a:avLst/>
          </a:prstGeom>
          <a:solidFill>
            <a:srgbClr val="C6B7D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3" name="native413"/>
          <p:cNvSpPr/>
          <p:nvPr/>
        </p:nvSpPr>
        <p:spPr>
          <a:xfrm>
            <a:off x="8201025" y="5648325"/>
            <a:ext cx="123825" cy="95250"/>
          </a:xfrm>
          <a:prstGeom prst="rect">
            <a:avLst/>
          </a:prstGeom>
          <a:solidFill>
            <a:srgbClr val="DFD6E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4" name="native414"/>
          <p:cNvSpPr/>
          <p:nvPr/>
        </p:nvSpPr>
        <p:spPr>
          <a:xfrm>
            <a:off x="8362950" y="5648325"/>
            <a:ext cx="123825" cy="95250"/>
          </a:xfrm>
          <a:prstGeom prst="rect">
            <a:avLst/>
          </a:prstGeom>
          <a:solidFill>
            <a:srgbClr val="BBA8CC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5" name="native415"/>
          <p:cNvSpPr/>
          <p:nvPr/>
        </p:nvSpPr>
        <p:spPr>
          <a:xfrm>
            <a:off x="8524875" y="5648325"/>
            <a:ext cx="123825" cy="95250"/>
          </a:xfrm>
          <a:prstGeom prst="rect">
            <a:avLst/>
          </a:prstGeom>
          <a:solidFill>
            <a:srgbClr val="E9E3EE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6" name="native416"/>
          <p:cNvSpPr/>
          <p:nvPr/>
        </p:nvSpPr>
        <p:spPr>
          <a:xfrm>
            <a:off x="8743950" y="5448300"/>
            <a:ext cx="352425" cy="952"/>
          </a:xfrm>
          <a:custGeom>
            <a:avLst/>
            <a:gdLst/>
            <a:ahLst/>
            <a:cxnLst/>
            <a:rect l="0" t="0" r="r" b="b"/>
            <a:pathLst>
              <a:path w="352425" h="952" fill="none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6192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7" name="native417"/>
          <p:cNvSpPr/>
          <p:nvPr/>
        </p:nvSpPr>
        <p:spPr>
          <a:xfrm>
            <a:off x="9239250" y="5391150"/>
            <a:ext cx="123825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8" name="native418"/>
          <p:cNvSpPr/>
          <p:nvPr/>
        </p:nvSpPr>
        <p:spPr>
          <a:xfrm>
            <a:off x="9401175" y="5391150"/>
            <a:ext cx="123825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9" name="native419"/>
          <p:cNvSpPr/>
          <p:nvPr/>
        </p:nvSpPr>
        <p:spPr>
          <a:xfrm>
            <a:off x="9563100" y="5391150"/>
            <a:ext cx="123825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" name="native420"/>
          <p:cNvSpPr/>
          <p:nvPr/>
        </p:nvSpPr>
        <p:spPr>
          <a:xfrm>
            <a:off x="9725025" y="5391150"/>
            <a:ext cx="123825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1" name="native421"/>
          <p:cNvSpPr/>
          <p:nvPr/>
        </p:nvSpPr>
        <p:spPr>
          <a:xfrm>
            <a:off x="9886950" y="5391150"/>
            <a:ext cx="123825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2" name="native422"/>
          <p:cNvSpPr/>
          <p:nvPr/>
        </p:nvSpPr>
        <p:spPr>
          <a:xfrm>
            <a:off x="10048875" y="5391150"/>
            <a:ext cx="123825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3" name="native423"/>
          <p:cNvSpPr/>
          <p:nvPr/>
        </p:nvSpPr>
        <p:spPr>
          <a:xfrm>
            <a:off x="10210800" y="5391150"/>
            <a:ext cx="123825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4" name="native424"/>
          <p:cNvSpPr/>
          <p:nvPr/>
        </p:nvSpPr>
        <p:spPr>
          <a:xfrm>
            <a:off x="10372725" y="5391150"/>
            <a:ext cx="123825" cy="114300"/>
          </a:xfrm>
          <a:prstGeom prst="rect">
            <a:avLst/>
          </a:prstGeom>
          <a:solidFill>
            <a:srgbClr val="78628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5" name="native425"/>
          <p:cNvSpPr/>
          <p:nvPr/>
        </p:nvSpPr>
        <p:spPr>
          <a:xfrm>
            <a:off x="9839325" y="5572125"/>
            <a:ext cx="952" cy="180975"/>
          </a:xfrm>
          <a:custGeom>
            <a:avLst/>
            <a:gdLst/>
            <a:ahLst/>
            <a:cxnLst/>
            <a:rect l="0" t="0" r="r" b="b"/>
            <a:pathLst>
              <a:path w="952" h="180975" fill="none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/>
          <a:ln w="14288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6" name="native426"/>
          <p:cNvSpPr/>
          <p:nvPr/>
        </p:nvSpPr>
        <p:spPr>
          <a:xfrm>
            <a:off x="7239000" y="573976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区域 词元 TopK</a:t>
            </a:r>
          </a:p>
        </p:txBody>
      </p:sp>
      <p:sp>
        <p:nvSpPr>
          <p:cNvPr id="427" name="native427"/>
          <p:cNvSpPr/>
          <p:nvPr/>
        </p:nvSpPr>
        <p:spPr>
          <a:xfrm>
            <a:off x="7239000" y="6019419"/>
            <a:ext cx="518160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32689F"/>
                </a:solidFill>
                <a:latin typeface="Noto Sans CJK SC"/>
                <a:ea typeface="Noto Sans CJK SC"/>
              </a:rPr>
              <a:t>近区 = min(892, ⌊γ·16·64⌋) = 640</a:t>
            </a:r>
          </a:p>
        </p:txBody>
      </p:sp>
      <p:sp>
        <p:nvSpPr>
          <p:cNvPr id="428" name="native428"/>
          <p:cNvSpPr/>
          <p:nvPr/>
        </p:nvSpPr>
        <p:spPr>
          <a:xfrm>
            <a:off x="7239000" y="6256401"/>
            <a:ext cx="36004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2817B"/>
                </a:solidFill>
                <a:latin typeface="Noto Sans CJK SC"/>
                <a:ea typeface="Noto Sans CJK SC"/>
              </a:rPr>
              <a:t>远区名义配额 = 892 − 640 = 252</a:t>
            </a:r>
          </a:p>
        </p:txBody>
      </p:sp>
      <p:sp>
        <p:nvSpPr>
          <p:cNvPr id="429" name="native429"/>
          <p:cNvSpPr/>
          <p:nvPr/>
        </p:nvSpPr>
        <p:spPr>
          <a:xfrm>
            <a:off x="7267575" y="6591300"/>
            <a:ext cx="161925" cy="15240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0" name="native430"/>
          <p:cNvSpPr/>
          <p:nvPr/>
        </p:nvSpPr>
        <p:spPr>
          <a:xfrm>
            <a:off x="7467600" y="6591300"/>
            <a:ext cx="161925" cy="15240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1" name="native431"/>
          <p:cNvSpPr/>
          <p:nvPr/>
        </p:nvSpPr>
        <p:spPr>
          <a:xfrm>
            <a:off x="7667625" y="6591300"/>
            <a:ext cx="161925" cy="15240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2" name="native432"/>
          <p:cNvSpPr/>
          <p:nvPr/>
        </p:nvSpPr>
        <p:spPr>
          <a:xfrm>
            <a:off x="7867650" y="6591300"/>
            <a:ext cx="161925" cy="1524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3" name="native433"/>
          <p:cNvSpPr/>
          <p:nvPr/>
        </p:nvSpPr>
        <p:spPr>
          <a:xfrm>
            <a:off x="8067675" y="6591300"/>
            <a:ext cx="161925" cy="1524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4" name="native434"/>
          <p:cNvSpPr/>
          <p:nvPr/>
        </p:nvSpPr>
        <p:spPr>
          <a:xfrm>
            <a:off x="8267700" y="6591300"/>
            <a:ext cx="161925" cy="1524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5" name="native435"/>
          <p:cNvSpPr/>
          <p:nvPr/>
        </p:nvSpPr>
        <p:spPr>
          <a:xfrm>
            <a:off x="8467725" y="6591300"/>
            <a:ext cx="161925" cy="1524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6" name="native436"/>
          <p:cNvSpPr/>
          <p:nvPr/>
        </p:nvSpPr>
        <p:spPr>
          <a:xfrm>
            <a:off x="8667750" y="6591300"/>
            <a:ext cx="161925" cy="1524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7" name="native437"/>
          <p:cNvSpPr/>
          <p:nvPr/>
        </p:nvSpPr>
        <p:spPr>
          <a:xfrm>
            <a:off x="8867775" y="6591300"/>
            <a:ext cx="161925" cy="1524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8" name="native438"/>
          <p:cNvSpPr/>
          <p:nvPr/>
        </p:nvSpPr>
        <p:spPr>
          <a:xfrm>
            <a:off x="9067800" y="6591300"/>
            <a:ext cx="161925" cy="1524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9" name="native439"/>
          <p:cNvSpPr/>
          <p:nvPr/>
        </p:nvSpPr>
        <p:spPr>
          <a:xfrm>
            <a:off x="9267825" y="6591300"/>
            <a:ext cx="161925" cy="1524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" name="native440"/>
          <p:cNvSpPr/>
          <p:nvPr/>
        </p:nvSpPr>
        <p:spPr>
          <a:xfrm>
            <a:off x="9467850" y="6591300"/>
            <a:ext cx="161925" cy="1524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1" name="native441"/>
          <p:cNvSpPr/>
          <p:nvPr/>
        </p:nvSpPr>
        <p:spPr>
          <a:xfrm>
            <a:off x="9667875" y="6591300"/>
            <a:ext cx="161925" cy="1524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2" name="native442"/>
          <p:cNvSpPr/>
          <p:nvPr/>
        </p:nvSpPr>
        <p:spPr>
          <a:xfrm>
            <a:off x="9867900" y="6591300"/>
            <a:ext cx="161925" cy="1524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3" name="native443"/>
          <p:cNvSpPr/>
          <p:nvPr/>
        </p:nvSpPr>
        <p:spPr>
          <a:xfrm>
            <a:off x="10067925" y="6591300"/>
            <a:ext cx="161925" cy="1524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4" name="native444"/>
          <p:cNvSpPr/>
          <p:nvPr/>
        </p:nvSpPr>
        <p:spPr>
          <a:xfrm>
            <a:off x="10267950" y="6591300"/>
            <a:ext cx="161925" cy="1524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" name="native445"/>
          <p:cNvSpPr/>
          <p:nvPr/>
        </p:nvSpPr>
        <p:spPr>
          <a:xfrm>
            <a:off x="6757988" y="6757797"/>
            <a:ext cx="4200525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75" b="1">
                <a:solidFill>
                  <a:srgbClr val="193247"/>
                </a:solidFill>
                <a:latin typeface="Noto Sans CJK SC"/>
                <a:ea typeface="Noto Sans CJK SC"/>
              </a:rPr>
              <a:t>区域名义槽位：892</a:t>
            </a:r>
          </a:p>
        </p:txBody>
      </p:sp>
      <p:sp>
        <p:nvSpPr>
          <p:cNvPr id="446" name="native446"/>
          <p:cNvSpPr/>
          <p:nvPr/>
        </p:nvSpPr>
        <p:spPr>
          <a:xfrm>
            <a:off x="10944225" y="2483358"/>
            <a:ext cx="3800475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原始 128 维 Q / K / V 保留</a:t>
            </a:r>
            <a:endParaRPr lang="zh-CN" sz="1425"/>
          </a:p>
        </p:txBody>
      </p:sp>
      <p:sp>
        <p:nvSpPr>
          <p:cNvPr id="447" name="native447"/>
          <p:cNvSpPr/>
          <p:nvPr/>
        </p:nvSpPr>
        <p:spPr>
          <a:xfrm>
            <a:off x="11258550" y="2751201"/>
            <a:ext cx="8572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K</a:t>
            </a:r>
            <a:endParaRPr lang="zh-CN" sz="1350"/>
          </a:p>
        </p:txBody>
      </p:sp>
      <p:sp>
        <p:nvSpPr>
          <p:cNvPr id="448" name="native448"/>
          <p:cNvSpPr/>
          <p:nvPr/>
        </p:nvSpPr>
        <p:spPr>
          <a:xfrm>
            <a:off x="12973050" y="2751201"/>
            <a:ext cx="8572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V</a:t>
            </a:r>
            <a:endParaRPr lang="zh-CN" sz="1350"/>
          </a:p>
        </p:txBody>
      </p:sp>
      <p:sp>
        <p:nvSpPr>
          <p:cNvPr id="449" name="native449"/>
          <p:cNvSpPr/>
          <p:nvPr/>
        </p:nvSpPr>
        <p:spPr>
          <a:xfrm>
            <a:off x="10991850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0" name="native450"/>
          <p:cNvSpPr/>
          <p:nvPr/>
        </p:nvSpPr>
        <p:spPr>
          <a:xfrm>
            <a:off x="11163300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1" name="native451"/>
          <p:cNvSpPr/>
          <p:nvPr/>
        </p:nvSpPr>
        <p:spPr>
          <a:xfrm>
            <a:off x="11334750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2" name="native452"/>
          <p:cNvSpPr/>
          <p:nvPr/>
        </p:nvSpPr>
        <p:spPr>
          <a:xfrm>
            <a:off x="11506200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3" name="native453"/>
          <p:cNvSpPr/>
          <p:nvPr/>
        </p:nvSpPr>
        <p:spPr>
          <a:xfrm>
            <a:off x="11677650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4" name="native454"/>
          <p:cNvSpPr/>
          <p:nvPr/>
        </p:nvSpPr>
        <p:spPr>
          <a:xfrm>
            <a:off x="11849100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5" name="native455"/>
          <p:cNvSpPr/>
          <p:nvPr/>
        </p:nvSpPr>
        <p:spPr>
          <a:xfrm>
            <a:off x="12020550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6" name="native456"/>
          <p:cNvSpPr/>
          <p:nvPr/>
        </p:nvSpPr>
        <p:spPr>
          <a:xfrm>
            <a:off x="12192000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7" name="native457"/>
          <p:cNvSpPr/>
          <p:nvPr/>
        </p:nvSpPr>
        <p:spPr>
          <a:xfrm>
            <a:off x="12363450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" name="native458"/>
          <p:cNvSpPr/>
          <p:nvPr/>
        </p:nvSpPr>
        <p:spPr>
          <a:xfrm>
            <a:off x="10991850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9" name="native459"/>
          <p:cNvSpPr/>
          <p:nvPr/>
        </p:nvSpPr>
        <p:spPr>
          <a:xfrm>
            <a:off x="11163300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0" name="native460"/>
          <p:cNvSpPr/>
          <p:nvPr/>
        </p:nvSpPr>
        <p:spPr>
          <a:xfrm>
            <a:off x="11334750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1" name="native461"/>
          <p:cNvSpPr/>
          <p:nvPr/>
        </p:nvSpPr>
        <p:spPr>
          <a:xfrm>
            <a:off x="11506200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2" name="native462"/>
          <p:cNvSpPr/>
          <p:nvPr/>
        </p:nvSpPr>
        <p:spPr>
          <a:xfrm>
            <a:off x="11677650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3" name="native463"/>
          <p:cNvSpPr/>
          <p:nvPr/>
        </p:nvSpPr>
        <p:spPr>
          <a:xfrm>
            <a:off x="11849100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4" name="native464"/>
          <p:cNvSpPr/>
          <p:nvPr/>
        </p:nvSpPr>
        <p:spPr>
          <a:xfrm>
            <a:off x="12020550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5" name="native465"/>
          <p:cNvSpPr/>
          <p:nvPr/>
        </p:nvSpPr>
        <p:spPr>
          <a:xfrm>
            <a:off x="12192000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6" name="native466"/>
          <p:cNvSpPr/>
          <p:nvPr/>
        </p:nvSpPr>
        <p:spPr>
          <a:xfrm>
            <a:off x="12363450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7" name="native467"/>
          <p:cNvSpPr/>
          <p:nvPr/>
        </p:nvSpPr>
        <p:spPr>
          <a:xfrm>
            <a:off x="10991850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8" name="native468"/>
          <p:cNvSpPr/>
          <p:nvPr/>
        </p:nvSpPr>
        <p:spPr>
          <a:xfrm>
            <a:off x="11163300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9" name="native469"/>
          <p:cNvSpPr/>
          <p:nvPr/>
        </p:nvSpPr>
        <p:spPr>
          <a:xfrm>
            <a:off x="11334750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0" name="native470"/>
          <p:cNvSpPr/>
          <p:nvPr/>
        </p:nvSpPr>
        <p:spPr>
          <a:xfrm>
            <a:off x="11506200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1" name="native471"/>
          <p:cNvSpPr/>
          <p:nvPr/>
        </p:nvSpPr>
        <p:spPr>
          <a:xfrm>
            <a:off x="11677650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2" name="native472"/>
          <p:cNvSpPr/>
          <p:nvPr/>
        </p:nvSpPr>
        <p:spPr>
          <a:xfrm>
            <a:off x="11849100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3" name="native473"/>
          <p:cNvSpPr/>
          <p:nvPr/>
        </p:nvSpPr>
        <p:spPr>
          <a:xfrm>
            <a:off x="12020550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4" name="native474"/>
          <p:cNvSpPr/>
          <p:nvPr/>
        </p:nvSpPr>
        <p:spPr>
          <a:xfrm>
            <a:off x="12192000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5" name="native475"/>
          <p:cNvSpPr/>
          <p:nvPr/>
        </p:nvSpPr>
        <p:spPr>
          <a:xfrm>
            <a:off x="12363450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6" name="native476"/>
          <p:cNvSpPr/>
          <p:nvPr/>
        </p:nvSpPr>
        <p:spPr>
          <a:xfrm>
            <a:off x="10991850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" name="native477"/>
          <p:cNvSpPr/>
          <p:nvPr/>
        </p:nvSpPr>
        <p:spPr>
          <a:xfrm>
            <a:off x="11163300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8" name="native478"/>
          <p:cNvSpPr/>
          <p:nvPr/>
        </p:nvSpPr>
        <p:spPr>
          <a:xfrm>
            <a:off x="11334750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9" name="native479"/>
          <p:cNvSpPr/>
          <p:nvPr/>
        </p:nvSpPr>
        <p:spPr>
          <a:xfrm>
            <a:off x="11506200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0" name="native480"/>
          <p:cNvSpPr/>
          <p:nvPr/>
        </p:nvSpPr>
        <p:spPr>
          <a:xfrm>
            <a:off x="11677650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" name="native481"/>
          <p:cNvSpPr/>
          <p:nvPr/>
        </p:nvSpPr>
        <p:spPr>
          <a:xfrm>
            <a:off x="11849100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2" name="native482"/>
          <p:cNvSpPr/>
          <p:nvPr/>
        </p:nvSpPr>
        <p:spPr>
          <a:xfrm>
            <a:off x="12020550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3" name="native483"/>
          <p:cNvSpPr/>
          <p:nvPr/>
        </p:nvSpPr>
        <p:spPr>
          <a:xfrm>
            <a:off x="12192000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4" name="native484"/>
          <p:cNvSpPr/>
          <p:nvPr/>
        </p:nvSpPr>
        <p:spPr>
          <a:xfrm>
            <a:off x="12363450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5" name="native485"/>
          <p:cNvSpPr/>
          <p:nvPr/>
        </p:nvSpPr>
        <p:spPr>
          <a:xfrm>
            <a:off x="10991850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6" name="native486"/>
          <p:cNvSpPr/>
          <p:nvPr/>
        </p:nvSpPr>
        <p:spPr>
          <a:xfrm>
            <a:off x="11163300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7" name="native487"/>
          <p:cNvSpPr/>
          <p:nvPr/>
        </p:nvSpPr>
        <p:spPr>
          <a:xfrm>
            <a:off x="11334750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8" name="native488"/>
          <p:cNvSpPr/>
          <p:nvPr/>
        </p:nvSpPr>
        <p:spPr>
          <a:xfrm>
            <a:off x="11506200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9" name="native489"/>
          <p:cNvSpPr/>
          <p:nvPr/>
        </p:nvSpPr>
        <p:spPr>
          <a:xfrm>
            <a:off x="11677650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0" name="native490"/>
          <p:cNvSpPr/>
          <p:nvPr/>
        </p:nvSpPr>
        <p:spPr>
          <a:xfrm>
            <a:off x="11849100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1" name="native491"/>
          <p:cNvSpPr/>
          <p:nvPr/>
        </p:nvSpPr>
        <p:spPr>
          <a:xfrm>
            <a:off x="12020550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2" name="native492"/>
          <p:cNvSpPr/>
          <p:nvPr/>
        </p:nvSpPr>
        <p:spPr>
          <a:xfrm>
            <a:off x="12192000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3" name="native493"/>
          <p:cNvSpPr/>
          <p:nvPr/>
        </p:nvSpPr>
        <p:spPr>
          <a:xfrm>
            <a:off x="12363450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4" name="native494"/>
          <p:cNvSpPr/>
          <p:nvPr/>
        </p:nvSpPr>
        <p:spPr>
          <a:xfrm>
            <a:off x="10991850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5" name="native495"/>
          <p:cNvSpPr/>
          <p:nvPr/>
        </p:nvSpPr>
        <p:spPr>
          <a:xfrm>
            <a:off x="11163300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6" name="native496"/>
          <p:cNvSpPr/>
          <p:nvPr/>
        </p:nvSpPr>
        <p:spPr>
          <a:xfrm>
            <a:off x="11334750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7" name="native497"/>
          <p:cNvSpPr/>
          <p:nvPr/>
        </p:nvSpPr>
        <p:spPr>
          <a:xfrm>
            <a:off x="11506200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8" name="native498"/>
          <p:cNvSpPr/>
          <p:nvPr/>
        </p:nvSpPr>
        <p:spPr>
          <a:xfrm>
            <a:off x="11677650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9" name="native499"/>
          <p:cNvSpPr/>
          <p:nvPr/>
        </p:nvSpPr>
        <p:spPr>
          <a:xfrm>
            <a:off x="11849100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0" name="native500"/>
          <p:cNvSpPr/>
          <p:nvPr/>
        </p:nvSpPr>
        <p:spPr>
          <a:xfrm>
            <a:off x="12020550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" name="native501"/>
          <p:cNvSpPr/>
          <p:nvPr/>
        </p:nvSpPr>
        <p:spPr>
          <a:xfrm>
            <a:off x="12192000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2" name="native502"/>
          <p:cNvSpPr/>
          <p:nvPr/>
        </p:nvSpPr>
        <p:spPr>
          <a:xfrm>
            <a:off x="12363450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3" name="native503"/>
          <p:cNvSpPr/>
          <p:nvPr/>
        </p:nvSpPr>
        <p:spPr>
          <a:xfrm>
            <a:off x="10991850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4" name="native504"/>
          <p:cNvSpPr/>
          <p:nvPr/>
        </p:nvSpPr>
        <p:spPr>
          <a:xfrm>
            <a:off x="11163300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5" name="native505"/>
          <p:cNvSpPr/>
          <p:nvPr/>
        </p:nvSpPr>
        <p:spPr>
          <a:xfrm>
            <a:off x="11334750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6" name="native506"/>
          <p:cNvSpPr/>
          <p:nvPr/>
        </p:nvSpPr>
        <p:spPr>
          <a:xfrm>
            <a:off x="11506200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7" name="native507"/>
          <p:cNvSpPr/>
          <p:nvPr/>
        </p:nvSpPr>
        <p:spPr>
          <a:xfrm>
            <a:off x="11677650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8" name="native508"/>
          <p:cNvSpPr/>
          <p:nvPr/>
        </p:nvSpPr>
        <p:spPr>
          <a:xfrm>
            <a:off x="11849100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9" name="native509"/>
          <p:cNvSpPr/>
          <p:nvPr/>
        </p:nvSpPr>
        <p:spPr>
          <a:xfrm>
            <a:off x="12020550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0" name="native510"/>
          <p:cNvSpPr/>
          <p:nvPr/>
        </p:nvSpPr>
        <p:spPr>
          <a:xfrm>
            <a:off x="12192000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1" name="native511"/>
          <p:cNvSpPr/>
          <p:nvPr/>
        </p:nvSpPr>
        <p:spPr>
          <a:xfrm>
            <a:off x="12363450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" name="native512"/>
          <p:cNvSpPr/>
          <p:nvPr/>
        </p:nvSpPr>
        <p:spPr>
          <a:xfrm>
            <a:off x="12696825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3" name="native513"/>
          <p:cNvSpPr/>
          <p:nvPr/>
        </p:nvSpPr>
        <p:spPr>
          <a:xfrm>
            <a:off x="12868275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4" name="native514"/>
          <p:cNvSpPr/>
          <p:nvPr/>
        </p:nvSpPr>
        <p:spPr>
          <a:xfrm>
            <a:off x="13039725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5" name="native515"/>
          <p:cNvSpPr/>
          <p:nvPr/>
        </p:nvSpPr>
        <p:spPr>
          <a:xfrm>
            <a:off x="13211175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6" name="native516"/>
          <p:cNvSpPr/>
          <p:nvPr/>
        </p:nvSpPr>
        <p:spPr>
          <a:xfrm>
            <a:off x="13382625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7" name="native517"/>
          <p:cNvSpPr/>
          <p:nvPr/>
        </p:nvSpPr>
        <p:spPr>
          <a:xfrm>
            <a:off x="13554075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8" name="native518"/>
          <p:cNvSpPr/>
          <p:nvPr/>
        </p:nvSpPr>
        <p:spPr>
          <a:xfrm>
            <a:off x="13725525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9" name="native519"/>
          <p:cNvSpPr/>
          <p:nvPr/>
        </p:nvSpPr>
        <p:spPr>
          <a:xfrm>
            <a:off x="13896975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0" name="native520"/>
          <p:cNvSpPr/>
          <p:nvPr/>
        </p:nvSpPr>
        <p:spPr>
          <a:xfrm>
            <a:off x="14068425" y="303847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1" name="native521"/>
          <p:cNvSpPr/>
          <p:nvPr/>
        </p:nvSpPr>
        <p:spPr>
          <a:xfrm>
            <a:off x="12696825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2" name="native522"/>
          <p:cNvSpPr/>
          <p:nvPr/>
        </p:nvSpPr>
        <p:spPr>
          <a:xfrm>
            <a:off x="12868275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3" name="native523"/>
          <p:cNvSpPr/>
          <p:nvPr/>
        </p:nvSpPr>
        <p:spPr>
          <a:xfrm>
            <a:off x="13039725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4" name="native524"/>
          <p:cNvSpPr/>
          <p:nvPr/>
        </p:nvSpPr>
        <p:spPr>
          <a:xfrm>
            <a:off x="13211175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5" name="native525"/>
          <p:cNvSpPr/>
          <p:nvPr/>
        </p:nvSpPr>
        <p:spPr>
          <a:xfrm>
            <a:off x="13382625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6" name="native526"/>
          <p:cNvSpPr/>
          <p:nvPr/>
        </p:nvSpPr>
        <p:spPr>
          <a:xfrm>
            <a:off x="13554075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7" name="native527"/>
          <p:cNvSpPr/>
          <p:nvPr/>
        </p:nvSpPr>
        <p:spPr>
          <a:xfrm>
            <a:off x="13725525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8" name="native528"/>
          <p:cNvSpPr/>
          <p:nvPr/>
        </p:nvSpPr>
        <p:spPr>
          <a:xfrm>
            <a:off x="13896975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9" name="native529"/>
          <p:cNvSpPr/>
          <p:nvPr/>
        </p:nvSpPr>
        <p:spPr>
          <a:xfrm>
            <a:off x="14068425" y="31813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0" name="native530"/>
          <p:cNvSpPr/>
          <p:nvPr/>
        </p:nvSpPr>
        <p:spPr>
          <a:xfrm>
            <a:off x="12696825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1" name="native531"/>
          <p:cNvSpPr/>
          <p:nvPr/>
        </p:nvSpPr>
        <p:spPr>
          <a:xfrm>
            <a:off x="12868275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2" name="native532"/>
          <p:cNvSpPr/>
          <p:nvPr/>
        </p:nvSpPr>
        <p:spPr>
          <a:xfrm>
            <a:off x="13039725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3" name="native533"/>
          <p:cNvSpPr/>
          <p:nvPr/>
        </p:nvSpPr>
        <p:spPr>
          <a:xfrm>
            <a:off x="13211175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4" name="native534"/>
          <p:cNvSpPr/>
          <p:nvPr/>
        </p:nvSpPr>
        <p:spPr>
          <a:xfrm>
            <a:off x="13382625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5" name="native535"/>
          <p:cNvSpPr/>
          <p:nvPr/>
        </p:nvSpPr>
        <p:spPr>
          <a:xfrm>
            <a:off x="13554075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6" name="native536"/>
          <p:cNvSpPr/>
          <p:nvPr/>
        </p:nvSpPr>
        <p:spPr>
          <a:xfrm>
            <a:off x="13725525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7" name="native537"/>
          <p:cNvSpPr/>
          <p:nvPr/>
        </p:nvSpPr>
        <p:spPr>
          <a:xfrm>
            <a:off x="13896975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8" name="native538"/>
          <p:cNvSpPr/>
          <p:nvPr/>
        </p:nvSpPr>
        <p:spPr>
          <a:xfrm>
            <a:off x="14068425" y="3324225"/>
            <a:ext cx="133350" cy="95250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9" name="native539"/>
          <p:cNvSpPr/>
          <p:nvPr/>
        </p:nvSpPr>
        <p:spPr>
          <a:xfrm>
            <a:off x="12696825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0" name="native540"/>
          <p:cNvSpPr/>
          <p:nvPr/>
        </p:nvSpPr>
        <p:spPr>
          <a:xfrm>
            <a:off x="12868275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1" name="native541"/>
          <p:cNvSpPr/>
          <p:nvPr/>
        </p:nvSpPr>
        <p:spPr>
          <a:xfrm>
            <a:off x="13039725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2" name="native542"/>
          <p:cNvSpPr/>
          <p:nvPr/>
        </p:nvSpPr>
        <p:spPr>
          <a:xfrm>
            <a:off x="13211175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3" name="native543"/>
          <p:cNvSpPr/>
          <p:nvPr/>
        </p:nvSpPr>
        <p:spPr>
          <a:xfrm>
            <a:off x="13382625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4" name="native544"/>
          <p:cNvSpPr/>
          <p:nvPr/>
        </p:nvSpPr>
        <p:spPr>
          <a:xfrm>
            <a:off x="13554075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5" name="native545"/>
          <p:cNvSpPr/>
          <p:nvPr/>
        </p:nvSpPr>
        <p:spPr>
          <a:xfrm>
            <a:off x="13725525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6" name="native546"/>
          <p:cNvSpPr/>
          <p:nvPr/>
        </p:nvSpPr>
        <p:spPr>
          <a:xfrm>
            <a:off x="13896975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7" name="native547"/>
          <p:cNvSpPr/>
          <p:nvPr/>
        </p:nvSpPr>
        <p:spPr>
          <a:xfrm>
            <a:off x="14068425" y="3467100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8" name="native548"/>
          <p:cNvSpPr/>
          <p:nvPr/>
        </p:nvSpPr>
        <p:spPr>
          <a:xfrm>
            <a:off x="12696825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9" name="native549"/>
          <p:cNvSpPr/>
          <p:nvPr/>
        </p:nvSpPr>
        <p:spPr>
          <a:xfrm>
            <a:off x="12868275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0" name="native550"/>
          <p:cNvSpPr/>
          <p:nvPr/>
        </p:nvSpPr>
        <p:spPr>
          <a:xfrm>
            <a:off x="13039725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1" name="native551"/>
          <p:cNvSpPr/>
          <p:nvPr/>
        </p:nvSpPr>
        <p:spPr>
          <a:xfrm>
            <a:off x="13211175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2" name="native552"/>
          <p:cNvSpPr/>
          <p:nvPr/>
        </p:nvSpPr>
        <p:spPr>
          <a:xfrm>
            <a:off x="13382625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3" name="native553"/>
          <p:cNvSpPr/>
          <p:nvPr/>
        </p:nvSpPr>
        <p:spPr>
          <a:xfrm>
            <a:off x="13554075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4" name="native554"/>
          <p:cNvSpPr/>
          <p:nvPr/>
        </p:nvSpPr>
        <p:spPr>
          <a:xfrm>
            <a:off x="13725525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5" name="native555"/>
          <p:cNvSpPr/>
          <p:nvPr/>
        </p:nvSpPr>
        <p:spPr>
          <a:xfrm>
            <a:off x="13896975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6" name="native556"/>
          <p:cNvSpPr/>
          <p:nvPr/>
        </p:nvSpPr>
        <p:spPr>
          <a:xfrm>
            <a:off x="14068425" y="3609975"/>
            <a:ext cx="133350" cy="9525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7" name="native557"/>
          <p:cNvSpPr/>
          <p:nvPr/>
        </p:nvSpPr>
        <p:spPr>
          <a:xfrm>
            <a:off x="12696825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8" name="native558"/>
          <p:cNvSpPr/>
          <p:nvPr/>
        </p:nvSpPr>
        <p:spPr>
          <a:xfrm>
            <a:off x="12868275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9" name="native559"/>
          <p:cNvSpPr/>
          <p:nvPr/>
        </p:nvSpPr>
        <p:spPr>
          <a:xfrm>
            <a:off x="13039725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0" name="native560"/>
          <p:cNvSpPr/>
          <p:nvPr/>
        </p:nvSpPr>
        <p:spPr>
          <a:xfrm>
            <a:off x="13211175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1" name="native561"/>
          <p:cNvSpPr/>
          <p:nvPr/>
        </p:nvSpPr>
        <p:spPr>
          <a:xfrm>
            <a:off x="13382625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2" name="native562"/>
          <p:cNvSpPr/>
          <p:nvPr/>
        </p:nvSpPr>
        <p:spPr>
          <a:xfrm>
            <a:off x="13554075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3" name="native563"/>
          <p:cNvSpPr/>
          <p:nvPr/>
        </p:nvSpPr>
        <p:spPr>
          <a:xfrm>
            <a:off x="13725525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" name="native564"/>
          <p:cNvSpPr/>
          <p:nvPr/>
        </p:nvSpPr>
        <p:spPr>
          <a:xfrm>
            <a:off x="13896975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5" name="native565"/>
          <p:cNvSpPr/>
          <p:nvPr/>
        </p:nvSpPr>
        <p:spPr>
          <a:xfrm>
            <a:off x="14068425" y="3752850"/>
            <a:ext cx="133350" cy="95250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6" name="native566"/>
          <p:cNvSpPr/>
          <p:nvPr/>
        </p:nvSpPr>
        <p:spPr>
          <a:xfrm>
            <a:off x="12696825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7" name="native567"/>
          <p:cNvSpPr/>
          <p:nvPr/>
        </p:nvSpPr>
        <p:spPr>
          <a:xfrm>
            <a:off x="12868275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8" name="native568"/>
          <p:cNvSpPr/>
          <p:nvPr/>
        </p:nvSpPr>
        <p:spPr>
          <a:xfrm>
            <a:off x="13039725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9" name="native569"/>
          <p:cNvSpPr/>
          <p:nvPr/>
        </p:nvSpPr>
        <p:spPr>
          <a:xfrm>
            <a:off x="13211175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0" name="native570"/>
          <p:cNvSpPr/>
          <p:nvPr/>
        </p:nvSpPr>
        <p:spPr>
          <a:xfrm>
            <a:off x="13382625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1" name="native571"/>
          <p:cNvSpPr/>
          <p:nvPr/>
        </p:nvSpPr>
        <p:spPr>
          <a:xfrm>
            <a:off x="13554075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2" name="native572"/>
          <p:cNvSpPr/>
          <p:nvPr/>
        </p:nvSpPr>
        <p:spPr>
          <a:xfrm>
            <a:off x="13725525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3" name="native573"/>
          <p:cNvSpPr/>
          <p:nvPr/>
        </p:nvSpPr>
        <p:spPr>
          <a:xfrm>
            <a:off x="13896975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4" name="native574"/>
          <p:cNvSpPr/>
          <p:nvPr/>
        </p:nvSpPr>
        <p:spPr>
          <a:xfrm>
            <a:off x="14068425" y="3895725"/>
            <a:ext cx="133350" cy="95250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5" name="native575"/>
          <p:cNvSpPr/>
          <p:nvPr/>
        </p:nvSpPr>
        <p:spPr>
          <a:xfrm>
            <a:off x="11696700" y="4019550"/>
            <a:ext cx="2590800" cy="1352550"/>
          </a:xfrm>
          <a:custGeom>
            <a:avLst/>
            <a:gdLst/>
            <a:ahLst/>
            <a:cxnLst/>
            <a:rect l="0" t="0" r="r" b="b"/>
            <a:pathLst>
              <a:path w="2590800" h="1352550" fill="none">
                <a:moveTo>
                  <a:pt x="0" y="0"/>
                </a:moveTo>
                <a:lnTo>
                  <a:pt x="0" y="66675"/>
                </a:lnTo>
                <a:lnTo>
                  <a:pt x="2590800" y="66675"/>
                </a:lnTo>
                <a:lnTo>
                  <a:pt x="2590800" y="1352550"/>
                </a:lnTo>
                <a:lnTo>
                  <a:pt x="2333625" y="1352550"/>
                </a:lnTo>
              </a:path>
            </a:pathLst>
          </a:custGeom>
          <a:noFill/>
          <a:ln w="14288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6" name="native576"/>
          <p:cNvSpPr/>
          <p:nvPr/>
        </p:nvSpPr>
        <p:spPr>
          <a:xfrm>
            <a:off x="13401675" y="4019550"/>
            <a:ext cx="952" cy="66675"/>
          </a:xfrm>
          <a:custGeom>
            <a:avLst/>
            <a:gdLst/>
            <a:ahLst/>
            <a:cxnLst/>
            <a:rect l="0" t="0" r="r" b="b"/>
            <a:pathLst>
              <a:path w="952" h="66675" fill="none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4288">
            <a:solidFill>
              <a:srgbClr val="19324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7" name="native577"/>
          <p:cNvSpPr/>
          <p:nvPr/>
        </p:nvSpPr>
        <p:spPr>
          <a:xfrm>
            <a:off x="11125200" y="4248150"/>
            <a:ext cx="2943225" cy="295275"/>
          </a:xfrm>
          <a:prstGeom prst="roundRect">
            <a:avLst/>
          </a:prstGeom>
          <a:solidFill>
            <a:srgbClr val="F5F7F9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8" name="native578"/>
          <p:cNvSpPr/>
          <p:nvPr/>
        </p:nvSpPr>
        <p:spPr>
          <a:xfrm>
            <a:off x="10782300" y="4255008"/>
            <a:ext cx="361950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727E87"/>
                </a:solidFill>
                <a:latin typeface="Noto Sans CJK SC"/>
                <a:ea typeface="Noto Sans CJK SC"/>
              </a:rPr>
              <a:t>P = 前缀4 ∪ 近期窗口128</a:t>
            </a:r>
          </a:p>
        </p:txBody>
      </p:sp>
      <p:sp>
        <p:nvSpPr>
          <p:cNvPr id="579" name="native579"/>
          <p:cNvSpPr/>
          <p:nvPr/>
        </p:nvSpPr>
        <p:spPr>
          <a:xfrm>
            <a:off x="12592050" y="4562475"/>
            <a:ext cx="952" cy="142875"/>
          </a:xfrm>
          <a:custGeom>
            <a:avLst/>
            <a:gdLst/>
            <a:ahLst/>
            <a:cxnLst/>
            <a:rect l="0" t="0" r="r" b="b"/>
            <a:pathLst>
              <a:path w="952" h="142875" fill="none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5240">
            <a:solidFill>
              <a:srgbClr val="727E8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0" name="native580"/>
          <p:cNvSpPr/>
          <p:nvPr/>
        </p:nvSpPr>
        <p:spPr>
          <a:xfrm>
            <a:off x="10944225" y="4752975"/>
            <a:ext cx="3257550" cy="438150"/>
          </a:xfrm>
          <a:prstGeom prst="roundRect">
            <a:avLst/>
          </a:prstGeom>
          <a:solidFill>
            <a:srgbClr val="F5F7F9"/>
          </a:solidFill>
          <a:ln w="9525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1" name="native581"/>
          <p:cNvSpPr/>
          <p:nvPr/>
        </p:nvSpPr>
        <p:spPr>
          <a:xfrm>
            <a:off x="10772775" y="4738497"/>
            <a:ext cx="360045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75" b="1">
                <a:solidFill>
                  <a:srgbClr val="193247"/>
                </a:solidFill>
                <a:latin typeface="Noto Sans CJK SC"/>
                <a:ea typeface="Noto Sans CJK SC"/>
              </a:rPr>
              <a:t>Sₕ = I_F ∪ I_N ∪ P</a:t>
            </a:r>
            <a:endParaRPr lang="zh-CN" sz="1575"/>
          </a:p>
        </p:txBody>
      </p:sp>
      <p:sp>
        <p:nvSpPr>
          <p:cNvPr id="582" name="native582"/>
          <p:cNvSpPr/>
          <p:nvPr/>
        </p:nvSpPr>
        <p:spPr>
          <a:xfrm>
            <a:off x="10515600" y="4982337"/>
            <a:ext cx="411480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名义1024 = 252 + 640 + 132</a:t>
            </a:r>
          </a:p>
        </p:txBody>
      </p:sp>
      <p:sp>
        <p:nvSpPr>
          <p:cNvPr id="583" name="native583"/>
          <p:cNvSpPr/>
          <p:nvPr/>
        </p:nvSpPr>
        <p:spPr>
          <a:xfrm>
            <a:off x="10487025" y="4962525"/>
            <a:ext cx="419100" cy="1704975"/>
          </a:xfrm>
          <a:custGeom>
            <a:avLst/>
            <a:gdLst/>
            <a:ahLst/>
            <a:cxnLst/>
            <a:rect l="0" t="0" r="r" b="b"/>
            <a:pathLst>
              <a:path w="419100" h="1704975" fill="none">
                <a:moveTo>
                  <a:pt x="0" y="1704975"/>
                </a:moveTo>
                <a:lnTo>
                  <a:pt x="142875" y="1704975"/>
                </a:lnTo>
                <a:lnTo>
                  <a:pt x="142875" y="0"/>
                </a:lnTo>
                <a:lnTo>
                  <a:pt x="419100" y="0"/>
                </a:lnTo>
              </a:path>
            </a:pathLst>
          </a:custGeom>
          <a:noFill/>
          <a:ln w="16192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4" name="native584"/>
          <p:cNvSpPr/>
          <p:nvPr/>
        </p:nvSpPr>
        <p:spPr>
          <a:xfrm>
            <a:off x="12573000" y="5200650"/>
            <a:ext cx="952" cy="85725"/>
          </a:xfrm>
          <a:custGeom>
            <a:avLst/>
            <a:gdLst/>
            <a:ahLst/>
            <a:cxnLst/>
            <a:rect l="0" t="0" r="r" b="b"/>
            <a:pathLst>
              <a:path w="952" h="85725" fill="none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/>
          <a:ln w="13335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5" name="native585"/>
          <p:cNvSpPr/>
          <p:nvPr/>
        </p:nvSpPr>
        <p:spPr>
          <a:xfrm>
            <a:off x="10763250" y="5283708"/>
            <a:ext cx="361950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按 Sₕ 读取原始 K / V</a:t>
            </a:r>
          </a:p>
        </p:txBody>
      </p:sp>
      <p:sp>
        <p:nvSpPr>
          <p:cNvPr id="586" name="native586"/>
          <p:cNvSpPr/>
          <p:nvPr/>
        </p:nvSpPr>
        <p:spPr>
          <a:xfrm>
            <a:off x="12573000" y="5581650"/>
            <a:ext cx="952" cy="114300"/>
          </a:xfrm>
          <a:custGeom>
            <a:avLst/>
            <a:gdLst/>
            <a:ahLst/>
            <a:cxnLst/>
            <a:rect l="0" t="0" r="r" b="b"/>
            <a:pathLst>
              <a:path w="952" h="114300" fill="none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4288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7" name="native587"/>
          <p:cNvSpPr/>
          <p:nvPr/>
        </p:nvSpPr>
        <p:spPr>
          <a:xfrm>
            <a:off x="10991850" y="5780151"/>
            <a:ext cx="8572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q1</a:t>
            </a:r>
            <a:endParaRPr lang="zh-CN" sz="1350"/>
          </a:p>
        </p:txBody>
      </p:sp>
      <p:sp>
        <p:nvSpPr>
          <p:cNvPr id="588" name="native588"/>
          <p:cNvSpPr/>
          <p:nvPr/>
        </p:nvSpPr>
        <p:spPr>
          <a:xfrm>
            <a:off x="11287125" y="5848350"/>
            <a:ext cx="21907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9" name="native589"/>
          <p:cNvSpPr/>
          <p:nvPr/>
        </p:nvSpPr>
        <p:spPr>
          <a:xfrm>
            <a:off x="11572875" y="5895975"/>
            <a:ext cx="238125" cy="952"/>
          </a:xfrm>
          <a:custGeom>
            <a:avLst/>
            <a:gdLst/>
            <a:ahLst/>
            <a:cxnLst/>
            <a:rect l="0" t="0" r="r" b="b"/>
            <a:pathLst>
              <a:path w="238125" h="952" fill="none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3335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0" name="native590"/>
          <p:cNvSpPr/>
          <p:nvPr/>
        </p:nvSpPr>
        <p:spPr>
          <a:xfrm>
            <a:off x="11858625" y="5791200"/>
            <a:ext cx="1657350" cy="238125"/>
          </a:xfrm>
          <a:prstGeom prst="roundRect">
            <a:avLst/>
          </a:prstGeom>
          <a:solidFill>
            <a:srgbClr val="F5F7F9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1" name="native591"/>
          <p:cNvSpPr/>
          <p:nvPr/>
        </p:nvSpPr>
        <p:spPr>
          <a:xfrm>
            <a:off x="11472862" y="5781294"/>
            <a:ext cx="2428875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128 维 注意力</a:t>
            </a:r>
          </a:p>
        </p:txBody>
      </p:sp>
      <p:sp>
        <p:nvSpPr>
          <p:cNvPr id="592" name="native592"/>
          <p:cNvSpPr/>
          <p:nvPr/>
        </p:nvSpPr>
        <p:spPr>
          <a:xfrm>
            <a:off x="13544550" y="5895975"/>
            <a:ext cx="266700" cy="952"/>
          </a:xfrm>
          <a:custGeom>
            <a:avLst/>
            <a:gdLst/>
            <a:ahLst/>
            <a:cxnLst/>
            <a:rect l="0" t="0" r="r" b="b"/>
            <a:pathLst>
              <a:path w="266700" h="952" fill="none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3335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3" name="native593"/>
          <p:cNvSpPr/>
          <p:nvPr/>
        </p:nvSpPr>
        <p:spPr>
          <a:xfrm>
            <a:off x="13906500" y="5770626"/>
            <a:ext cx="8572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o1</a:t>
            </a:r>
            <a:endParaRPr lang="zh-CN" sz="1350"/>
          </a:p>
        </p:txBody>
      </p:sp>
      <p:sp>
        <p:nvSpPr>
          <p:cNvPr id="594" name="native594"/>
          <p:cNvSpPr/>
          <p:nvPr/>
        </p:nvSpPr>
        <p:spPr>
          <a:xfrm>
            <a:off x="10991850" y="6075426"/>
            <a:ext cx="8572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q2</a:t>
            </a:r>
            <a:endParaRPr lang="zh-CN" sz="1350"/>
          </a:p>
        </p:txBody>
      </p:sp>
      <p:sp>
        <p:nvSpPr>
          <p:cNvPr id="595" name="native595"/>
          <p:cNvSpPr/>
          <p:nvPr/>
        </p:nvSpPr>
        <p:spPr>
          <a:xfrm>
            <a:off x="11287125" y="6143625"/>
            <a:ext cx="21907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6" name="native596"/>
          <p:cNvSpPr/>
          <p:nvPr/>
        </p:nvSpPr>
        <p:spPr>
          <a:xfrm>
            <a:off x="11572875" y="6191250"/>
            <a:ext cx="238125" cy="952"/>
          </a:xfrm>
          <a:custGeom>
            <a:avLst/>
            <a:gdLst/>
            <a:ahLst/>
            <a:cxnLst/>
            <a:rect l="0" t="0" r="r" b="b"/>
            <a:pathLst>
              <a:path w="238125" h="952" fill="none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3335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7" name="native597"/>
          <p:cNvSpPr/>
          <p:nvPr/>
        </p:nvSpPr>
        <p:spPr>
          <a:xfrm>
            <a:off x="11858625" y="6086475"/>
            <a:ext cx="1657350" cy="238125"/>
          </a:xfrm>
          <a:prstGeom prst="roundRect">
            <a:avLst/>
          </a:prstGeom>
          <a:solidFill>
            <a:srgbClr val="F5F7F9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8" name="native598"/>
          <p:cNvSpPr/>
          <p:nvPr/>
        </p:nvSpPr>
        <p:spPr>
          <a:xfrm>
            <a:off x="11472862" y="6076569"/>
            <a:ext cx="2428875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128 维 注意力</a:t>
            </a:r>
          </a:p>
        </p:txBody>
      </p:sp>
      <p:sp>
        <p:nvSpPr>
          <p:cNvPr id="599" name="native599"/>
          <p:cNvSpPr/>
          <p:nvPr/>
        </p:nvSpPr>
        <p:spPr>
          <a:xfrm>
            <a:off x="13544550" y="6191250"/>
            <a:ext cx="266700" cy="952"/>
          </a:xfrm>
          <a:custGeom>
            <a:avLst/>
            <a:gdLst/>
            <a:ahLst/>
            <a:cxnLst/>
            <a:rect l="0" t="0" r="r" b="b"/>
            <a:pathLst>
              <a:path w="266700" h="952" fill="none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3335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0" name="native600"/>
          <p:cNvSpPr/>
          <p:nvPr/>
        </p:nvSpPr>
        <p:spPr>
          <a:xfrm>
            <a:off x="13906500" y="6065901"/>
            <a:ext cx="8572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o2</a:t>
            </a:r>
            <a:endParaRPr lang="zh-CN" sz="1350"/>
          </a:p>
        </p:txBody>
      </p:sp>
      <p:sp>
        <p:nvSpPr>
          <p:cNvPr id="601" name="native601"/>
          <p:cNvSpPr/>
          <p:nvPr/>
        </p:nvSpPr>
        <p:spPr>
          <a:xfrm>
            <a:off x="10991850" y="6370701"/>
            <a:ext cx="8572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q3</a:t>
            </a:r>
            <a:endParaRPr lang="zh-CN" sz="1350"/>
          </a:p>
        </p:txBody>
      </p:sp>
      <p:sp>
        <p:nvSpPr>
          <p:cNvPr id="602" name="native602"/>
          <p:cNvSpPr/>
          <p:nvPr/>
        </p:nvSpPr>
        <p:spPr>
          <a:xfrm>
            <a:off x="11287125" y="6438900"/>
            <a:ext cx="21907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3" name="native603"/>
          <p:cNvSpPr/>
          <p:nvPr/>
        </p:nvSpPr>
        <p:spPr>
          <a:xfrm>
            <a:off x="11572875" y="6486525"/>
            <a:ext cx="238125" cy="952"/>
          </a:xfrm>
          <a:custGeom>
            <a:avLst/>
            <a:gdLst/>
            <a:ahLst/>
            <a:cxnLst/>
            <a:rect l="0" t="0" r="r" b="b"/>
            <a:pathLst>
              <a:path w="238125" h="952" fill="none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3335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" name="native604"/>
          <p:cNvSpPr/>
          <p:nvPr/>
        </p:nvSpPr>
        <p:spPr>
          <a:xfrm>
            <a:off x="11858625" y="6381750"/>
            <a:ext cx="1657350" cy="238125"/>
          </a:xfrm>
          <a:prstGeom prst="roundRect">
            <a:avLst/>
          </a:prstGeom>
          <a:solidFill>
            <a:srgbClr val="F5F7F9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5" name="native605"/>
          <p:cNvSpPr/>
          <p:nvPr/>
        </p:nvSpPr>
        <p:spPr>
          <a:xfrm>
            <a:off x="11472862" y="6371844"/>
            <a:ext cx="2428875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128 维 注意力</a:t>
            </a:r>
          </a:p>
        </p:txBody>
      </p:sp>
      <p:sp>
        <p:nvSpPr>
          <p:cNvPr id="606" name="native606"/>
          <p:cNvSpPr/>
          <p:nvPr/>
        </p:nvSpPr>
        <p:spPr>
          <a:xfrm>
            <a:off x="13544550" y="6486525"/>
            <a:ext cx="266700" cy="952"/>
          </a:xfrm>
          <a:custGeom>
            <a:avLst/>
            <a:gdLst/>
            <a:ahLst/>
            <a:cxnLst/>
            <a:rect l="0" t="0" r="r" b="b"/>
            <a:pathLst>
              <a:path w="266700" h="952" fill="none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3335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7" name="native607"/>
          <p:cNvSpPr/>
          <p:nvPr/>
        </p:nvSpPr>
        <p:spPr>
          <a:xfrm>
            <a:off x="13906500" y="6361176"/>
            <a:ext cx="8572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o3</a:t>
            </a:r>
            <a:endParaRPr lang="zh-CN" sz="1350"/>
          </a:p>
        </p:txBody>
      </p:sp>
      <p:sp>
        <p:nvSpPr>
          <p:cNvPr id="608" name="native608"/>
          <p:cNvSpPr/>
          <p:nvPr/>
        </p:nvSpPr>
        <p:spPr>
          <a:xfrm>
            <a:off x="10991850" y="6665976"/>
            <a:ext cx="8572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q4</a:t>
            </a:r>
            <a:endParaRPr lang="zh-CN" sz="1350"/>
          </a:p>
        </p:txBody>
      </p:sp>
      <p:sp>
        <p:nvSpPr>
          <p:cNvPr id="609" name="native609"/>
          <p:cNvSpPr/>
          <p:nvPr/>
        </p:nvSpPr>
        <p:spPr>
          <a:xfrm>
            <a:off x="11287125" y="6734175"/>
            <a:ext cx="219075" cy="95250"/>
          </a:xfrm>
          <a:prstGeom prst="rect">
            <a:avLst/>
          </a:prstGeom>
          <a:solidFill>
            <a:srgbClr val="19324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0" name="native610"/>
          <p:cNvSpPr/>
          <p:nvPr/>
        </p:nvSpPr>
        <p:spPr>
          <a:xfrm>
            <a:off x="11572875" y="6781800"/>
            <a:ext cx="238125" cy="952"/>
          </a:xfrm>
          <a:custGeom>
            <a:avLst/>
            <a:gdLst/>
            <a:ahLst/>
            <a:cxnLst/>
            <a:rect l="0" t="0" r="r" b="b"/>
            <a:pathLst>
              <a:path w="238125" h="952" fill="none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3335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1" name="native611"/>
          <p:cNvSpPr/>
          <p:nvPr/>
        </p:nvSpPr>
        <p:spPr>
          <a:xfrm>
            <a:off x="11858625" y="6677025"/>
            <a:ext cx="1657350" cy="238125"/>
          </a:xfrm>
          <a:prstGeom prst="roundRect">
            <a:avLst/>
          </a:prstGeom>
          <a:solidFill>
            <a:srgbClr val="F5F7F9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2" name="native612"/>
          <p:cNvSpPr/>
          <p:nvPr/>
        </p:nvSpPr>
        <p:spPr>
          <a:xfrm>
            <a:off x="11472862" y="6667119"/>
            <a:ext cx="2428875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128 维 注意力</a:t>
            </a:r>
          </a:p>
        </p:txBody>
      </p:sp>
      <p:sp>
        <p:nvSpPr>
          <p:cNvPr id="613" name="native613"/>
          <p:cNvSpPr/>
          <p:nvPr/>
        </p:nvSpPr>
        <p:spPr>
          <a:xfrm>
            <a:off x="13544550" y="6781800"/>
            <a:ext cx="266700" cy="952"/>
          </a:xfrm>
          <a:custGeom>
            <a:avLst/>
            <a:gdLst/>
            <a:ahLst/>
            <a:cxnLst/>
            <a:rect l="0" t="0" r="r" b="b"/>
            <a:pathLst>
              <a:path w="266700" h="952" fill="none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3335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" name="native614"/>
          <p:cNvSpPr/>
          <p:nvPr/>
        </p:nvSpPr>
        <p:spPr>
          <a:xfrm>
            <a:off x="13906500" y="6656451"/>
            <a:ext cx="8572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o4</a:t>
            </a:r>
            <a:endParaRPr lang="zh-CN" sz="1350"/>
          </a:p>
        </p:txBody>
      </p:sp>
      <p:sp>
        <p:nvSpPr>
          <p:cNvPr id="615" name="native615"/>
          <p:cNvSpPr/>
          <p:nvPr/>
        </p:nvSpPr>
        <p:spPr>
          <a:xfrm>
            <a:off x="895350" y="7086600"/>
            <a:ext cx="13439775" cy="952"/>
          </a:xfrm>
          <a:custGeom>
            <a:avLst/>
            <a:gdLst/>
            <a:ahLst/>
            <a:cxnLst/>
            <a:rect l="0" t="0" r="r" b="b"/>
            <a:pathLst>
              <a:path w="13439775" h="952" fill="none">
                <a:moveTo>
                  <a:pt x="0" y="0"/>
                </a:moveTo>
                <a:lnTo>
                  <a:pt x="13439775" y="0"/>
                </a:lnTo>
              </a:path>
            </a:pathLst>
          </a:custGeom>
          <a:noFill/>
          <a:ln w="9525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6" name="native616"/>
          <p:cNvSpPr/>
          <p:nvPr/>
        </p:nvSpPr>
        <p:spPr>
          <a:xfrm>
            <a:off x="895350" y="7172325"/>
            <a:ext cx="2686050" cy="257175"/>
          </a:xfrm>
          <a:prstGeom prst="roundRect">
            <a:avLst/>
          </a:prstGeom>
          <a:solidFill>
            <a:srgbClr val="F1EDF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7" name="native617"/>
          <p:cNvSpPr/>
          <p:nvPr/>
        </p:nvSpPr>
        <p:spPr>
          <a:xfrm>
            <a:off x="609600" y="7170801"/>
            <a:ext cx="32575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78628F"/>
                </a:solidFill>
                <a:latin typeface="Noto Sans CJK SC"/>
                <a:ea typeface="Noto Sans CJK SC"/>
              </a:rPr>
              <a:t>L1 / L2 复用同一 RoPE32</a:t>
            </a:r>
            <a:endParaRPr lang="zh-CN" sz="1350"/>
          </a:p>
        </p:txBody>
      </p:sp>
      <p:sp>
        <p:nvSpPr>
          <p:cNvPr id="618" name="native618"/>
          <p:cNvSpPr/>
          <p:nvPr/>
        </p:nvSpPr>
        <p:spPr>
          <a:xfrm>
            <a:off x="3867150" y="7161276"/>
            <a:ext cx="56578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K₁=128；β=.125 → 近区16 / 远区112 页</a:t>
            </a:r>
          </a:p>
        </p:txBody>
      </p:sp>
      <p:sp>
        <p:nvSpPr>
          <p:cNvPr id="619" name="native619"/>
          <p:cNvSpPr/>
          <p:nvPr/>
        </p:nvSpPr>
        <p:spPr>
          <a:xfrm>
            <a:off x="10944225" y="7123176"/>
            <a:ext cx="24003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4Q共享词元索引，各自计算</a:t>
            </a:r>
          </a:p>
        </p:txBody>
      </p:sp>
      <p:sp>
        <p:nvSpPr>
          <p:cNvPr id="620" name="native620"/>
          <p:cNvSpPr/>
          <p:nvPr/>
        </p:nvSpPr>
        <p:spPr>
          <a:xfrm>
            <a:off x="10944225" y="7361301"/>
            <a:ext cx="25717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最终 注意力 权重</a:t>
            </a:r>
          </a:p>
        </p:txBody>
      </p:sp>
      <p:sp>
        <p:nvSpPr>
          <p:cNvPr id="624" name="native624"/>
          <p:cNvSpPr/>
          <p:nvPr/>
        </p:nvSpPr>
        <p:spPr>
          <a:xfrm>
            <a:off x="13906500" y="8067675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36574"/>
                </a:solidFill>
                <a:latin typeface="Noto Sans CJK SC"/>
                <a:ea typeface="Noto Sans CJK S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8732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2"/>
          <p:cNvSpPr/>
          <p:nvPr/>
        </p:nvSpPr>
        <p:spPr>
          <a:xfrm>
            <a:off x="762000" y="266700"/>
            <a:ext cx="13335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25" b="1" baseline="0">
                <a:solidFill>
                  <a:srgbClr val="32689F"/>
                </a:solidFill>
                <a:latin typeface="Noto Sans CJK SC"/>
                <a:ea typeface="Noto Sans CJK SC"/>
              </a:rPr>
              <a:t>Method · Architecture</a:t>
            </a:r>
            <a:endParaRPr lang="zh-CN" sz="1425"/>
          </a:p>
        </p:txBody>
      </p:sp>
      <p:sp>
        <p:nvSpPr>
          <p:cNvPr id="3" name="native3"/>
          <p:cNvSpPr/>
          <p:nvPr/>
        </p:nvSpPr>
        <p:spPr>
          <a:xfrm>
            <a:off x="762000" y="742950"/>
            <a:ext cx="13716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000" b="1">
                <a:solidFill>
                  <a:srgbClr val="193247"/>
                </a:solidFill>
                <a:latin typeface="Noto Sans CJK SC"/>
                <a:ea typeface="Noto Sans CJK SC"/>
              </a:rPr>
              <a:t>远区门控：从预填充观测到解码逐层复用</a:t>
            </a:r>
          </a:p>
        </p:txBody>
      </p:sp>
      <p:sp>
        <p:nvSpPr>
          <p:cNvPr id="4" name="native4"/>
          <p:cNvSpPr/>
          <p:nvPr/>
        </p:nvSpPr>
        <p:spPr>
          <a:xfrm>
            <a:off x="762000" y="1371600"/>
            <a:ext cx="13716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650" b="0">
                <a:solidFill>
                  <a:srgbClr val="536574"/>
                </a:solidFill>
                <a:latin typeface="Noto Sans CJK SC"/>
                <a:ea typeface="Noto Sans CJK SC"/>
              </a:rPr>
              <a:t>门控默认不启用；固定区域配额、有效历史长度路径；质量与成本尚未验证</a:t>
            </a:r>
          </a:p>
        </p:txBody>
      </p:sp>
      <p:sp>
        <p:nvSpPr>
          <p:cNvPr id="21" name="native21"/>
          <p:cNvSpPr/>
          <p:nvPr/>
        </p:nvSpPr>
        <p:spPr>
          <a:xfrm>
            <a:off x="762000" y="1905000"/>
            <a:ext cx="13716000" cy="59055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native22"/>
          <p:cNvSpPr/>
          <p:nvPr/>
        </p:nvSpPr>
        <p:spPr>
          <a:xfrm>
            <a:off x="952500" y="1943100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75" b="1">
                <a:solidFill>
                  <a:srgbClr val="193247"/>
                </a:solidFill>
                <a:latin typeface="Noto Sans CJK SC"/>
                <a:ea typeface="Noto Sans CJK SC"/>
              </a:rPr>
              <a:t>a  预填充：逐层标定</a:t>
            </a:r>
          </a:p>
        </p:txBody>
      </p:sp>
      <p:sp>
        <p:nvSpPr>
          <p:cNvPr id="23" name="native23"/>
          <p:cNvSpPr/>
          <p:nvPr/>
        </p:nvSpPr>
        <p:spPr>
          <a:xfrm>
            <a:off x="5200650" y="1943100"/>
            <a:ext cx="16668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75" b="1">
                <a:solidFill>
                  <a:srgbClr val="193247"/>
                </a:solidFill>
                <a:latin typeface="Noto Sans CJK SC"/>
                <a:ea typeface="Noto Sans CJK SC"/>
              </a:rPr>
              <a:t>b  冻结状态</a:t>
            </a:r>
            <a:endParaRPr lang="zh-CN" sz="1875"/>
          </a:p>
        </p:txBody>
      </p:sp>
      <p:sp>
        <p:nvSpPr>
          <p:cNvPr id="24" name="native24"/>
          <p:cNvSpPr/>
          <p:nvPr/>
        </p:nvSpPr>
        <p:spPr>
          <a:xfrm>
            <a:off x="7086600" y="194310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75" b="1">
                <a:solidFill>
                  <a:srgbClr val="193247"/>
                </a:solidFill>
                <a:latin typeface="Noto Sans CJK SC"/>
                <a:ea typeface="Noto Sans CJK SC"/>
              </a:rPr>
              <a:t>c  每步 解码：同一个 gℓ 控制三处</a:t>
            </a:r>
          </a:p>
        </p:txBody>
      </p:sp>
      <p:sp>
        <p:nvSpPr>
          <p:cNvPr id="25" name="native25"/>
          <p:cNvSpPr/>
          <p:nvPr/>
        </p:nvSpPr>
        <p:spPr>
          <a:xfrm>
            <a:off x="952500" y="2362200"/>
            <a:ext cx="13335000" cy="952"/>
          </a:xfrm>
          <a:custGeom>
            <a:avLst/>
            <a:gdLst/>
            <a:ahLst/>
            <a:cxnLst/>
            <a:rect l="0" t="0" r="r" b="b"/>
            <a:pathLst>
              <a:path w="13335000" h="952" fill="none">
                <a:moveTo>
                  <a:pt x="0" y="0"/>
                </a:moveTo>
                <a:lnTo>
                  <a:pt x="13335000" y="0"/>
                </a:lnTo>
              </a:path>
            </a:pathLst>
          </a:custGeom>
          <a:noFill/>
          <a:ln w="9525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native26"/>
          <p:cNvSpPr/>
          <p:nvPr/>
        </p:nvSpPr>
        <p:spPr>
          <a:xfrm>
            <a:off x="5000625" y="2505075"/>
            <a:ext cx="952" cy="4152900"/>
          </a:xfrm>
          <a:custGeom>
            <a:avLst/>
            <a:gdLst/>
            <a:ahLst/>
            <a:cxnLst/>
            <a:rect l="0" t="0" r="r" b="b"/>
            <a:pathLst>
              <a:path w="952" h="4152900" fill="none">
                <a:moveTo>
                  <a:pt x="0" y="0"/>
                </a:moveTo>
                <a:lnTo>
                  <a:pt x="0" y="4152900"/>
                </a:lnTo>
              </a:path>
            </a:pathLst>
          </a:custGeom>
          <a:noFill/>
          <a:ln w="8572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native27"/>
          <p:cNvSpPr/>
          <p:nvPr/>
        </p:nvSpPr>
        <p:spPr>
          <a:xfrm>
            <a:off x="6924675" y="2505075"/>
            <a:ext cx="952" cy="4152900"/>
          </a:xfrm>
          <a:custGeom>
            <a:avLst/>
            <a:gdLst/>
            <a:ahLst/>
            <a:cxnLst/>
            <a:rect l="0" t="0" r="r" b="b"/>
            <a:pathLst>
              <a:path w="952" h="4152900" fill="none">
                <a:moveTo>
                  <a:pt x="0" y="0"/>
                </a:moveTo>
                <a:lnTo>
                  <a:pt x="0" y="4152900"/>
                </a:lnTo>
              </a:path>
            </a:pathLst>
          </a:custGeom>
          <a:noFill/>
          <a:ln w="8572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native28"/>
          <p:cNvSpPr/>
          <p:nvPr/>
        </p:nvSpPr>
        <p:spPr>
          <a:xfrm>
            <a:off x="952500" y="2543175"/>
            <a:ext cx="990600" cy="371475"/>
          </a:xfrm>
          <a:prstGeom prst="roundRect">
            <a:avLst/>
          </a:prstGeom>
          <a:solidFill>
            <a:srgbClr val="F7F9FA"/>
          </a:solidFill>
          <a:ln w="9525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native29"/>
          <p:cNvSpPr/>
          <p:nvPr/>
        </p:nvSpPr>
        <p:spPr>
          <a:xfrm>
            <a:off x="1019175" y="2586990"/>
            <a:ext cx="857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新输入</a:t>
            </a:r>
            <a:endParaRPr lang="zh-CN" sz="1500"/>
          </a:p>
        </p:txBody>
      </p:sp>
      <p:sp>
        <p:nvSpPr>
          <p:cNvPr id="30" name="native30"/>
          <p:cNvSpPr/>
          <p:nvPr/>
        </p:nvSpPr>
        <p:spPr>
          <a:xfrm>
            <a:off x="1943100" y="2733675"/>
            <a:ext cx="200025" cy="952"/>
          </a:xfrm>
          <a:custGeom>
            <a:avLst/>
            <a:gdLst/>
            <a:ahLst/>
            <a:cxnLst/>
            <a:rect l="0" t="0" r="r" b="b"/>
            <a:pathLst>
              <a:path w="200025" h="952" fill="none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17145">
            <a:solidFill>
              <a:srgbClr val="A66328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native31"/>
          <p:cNvSpPr/>
          <p:nvPr/>
        </p:nvSpPr>
        <p:spPr>
          <a:xfrm>
            <a:off x="2247900" y="2492883"/>
            <a:ext cx="144780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新输入重置本层状态</a:t>
            </a:r>
          </a:p>
        </p:txBody>
      </p:sp>
      <p:sp>
        <p:nvSpPr>
          <p:cNvPr id="32" name="native32"/>
          <p:cNvSpPr/>
          <p:nvPr/>
        </p:nvSpPr>
        <p:spPr>
          <a:xfrm>
            <a:off x="2247900" y="2763012"/>
            <a:ext cx="441960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逐输入、逐层保存决策</a:t>
            </a:r>
          </a:p>
        </p:txBody>
      </p:sp>
      <p:sp>
        <p:nvSpPr>
          <p:cNvPr id="33" name="native33"/>
          <p:cNvSpPr/>
          <p:nvPr/>
        </p:nvSpPr>
        <p:spPr>
          <a:xfrm>
            <a:off x="952500" y="3062097"/>
            <a:ext cx="360045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75" b="1">
                <a:solidFill>
                  <a:srgbClr val="193247"/>
                </a:solidFill>
                <a:latin typeface="Noto Sans CJK SC"/>
                <a:ea typeface="Noto Sans CJK SC"/>
              </a:rPr>
              <a:t>每层 预填充 的 Q / K</a:t>
            </a:r>
          </a:p>
        </p:txBody>
      </p:sp>
      <p:sp>
        <p:nvSpPr>
          <p:cNvPr id="34" name="native34"/>
          <p:cNvSpPr/>
          <p:nvPr/>
        </p:nvSpPr>
        <p:spPr>
          <a:xfrm>
            <a:off x="952500" y="3359658"/>
            <a:ext cx="5610225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尾部R=min(256,S)行Q（默认设置）</a:t>
            </a:r>
          </a:p>
        </p:txBody>
      </p:sp>
      <p:sp>
        <p:nvSpPr>
          <p:cNvPr id="35" name="native35"/>
          <p:cNvSpPr/>
          <p:nvPr/>
        </p:nvSpPr>
        <p:spPr>
          <a:xfrm>
            <a:off x="952500" y="3597783"/>
            <a:ext cx="3800475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全维 D=128；每个 查询头 独立</a:t>
            </a:r>
          </a:p>
        </p:txBody>
      </p:sp>
      <p:sp>
        <p:nvSpPr>
          <p:cNvPr id="36" name="native36"/>
          <p:cNvSpPr/>
          <p:nvPr/>
        </p:nvSpPr>
        <p:spPr>
          <a:xfrm>
            <a:off x="1000125" y="3844290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78628F"/>
                </a:solidFill>
                <a:latin typeface="Noto Sans CJK SC"/>
                <a:ea typeface="Noto Sans CJK SC"/>
              </a:rPr>
              <a:t>QKᵀ / √D</a:t>
            </a:r>
            <a:endParaRPr lang="zh-CN" sz="1500"/>
          </a:p>
        </p:txBody>
      </p:sp>
      <p:sp>
        <p:nvSpPr>
          <p:cNvPr id="37" name="native37"/>
          <p:cNvSpPr/>
          <p:nvPr/>
        </p:nvSpPr>
        <p:spPr>
          <a:xfrm>
            <a:off x="1962150" y="3876294"/>
            <a:ext cx="1133475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全 S 个 K</a:t>
            </a:r>
            <a:endParaRPr lang="zh-CN" sz="1275"/>
          </a:p>
        </p:txBody>
      </p:sp>
      <p:sp>
        <p:nvSpPr>
          <p:cNvPr id="38" name="native38"/>
          <p:cNvSpPr/>
          <p:nvPr/>
        </p:nvSpPr>
        <p:spPr>
          <a:xfrm>
            <a:off x="1019175" y="4219575"/>
            <a:ext cx="171450" cy="142875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native39"/>
          <p:cNvSpPr/>
          <p:nvPr/>
        </p:nvSpPr>
        <p:spPr>
          <a:xfrm>
            <a:off x="1228725" y="42195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native40"/>
          <p:cNvSpPr/>
          <p:nvPr/>
        </p:nvSpPr>
        <p:spPr>
          <a:xfrm>
            <a:off x="1438275" y="42195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native41"/>
          <p:cNvSpPr/>
          <p:nvPr/>
        </p:nvSpPr>
        <p:spPr>
          <a:xfrm>
            <a:off x="1647825" y="42195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native42"/>
          <p:cNvSpPr/>
          <p:nvPr/>
        </p:nvSpPr>
        <p:spPr>
          <a:xfrm>
            <a:off x="1857375" y="42195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native43"/>
          <p:cNvSpPr/>
          <p:nvPr/>
        </p:nvSpPr>
        <p:spPr>
          <a:xfrm>
            <a:off x="2066925" y="42195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native44"/>
          <p:cNvSpPr/>
          <p:nvPr/>
        </p:nvSpPr>
        <p:spPr>
          <a:xfrm>
            <a:off x="2276475" y="4219575"/>
            <a:ext cx="171450" cy="14287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native45"/>
          <p:cNvSpPr/>
          <p:nvPr/>
        </p:nvSpPr>
        <p:spPr>
          <a:xfrm>
            <a:off x="2305050" y="4248150"/>
            <a:ext cx="114300" cy="85725"/>
          </a:xfrm>
          <a:custGeom>
            <a:avLst/>
            <a:gdLst/>
            <a:ahLst/>
            <a:cxnLst/>
            <a:rect l="0" t="0" r="r" b="b"/>
            <a:pathLst>
              <a:path w="114300" h="85725" fill="none">
                <a:moveTo>
                  <a:pt x="0" y="85725"/>
                </a:moveTo>
                <a:lnTo>
                  <a:pt x="114300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native46"/>
          <p:cNvSpPr/>
          <p:nvPr/>
        </p:nvSpPr>
        <p:spPr>
          <a:xfrm>
            <a:off x="2486025" y="4219575"/>
            <a:ext cx="171450" cy="14287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native47"/>
          <p:cNvSpPr/>
          <p:nvPr/>
        </p:nvSpPr>
        <p:spPr>
          <a:xfrm>
            <a:off x="2514600" y="4248150"/>
            <a:ext cx="114300" cy="85725"/>
          </a:xfrm>
          <a:custGeom>
            <a:avLst/>
            <a:gdLst/>
            <a:ahLst/>
            <a:cxnLst/>
            <a:rect l="0" t="0" r="r" b="b"/>
            <a:pathLst>
              <a:path w="114300" h="85725" fill="none">
                <a:moveTo>
                  <a:pt x="0" y="85725"/>
                </a:moveTo>
                <a:lnTo>
                  <a:pt x="114300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native48"/>
          <p:cNvSpPr/>
          <p:nvPr/>
        </p:nvSpPr>
        <p:spPr>
          <a:xfrm>
            <a:off x="2695575" y="4219575"/>
            <a:ext cx="171450" cy="14287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native49"/>
          <p:cNvSpPr/>
          <p:nvPr/>
        </p:nvSpPr>
        <p:spPr>
          <a:xfrm>
            <a:off x="2724150" y="4248150"/>
            <a:ext cx="114300" cy="85725"/>
          </a:xfrm>
          <a:custGeom>
            <a:avLst/>
            <a:gdLst/>
            <a:ahLst/>
            <a:cxnLst/>
            <a:rect l="0" t="0" r="r" b="b"/>
            <a:pathLst>
              <a:path w="114300" h="85725" fill="none">
                <a:moveTo>
                  <a:pt x="0" y="85725"/>
                </a:moveTo>
                <a:lnTo>
                  <a:pt x="114300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native50"/>
          <p:cNvSpPr/>
          <p:nvPr/>
        </p:nvSpPr>
        <p:spPr>
          <a:xfrm>
            <a:off x="2905125" y="4219575"/>
            <a:ext cx="171450" cy="14287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native51"/>
          <p:cNvSpPr/>
          <p:nvPr/>
        </p:nvSpPr>
        <p:spPr>
          <a:xfrm>
            <a:off x="2933700" y="4248150"/>
            <a:ext cx="114300" cy="85725"/>
          </a:xfrm>
          <a:custGeom>
            <a:avLst/>
            <a:gdLst/>
            <a:ahLst/>
            <a:cxnLst/>
            <a:rect l="0" t="0" r="r" b="b"/>
            <a:pathLst>
              <a:path w="114300" h="85725" fill="none">
                <a:moveTo>
                  <a:pt x="0" y="85725"/>
                </a:moveTo>
                <a:lnTo>
                  <a:pt x="114300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native52"/>
          <p:cNvSpPr/>
          <p:nvPr/>
        </p:nvSpPr>
        <p:spPr>
          <a:xfrm>
            <a:off x="1019175" y="4410075"/>
            <a:ext cx="171450" cy="142875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native53"/>
          <p:cNvSpPr/>
          <p:nvPr/>
        </p:nvSpPr>
        <p:spPr>
          <a:xfrm>
            <a:off x="1228725" y="44100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native54"/>
          <p:cNvSpPr/>
          <p:nvPr/>
        </p:nvSpPr>
        <p:spPr>
          <a:xfrm>
            <a:off x="1438275" y="44100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native55"/>
          <p:cNvSpPr/>
          <p:nvPr/>
        </p:nvSpPr>
        <p:spPr>
          <a:xfrm>
            <a:off x="1647825" y="44100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native56"/>
          <p:cNvSpPr/>
          <p:nvPr/>
        </p:nvSpPr>
        <p:spPr>
          <a:xfrm>
            <a:off x="1857375" y="44100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native57"/>
          <p:cNvSpPr/>
          <p:nvPr/>
        </p:nvSpPr>
        <p:spPr>
          <a:xfrm>
            <a:off x="2066925" y="44100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native58"/>
          <p:cNvSpPr/>
          <p:nvPr/>
        </p:nvSpPr>
        <p:spPr>
          <a:xfrm>
            <a:off x="2276475" y="4410075"/>
            <a:ext cx="171450" cy="1428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native59"/>
          <p:cNvSpPr/>
          <p:nvPr/>
        </p:nvSpPr>
        <p:spPr>
          <a:xfrm>
            <a:off x="2486025" y="4410075"/>
            <a:ext cx="171450" cy="14287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native60"/>
          <p:cNvSpPr/>
          <p:nvPr/>
        </p:nvSpPr>
        <p:spPr>
          <a:xfrm>
            <a:off x="2514600" y="4438650"/>
            <a:ext cx="114300" cy="85725"/>
          </a:xfrm>
          <a:custGeom>
            <a:avLst/>
            <a:gdLst/>
            <a:ahLst/>
            <a:cxnLst/>
            <a:rect l="0" t="0" r="r" b="b"/>
            <a:pathLst>
              <a:path w="114300" h="85725" fill="none">
                <a:moveTo>
                  <a:pt x="0" y="85725"/>
                </a:moveTo>
                <a:lnTo>
                  <a:pt x="114300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native61"/>
          <p:cNvSpPr/>
          <p:nvPr/>
        </p:nvSpPr>
        <p:spPr>
          <a:xfrm>
            <a:off x="2695575" y="4410075"/>
            <a:ext cx="171450" cy="14287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native62"/>
          <p:cNvSpPr/>
          <p:nvPr/>
        </p:nvSpPr>
        <p:spPr>
          <a:xfrm>
            <a:off x="2724150" y="4438650"/>
            <a:ext cx="114300" cy="85725"/>
          </a:xfrm>
          <a:custGeom>
            <a:avLst/>
            <a:gdLst/>
            <a:ahLst/>
            <a:cxnLst/>
            <a:rect l="0" t="0" r="r" b="b"/>
            <a:pathLst>
              <a:path w="114300" h="85725" fill="none">
                <a:moveTo>
                  <a:pt x="0" y="85725"/>
                </a:moveTo>
                <a:lnTo>
                  <a:pt x="114300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native63"/>
          <p:cNvSpPr/>
          <p:nvPr/>
        </p:nvSpPr>
        <p:spPr>
          <a:xfrm>
            <a:off x="2905125" y="4410075"/>
            <a:ext cx="171450" cy="14287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native64"/>
          <p:cNvSpPr/>
          <p:nvPr/>
        </p:nvSpPr>
        <p:spPr>
          <a:xfrm>
            <a:off x="2933700" y="4438650"/>
            <a:ext cx="114300" cy="85725"/>
          </a:xfrm>
          <a:custGeom>
            <a:avLst/>
            <a:gdLst/>
            <a:ahLst/>
            <a:cxnLst/>
            <a:rect l="0" t="0" r="r" b="b"/>
            <a:pathLst>
              <a:path w="114300" h="85725" fill="none">
                <a:moveTo>
                  <a:pt x="0" y="85725"/>
                </a:moveTo>
                <a:lnTo>
                  <a:pt x="114300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native65"/>
          <p:cNvSpPr/>
          <p:nvPr/>
        </p:nvSpPr>
        <p:spPr>
          <a:xfrm>
            <a:off x="1019175" y="4600575"/>
            <a:ext cx="171450" cy="142875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native66"/>
          <p:cNvSpPr/>
          <p:nvPr/>
        </p:nvSpPr>
        <p:spPr>
          <a:xfrm>
            <a:off x="1228725" y="46005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native67"/>
          <p:cNvSpPr/>
          <p:nvPr/>
        </p:nvSpPr>
        <p:spPr>
          <a:xfrm>
            <a:off x="1438275" y="46005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native68"/>
          <p:cNvSpPr/>
          <p:nvPr/>
        </p:nvSpPr>
        <p:spPr>
          <a:xfrm>
            <a:off x="1647825" y="46005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native69"/>
          <p:cNvSpPr/>
          <p:nvPr/>
        </p:nvSpPr>
        <p:spPr>
          <a:xfrm>
            <a:off x="1857375" y="46005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native70"/>
          <p:cNvSpPr/>
          <p:nvPr/>
        </p:nvSpPr>
        <p:spPr>
          <a:xfrm>
            <a:off x="2066925" y="46005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native71"/>
          <p:cNvSpPr/>
          <p:nvPr/>
        </p:nvSpPr>
        <p:spPr>
          <a:xfrm>
            <a:off x="2276475" y="4600575"/>
            <a:ext cx="171450" cy="1428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native72"/>
          <p:cNvSpPr/>
          <p:nvPr/>
        </p:nvSpPr>
        <p:spPr>
          <a:xfrm>
            <a:off x="2486025" y="4600575"/>
            <a:ext cx="171450" cy="1428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native73"/>
          <p:cNvSpPr/>
          <p:nvPr/>
        </p:nvSpPr>
        <p:spPr>
          <a:xfrm>
            <a:off x="2695575" y="4600575"/>
            <a:ext cx="171450" cy="14287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native74"/>
          <p:cNvSpPr/>
          <p:nvPr/>
        </p:nvSpPr>
        <p:spPr>
          <a:xfrm>
            <a:off x="2724150" y="4629150"/>
            <a:ext cx="114300" cy="85725"/>
          </a:xfrm>
          <a:custGeom>
            <a:avLst/>
            <a:gdLst/>
            <a:ahLst/>
            <a:cxnLst/>
            <a:rect l="0" t="0" r="r" b="b"/>
            <a:pathLst>
              <a:path w="114300" h="85725" fill="none">
                <a:moveTo>
                  <a:pt x="0" y="85725"/>
                </a:moveTo>
                <a:lnTo>
                  <a:pt x="114300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native75"/>
          <p:cNvSpPr/>
          <p:nvPr/>
        </p:nvSpPr>
        <p:spPr>
          <a:xfrm>
            <a:off x="2905125" y="4600575"/>
            <a:ext cx="171450" cy="14287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native76"/>
          <p:cNvSpPr/>
          <p:nvPr/>
        </p:nvSpPr>
        <p:spPr>
          <a:xfrm>
            <a:off x="2933700" y="4629150"/>
            <a:ext cx="114300" cy="85725"/>
          </a:xfrm>
          <a:custGeom>
            <a:avLst/>
            <a:gdLst/>
            <a:ahLst/>
            <a:cxnLst/>
            <a:rect l="0" t="0" r="r" b="b"/>
            <a:pathLst>
              <a:path w="114300" h="85725" fill="none">
                <a:moveTo>
                  <a:pt x="0" y="85725"/>
                </a:moveTo>
                <a:lnTo>
                  <a:pt x="114300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native77"/>
          <p:cNvSpPr/>
          <p:nvPr/>
        </p:nvSpPr>
        <p:spPr>
          <a:xfrm>
            <a:off x="1019175" y="4791075"/>
            <a:ext cx="171450" cy="142875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native78"/>
          <p:cNvSpPr/>
          <p:nvPr/>
        </p:nvSpPr>
        <p:spPr>
          <a:xfrm>
            <a:off x="1228725" y="47910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native79"/>
          <p:cNvSpPr/>
          <p:nvPr/>
        </p:nvSpPr>
        <p:spPr>
          <a:xfrm>
            <a:off x="1438275" y="47910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native80"/>
          <p:cNvSpPr/>
          <p:nvPr/>
        </p:nvSpPr>
        <p:spPr>
          <a:xfrm>
            <a:off x="1647825" y="47910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native81"/>
          <p:cNvSpPr/>
          <p:nvPr/>
        </p:nvSpPr>
        <p:spPr>
          <a:xfrm>
            <a:off x="1857375" y="47910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native82"/>
          <p:cNvSpPr/>
          <p:nvPr/>
        </p:nvSpPr>
        <p:spPr>
          <a:xfrm>
            <a:off x="2066925" y="47910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native83"/>
          <p:cNvSpPr/>
          <p:nvPr/>
        </p:nvSpPr>
        <p:spPr>
          <a:xfrm>
            <a:off x="2276475" y="4791075"/>
            <a:ext cx="171450" cy="1428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native84"/>
          <p:cNvSpPr/>
          <p:nvPr/>
        </p:nvSpPr>
        <p:spPr>
          <a:xfrm>
            <a:off x="2486025" y="4791075"/>
            <a:ext cx="171450" cy="1428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native85"/>
          <p:cNvSpPr/>
          <p:nvPr/>
        </p:nvSpPr>
        <p:spPr>
          <a:xfrm>
            <a:off x="2695575" y="4791075"/>
            <a:ext cx="171450" cy="1428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native86"/>
          <p:cNvSpPr/>
          <p:nvPr/>
        </p:nvSpPr>
        <p:spPr>
          <a:xfrm>
            <a:off x="2905125" y="4791075"/>
            <a:ext cx="171450" cy="142875"/>
          </a:xfrm>
          <a:prstGeom prst="rect">
            <a:avLst/>
          </a:prstGeom>
          <a:solidFill>
            <a:srgbClr val="E6EBE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native87"/>
          <p:cNvSpPr/>
          <p:nvPr/>
        </p:nvSpPr>
        <p:spPr>
          <a:xfrm>
            <a:off x="2933700" y="4819650"/>
            <a:ext cx="114300" cy="85725"/>
          </a:xfrm>
          <a:custGeom>
            <a:avLst/>
            <a:gdLst/>
            <a:ahLst/>
            <a:cxnLst/>
            <a:rect l="0" t="0" r="r" b="b"/>
            <a:pathLst>
              <a:path w="114300" h="85725" fill="none">
                <a:moveTo>
                  <a:pt x="0" y="85725"/>
                </a:moveTo>
                <a:lnTo>
                  <a:pt x="114300" y="0"/>
                </a:lnTo>
              </a:path>
            </a:pathLst>
          </a:custGeom>
          <a:noFill/>
          <a:ln w="7620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native88"/>
          <p:cNvSpPr/>
          <p:nvPr/>
        </p:nvSpPr>
        <p:spPr>
          <a:xfrm>
            <a:off x="1019175" y="4981575"/>
            <a:ext cx="171450" cy="142875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native89"/>
          <p:cNvSpPr/>
          <p:nvPr/>
        </p:nvSpPr>
        <p:spPr>
          <a:xfrm>
            <a:off x="1228725" y="49815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native90"/>
          <p:cNvSpPr/>
          <p:nvPr/>
        </p:nvSpPr>
        <p:spPr>
          <a:xfrm>
            <a:off x="1438275" y="49815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native91"/>
          <p:cNvSpPr/>
          <p:nvPr/>
        </p:nvSpPr>
        <p:spPr>
          <a:xfrm>
            <a:off x="1647825" y="49815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native92"/>
          <p:cNvSpPr/>
          <p:nvPr/>
        </p:nvSpPr>
        <p:spPr>
          <a:xfrm>
            <a:off x="1857375" y="49815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native93"/>
          <p:cNvSpPr/>
          <p:nvPr/>
        </p:nvSpPr>
        <p:spPr>
          <a:xfrm>
            <a:off x="2066925" y="4981575"/>
            <a:ext cx="171450" cy="1428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native94"/>
          <p:cNvSpPr/>
          <p:nvPr/>
        </p:nvSpPr>
        <p:spPr>
          <a:xfrm>
            <a:off x="2276475" y="4981575"/>
            <a:ext cx="171450" cy="1428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native95"/>
          <p:cNvSpPr/>
          <p:nvPr/>
        </p:nvSpPr>
        <p:spPr>
          <a:xfrm>
            <a:off x="2486025" y="4981575"/>
            <a:ext cx="171450" cy="1428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native96"/>
          <p:cNvSpPr/>
          <p:nvPr/>
        </p:nvSpPr>
        <p:spPr>
          <a:xfrm>
            <a:off x="2695575" y="4981575"/>
            <a:ext cx="171450" cy="1428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native97"/>
          <p:cNvSpPr/>
          <p:nvPr/>
        </p:nvSpPr>
        <p:spPr>
          <a:xfrm>
            <a:off x="2905125" y="4981575"/>
            <a:ext cx="171450" cy="142875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native98"/>
          <p:cNvSpPr/>
          <p:nvPr/>
        </p:nvSpPr>
        <p:spPr>
          <a:xfrm>
            <a:off x="1395412" y="5133594"/>
            <a:ext cx="1133475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因果 掩码</a:t>
            </a:r>
          </a:p>
        </p:txBody>
      </p:sp>
      <p:sp>
        <p:nvSpPr>
          <p:cNvPr id="99" name="native99"/>
          <p:cNvSpPr/>
          <p:nvPr/>
        </p:nvSpPr>
        <p:spPr>
          <a:xfrm>
            <a:off x="3124200" y="4657725"/>
            <a:ext cx="219075" cy="952"/>
          </a:xfrm>
          <a:custGeom>
            <a:avLst/>
            <a:gdLst/>
            <a:ahLst/>
            <a:cxnLst/>
            <a:rect l="0" t="0" r="r" b="b"/>
            <a:pathLst>
              <a:path w="219075" h="952" fill="none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/>
          <a:ln w="17145">
            <a:solidFill>
              <a:srgbClr val="78628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" name="native100"/>
          <p:cNvSpPr/>
          <p:nvPr/>
        </p:nvSpPr>
        <p:spPr>
          <a:xfrm>
            <a:off x="3524250" y="4343400"/>
            <a:ext cx="1000125" cy="609600"/>
          </a:xfrm>
          <a:prstGeom prst="roundRect">
            <a:avLst/>
          </a:prstGeom>
          <a:solidFill>
            <a:srgbClr val="F1EDF5"/>
          </a:solidFill>
          <a:ln w="13335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native101"/>
          <p:cNvSpPr/>
          <p:nvPr/>
        </p:nvSpPr>
        <p:spPr>
          <a:xfrm>
            <a:off x="3590925" y="4301871"/>
            <a:ext cx="857250" cy="4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2100" b="1">
                <a:solidFill>
                  <a:srgbClr val="78628F"/>
                </a:solidFill>
                <a:latin typeface="Noto Sans CJK SC"/>
                <a:ea typeface="Noto Sans CJK SC"/>
              </a:rPr>
              <a:t>rℓ</a:t>
            </a:r>
            <a:endParaRPr lang="zh-CN" sz="2100"/>
          </a:p>
        </p:txBody>
      </p:sp>
      <p:sp>
        <p:nvSpPr>
          <p:cNvPr id="102" name="native102"/>
          <p:cNvSpPr/>
          <p:nvPr/>
        </p:nvSpPr>
        <p:spPr>
          <a:xfrm>
            <a:off x="3547872" y="4626864"/>
            <a:ext cx="950976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>
                <a:solidFill>
                  <a:srgbClr val="7B6598"/>
                </a:solidFill>
                <a:latin typeface="Noto Sans CJK SC"/>
              </a:rPr>
              <a:t>远区注意力</a:t>
            </a:r>
            <a:br/>
            <a:r>
              <a:rPr sz="1000">
                <a:solidFill>
                  <a:srgbClr val="7B6598"/>
                </a:solidFill>
                <a:latin typeface="Noto Sans CJK SC"/>
              </a:rPr>
              <a:t>权重总和</a:t>
            </a:r>
          </a:p>
        </p:txBody>
      </p:sp>
      <p:sp>
        <p:nvSpPr>
          <p:cNvPr id="103" name="native103"/>
          <p:cNvSpPr/>
          <p:nvPr/>
        </p:nvSpPr>
        <p:spPr>
          <a:xfrm>
            <a:off x="952500" y="5331333"/>
            <a:ext cx="289560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逐 查询头 softmax</a:t>
            </a:r>
          </a:p>
        </p:txBody>
      </p:sp>
      <p:sp>
        <p:nvSpPr>
          <p:cNvPr id="104" name="native104"/>
          <p:cNvSpPr/>
          <p:nvPr/>
        </p:nvSpPr>
        <p:spPr>
          <a:xfrm>
            <a:off x="952500" y="5588508"/>
            <a:ext cx="2714625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193247"/>
                </a:solidFill>
                <a:latin typeface="Noto Sans CJK SC"/>
                <a:ea typeface="Noto Sans CJK SC"/>
              </a:rPr>
              <a:t>远区注意力权重求和 → 均值</a:t>
            </a:r>
          </a:p>
        </p:txBody>
      </p:sp>
      <p:sp>
        <p:nvSpPr>
          <p:cNvPr id="105" name="native105"/>
          <p:cNvSpPr/>
          <p:nvPr/>
        </p:nvSpPr>
        <p:spPr>
          <a:xfrm>
            <a:off x="952500" y="5828919"/>
            <a:ext cx="3076575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R × heads 等权平均（B=1）</a:t>
            </a:r>
            <a:endParaRPr lang="zh-CN" sz="1275"/>
          </a:p>
        </p:txBody>
      </p:sp>
      <p:sp>
        <p:nvSpPr>
          <p:cNvPr id="106" name="native106"/>
          <p:cNvSpPr/>
          <p:nvPr/>
        </p:nvSpPr>
        <p:spPr>
          <a:xfrm>
            <a:off x="4019550" y="4953000"/>
            <a:ext cx="952" cy="171450"/>
          </a:xfrm>
          <a:custGeom>
            <a:avLst/>
            <a:gdLst/>
            <a:ahLst/>
            <a:cxnLst/>
            <a:rect l="0" t="0" r="r" b="b"/>
            <a:pathLst>
              <a:path w="952" h="171450" fill="none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5240">
            <a:solidFill>
              <a:srgbClr val="78628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native107"/>
          <p:cNvSpPr/>
          <p:nvPr/>
        </p:nvSpPr>
        <p:spPr>
          <a:xfrm>
            <a:off x="3257550" y="5130165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rℓ &lt; ε ?</a:t>
            </a:r>
            <a:endParaRPr lang="zh-CN" sz="1500"/>
          </a:p>
        </p:txBody>
      </p:sp>
      <p:sp>
        <p:nvSpPr>
          <p:cNvPr id="108" name="native108"/>
          <p:cNvSpPr/>
          <p:nvPr/>
        </p:nvSpPr>
        <p:spPr>
          <a:xfrm>
            <a:off x="3476625" y="5369433"/>
            <a:ext cx="108585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A66328"/>
                </a:solidFill>
                <a:latin typeface="Noto Sans CJK SC"/>
                <a:ea typeface="Noto Sans CJK SC"/>
              </a:rPr>
              <a:t>ε=0.05</a:t>
            </a:r>
            <a:endParaRPr lang="zh-CN" sz="1425"/>
          </a:p>
        </p:txBody>
      </p:sp>
      <p:sp>
        <p:nvSpPr>
          <p:cNvPr id="109" name="native109"/>
          <p:cNvSpPr/>
          <p:nvPr/>
        </p:nvSpPr>
        <p:spPr>
          <a:xfrm>
            <a:off x="952500" y="6143625"/>
            <a:ext cx="3705225" cy="447675"/>
          </a:xfrm>
          <a:prstGeom prst="roundRect">
            <a:avLst/>
          </a:prstGeom>
          <a:solidFill>
            <a:srgbClr val="FAF0E5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native110"/>
          <p:cNvSpPr/>
          <p:nvPr/>
        </p:nvSpPr>
        <p:spPr>
          <a:xfrm>
            <a:off x="1085850" y="6151626"/>
            <a:ext cx="46291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rℓ &lt; ε：暂定关闭；否则开启</a:t>
            </a:r>
          </a:p>
        </p:txBody>
      </p:sp>
      <p:sp>
        <p:nvSpPr>
          <p:cNvPr id="111" name="native111"/>
          <p:cNvSpPr/>
          <p:nvPr/>
        </p:nvSpPr>
        <p:spPr>
          <a:xfrm>
            <a:off x="1085850" y="6363462"/>
            <a:ext cx="350520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仅暂存，尚未应用解码开关</a:t>
            </a:r>
          </a:p>
        </p:txBody>
      </p:sp>
      <p:sp>
        <p:nvSpPr>
          <p:cNvPr id="112" name="native112"/>
          <p:cNvSpPr/>
          <p:nvPr/>
        </p:nvSpPr>
        <p:spPr>
          <a:xfrm>
            <a:off x="4657725" y="3362325"/>
            <a:ext cx="676275" cy="2990850"/>
          </a:xfrm>
          <a:custGeom>
            <a:avLst/>
            <a:gdLst/>
            <a:ahLst/>
            <a:cxnLst/>
            <a:rect l="0" t="0" r="r" b="b"/>
            <a:pathLst>
              <a:path w="676275" h="2990850" fill="none">
                <a:moveTo>
                  <a:pt x="0" y="2990850"/>
                </a:moveTo>
                <a:lnTo>
                  <a:pt x="438150" y="2990850"/>
                </a:lnTo>
                <a:lnTo>
                  <a:pt x="438150" y="0"/>
                </a:lnTo>
                <a:lnTo>
                  <a:pt x="676275" y="0"/>
                </a:lnTo>
              </a:path>
            </a:pathLst>
          </a:custGeom>
          <a:noFill/>
          <a:ln w="17145">
            <a:solidFill>
              <a:srgbClr val="A66328"/>
            </a:solidFill>
            <a:prstDash val="dash"/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native113"/>
          <p:cNvSpPr/>
          <p:nvPr/>
        </p:nvSpPr>
        <p:spPr>
          <a:xfrm>
            <a:off x="5334000" y="3143250"/>
            <a:ext cx="1371600" cy="438150"/>
          </a:xfrm>
          <a:prstGeom prst="roundRect">
            <a:avLst/>
          </a:prstGeom>
          <a:solidFill>
            <a:srgbClr val="FAF0E5"/>
          </a:solidFill>
          <a:ln w="11430">
            <a:solidFill>
              <a:srgbClr val="A6632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native114"/>
          <p:cNvSpPr/>
          <p:nvPr/>
        </p:nvSpPr>
        <p:spPr>
          <a:xfrm>
            <a:off x="4876800" y="320611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暂存关闭决策</a:t>
            </a:r>
          </a:p>
        </p:txBody>
      </p:sp>
      <p:sp>
        <p:nvSpPr>
          <p:cNvPr id="115" name="native115"/>
          <p:cNvSpPr/>
          <p:nvPr/>
        </p:nvSpPr>
        <p:spPr>
          <a:xfrm>
            <a:off x="6019800" y="3581400"/>
            <a:ext cx="952" cy="504825"/>
          </a:xfrm>
          <a:custGeom>
            <a:avLst/>
            <a:gdLst/>
            <a:ahLst/>
            <a:cxnLst/>
            <a:rect l="0" t="0" r="r" b="b"/>
            <a:pathLst>
              <a:path w="952" h="504825" fill="none">
                <a:moveTo>
                  <a:pt x="0" y="0"/>
                </a:moveTo>
                <a:lnTo>
                  <a:pt x="0" y="504825"/>
                </a:lnTo>
              </a:path>
            </a:pathLst>
          </a:custGeom>
          <a:noFill/>
          <a:ln w="19050">
            <a:solidFill>
              <a:srgbClr val="A66328"/>
            </a:solidFill>
            <a:prstDash val="dash"/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native116"/>
          <p:cNvSpPr/>
          <p:nvPr/>
        </p:nvSpPr>
        <p:spPr>
          <a:xfrm>
            <a:off x="4991100" y="3665601"/>
            <a:ext cx="20574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进入 解码 路径</a:t>
            </a:r>
          </a:p>
        </p:txBody>
      </p:sp>
      <p:sp>
        <p:nvSpPr>
          <p:cNvPr id="117" name="native117"/>
          <p:cNvSpPr/>
          <p:nvPr/>
        </p:nvSpPr>
        <p:spPr>
          <a:xfrm>
            <a:off x="5334000" y="4200525"/>
            <a:ext cx="1371600" cy="866775"/>
          </a:xfrm>
          <a:prstGeom prst="roundRect">
            <a:avLst/>
          </a:prstGeom>
          <a:solidFill>
            <a:srgbClr val="FAF0E5"/>
          </a:solidFill>
          <a:ln w="19050">
            <a:solidFill>
              <a:srgbClr val="A6632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native118"/>
          <p:cNvSpPr/>
          <p:nvPr/>
        </p:nvSpPr>
        <p:spPr>
          <a:xfrm>
            <a:off x="5334000" y="4381500"/>
            <a:ext cx="104775" cy="190500"/>
          </a:xfrm>
          <a:custGeom>
            <a:avLst/>
            <a:gdLst/>
            <a:ahLst/>
            <a:cxnLst/>
            <a:rect l="0" t="0" r="r" b="b"/>
            <a:pathLst>
              <a:path w="104775" h="190500" fill="none">
                <a:moveTo>
                  <a:pt x="0" y="0"/>
                </a:moveTo>
                <a:lnTo>
                  <a:pt x="104775" y="95250"/>
                </a:lnTo>
                <a:lnTo>
                  <a:pt x="0" y="190500"/>
                </a:lnTo>
              </a:path>
            </a:pathLst>
          </a:custGeom>
          <a:noFill/>
          <a:ln w="13335">
            <a:solidFill>
              <a:srgbClr val="A6632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native119"/>
          <p:cNvSpPr/>
          <p:nvPr/>
        </p:nvSpPr>
        <p:spPr>
          <a:xfrm>
            <a:off x="5591175" y="4216908"/>
            <a:ext cx="85725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解码入口固定</a:t>
            </a:r>
          </a:p>
        </p:txBody>
      </p:sp>
      <p:sp>
        <p:nvSpPr>
          <p:cNvPr id="120" name="native120"/>
          <p:cNvSpPr/>
          <p:nvPr/>
        </p:nvSpPr>
        <p:spPr>
          <a:xfrm>
            <a:off x="4752975" y="4474083"/>
            <a:ext cx="253365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固定执行状态 gℓ</a:t>
            </a:r>
          </a:p>
        </p:txBody>
      </p:sp>
      <p:sp>
        <p:nvSpPr>
          <p:cNvPr id="121" name="native121"/>
          <p:cNvSpPr/>
          <p:nvPr/>
        </p:nvSpPr>
        <p:spPr>
          <a:xfrm>
            <a:off x="5162550" y="4741926"/>
            <a:ext cx="17145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A66328"/>
                </a:solidFill>
                <a:latin typeface="Noto Sans CJK SC"/>
                <a:ea typeface="Noto Sans CJK SC"/>
              </a:rPr>
              <a:t>后续保持不变</a:t>
            </a:r>
          </a:p>
        </p:txBody>
      </p:sp>
      <p:sp>
        <p:nvSpPr>
          <p:cNvPr id="122" name="native122"/>
          <p:cNvSpPr/>
          <p:nvPr/>
        </p:nvSpPr>
        <p:spPr>
          <a:xfrm>
            <a:off x="5205412" y="5178933"/>
            <a:ext cx="1628775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后续 解码</a:t>
            </a:r>
          </a:p>
        </p:txBody>
      </p:sp>
      <p:sp>
        <p:nvSpPr>
          <p:cNvPr id="123" name="native123"/>
          <p:cNvSpPr/>
          <p:nvPr/>
        </p:nvSpPr>
        <p:spPr>
          <a:xfrm>
            <a:off x="5295900" y="5436108"/>
            <a:ext cx="144780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只复用本层 gℓ</a:t>
            </a:r>
            <a:endParaRPr lang="zh-CN" sz="1425"/>
          </a:p>
        </p:txBody>
      </p:sp>
      <p:sp>
        <p:nvSpPr>
          <p:cNvPr id="124" name="native124"/>
          <p:cNvSpPr/>
          <p:nvPr/>
        </p:nvSpPr>
        <p:spPr>
          <a:xfrm>
            <a:off x="5029200" y="5858637"/>
            <a:ext cx="198120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首次解码路径调用</a:t>
            </a:r>
          </a:p>
        </p:txBody>
      </p:sp>
      <p:sp>
        <p:nvSpPr>
          <p:cNvPr id="125" name="native125"/>
          <p:cNvSpPr/>
          <p:nvPr/>
        </p:nvSpPr>
        <p:spPr>
          <a:xfrm>
            <a:off x="5029200" y="6077712"/>
            <a:ext cx="198120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可能仍处理问题词元</a:t>
            </a:r>
          </a:p>
        </p:txBody>
      </p:sp>
      <p:sp>
        <p:nvSpPr>
          <p:cNvPr id="126" name="native126"/>
          <p:cNvSpPr/>
          <p:nvPr/>
        </p:nvSpPr>
        <p:spPr>
          <a:xfrm>
            <a:off x="7115175" y="3667125"/>
            <a:ext cx="4791075" cy="1343025"/>
          </a:xfrm>
          <a:prstGeom prst="roundRect">
            <a:avLst/>
          </a:prstGeom>
          <a:solidFill>
            <a:srgbClr val="EAF6F3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native127"/>
          <p:cNvSpPr/>
          <p:nvPr/>
        </p:nvSpPr>
        <p:spPr>
          <a:xfrm>
            <a:off x="7115175" y="5486400"/>
            <a:ext cx="4791075" cy="1114425"/>
          </a:xfrm>
          <a:prstGeom prst="roundRect">
            <a:avLst/>
          </a:prstGeom>
          <a:solidFill>
            <a:srgbClr val="ECF2F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native128"/>
          <p:cNvSpPr/>
          <p:nvPr/>
        </p:nvSpPr>
        <p:spPr>
          <a:xfrm>
            <a:off x="6705600" y="3028950"/>
            <a:ext cx="2905125" cy="1600200"/>
          </a:xfrm>
          <a:custGeom>
            <a:avLst/>
            <a:gdLst/>
            <a:ahLst/>
            <a:cxnLst/>
            <a:rect l="0" t="0" r="r" b="b"/>
            <a:pathLst>
              <a:path w="2905125" h="1600200" fill="none">
                <a:moveTo>
                  <a:pt x="0" y="1600200"/>
                </a:moveTo>
                <a:lnTo>
                  <a:pt x="104775" y="1600200"/>
                </a:lnTo>
                <a:lnTo>
                  <a:pt x="104775" y="0"/>
                </a:lnTo>
                <a:lnTo>
                  <a:pt x="2905125" y="0"/>
                </a:lnTo>
              </a:path>
            </a:pathLst>
          </a:custGeom>
          <a:noFill/>
          <a:ln w="17145">
            <a:solidFill>
              <a:srgbClr val="A6632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native129"/>
          <p:cNvSpPr/>
          <p:nvPr/>
        </p:nvSpPr>
        <p:spPr>
          <a:xfrm>
            <a:off x="7143750" y="3028950"/>
            <a:ext cx="228600" cy="914400"/>
          </a:xfrm>
          <a:custGeom>
            <a:avLst/>
            <a:gdLst/>
            <a:ahLst/>
            <a:cxnLst/>
            <a:rect l="0" t="0" r="r" b="b"/>
            <a:pathLst>
              <a:path w="228600" h="914400" fill="none">
                <a:moveTo>
                  <a:pt x="0" y="0"/>
                </a:moveTo>
                <a:lnTo>
                  <a:pt x="0" y="914400"/>
                </a:lnTo>
                <a:lnTo>
                  <a:pt x="228600" y="914400"/>
                </a:lnTo>
              </a:path>
            </a:pathLst>
          </a:custGeom>
          <a:noFill/>
          <a:ln w="17145">
            <a:solidFill>
              <a:srgbClr val="A66328"/>
            </a:solidFill>
            <a:prstDash val="dash"/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native130"/>
          <p:cNvSpPr/>
          <p:nvPr/>
        </p:nvSpPr>
        <p:spPr>
          <a:xfrm>
            <a:off x="9229725" y="3028950"/>
            <a:ext cx="104775" cy="914400"/>
          </a:xfrm>
          <a:custGeom>
            <a:avLst/>
            <a:gdLst/>
            <a:ahLst/>
            <a:cxnLst/>
            <a:rect l="0" t="0" r="r" b="b"/>
            <a:pathLst>
              <a:path w="104775" h="914400" fill="none">
                <a:moveTo>
                  <a:pt x="0" y="0"/>
                </a:moveTo>
                <a:lnTo>
                  <a:pt x="0" y="914400"/>
                </a:lnTo>
                <a:lnTo>
                  <a:pt x="104775" y="914400"/>
                </a:lnTo>
              </a:path>
            </a:pathLst>
          </a:custGeom>
          <a:noFill/>
          <a:ln w="17145">
            <a:solidFill>
              <a:srgbClr val="A66328"/>
            </a:solidFill>
            <a:prstDash val="dash"/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native131"/>
          <p:cNvSpPr/>
          <p:nvPr/>
        </p:nvSpPr>
        <p:spPr>
          <a:xfrm>
            <a:off x="9610725" y="3028950"/>
            <a:ext cx="1857375" cy="2200275"/>
          </a:xfrm>
          <a:custGeom>
            <a:avLst/>
            <a:gdLst/>
            <a:ahLst/>
            <a:cxnLst/>
            <a:rect l="0" t="0" r="r" b="b"/>
            <a:pathLst>
              <a:path w="1857375" h="2200275" fill="none">
                <a:moveTo>
                  <a:pt x="0" y="0"/>
                </a:moveTo>
                <a:lnTo>
                  <a:pt x="1857375" y="0"/>
                </a:lnTo>
                <a:lnTo>
                  <a:pt x="1857375" y="2200275"/>
                </a:lnTo>
                <a:lnTo>
                  <a:pt x="1619250" y="2200275"/>
                </a:lnTo>
              </a:path>
            </a:pathLst>
          </a:custGeom>
          <a:noFill/>
          <a:ln w="17145">
            <a:solidFill>
              <a:srgbClr val="A66328"/>
            </a:solidFill>
            <a:prstDash val="dash"/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native132"/>
          <p:cNvSpPr/>
          <p:nvPr/>
        </p:nvSpPr>
        <p:spPr>
          <a:xfrm>
            <a:off x="7115175" y="2482215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2817B"/>
                </a:solidFill>
                <a:latin typeface="Noto Sans CJK SC"/>
                <a:ea typeface="Noto Sans CJK SC"/>
              </a:rPr>
              <a:t>gℓ=ON：执行 远区 选择</a:t>
            </a:r>
          </a:p>
        </p:txBody>
      </p:sp>
      <p:sp>
        <p:nvSpPr>
          <p:cNvPr id="133" name="native133"/>
          <p:cNvSpPr/>
          <p:nvPr/>
        </p:nvSpPr>
        <p:spPr>
          <a:xfrm>
            <a:off x="10429875" y="2482215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gℓ=OFF：跳过 远区 选择</a:t>
            </a:r>
          </a:p>
        </p:txBody>
      </p:sp>
      <p:sp>
        <p:nvSpPr>
          <p:cNvPr id="134" name="native134"/>
          <p:cNvSpPr/>
          <p:nvPr/>
        </p:nvSpPr>
        <p:spPr>
          <a:xfrm>
            <a:off x="7115175" y="2734437"/>
            <a:ext cx="518160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ON：L2全S评分后掩码；配额需候选充足</a:t>
            </a:r>
          </a:p>
        </p:txBody>
      </p:sp>
      <p:sp>
        <p:nvSpPr>
          <p:cNvPr id="135" name="native135"/>
          <p:cNvSpPr/>
          <p:nvPr/>
        </p:nvSpPr>
        <p:spPr>
          <a:xfrm>
            <a:off x="7229475" y="3169158"/>
            <a:ext cx="108585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L1：页选择</a:t>
            </a:r>
            <a:endParaRPr lang="zh-CN" sz="1425"/>
          </a:p>
        </p:txBody>
      </p:sp>
      <p:sp>
        <p:nvSpPr>
          <p:cNvPr id="136" name="native136"/>
          <p:cNvSpPr/>
          <p:nvPr/>
        </p:nvSpPr>
        <p:spPr>
          <a:xfrm>
            <a:off x="9801225" y="3169158"/>
            <a:ext cx="1990725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L2：词元 选择</a:t>
            </a:r>
          </a:p>
        </p:txBody>
      </p:sp>
      <p:sp>
        <p:nvSpPr>
          <p:cNvPr id="137" name="native137"/>
          <p:cNvSpPr/>
          <p:nvPr/>
        </p:nvSpPr>
        <p:spPr>
          <a:xfrm>
            <a:off x="7181850" y="4683633"/>
            <a:ext cx="85725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12817B"/>
                </a:solidFill>
                <a:latin typeface="Noto Sans CJK SC"/>
                <a:ea typeface="Noto Sans CJK SC"/>
              </a:rPr>
              <a:t>远区</a:t>
            </a:r>
          </a:p>
        </p:txBody>
      </p:sp>
      <p:sp>
        <p:nvSpPr>
          <p:cNvPr id="138" name="native138"/>
          <p:cNvSpPr/>
          <p:nvPr/>
        </p:nvSpPr>
        <p:spPr>
          <a:xfrm>
            <a:off x="7372350" y="3857625"/>
            <a:ext cx="552450" cy="7620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A6632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native139"/>
          <p:cNvSpPr/>
          <p:nvPr/>
        </p:nvSpPr>
        <p:spPr>
          <a:xfrm>
            <a:off x="7219950" y="3559683"/>
            <a:ext cx="85725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gℓ</a:t>
            </a:r>
            <a:endParaRPr lang="zh-CN" sz="1425"/>
          </a:p>
        </p:txBody>
      </p:sp>
      <p:sp>
        <p:nvSpPr>
          <p:cNvPr id="140" name="native140"/>
          <p:cNvSpPr/>
          <p:nvPr/>
        </p:nvSpPr>
        <p:spPr>
          <a:xfrm>
            <a:off x="7219950" y="3867912"/>
            <a:ext cx="85725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ON</a:t>
            </a:r>
            <a:endParaRPr lang="zh-CN" sz="1200"/>
          </a:p>
        </p:txBody>
      </p:sp>
      <p:sp>
        <p:nvSpPr>
          <p:cNvPr id="141" name="native141"/>
          <p:cNvSpPr/>
          <p:nvPr/>
        </p:nvSpPr>
        <p:spPr>
          <a:xfrm>
            <a:off x="7486650" y="4133850"/>
            <a:ext cx="323850" cy="952"/>
          </a:xfrm>
          <a:custGeom>
            <a:avLst/>
            <a:gdLst/>
            <a:ahLst/>
            <a:cxnLst/>
            <a:rect l="0" t="0" r="r" b="b"/>
            <a:pathLst>
              <a:path w="323850" h="952" fill="none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/>
          <a:ln w="20955">
            <a:solidFill>
              <a:srgbClr val="A6632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native142"/>
          <p:cNvSpPr/>
          <p:nvPr/>
        </p:nvSpPr>
        <p:spPr>
          <a:xfrm>
            <a:off x="7458075" y="4105275"/>
            <a:ext cx="47625" cy="57150"/>
          </a:xfrm>
          <a:prstGeom prst="rect">
            <a:avLst/>
          </a:prstGeom>
          <a:solidFill>
            <a:srgbClr val="A6632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native143"/>
          <p:cNvSpPr/>
          <p:nvPr/>
        </p:nvSpPr>
        <p:spPr>
          <a:xfrm>
            <a:off x="7791450" y="4105275"/>
            <a:ext cx="47625" cy="57150"/>
          </a:xfrm>
          <a:prstGeom prst="rect">
            <a:avLst/>
          </a:prstGeom>
          <a:solidFill>
            <a:srgbClr val="A6632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4" name="native144"/>
          <p:cNvSpPr/>
          <p:nvPr/>
        </p:nvSpPr>
        <p:spPr>
          <a:xfrm>
            <a:off x="7219950" y="4182237"/>
            <a:ext cx="85725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OFF</a:t>
            </a:r>
            <a:endParaRPr lang="zh-CN" sz="1200"/>
          </a:p>
        </p:txBody>
      </p:sp>
      <p:sp>
        <p:nvSpPr>
          <p:cNvPr id="145" name="native145"/>
          <p:cNvSpPr/>
          <p:nvPr/>
        </p:nvSpPr>
        <p:spPr>
          <a:xfrm>
            <a:off x="7486650" y="4400550"/>
            <a:ext cx="209550" cy="76200"/>
          </a:xfrm>
          <a:custGeom>
            <a:avLst/>
            <a:gdLst/>
            <a:ahLst/>
            <a:cxnLst/>
            <a:rect l="0" t="0" r="r" b="b"/>
            <a:pathLst>
              <a:path w="209550" h="76200" fill="none">
                <a:moveTo>
                  <a:pt x="0" y="76200"/>
                </a:moveTo>
                <a:lnTo>
                  <a:pt x="209550" y="0"/>
                </a:lnTo>
              </a:path>
            </a:pathLst>
          </a:custGeom>
          <a:noFill/>
          <a:ln w="20955">
            <a:solidFill>
              <a:srgbClr val="A6632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native146"/>
          <p:cNvSpPr/>
          <p:nvPr/>
        </p:nvSpPr>
        <p:spPr>
          <a:xfrm>
            <a:off x="7458075" y="4448175"/>
            <a:ext cx="47625" cy="57150"/>
          </a:xfrm>
          <a:prstGeom prst="rect">
            <a:avLst/>
          </a:prstGeom>
          <a:solidFill>
            <a:srgbClr val="A6632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7" name="native147"/>
          <p:cNvSpPr/>
          <p:nvPr/>
        </p:nvSpPr>
        <p:spPr>
          <a:xfrm>
            <a:off x="7791450" y="4448175"/>
            <a:ext cx="47625" cy="57150"/>
          </a:xfrm>
          <a:prstGeom prst="rect">
            <a:avLst/>
          </a:prstGeom>
          <a:solidFill>
            <a:srgbClr val="A6632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native148"/>
          <p:cNvSpPr/>
          <p:nvPr/>
        </p:nvSpPr>
        <p:spPr>
          <a:xfrm>
            <a:off x="9334500" y="3857625"/>
            <a:ext cx="552450" cy="7620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A6632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" name="native149"/>
          <p:cNvSpPr/>
          <p:nvPr/>
        </p:nvSpPr>
        <p:spPr>
          <a:xfrm>
            <a:off x="9182100" y="3559683"/>
            <a:ext cx="85725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gℓ</a:t>
            </a:r>
            <a:endParaRPr lang="zh-CN" sz="1425"/>
          </a:p>
        </p:txBody>
      </p:sp>
      <p:sp>
        <p:nvSpPr>
          <p:cNvPr id="150" name="native150"/>
          <p:cNvSpPr/>
          <p:nvPr/>
        </p:nvSpPr>
        <p:spPr>
          <a:xfrm>
            <a:off x="9182100" y="3867912"/>
            <a:ext cx="85725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ON</a:t>
            </a:r>
            <a:endParaRPr lang="zh-CN" sz="1200"/>
          </a:p>
        </p:txBody>
      </p:sp>
      <p:sp>
        <p:nvSpPr>
          <p:cNvPr id="151" name="native151"/>
          <p:cNvSpPr/>
          <p:nvPr/>
        </p:nvSpPr>
        <p:spPr>
          <a:xfrm>
            <a:off x="9448800" y="4133850"/>
            <a:ext cx="323850" cy="952"/>
          </a:xfrm>
          <a:custGeom>
            <a:avLst/>
            <a:gdLst/>
            <a:ahLst/>
            <a:cxnLst/>
            <a:rect l="0" t="0" r="r" b="b"/>
            <a:pathLst>
              <a:path w="323850" h="952" fill="none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/>
          <a:ln w="20955">
            <a:solidFill>
              <a:srgbClr val="A6632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native152"/>
          <p:cNvSpPr/>
          <p:nvPr/>
        </p:nvSpPr>
        <p:spPr>
          <a:xfrm>
            <a:off x="9420225" y="4105275"/>
            <a:ext cx="47625" cy="57150"/>
          </a:xfrm>
          <a:prstGeom prst="rect">
            <a:avLst/>
          </a:prstGeom>
          <a:solidFill>
            <a:srgbClr val="A6632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native153"/>
          <p:cNvSpPr/>
          <p:nvPr/>
        </p:nvSpPr>
        <p:spPr>
          <a:xfrm>
            <a:off x="9753600" y="4105275"/>
            <a:ext cx="47625" cy="57150"/>
          </a:xfrm>
          <a:prstGeom prst="rect">
            <a:avLst/>
          </a:prstGeom>
          <a:solidFill>
            <a:srgbClr val="A6632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native154"/>
          <p:cNvSpPr/>
          <p:nvPr/>
        </p:nvSpPr>
        <p:spPr>
          <a:xfrm>
            <a:off x="9182100" y="4182237"/>
            <a:ext cx="85725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OFF</a:t>
            </a:r>
            <a:endParaRPr lang="zh-CN" sz="1200"/>
          </a:p>
        </p:txBody>
      </p:sp>
      <p:sp>
        <p:nvSpPr>
          <p:cNvPr id="155" name="native155"/>
          <p:cNvSpPr/>
          <p:nvPr/>
        </p:nvSpPr>
        <p:spPr>
          <a:xfrm>
            <a:off x="9448800" y="4400550"/>
            <a:ext cx="209550" cy="76200"/>
          </a:xfrm>
          <a:custGeom>
            <a:avLst/>
            <a:gdLst/>
            <a:ahLst/>
            <a:cxnLst/>
            <a:rect l="0" t="0" r="r" b="b"/>
            <a:pathLst>
              <a:path w="209550" h="76200" fill="none">
                <a:moveTo>
                  <a:pt x="0" y="76200"/>
                </a:moveTo>
                <a:lnTo>
                  <a:pt x="209550" y="0"/>
                </a:lnTo>
              </a:path>
            </a:pathLst>
          </a:custGeom>
          <a:noFill/>
          <a:ln w="20955">
            <a:solidFill>
              <a:srgbClr val="A6632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6" name="native156"/>
          <p:cNvSpPr/>
          <p:nvPr/>
        </p:nvSpPr>
        <p:spPr>
          <a:xfrm>
            <a:off x="9420225" y="4448175"/>
            <a:ext cx="47625" cy="57150"/>
          </a:xfrm>
          <a:prstGeom prst="rect">
            <a:avLst/>
          </a:prstGeom>
          <a:solidFill>
            <a:srgbClr val="A6632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native157"/>
          <p:cNvSpPr/>
          <p:nvPr/>
        </p:nvSpPr>
        <p:spPr>
          <a:xfrm>
            <a:off x="9753600" y="4448175"/>
            <a:ext cx="47625" cy="57150"/>
          </a:xfrm>
          <a:prstGeom prst="rect">
            <a:avLst/>
          </a:prstGeom>
          <a:solidFill>
            <a:srgbClr val="A6632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native158"/>
          <p:cNvSpPr/>
          <p:nvPr/>
        </p:nvSpPr>
        <p:spPr>
          <a:xfrm>
            <a:off x="7210425" y="4238625"/>
            <a:ext cx="161925" cy="952"/>
          </a:xfrm>
          <a:custGeom>
            <a:avLst/>
            <a:gdLst/>
            <a:ahLst/>
            <a:cxnLst/>
            <a:rect l="0" t="0" r="r" b="b"/>
            <a:pathLst>
              <a:path w="161925" h="952" fill="none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19050">
            <a:solidFill>
              <a:srgbClr val="12817B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9" name="native159"/>
          <p:cNvSpPr/>
          <p:nvPr/>
        </p:nvSpPr>
        <p:spPr>
          <a:xfrm>
            <a:off x="7924800" y="4238625"/>
            <a:ext cx="190500" cy="952"/>
          </a:xfrm>
          <a:custGeom>
            <a:avLst/>
            <a:gdLst/>
            <a:ahLst/>
            <a:cxnLst/>
            <a:rect l="0" t="0" r="r" b="b"/>
            <a:pathLst>
              <a:path w="190500" h="952" fill="none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2817B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native160"/>
          <p:cNvSpPr/>
          <p:nvPr/>
        </p:nvSpPr>
        <p:spPr>
          <a:xfrm>
            <a:off x="8105775" y="3701415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12817B"/>
                </a:solidFill>
                <a:latin typeface="Noto Sans CJK SC"/>
                <a:ea typeface="Noto Sans CJK SC"/>
              </a:rPr>
              <a:t>远区 点积</a:t>
            </a:r>
          </a:p>
        </p:txBody>
      </p:sp>
      <p:sp>
        <p:nvSpPr>
          <p:cNvPr id="161" name="native161"/>
          <p:cNvSpPr/>
          <p:nvPr/>
        </p:nvSpPr>
        <p:spPr>
          <a:xfrm>
            <a:off x="7867650" y="3971544"/>
            <a:ext cx="161925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12817B"/>
                </a:solidFill>
                <a:latin typeface="Noto Sans CJK SC"/>
                <a:ea typeface="Noto Sans CJK SC"/>
              </a:rPr>
              <a:t>极值 页分</a:t>
            </a:r>
          </a:p>
        </p:txBody>
      </p:sp>
      <p:sp>
        <p:nvSpPr>
          <p:cNvPr id="162" name="native162"/>
          <p:cNvSpPr/>
          <p:nvPr/>
        </p:nvSpPr>
        <p:spPr>
          <a:xfrm>
            <a:off x="8229600" y="4286250"/>
            <a:ext cx="257175" cy="285750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12817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native163"/>
          <p:cNvSpPr/>
          <p:nvPr/>
        </p:nvSpPr>
        <p:spPr>
          <a:xfrm>
            <a:off x="8267700" y="4333875"/>
            <a:ext cx="666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4" name="native164"/>
          <p:cNvSpPr/>
          <p:nvPr/>
        </p:nvSpPr>
        <p:spPr>
          <a:xfrm>
            <a:off x="8362950" y="4333875"/>
            <a:ext cx="666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5" name="native165"/>
          <p:cNvSpPr/>
          <p:nvPr/>
        </p:nvSpPr>
        <p:spPr>
          <a:xfrm>
            <a:off x="8267700" y="4429125"/>
            <a:ext cx="666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6" name="native166"/>
          <p:cNvSpPr/>
          <p:nvPr/>
        </p:nvSpPr>
        <p:spPr>
          <a:xfrm>
            <a:off x="8362950" y="4429125"/>
            <a:ext cx="666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7" name="native167"/>
          <p:cNvSpPr/>
          <p:nvPr/>
        </p:nvSpPr>
        <p:spPr>
          <a:xfrm>
            <a:off x="8534400" y="4286250"/>
            <a:ext cx="257175" cy="285750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12817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" name="native168"/>
          <p:cNvSpPr/>
          <p:nvPr/>
        </p:nvSpPr>
        <p:spPr>
          <a:xfrm>
            <a:off x="8572500" y="4333875"/>
            <a:ext cx="666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native169"/>
          <p:cNvSpPr/>
          <p:nvPr/>
        </p:nvSpPr>
        <p:spPr>
          <a:xfrm>
            <a:off x="8667750" y="4333875"/>
            <a:ext cx="666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" name="native170"/>
          <p:cNvSpPr/>
          <p:nvPr/>
        </p:nvSpPr>
        <p:spPr>
          <a:xfrm>
            <a:off x="8572500" y="4429125"/>
            <a:ext cx="666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" name="native171"/>
          <p:cNvSpPr/>
          <p:nvPr/>
        </p:nvSpPr>
        <p:spPr>
          <a:xfrm>
            <a:off x="8667750" y="4429125"/>
            <a:ext cx="666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" name="native172"/>
          <p:cNvSpPr/>
          <p:nvPr/>
        </p:nvSpPr>
        <p:spPr>
          <a:xfrm>
            <a:off x="8839200" y="4286250"/>
            <a:ext cx="257175" cy="285750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12817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native173"/>
          <p:cNvSpPr/>
          <p:nvPr/>
        </p:nvSpPr>
        <p:spPr>
          <a:xfrm>
            <a:off x="8877300" y="4333875"/>
            <a:ext cx="666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" name="native174"/>
          <p:cNvSpPr/>
          <p:nvPr/>
        </p:nvSpPr>
        <p:spPr>
          <a:xfrm>
            <a:off x="8972550" y="4333875"/>
            <a:ext cx="666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5" name="native175"/>
          <p:cNvSpPr/>
          <p:nvPr/>
        </p:nvSpPr>
        <p:spPr>
          <a:xfrm>
            <a:off x="8877300" y="4429125"/>
            <a:ext cx="666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6" name="native176"/>
          <p:cNvSpPr/>
          <p:nvPr/>
        </p:nvSpPr>
        <p:spPr>
          <a:xfrm>
            <a:off x="8972550" y="4429125"/>
            <a:ext cx="666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" name="native177"/>
          <p:cNvSpPr/>
          <p:nvPr/>
        </p:nvSpPr>
        <p:spPr>
          <a:xfrm>
            <a:off x="7705725" y="4647819"/>
            <a:ext cx="194310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12817B"/>
                </a:solidFill>
                <a:latin typeface="Noto Sans CJK SC"/>
                <a:ea typeface="Noto Sans CJK SC"/>
              </a:rPr>
              <a:t>TopK · 112 页</a:t>
            </a:r>
            <a:endParaRPr lang="zh-CN" sz="1275"/>
          </a:p>
        </p:txBody>
      </p:sp>
      <p:sp>
        <p:nvSpPr>
          <p:cNvPr id="178" name="native178"/>
          <p:cNvSpPr/>
          <p:nvPr/>
        </p:nvSpPr>
        <p:spPr>
          <a:xfrm>
            <a:off x="9163050" y="4429125"/>
            <a:ext cx="171450" cy="952"/>
          </a:xfrm>
          <a:custGeom>
            <a:avLst/>
            <a:gdLst/>
            <a:ahLst/>
            <a:cxnLst/>
            <a:rect l="0" t="0" r="r" b="b"/>
            <a:pathLst>
              <a:path w="171450" h="952" fill="none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19050">
            <a:solidFill>
              <a:srgbClr val="12817B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" name="native179"/>
          <p:cNvSpPr/>
          <p:nvPr/>
        </p:nvSpPr>
        <p:spPr>
          <a:xfrm>
            <a:off x="9886950" y="4238625"/>
            <a:ext cx="190500" cy="952"/>
          </a:xfrm>
          <a:custGeom>
            <a:avLst/>
            <a:gdLst/>
            <a:ahLst/>
            <a:cxnLst/>
            <a:rect l="0" t="0" r="r" b="b"/>
            <a:pathLst>
              <a:path w="190500" h="952" fill="none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2817B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0" name="native180"/>
          <p:cNvSpPr/>
          <p:nvPr/>
        </p:nvSpPr>
        <p:spPr>
          <a:xfrm>
            <a:off x="10086975" y="3701415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12817B"/>
                </a:solidFill>
                <a:latin typeface="Noto Sans CJK SC"/>
                <a:ea typeface="Noto Sans CJK SC"/>
              </a:rPr>
              <a:t>远区 点积</a:t>
            </a:r>
          </a:p>
        </p:txBody>
      </p:sp>
      <p:sp>
        <p:nvSpPr>
          <p:cNvPr id="181" name="native181"/>
          <p:cNvSpPr/>
          <p:nvPr/>
        </p:nvSpPr>
        <p:spPr>
          <a:xfrm>
            <a:off x="10191750" y="4114800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2" name="native182"/>
          <p:cNvSpPr/>
          <p:nvPr/>
        </p:nvSpPr>
        <p:spPr>
          <a:xfrm>
            <a:off x="10334625" y="4114800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3" name="native183"/>
          <p:cNvSpPr/>
          <p:nvPr/>
        </p:nvSpPr>
        <p:spPr>
          <a:xfrm>
            <a:off x="10477500" y="4114800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" name="native184"/>
          <p:cNvSpPr/>
          <p:nvPr/>
        </p:nvSpPr>
        <p:spPr>
          <a:xfrm>
            <a:off x="10620375" y="4114800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" name="native185"/>
          <p:cNvSpPr/>
          <p:nvPr/>
        </p:nvSpPr>
        <p:spPr>
          <a:xfrm>
            <a:off x="10763250" y="4114800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" name="native186"/>
          <p:cNvSpPr/>
          <p:nvPr/>
        </p:nvSpPr>
        <p:spPr>
          <a:xfrm>
            <a:off x="10906125" y="4114800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7" name="native187"/>
          <p:cNvSpPr/>
          <p:nvPr/>
        </p:nvSpPr>
        <p:spPr>
          <a:xfrm>
            <a:off x="10191750" y="4219575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8" name="native188"/>
          <p:cNvSpPr/>
          <p:nvPr/>
        </p:nvSpPr>
        <p:spPr>
          <a:xfrm>
            <a:off x="10334625" y="4219575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9" name="native189"/>
          <p:cNvSpPr/>
          <p:nvPr/>
        </p:nvSpPr>
        <p:spPr>
          <a:xfrm>
            <a:off x="10477500" y="4219575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0" name="native190"/>
          <p:cNvSpPr/>
          <p:nvPr/>
        </p:nvSpPr>
        <p:spPr>
          <a:xfrm>
            <a:off x="10620375" y="4219575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1" name="native191"/>
          <p:cNvSpPr/>
          <p:nvPr/>
        </p:nvSpPr>
        <p:spPr>
          <a:xfrm>
            <a:off x="10763250" y="4219575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2" name="native192"/>
          <p:cNvSpPr/>
          <p:nvPr/>
        </p:nvSpPr>
        <p:spPr>
          <a:xfrm>
            <a:off x="10906125" y="4219575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3" name="native193"/>
          <p:cNvSpPr/>
          <p:nvPr/>
        </p:nvSpPr>
        <p:spPr>
          <a:xfrm>
            <a:off x="10191750" y="4324350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" name="native194"/>
          <p:cNvSpPr/>
          <p:nvPr/>
        </p:nvSpPr>
        <p:spPr>
          <a:xfrm>
            <a:off x="10334625" y="4324350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" name="native195"/>
          <p:cNvSpPr/>
          <p:nvPr/>
        </p:nvSpPr>
        <p:spPr>
          <a:xfrm>
            <a:off x="10477500" y="4324350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" name="native196"/>
          <p:cNvSpPr/>
          <p:nvPr/>
        </p:nvSpPr>
        <p:spPr>
          <a:xfrm>
            <a:off x="10620375" y="4324350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7" name="native197"/>
          <p:cNvSpPr/>
          <p:nvPr/>
        </p:nvSpPr>
        <p:spPr>
          <a:xfrm>
            <a:off x="10763250" y="4324350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" name="native198"/>
          <p:cNvSpPr/>
          <p:nvPr/>
        </p:nvSpPr>
        <p:spPr>
          <a:xfrm>
            <a:off x="10906125" y="4324350"/>
            <a:ext cx="104775" cy="6667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9" name="native199"/>
          <p:cNvSpPr/>
          <p:nvPr/>
        </p:nvSpPr>
        <p:spPr>
          <a:xfrm>
            <a:off x="9282112" y="4438269"/>
            <a:ext cx="2752725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12817B"/>
                </a:solidFill>
                <a:latin typeface="Noto Sans CJK SC"/>
                <a:ea typeface="Noto Sans CJK SC"/>
              </a:rPr>
              <a:t>名义配额 · 252 词元</a:t>
            </a:r>
          </a:p>
        </p:txBody>
      </p:sp>
      <p:sp>
        <p:nvSpPr>
          <p:cNvPr id="200" name="native200"/>
          <p:cNvSpPr/>
          <p:nvPr/>
        </p:nvSpPr>
        <p:spPr>
          <a:xfrm>
            <a:off x="11249025" y="4314825"/>
            <a:ext cx="285750" cy="952"/>
          </a:xfrm>
          <a:custGeom>
            <a:avLst/>
            <a:gdLst/>
            <a:ahLst/>
            <a:cxnLst/>
            <a:rect l="0" t="0" r="r" b="b"/>
            <a:pathLst>
              <a:path w="285750" h="952" fill="none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12817B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1" name="native201"/>
          <p:cNvSpPr/>
          <p:nvPr/>
        </p:nvSpPr>
        <p:spPr>
          <a:xfrm>
            <a:off x="11610975" y="4257675"/>
            <a:ext cx="85725" cy="12382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2" name="native202"/>
          <p:cNvSpPr/>
          <p:nvPr/>
        </p:nvSpPr>
        <p:spPr>
          <a:xfrm>
            <a:off x="11725275" y="4257675"/>
            <a:ext cx="85725" cy="123825"/>
          </a:xfrm>
          <a:prstGeom prst="rect">
            <a:avLst/>
          </a:prstGeom>
          <a:solidFill>
            <a:srgbClr val="12817B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3" name="native203"/>
          <p:cNvSpPr/>
          <p:nvPr/>
        </p:nvSpPr>
        <p:spPr>
          <a:xfrm>
            <a:off x="7229475" y="5037201"/>
            <a:ext cx="25717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OFF：跳过远区点积</a:t>
            </a:r>
          </a:p>
        </p:txBody>
      </p:sp>
      <p:sp>
        <p:nvSpPr>
          <p:cNvPr id="204" name="native204"/>
          <p:cNvSpPr/>
          <p:nvPr/>
        </p:nvSpPr>
        <p:spPr>
          <a:xfrm>
            <a:off x="7229475" y="5246751"/>
            <a:ext cx="18859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L1 k=0；L2跳过</a:t>
            </a:r>
          </a:p>
        </p:txBody>
      </p:sp>
      <p:sp>
        <p:nvSpPr>
          <p:cNvPr id="205" name="native205"/>
          <p:cNvSpPr/>
          <p:nvPr/>
        </p:nvSpPr>
        <p:spPr>
          <a:xfrm>
            <a:off x="7181850" y="6293358"/>
            <a:ext cx="85725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1">
                <a:solidFill>
                  <a:srgbClr val="32689F"/>
                </a:solidFill>
                <a:latin typeface="Noto Sans CJK SC"/>
                <a:ea typeface="Noto Sans CJK SC"/>
              </a:rPr>
              <a:t>近区</a:t>
            </a:r>
          </a:p>
        </p:txBody>
      </p:sp>
      <p:sp>
        <p:nvSpPr>
          <p:cNvPr id="206" name="native206"/>
          <p:cNvSpPr/>
          <p:nvPr/>
        </p:nvSpPr>
        <p:spPr>
          <a:xfrm>
            <a:off x="7296150" y="5532501"/>
            <a:ext cx="22288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32689F"/>
                </a:solidFill>
                <a:latin typeface="Noto Sans CJK SC"/>
                <a:ea typeface="Noto Sans CJK SC"/>
              </a:rPr>
              <a:t>均值 页分 → TopK</a:t>
            </a:r>
          </a:p>
        </p:txBody>
      </p:sp>
      <p:sp>
        <p:nvSpPr>
          <p:cNvPr id="207" name="native207"/>
          <p:cNvSpPr/>
          <p:nvPr/>
        </p:nvSpPr>
        <p:spPr>
          <a:xfrm>
            <a:off x="7962900" y="5857875"/>
            <a:ext cx="257175" cy="285750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3268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8" name="native208"/>
          <p:cNvSpPr/>
          <p:nvPr/>
        </p:nvSpPr>
        <p:spPr>
          <a:xfrm>
            <a:off x="8001000" y="5905500"/>
            <a:ext cx="66675" cy="666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9" name="native209"/>
          <p:cNvSpPr/>
          <p:nvPr/>
        </p:nvSpPr>
        <p:spPr>
          <a:xfrm>
            <a:off x="8096250" y="5905500"/>
            <a:ext cx="66675" cy="666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0" name="native210"/>
          <p:cNvSpPr/>
          <p:nvPr/>
        </p:nvSpPr>
        <p:spPr>
          <a:xfrm>
            <a:off x="8001000" y="6000750"/>
            <a:ext cx="66675" cy="666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" name="native211"/>
          <p:cNvSpPr/>
          <p:nvPr/>
        </p:nvSpPr>
        <p:spPr>
          <a:xfrm>
            <a:off x="8096250" y="6000750"/>
            <a:ext cx="66675" cy="666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2" name="native212"/>
          <p:cNvSpPr/>
          <p:nvPr/>
        </p:nvSpPr>
        <p:spPr>
          <a:xfrm>
            <a:off x="8267700" y="5857875"/>
            <a:ext cx="257175" cy="285750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3268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3" name="native213"/>
          <p:cNvSpPr/>
          <p:nvPr/>
        </p:nvSpPr>
        <p:spPr>
          <a:xfrm>
            <a:off x="8305800" y="5905500"/>
            <a:ext cx="66675" cy="666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4" name="native214"/>
          <p:cNvSpPr/>
          <p:nvPr/>
        </p:nvSpPr>
        <p:spPr>
          <a:xfrm>
            <a:off x="8401050" y="5905500"/>
            <a:ext cx="66675" cy="666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" name="native215"/>
          <p:cNvSpPr/>
          <p:nvPr/>
        </p:nvSpPr>
        <p:spPr>
          <a:xfrm>
            <a:off x="8305800" y="6000750"/>
            <a:ext cx="66675" cy="666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6" name="native216"/>
          <p:cNvSpPr/>
          <p:nvPr/>
        </p:nvSpPr>
        <p:spPr>
          <a:xfrm>
            <a:off x="8401050" y="6000750"/>
            <a:ext cx="66675" cy="666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7" name="native217"/>
          <p:cNvSpPr/>
          <p:nvPr/>
        </p:nvSpPr>
        <p:spPr>
          <a:xfrm>
            <a:off x="8572500" y="5857875"/>
            <a:ext cx="257175" cy="285750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32689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8" name="native218"/>
          <p:cNvSpPr/>
          <p:nvPr/>
        </p:nvSpPr>
        <p:spPr>
          <a:xfrm>
            <a:off x="8610600" y="5905500"/>
            <a:ext cx="66675" cy="666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9" name="native219"/>
          <p:cNvSpPr/>
          <p:nvPr/>
        </p:nvSpPr>
        <p:spPr>
          <a:xfrm>
            <a:off x="8705850" y="5905500"/>
            <a:ext cx="66675" cy="666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0" name="native220"/>
          <p:cNvSpPr/>
          <p:nvPr/>
        </p:nvSpPr>
        <p:spPr>
          <a:xfrm>
            <a:off x="8610600" y="6000750"/>
            <a:ext cx="66675" cy="666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1" name="native221"/>
          <p:cNvSpPr/>
          <p:nvPr/>
        </p:nvSpPr>
        <p:spPr>
          <a:xfrm>
            <a:off x="8705850" y="6000750"/>
            <a:ext cx="66675" cy="6667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2" name="native222"/>
          <p:cNvSpPr/>
          <p:nvPr/>
        </p:nvSpPr>
        <p:spPr>
          <a:xfrm>
            <a:off x="7505700" y="6274308"/>
            <a:ext cx="1809750" cy="28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32689F"/>
                </a:solidFill>
                <a:latin typeface="Noto Sans CJK SC"/>
                <a:ea typeface="Noto Sans CJK SC"/>
              </a:rPr>
              <a:t>L1：16页</a:t>
            </a:r>
          </a:p>
        </p:txBody>
      </p:sp>
      <p:sp>
        <p:nvSpPr>
          <p:cNvPr id="223" name="native223"/>
          <p:cNvSpPr/>
          <p:nvPr/>
        </p:nvSpPr>
        <p:spPr>
          <a:xfrm>
            <a:off x="7258050" y="6038850"/>
            <a:ext cx="561975" cy="952"/>
          </a:xfrm>
          <a:custGeom>
            <a:avLst/>
            <a:gdLst/>
            <a:ahLst/>
            <a:cxnLst/>
            <a:rect l="0" t="0" r="r" b="b"/>
            <a:pathLst>
              <a:path w="561975" h="952" fill="none">
                <a:moveTo>
                  <a:pt x="0" y="0"/>
                </a:moveTo>
                <a:lnTo>
                  <a:pt x="561975" y="0"/>
                </a:lnTo>
              </a:path>
            </a:pathLst>
          </a:custGeom>
          <a:noFill/>
          <a:ln w="19050">
            <a:solidFill>
              <a:srgbClr val="32689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4" name="native224"/>
          <p:cNvSpPr/>
          <p:nvPr/>
        </p:nvSpPr>
        <p:spPr>
          <a:xfrm>
            <a:off x="8982075" y="6038850"/>
            <a:ext cx="552450" cy="952"/>
          </a:xfrm>
          <a:custGeom>
            <a:avLst/>
            <a:gdLst/>
            <a:ahLst/>
            <a:cxnLst/>
            <a:rect l="0" t="0" r="r" b="b"/>
            <a:pathLst>
              <a:path w="552450" h="952" fill="none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19050">
            <a:solidFill>
              <a:srgbClr val="32689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" name="native225"/>
          <p:cNvSpPr/>
          <p:nvPr/>
        </p:nvSpPr>
        <p:spPr>
          <a:xfrm>
            <a:off x="8753475" y="5599176"/>
            <a:ext cx="34290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32689F"/>
                </a:solidFill>
                <a:latin typeface="Noto Sans CJK SC"/>
                <a:ea typeface="Noto Sans CJK SC"/>
              </a:rPr>
              <a:t>近区 点积 → 词元 TopK</a:t>
            </a:r>
          </a:p>
        </p:txBody>
      </p:sp>
      <p:sp>
        <p:nvSpPr>
          <p:cNvPr id="226" name="native226"/>
          <p:cNvSpPr/>
          <p:nvPr/>
        </p:nvSpPr>
        <p:spPr>
          <a:xfrm>
            <a:off x="9820275" y="59436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7" name="native227"/>
          <p:cNvSpPr/>
          <p:nvPr/>
        </p:nvSpPr>
        <p:spPr>
          <a:xfrm>
            <a:off x="9963150" y="59436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8" name="native228"/>
          <p:cNvSpPr/>
          <p:nvPr/>
        </p:nvSpPr>
        <p:spPr>
          <a:xfrm>
            <a:off x="10106025" y="59436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9" name="native229"/>
          <p:cNvSpPr/>
          <p:nvPr/>
        </p:nvSpPr>
        <p:spPr>
          <a:xfrm>
            <a:off x="10248900" y="59436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0" name="native230"/>
          <p:cNvSpPr/>
          <p:nvPr/>
        </p:nvSpPr>
        <p:spPr>
          <a:xfrm>
            <a:off x="10391775" y="59436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1" name="native231"/>
          <p:cNvSpPr/>
          <p:nvPr/>
        </p:nvSpPr>
        <p:spPr>
          <a:xfrm>
            <a:off x="10534650" y="59436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" name="native232"/>
          <p:cNvSpPr/>
          <p:nvPr/>
        </p:nvSpPr>
        <p:spPr>
          <a:xfrm>
            <a:off x="10677525" y="59436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3" name="native233"/>
          <p:cNvSpPr/>
          <p:nvPr/>
        </p:nvSpPr>
        <p:spPr>
          <a:xfrm>
            <a:off x="10820400" y="59436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4" name="native234"/>
          <p:cNvSpPr/>
          <p:nvPr/>
        </p:nvSpPr>
        <p:spPr>
          <a:xfrm>
            <a:off x="10963275" y="59436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5" name="native235"/>
          <p:cNvSpPr/>
          <p:nvPr/>
        </p:nvSpPr>
        <p:spPr>
          <a:xfrm>
            <a:off x="9820275" y="60579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6" name="native236"/>
          <p:cNvSpPr/>
          <p:nvPr/>
        </p:nvSpPr>
        <p:spPr>
          <a:xfrm>
            <a:off x="9963150" y="60579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7" name="native237"/>
          <p:cNvSpPr/>
          <p:nvPr/>
        </p:nvSpPr>
        <p:spPr>
          <a:xfrm>
            <a:off x="10106025" y="60579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8" name="native238"/>
          <p:cNvSpPr/>
          <p:nvPr/>
        </p:nvSpPr>
        <p:spPr>
          <a:xfrm>
            <a:off x="10248900" y="60579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9" name="native239"/>
          <p:cNvSpPr/>
          <p:nvPr/>
        </p:nvSpPr>
        <p:spPr>
          <a:xfrm>
            <a:off x="10391775" y="60579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0" name="native240"/>
          <p:cNvSpPr/>
          <p:nvPr/>
        </p:nvSpPr>
        <p:spPr>
          <a:xfrm>
            <a:off x="10534650" y="60579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1" name="native241"/>
          <p:cNvSpPr/>
          <p:nvPr/>
        </p:nvSpPr>
        <p:spPr>
          <a:xfrm>
            <a:off x="10677525" y="60579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2" name="native242"/>
          <p:cNvSpPr/>
          <p:nvPr/>
        </p:nvSpPr>
        <p:spPr>
          <a:xfrm>
            <a:off x="10820400" y="60579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3" name="native243"/>
          <p:cNvSpPr/>
          <p:nvPr/>
        </p:nvSpPr>
        <p:spPr>
          <a:xfrm>
            <a:off x="10963275" y="6057900"/>
            <a:ext cx="104775" cy="76200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4" name="native244"/>
          <p:cNvSpPr/>
          <p:nvPr/>
        </p:nvSpPr>
        <p:spPr>
          <a:xfrm>
            <a:off x="11144250" y="6038850"/>
            <a:ext cx="390525" cy="952"/>
          </a:xfrm>
          <a:custGeom>
            <a:avLst/>
            <a:gdLst/>
            <a:ahLst/>
            <a:cxnLst/>
            <a:rect l="0" t="0" r="r" b="b"/>
            <a:pathLst>
              <a:path w="390525" h="952" fill="none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/>
          <a:ln w="19050">
            <a:solidFill>
              <a:srgbClr val="32689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" name="native245"/>
          <p:cNvSpPr/>
          <p:nvPr/>
        </p:nvSpPr>
        <p:spPr>
          <a:xfrm>
            <a:off x="11610975" y="5981700"/>
            <a:ext cx="85725" cy="12382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6" name="native246"/>
          <p:cNvSpPr/>
          <p:nvPr/>
        </p:nvSpPr>
        <p:spPr>
          <a:xfrm>
            <a:off x="11725275" y="5981700"/>
            <a:ext cx="85725" cy="123825"/>
          </a:xfrm>
          <a:prstGeom prst="rect">
            <a:avLst/>
          </a:prstGeom>
          <a:solidFill>
            <a:srgbClr val="32689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7" name="native247"/>
          <p:cNvSpPr/>
          <p:nvPr/>
        </p:nvSpPr>
        <p:spPr>
          <a:xfrm>
            <a:off x="9020175" y="6306312"/>
            <a:ext cx="2895600" cy="24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32689F"/>
                </a:solidFill>
                <a:latin typeface="Noto Sans CJK SC"/>
                <a:ea typeface="Noto Sans CJK SC"/>
              </a:rPr>
              <a:t>ON 640 / OFF ≤892</a:t>
            </a:r>
          </a:p>
        </p:txBody>
      </p:sp>
      <p:sp>
        <p:nvSpPr>
          <p:cNvPr id="248" name="native248"/>
          <p:cNvSpPr/>
          <p:nvPr/>
        </p:nvSpPr>
        <p:spPr>
          <a:xfrm>
            <a:off x="9630000" y="5019675"/>
            <a:ext cx="1950000" cy="447675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A6632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9" name="native249"/>
          <p:cNvSpPr/>
          <p:nvPr/>
        </p:nvSpPr>
        <p:spPr>
          <a:xfrm>
            <a:off x="9620250" y="5019294"/>
            <a:ext cx="194310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L2配额</a:t>
            </a:r>
          </a:p>
        </p:txBody>
      </p:sp>
      <p:sp>
        <p:nvSpPr>
          <p:cNvPr id="250" name="native250"/>
          <p:cNvSpPr/>
          <p:nvPr/>
        </p:nvSpPr>
        <p:spPr>
          <a:xfrm>
            <a:off x="9782175" y="5219319"/>
            <a:ext cx="1619250" cy="259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32689F"/>
                </a:solidFill>
                <a:latin typeface="Noto Sans CJK SC"/>
                <a:ea typeface="Noto Sans CJK SC"/>
              </a:rPr>
              <a:t>OFF：余量→近区</a:t>
            </a:r>
          </a:p>
        </p:txBody>
      </p:sp>
      <p:sp>
        <p:nvSpPr>
          <p:cNvPr id="251" name="native251"/>
          <p:cNvSpPr/>
          <p:nvPr/>
        </p:nvSpPr>
        <p:spPr>
          <a:xfrm>
            <a:off x="10810875" y="5467350"/>
            <a:ext cx="952" cy="114300"/>
          </a:xfrm>
          <a:custGeom>
            <a:avLst/>
            <a:gdLst/>
            <a:ahLst/>
            <a:cxnLst/>
            <a:rect l="0" t="0" r="r" b="b"/>
            <a:pathLst>
              <a:path w="952" h="114300" fill="none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20955">
            <a:solidFill>
              <a:srgbClr val="32689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3" name="native253"/>
          <p:cNvSpPr/>
          <p:nvPr/>
        </p:nvSpPr>
        <p:spPr>
          <a:xfrm>
            <a:off x="12168188" y="3243072"/>
            <a:ext cx="1800225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75" b="1">
                <a:solidFill>
                  <a:srgbClr val="193247"/>
                </a:solidFill>
                <a:latin typeface="Noto Sans CJK SC"/>
                <a:ea typeface="Noto Sans CJK SC"/>
              </a:rPr>
              <a:t>原维注意力始终执行</a:t>
            </a:r>
            <a:endParaRPr lang="zh-CN" sz="1575"/>
          </a:p>
        </p:txBody>
      </p:sp>
      <p:sp>
        <p:nvSpPr>
          <p:cNvPr id="254" name="native254"/>
          <p:cNvSpPr/>
          <p:nvPr/>
        </p:nvSpPr>
        <p:spPr>
          <a:xfrm>
            <a:off x="12039600" y="3560826"/>
            <a:ext cx="20574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0">
                <a:solidFill>
                  <a:srgbClr val="526777"/>
                </a:solidFill>
                <a:latin typeface="Noto Sans CJK SC"/>
                <a:ea typeface="Noto Sans CJK SC"/>
              </a:rPr>
              <a:t>ON / OFF 均保留</a:t>
            </a:r>
            <a:endParaRPr lang="zh-CN" sz="1350"/>
          </a:p>
        </p:txBody>
      </p:sp>
      <p:sp>
        <p:nvSpPr>
          <p:cNvPr id="255" name="native255"/>
          <p:cNvSpPr/>
          <p:nvPr/>
        </p:nvSpPr>
        <p:spPr>
          <a:xfrm>
            <a:off x="11849100" y="4314825"/>
            <a:ext cx="342900" cy="866775"/>
          </a:xfrm>
          <a:custGeom>
            <a:avLst/>
            <a:gdLst/>
            <a:ahLst/>
            <a:cxnLst/>
            <a:rect l="0" t="0" r="r" b="b"/>
            <a:pathLst>
              <a:path w="342900" h="866775" fill="none">
                <a:moveTo>
                  <a:pt x="0" y="0"/>
                </a:moveTo>
                <a:lnTo>
                  <a:pt x="342900" y="0"/>
                </a:lnTo>
                <a:lnTo>
                  <a:pt x="342900" y="866775"/>
                </a:lnTo>
              </a:path>
            </a:pathLst>
          </a:custGeom>
          <a:noFill/>
          <a:ln w="19050">
            <a:solidFill>
              <a:srgbClr val="12817B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" name="native256"/>
          <p:cNvSpPr/>
          <p:nvPr/>
        </p:nvSpPr>
        <p:spPr>
          <a:xfrm>
            <a:off x="11849100" y="5486400"/>
            <a:ext cx="342900" cy="552450"/>
          </a:xfrm>
          <a:custGeom>
            <a:avLst/>
            <a:gdLst/>
            <a:ahLst/>
            <a:cxnLst/>
            <a:rect l="0" t="0" r="r" b="b"/>
            <a:pathLst>
              <a:path w="342900" h="552450" fill="none">
                <a:moveTo>
                  <a:pt x="0" y="552450"/>
                </a:moveTo>
                <a:lnTo>
                  <a:pt x="342900" y="552450"/>
                </a:lnTo>
                <a:lnTo>
                  <a:pt x="342900" y="0"/>
                </a:lnTo>
              </a:path>
            </a:pathLst>
          </a:custGeom>
          <a:noFill/>
          <a:ln w="19050">
            <a:solidFill>
              <a:srgbClr val="32689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7" name="native257"/>
          <p:cNvSpPr/>
          <p:nvPr/>
        </p:nvSpPr>
        <p:spPr>
          <a:xfrm>
            <a:off x="12058650" y="5181600"/>
            <a:ext cx="266700" cy="304800"/>
          </a:xfrm>
          <a:prstGeom prst="roundRect">
            <a:avLst/>
          </a:prstGeom>
          <a:solidFill>
            <a:srgbClr val="F1EDF5"/>
          </a:solidFill>
          <a:ln w="14288">
            <a:solidFill>
              <a:srgbClr val="78628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8" name="native258"/>
          <p:cNvSpPr/>
          <p:nvPr/>
        </p:nvSpPr>
        <p:spPr>
          <a:xfrm>
            <a:off x="11763375" y="5154168"/>
            <a:ext cx="857250" cy="365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800" b="1">
                <a:solidFill>
                  <a:srgbClr val="78628F"/>
                </a:solidFill>
                <a:latin typeface="Noto Sans CJK SC"/>
                <a:ea typeface="Noto Sans CJK SC"/>
              </a:rPr>
              <a:t>∪</a:t>
            </a:r>
            <a:endParaRPr lang="zh-CN" sz="1800"/>
          </a:p>
        </p:txBody>
      </p:sp>
      <p:sp>
        <p:nvSpPr>
          <p:cNvPr id="259" name="native259"/>
          <p:cNvSpPr/>
          <p:nvPr/>
        </p:nvSpPr>
        <p:spPr>
          <a:xfrm>
            <a:off x="11858625" y="6256401"/>
            <a:ext cx="24003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727E87"/>
                </a:solidFill>
                <a:latin typeface="Noto Sans CJK SC"/>
                <a:ea typeface="Noto Sans CJK SC"/>
              </a:rPr>
              <a:t>P = 前缀 ∪ 近期窗口</a:t>
            </a:r>
          </a:p>
        </p:txBody>
      </p:sp>
      <p:sp>
        <p:nvSpPr>
          <p:cNvPr id="260" name="native260"/>
          <p:cNvSpPr/>
          <p:nvPr/>
        </p:nvSpPr>
        <p:spPr>
          <a:xfrm>
            <a:off x="12573000" y="6124575"/>
            <a:ext cx="85725" cy="123825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1" name="native261"/>
          <p:cNvSpPr/>
          <p:nvPr/>
        </p:nvSpPr>
        <p:spPr>
          <a:xfrm>
            <a:off x="12687300" y="6124575"/>
            <a:ext cx="85725" cy="123825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2" name="native262"/>
          <p:cNvSpPr/>
          <p:nvPr/>
        </p:nvSpPr>
        <p:spPr>
          <a:xfrm>
            <a:off x="12801600" y="6124575"/>
            <a:ext cx="85725" cy="123825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3" name="native263"/>
          <p:cNvSpPr/>
          <p:nvPr/>
        </p:nvSpPr>
        <p:spPr>
          <a:xfrm>
            <a:off x="12915900" y="6124575"/>
            <a:ext cx="85725" cy="123825"/>
          </a:xfrm>
          <a:prstGeom prst="rect">
            <a:avLst/>
          </a:prstGeom>
          <a:solidFill>
            <a:srgbClr val="727E87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4" name="native264"/>
          <p:cNvSpPr/>
          <p:nvPr/>
        </p:nvSpPr>
        <p:spPr>
          <a:xfrm>
            <a:off x="12192000" y="5486400"/>
            <a:ext cx="381000" cy="695325"/>
          </a:xfrm>
          <a:custGeom>
            <a:avLst/>
            <a:gdLst/>
            <a:ahLst/>
            <a:cxnLst/>
            <a:rect l="0" t="0" r="r" b="b"/>
            <a:pathLst>
              <a:path w="381000" h="695325" fill="none">
                <a:moveTo>
                  <a:pt x="381000" y="695325"/>
                </a:moveTo>
                <a:lnTo>
                  <a:pt x="247650" y="695325"/>
                </a:lnTo>
                <a:lnTo>
                  <a:pt x="247650" y="133350"/>
                </a:lnTo>
                <a:lnTo>
                  <a:pt x="0" y="133350"/>
                </a:lnTo>
                <a:lnTo>
                  <a:pt x="0" y="0"/>
                </a:lnTo>
              </a:path>
            </a:pathLst>
          </a:custGeom>
          <a:noFill/>
          <a:ln w="16192">
            <a:solidFill>
              <a:srgbClr val="727E8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" name="native265"/>
          <p:cNvSpPr/>
          <p:nvPr/>
        </p:nvSpPr>
        <p:spPr>
          <a:xfrm>
            <a:off x="12325350" y="5334000"/>
            <a:ext cx="285750" cy="952"/>
          </a:xfrm>
          <a:custGeom>
            <a:avLst/>
            <a:gdLst/>
            <a:ahLst/>
            <a:cxnLst/>
            <a:rect l="0" t="0" r="r" b="b"/>
            <a:pathLst>
              <a:path w="285750" h="952" fill="none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78628F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" name="native266"/>
          <p:cNvSpPr/>
          <p:nvPr/>
        </p:nvSpPr>
        <p:spPr>
          <a:xfrm>
            <a:off x="12630150" y="4400550"/>
            <a:ext cx="1562100" cy="1266825"/>
          </a:xfrm>
          <a:prstGeom prst="roundRect">
            <a:avLst/>
          </a:prstGeom>
          <a:solidFill>
            <a:srgbClr val="F7F9FA"/>
          </a:solidFill>
          <a:ln w="14288">
            <a:solidFill>
              <a:srgbClr val="19324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7" name="native267"/>
          <p:cNvSpPr/>
          <p:nvPr/>
        </p:nvSpPr>
        <p:spPr>
          <a:xfrm>
            <a:off x="12744450" y="445389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按共享词元索引</a:t>
            </a:r>
          </a:p>
        </p:txBody>
      </p:sp>
      <p:sp>
        <p:nvSpPr>
          <p:cNvPr id="268" name="native268"/>
          <p:cNvSpPr/>
          <p:nvPr/>
        </p:nvSpPr>
        <p:spPr>
          <a:xfrm>
            <a:off x="12553950" y="472059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取原始 K / V</a:t>
            </a:r>
            <a:endParaRPr lang="zh-CN" sz="1500"/>
          </a:p>
        </p:txBody>
      </p:sp>
      <p:sp>
        <p:nvSpPr>
          <p:cNvPr id="269" name="native269"/>
          <p:cNvSpPr/>
          <p:nvPr/>
        </p:nvSpPr>
        <p:spPr>
          <a:xfrm>
            <a:off x="12863512" y="5012436"/>
            <a:ext cx="1095375" cy="35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725" b="1">
                <a:solidFill>
                  <a:srgbClr val="193247"/>
                </a:solidFill>
                <a:latin typeface="Noto Sans CJK SC"/>
                <a:ea typeface="Noto Sans CJK SC"/>
              </a:rPr>
              <a:t>D=128</a:t>
            </a:r>
            <a:endParaRPr lang="zh-CN" sz="1725"/>
          </a:p>
        </p:txBody>
      </p:sp>
      <p:sp>
        <p:nvSpPr>
          <p:cNvPr id="270" name="native270"/>
          <p:cNvSpPr/>
          <p:nvPr/>
        </p:nvSpPr>
        <p:spPr>
          <a:xfrm>
            <a:off x="12511088" y="5290947"/>
            <a:ext cx="1800225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75" b="1">
                <a:solidFill>
                  <a:srgbClr val="193247"/>
                </a:solidFill>
                <a:latin typeface="Noto Sans CJK SC"/>
                <a:ea typeface="Noto Sans CJK SC"/>
              </a:rPr>
              <a:t>注意力</a:t>
            </a:r>
          </a:p>
        </p:txBody>
      </p:sp>
      <p:sp>
        <p:nvSpPr>
          <p:cNvPr id="271" name="native271"/>
          <p:cNvSpPr/>
          <p:nvPr/>
        </p:nvSpPr>
        <p:spPr>
          <a:xfrm>
            <a:off x="12982575" y="3913251"/>
            <a:ext cx="85725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193247"/>
                </a:solidFill>
                <a:latin typeface="Noto Sans CJK SC"/>
                <a:ea typeface="Noto Sans CJK SC"/>
              </a:rPr>
              <a:t>原始 Q</a:t>
            </a:r>
            <a:endParaRPr lang="zh-CN" sz="1350"/>
          </a:p>
        </p:txBody>
      </p:sp>
      <p:sp>
        <p:nvSpPr>
          <p:cNvPr id="272" name="native272"/>
          <p:cNvSpPr/>
          <p:nvPr/>
        </p:nvSpPr>
        <p:spPr>
          <a:xfrm>
            <a:off x="13411200" y="4152900"/>
            <a:ext cx="952" cy="247650"/>
          </a:xfrm>
          <a:custGeom>
            <a:avLst/>
            <a:gdLst/>
            <a:ahLst/>
            <a:cxnLst/>
            <a:rect l="0" t="0" r="r" b="b"/>
            <a:pathLst>
              <a:path w="952" h="247650" fill="none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8098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3" name="native273"/>
          <p:cNvSpPr/>
          <p:nvPr/>
        </p:nvSpPr>
        <p:spPr>
          <a:xfrm>
            <a:off x="14192250" y="5048250"/>
            <a:ext cx="152400" cy="952"/>
          </a:xfrm>
          <a:custGeom>
            <a:avLst/>
            <a:gdLst/>
            <a:ahLst/>
            <a:cxnLst/>
            <a:rect l="0" t="0" r="r" b="b"/>
            <a:pathLst>
              <a:path w="152400" h="952" fill="none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7145">
            <a:solidFill>
              <a:srgbClr val="193247"/>
            </a:solidFill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4" name="native274"/>
          <p:cNvSpPr/>
          <p:nvPr/>
        </p:nvSpPr>
        <p:spPr>
          <a:xfrm>
            <a:off x="857250" y="2733675"/>
            <a:ext cx="12773025" cy="4162425"/>
          </a:xfrm>
          <a:custGeom>
            <a:avLst/>
            <a:gdLst/>
            <a:ahLst/>
            <a:cxnLst/>
            <a:rect l="0" t="0" r="r" b="b"/>
            <a:pathLst>
              <a:path w="12773025" h="4162425" fill="none">
                <a:moveTo>
                  <a:pt x="12773025" y="3962400"/>
                </a:moveTo>
                <a:lnTo>
                  <a:pt x="12773025" y="4162425"/>
                </a:lnTo>
                <a:lnTo>
                  <a:pt x="0" y="4162425"/>
                </a:lnTo>
                <a:lnTo>
                  <a:pt x="0" y="0"/>
                </a:lnTo>
                <a:lnTo>
                  <a:pt x="95250" y="0"/>
                </a:lnTo>
              </a:path>
            </a:pathLst>
          </a:custGeom>
          <a:noFill/>
          <a:ln w="14288">
            <a:solidFill>
              <a:srgbClr val="A66328"/>
            </a:solidFill>
            <a:prstDash val="dash"/>
            <a:tailEnd type="triangl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5" name="native275"/>
          <p:cNvSpPr/>
          <p:nvPr/>
        </p:nvSpPr>
        <p:spPr>
          <a:xfrm>
            <a:off x="4038600" y="6762750"/>
            <a:ext cx="3495675" cy="27622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" name="native276"/>
          <p:cNvSpPr/>
          <p:nvPr/>
        </p:nvSpPr>
        <p:spPr>
          <a:xfrm>
            <a:off x="3552825" y="6780276"/>
            <a:ext cx="4457700" cy="274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zh-CN" sz="1500" b="1">
                <a:solidFill>
                  <a:srgbClr val="A66328"/>
                </a:solidFill>
                <a:latin typeface="Noto Sans CJK SC"/>
                <a:ea typeface="Noto Sans CJK SC"/>
              </a:rPr>
              <a:t>下一输入：重置状态 → 重新预填充标定</a:t>
            </a:r>
          </a:p>
        </p:txBody>
      </p:sp>
      <p:sp>
        <p:nvSpPr>
          <p:cNvPr id="277" name="native277"/>
          <p:cNvSpPr/>
          <p:nvPr/>
        </p:nvSpPr>
        <p:spPr>
          <a:xfrm>
            <a:off x="952500" y="7115175"/>
            <a:ext cx="13335000" cy="952"/>
          </a:xfrm>
          <a:custGeom>
            <a:avLst/>
            <a:gdLst/>
            <a:ahLst/>
            <a:cxnLst/>
            <a:rect l="0" t="0" r="r" b="b"/>
            <a:pathLst>
              <a:path w="13335000" h="952" fill="none">
                <a:moveTo>
                  <a:pt x="0" y="0"/>
                </a:moveTo>
                <a:lnTo>
                  <a:pt x="13335000" y="0"/>
                </a:lnTo>
              </a:path>
            </a:pathLst>
          </a:custGeom>
          <a:noFill/>
          <a:ln w="8572">
            <a:solidFill>
              <a:srgbClr val="A8B6C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2" name="native282"/>
          <p:cNvSpPr/>
          <p:nvPr/>
        </p:nvSpPr>
        <p:spPr>
          <a:xfrm>
            <a:off x="13906500" y="8067675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36574"/>
                </a:solidFill>
                <a:latin typeface="Noto Sans CJK SC"/>
                <a:ea typeface="Noto Sans CJK S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8732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91DABA4-9009-4A62-B94A-CF1A8DE93BE2}"/>
              </a:ext>
            </a:extLst>
          </p:cNvPr>
          <p:cNvSpPr>
            <a:spLocks noGrp="1"/>
          </p:cNvSpPr>
          <p:nvPr/>
        </p:nvSpPr>
        <p:spPr>
          <a:xfrm>
            <a:off x="762000" y="266700"/>
            <a:ext cx="12382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1425" b="1">
                <a:solidFill>
                  <a:srgbClr val="176A9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425" b="1">
                <a:solidFill>
                  <a:srgbClr val="17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6A91"/>
                </a:solidFill>
                <a:latin typeface="Noto Sans CJK SC"/>
                <a:ea typeface="Noto Sans CJK SC"/>
                <a:cs typeface="Noto Sans CJK SC"/>
              </a:rPr>
              <a:t>Method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D656654-6C81-4FD4-8325-E32F4D15E9EE}"/>
              </a:ext>
            </a:extLst>
          </p:cNvPr>
          <p:cNvSpPr>
            <a:spLocks noGrp="1"/>
          </p:cNvSpPr>
          <p:nvPr/>
        </p:nvSpPr>
        <p:spPr>
          <a:xfrm>
            <a:off x="762000" y="781050"/>
            <a:ext cx="137160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>
              <a:defRPr sz="3225" b="1">
                <a:solidFill>
                  <a:srgbClr val="132A3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3225" b="1">
                <a:solidFill>
                  <a:srgbClr val="132A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3225" b="1" dirty="0">
                <a:solidFill>
                  <a:srgbClr val="132A3B"/>
                </a:solidFill>
                <a:latin typeface="Noto Sans CJK SC"/>
                <a:ea typeface="Noto Sans CJK SC"/>
                <a:cs typeface="Noto Sans CJK SC"/>
              </a:rPr>
              <a:t>GQA：组共享选择，各查询头独立计算注意力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2952750"/>
            <a:ext cx="1619250" cy="552450"/>
          </a:xfrm>
          <a:prstGeom prst="rect">
            <a:avLst/>
          </a:prstGeom>
          <a:solidFill>
            <a:srgbClr val="30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5350" y="3067050"/>
            <a:ext cx="142875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Noto Sans CJK SC"/>
              </a:rPr>
              <a:t>Q1 (32维)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81250" y="3228975"/>
            <a:ext cx="857250" cy="0"/>
          </a:xfrm>
          <a:prstGeom prst="line">
            <a:avLst/>
          </a:prstGeom>
          <a:ln w="25400">
            <a:solidFill>
              <a:srgbClr val="305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238500" y="2886075"/>
            <a:ext cx="2952750" cy="685800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2800" y="2962275"/>
            <a:ext cx="27432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183146"/>
                </a:solidFill>
                <a:latin typeface="Noto Sans CJK SC"/>
              </a:rPr>
              <a:t>全S logits → 掩码</a:t>
            </a:r>
          </a:p>
          <a:p>
            <a:r>
              <a:rPr sz="1700" b="0">
                <a:solidFill>
                  <a:srgbClr val="183146"/>
                </a:solidFill>
                <a:latin typeface="Noto Sans CJK SC"/>
              </a:rPr>
              <a:t>→ 各Q softmax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91250" y="3228975"/>
            <a:ext cx="1143000" cy="1219200"/>
          </a:xfrm>
          <a:prstGeom prst="line">
            <a:avLst/>
          </a:prstGeom>
          <a:ln w="25400">
            <a:solidFill>
              <a:srgbClr val="53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62000" y="3781425"/>
            <a:ext cx="1619250" cy="552450"/>
          </a:xfrm>
          <a:prstGeom prst="rect">
            <a:avLst/>
          </a:prstGeom>
          <a:solidFill>
            <a:srgbClr val="30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5350" y="3895725"/>
            <a:ext cx="142875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Noto Sans CJK SC"/>
              </a:rPr>
              <a:t>Q2 (32维)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81250" y="4057650"/>
            <a:ext cx="857250" cy="0"/>
          </a:xfrm>
          <a:prstGeom prst="line">
            <a:avLst/>
          </a:prstGeom>
          <a:ln w="25400">
            <a:solidFill>
              <a:srgbClr val="305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238500" y="3714750"/>
            <a:ext cx="2952750" cy="685800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52800" y="3790950"/>
            <a:ext cx="27432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183146"/>
                </a:solidFill>
                <a:latin typeface="Noto Sans CJK SC"/>
              </a:rPr>
              <a:t>全S logits → 掩码</a:t>
            </a:r>
          </a:p>
          <a:p>
            <a:r>
              <a:rPr sz="1700" b="0">
                <a:solidFill>
                  <a:srgbClr val="183146"/>
                </a:solidFill>
                <a:latin typeface="Noto Sans CJK SC"/>
              </a:rPr>
              <a:t>→ 各Q softmax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91250" y="4057650"/>
            <a:ext cx="1143000" cy="390525"/>
          </a:xfrm>
          <a:prstGeom prst="line">
            <a:avLst/>
          </a:prstGeom>
          <a:ln w="25400">
            <a:solidFill>
              <a:srgbClr val="53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62000" y="4610100"/>
            <a:ext cx="1619250" cy="552450"/>
          </a:xfrm>
          <a:prstGeom prst="rect">
            <a:avLst/>
          </a:prstGeom>
          <a:solidFill>
            <a:srgbClr val="30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5350" y="4724400"/>
            <a:ext cx="142875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Noto Sans CJK SC"/>
              </a:rPr>
              <a:t>Q3 (32维)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81250" y="4886325"/>
            <a:ext cx="857250" cy="0"/>
          </a:xfrm>
          <a:prstGeom prst="line">
            <a:avLst/>
          </a:prstGeom>
          <a:ln w="25400">
            <a:solidFill>
              <a:srgbClr val="305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238500" y="4543425"/>
            <a:ext cx="2952750" cy="685800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52800" y="4619625"/>
            <a:ext cx="27432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183146"/>
                </a:solidFill>
                <a:latin typeface="Noto Sans CJK SC"/>
              </a:rPr>
              <a:t>全S logits → 掩码</a:t>
            </a:r>
          </a:p>
          <a:p>
            <a:r>
              <a:rPr sz="1700" b="0">
                <a:solidFill>
                  <a:srgbClr val="183146"/>
                </a:solidFill>
                <a:latin typeface="Noto Sans CJK SC"/>
              </a:rPr>
              <a:t>→ 各Q softmax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6191250" y="4448175"/>
            <a:ext cx="1143000" cy="438150"/>
          </a:xfrm>
          <a:prstGeom prst="line">
            <a:avLst/>
          </a:prstGeom>
          <a:ln w="25400">
            <a:solidFill>
              <a:srgbClr val="53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62000" y="5438775"/>
            <a:ext cx="1619250" cy="552450"/>
          </a:xfrm>
          <a:prstGeom prst="rect">
            <a:avLst/>
          </a:prstGeom>
          <a:solidFill>
            <a:srgbClr val="305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5350" y="5553075"/>
            <a:ext cx="142875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Noto Sans CJK SC"/>
              </a:rPr>
              <a:t>Q4 (32维)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81250" y="5715000"/>
            <a:ext cx="857250" cy="0"/>
          </a:xfrm>
          <a:prstGeom prst="line">
            <a:avLst/>
          </a:prstGeom>
          <a:ln w="25400">
            <a:solidFill>
              <a:srgbClr val="305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238500" y="5372100"/>
            <a:ext cx="2952750" cy="685800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52800" y="5448300"/>
            <a:ext cx="2743200" cy="619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183146"/>
                </a:solidFill>
                <a:latin typeface="Noto Sans CJK SC"/>
              </a:rPr>
              <a:t>全S logits → 掩码</a:t>
            </a:r>
          </a:p>
          <a:p>
            <a:r>
              <a:rPr sz="1700" b="0">
                <a:solidFill>
                  <a:srgbClr val="183146"/>
                </a:solidFill>
                <a:latin typeface="Noto Sans CJK SC"/>
              </a:rPr>
              <a:t>→ 各Q softmax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191250" y="4448175"/>
            <a:ext cx="1143000" cy="1266825"/>
          </a:xfrm>
          <a:prstGeom prst="line">
            <a:avLst/>
          </a:prstGeom>
          <a:ln w="25400">
            <a:solidFill>
              <a:srgbClr val="53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381875" y="3924300"/>
            <a:ext cx="2762250" cy="1238250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81875" y="3924300"/>
            <a:ext cx="66675" cy="1238250"/>
          </a:xfrm>
          <a:prstGeom prst="rect">
            <a:avLst/>
          </a:prstGeom>
          <a:solidFill>
            <a:srgbClr val="128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91425" y="4076700"/>
            <a:ext cx="2381250" cy="381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28982"/>
                </a:solidFill>
                <a:latin typeface="Noto Sans CJK SC"/>
              </a:rPr>
              <a:t>组均值概率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91425" y="4581525"/>
            <a:ext cx="238125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0">
                <a:solidFill>
                  <a:srgbClr val="183146"/>
                </a:solidFill>
                <a:latin typeface="Noto Sans CJK SC"/>
              </a:rPr>
              <a:t>分区TopK → 组共享词元索引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0144125" y="3228975"/>
            <a:ext cx="1000125" cy="1314450"/>
          </a:xfrm>
          <a:prstGeom prst="line">
            <a:avLst/>
          </a:prstGeom>
          <a:ln w="25400">
            <a:solidFill>
              <a:srgbClr val="128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1144250" y="2952750"/>
            <a:ext cx="3333750" cy="552450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39500" y="3076575"/>
            <a:ext cx="3190875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183146"/>
                </a:solidFill>
                <a:latin typeface="Noto Sans CJK SC"/>
              </a:rPr>
              <a:t>原128维 Q1 注意力 → O1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10144125" y="4057650"/>
            <a:ext cx="1000125" cy="485775"/>
          </a:xfrm>
          <a:prstGeom prst="line">
            <a:avLst/>
          </a:prstGeom>
          <a:ln w="25400">
            <a:solidFill>
              <a:srgbClr val="128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1144250" y="3781425"/>
            <a:ext cx="3333750" cy="552450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39500" y="3905250"/>
            <a:ext cx="3190875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183146"/>
                </a:solidFill>
                <a:latin typeface="Noto Sans CJK SC"/>
              </a:rPr>
              <a:t>原128维 Q2 注意力 → O2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144125" y="4543425"/>
            <a:ext cx="1000125" cy="342900"/>
          </a:xfrm>
          <a:prstGeom prst="line">
            <a:avLst/>
          </a:prstGeom>
          <a:ln w="25400">
            <a:solidFill>
              <a:srgbClr val="128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1144250" y="4610100"/>
            <a:ext cx="3333750" cy="552450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239500" y="4733925"/>
            <a:ext cx="3190875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183146"/>
                </a:solidFill>
                <a:latin typeface="Noto Sans CJK SC"/>
              </a:rPr>
              <a:t>原128维 Q3 注意力 → O3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144125" y="4543425"/>
            <a:ext cx="1000125" cy="1171575"/>
          </a:xfrm>
          <a:prstGeom prst="line">
            <a:avLst/>
          </a:prstGeom>
          <a:ln w="25400">
            <a:solidFill>
              <a:srgbClr val="1289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1144250" y="5438775"/>
            <a:ext cx="3333750" cy="552450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239500" y="5562600"/>
            <a:ext cx="3190875" cy="400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183146"/>
                </a:solidFill>
                <a:latin typeface="Noto Sans CJK SC"/>
              </a:rPr>
              <a:t>原128维 Q4 注意力 → O4</a:t>
            </a:r>
          </a:p>
        </p:txBody>
      </p:sp>
      <p:sp>
        <p:nvSpPr>
          <p:cNvPr id="50" name="native50"/>
          <p:cNvSpPr/>
          <p:nvPr/>
        </p:nvSpPr>
        <p:spPr>
          <a:xfrm>
            <a:off x="13906500" y="8067675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36574"/>
                </a:solidFill>
                <a:latin typeface="Noto Sans CJK SC"/>
                <a:ea typeface="Noto Sans CJK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95437684"/>
      </p:ext>
    </p:extLst>
  </p:cSld>
  <p:clrMapOvr>
    <a:masterClrMapping/>
  </p:clrMapOvr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E47A6E8-5834-486B-8887-65999B4A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Experiments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91D887D-1677-4DE9-B604-D17F2805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三种名义配置的描述性比较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69460E-E2C4-4074-9A68-BB76B099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1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L1 表示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E94C5A9-408A-4C8B-9560-A933FEBF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L2 全维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7F80394-0BA1-4835-8FA8-5F03297D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L2 低频32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8358139-7AAB-42EF-BBDE-606113EE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全维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58B3520-270F-4AC6-823E-D82A46CA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7861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7861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8618C"/>
                </a:solidFill>
                <a:latin typeface="Noto Sans CJK SC"/>
                <a:ea typeface="Noto Sans CJK SC"/>
                <a:cs typeface="Noto Sans CJK SC"/>
              </a:rPr>
              <a:t>低频32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4ED1BC2-885E-4BF2-942A-92E04852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33700"/>
            <a:ext cx="40481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3DD5D8C-9558-4110-BFAA-72BD44F7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0:p xmlns:ns0="http://schemas.openxmlformats.org/drawingml/2006/main">
            <ns0:pPr>
              <ns0:buNone/>
              <ns0:defRPr sz="2250" b="1">
                <ns0:solidFill>
                  <ns0:srgbClr val="536574"/>
                </ns0:solidFill>
                <ns0:latin typeface="Noto Sans CJK SC"/>
                <ns0:ea typeface="Noto Sans CJK SC"/>
                <ns0:cs typeface="Noto Sans CJK SC"/>
              </ns0:defRPr>
            </ns0:pPr>
            <ns0:r>
              <ns0:rPr sz="2250" b="1">
                <ns0:solidFill>
                  <ns0:srgbClr val="536574"/>
                </ns0:solidFill>
                <ns0:latin typeface="Noto Sans CJK SC"/>
                <ns0:ea typeface="Noto Sans CJK SC"/>
                <ns0:cs typeface="Noto Sans CJK SC"/>
              </ns0:rPr>
              <ns0:t>全维稀疏对照</ns0:t>
            </ns0:r>
          </ns0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3952893-B1C3-4538-9E73-B5AF782A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433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未测量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E1642D8-9DFC-4942-A97D-47EBA13A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33700"/>
            <a:ext cx="40481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07D91AE-028B-4370-86BA-4E9181BE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0289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1:p xmlns:ns1="http://schemas.openxmlformats.org/drawingml/2006/main">
            <ns1:pPr>
              <ns1:buNone/>
              <ns1:defRPr sz="2250" b="1">
                <ns1:solidFill>
                  <ns1:srgbClr val="305C86"/>
                </ns1:solidFill>
                <ns1:latin typeface="Noto Sans CJK SC"/>
                <ns1:ea typeface="Noto Sans CJK SC"/>
                <ns1:cs typeface="Noto Sans CJK SC"/>
              </ns1:defRPr>
            </ns1:pPr>
            <ns1:r>
              <ns1:rPr sz="2250" b="1">
                <ns1:solidFill>
                  <ns1:srgbClr val="305C86"/>
                </ns1:solidFill>
                <ns1:latin typeface="Noto Sans CJK SC"/>
                <ns1:ea typeface="Noto Sans CJK SC"/>
                <ns1:cs typeface="Noto Sans CJK SC"/>
              </ns1:rPr>
              <ns1:t>名义全维页评分</ns1:t>
            </ns1:r>
          </ns1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187B8FA-694E-4944-BC4D-E979708E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5433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均值：47.910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9F5A998-44BC-4B13-A769-29C002DA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52925"/>
            <a:ext cx="40481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322C24A-6B83-4112-897E-7CE7573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4817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2:p xmlns:ns2="http://schemas.openxmlformats.org/drawingml/2006/main">
            <ns2:pPr>
              <ns2:buNone/>
              <ns2:defRPr sz="2250" b="1">
                <ns2:solidFill>
                  <ns2:srgbClr val="305C86"/>
                </ns2:solidFill>
                <ns2:latin typeface="Noto Sans CJK SC"/>
                <ns2:ea typeface="Noto Sans CJK SC"/>
                <ns2:cs typeface="Noto Sans CJK SC"/>
              </ns2:defRPr>
            </ns2:pPr>
            <ns2:r>
              <ns2:rPr sz="2250" b="1">
                <ns2:solidFill>
                  <ns2:srgbClr val="305C86"/>
                </ns2:solidFill>
                <ns2:latin typeface="Noto Sans CJK SC"/>
                <ns2:ea typeface="Noto Sans CJK SC"/>
                <ns2:cs typeface="Noto Sans CJK SC"/>
              </ns2:rPr>
              <ns2:t>名义全维词元评分</ns2:t>
            </ns2:r>
          </ns2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0F3FC8C-AEF6-45C1-ADD9-ECC2AB22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625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均值：47.666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6F24D46-1D7F-4D97-A3E2-DAD277BE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352925"/>
            <a:ext cx="40481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5DE53C3-0988-4EA3-A30B-7970FAF1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44817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1289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3:p xmlns:ns3="http://schemas.openxmlformats.org/drawingml/2006/main">
            <ns3:pPr>
              <ns3:buNone/>
              <ns3:defRPr sz="2250" b="1">
                <ns3:solidFill>
                  <ns3:srgbClr val="128982"/>
                </ns3:solidFill>
                <ns3:latin typeface="Noto Sans CJK SC"/>
                <ns3:ea typeface="Noto Sans CJK SC"/>
                <ns3:cs typeface="Noto Sans CJK SC"/>
              </ns3:defRPr>
            </ns3:pPr>
            <ns3:r>
              <ns3:rPr sz="2250" b="1">
                <ns3:solidFill>
                  <ns3:srgbClr val="128982"/>
                </ns3:solidFill>
                <ns3:latin typeface="Noto Sans CJK SC"/>
                <ns3:ea typeface="Noto Sans CJK SC"/>
                <ns3:cs typeface="Noto Sans CJK SC"/>
              </ns3:rPr>
              <ns3:t>共享子空间</ns3:t>
            </ns3:r>
          </ns3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D274A6F-5B09-44F3-8BD2-001B4A13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9625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1289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1289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28982"/>
                </a:solidFill>
                <a:latin typeface="Noto Sans CJK SC"/>
                <a:ea typeface="Noto Sans CJK SC"/>
                <a:cs typeface="Noto Sans CJK SC"/>
              </a:rPr>
              <a:t>均值：47.588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59DEE66-5E5A-48EB-8005-591C28C6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981325"/>
            <a:ext cx="2476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4:p xmlns:ns4="http://schemas.openxmlformats.org/drawingml/2006/main">
            <ns4:pPr>
              <ns4:buNone/>
              <ns4:defRPr sz="1875" b="0">
                <ns4:solidFill>
                  <ns4:srgbClr val="536574"/>
                </ns4:solidFill>
                <ns4:latin typeface="Noto Sans CJK SC"/>
                <ns4:ea typeface="Noto Sans CJK SC"/>
                <ns4:cs typeface="Noto Sans CJK SC"/>
              </ns4:defRPr>
            </ns4:pPr>
            <ns4:r>
              <ns4:rPr sz="1875" b="0">
                <ns4:solidFill>
                  <ns4:srgbClr val="536574"/>
                </ns4:solidFill>
                <ns4:latin typeface="Noto Sans CJK SC"/>
                <ns4:ea typeface="Noto Sans CJK SC"/>
                <ns4:cs typeface="Noto Sans CJK SC"/>
              </ns4:rPr>
              <ns4:t>归档评分实现</ns4:t>
            </ns4:r>
          </ns4:p>
          <ns5:p xmlns:ns5="http://schemas.openxmlformats.org/drawingml/2006/main">
            <ns5:pPr>
              <ns5:buNone/>
              <ns5:defRPr sz="1875" b="0">
                <ns5:solidFill>
                  <ns5:srgbClr val="536574"/>
                </ns5:solidFill>
                <ns5:latin typeface="Noto Sans CJK SC"/>
                <ns5:ea typeface="Noto Sans CJK SC"/>
                <ns5:cs typeface="Noto Sans CJK SC"/>
              </ns5:defRPr>
            </ns5:pPr>
            <ns5:r>
              <ns5:rPr sz="1875" b="0">
                <ns5:solidFill>
                  <ns5:srgbClr val="536574"/>
                </ns5:solidFill>
                <ns5:latin typeface="Noto Sans CJK SC"/>
                <ns5:ea typeface="Noto Sans CJK SC"/>
                <ns5:cs typeface="Noto Sans CJK SC"/>
              </ns5:rPr>
              <ns5:t>L2张量宽128／有效32</ns5:t>
            </ns5:r>
          </ns5:p>
          <ns6:p xmlns:ns6="http://schemas.openxmlformats.org/drawingml/2006/main">
            <ns6:pPr>
              <ns6:buNone/>
              <ns6:defRPr sz="1875" b="0">
                <ns6:solidFill>
                  <ns6:srgbClr val="536574"/>
                </ns6:solidFill>
                <ns6:latin typeface="Noto Sans CJK SC"/>
                <ns6:ea typeface="Noto Sans CJK SC"/>
                <ns6:cs typeface="Noto Sans CJK SC"/>
              </ns6:defRPr>
            </ns6:pPr>
            <ns6:r>
              <ns6:rPr sz="1875" b="0">
                <ns6:solidFill>
                  <ns6:srgbClr val="536574"/>
                </ns6:solidFill>
                <ns6:latin typeface="Noto Sans CJK SC"/>
                <ns6:ea typeface="Noto Sans CJK SC"/>
                <ns6:cs typeface="Noto Sans CJK SC"/>
              </ns6:rPr>
              <ns6:t>配置匹配尚未确认</ns6:t>
            </ns6:r>
          </ns6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FD5B8E6-6EB5-48FC-AEDA-4199AA80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C204F78-5E69-4C5A-B267-4F224CD3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532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7:p xmlns:ns7="http://schemas.openxmlformats.org/drawingml/2006/main">
            <ns7:pPr>
              <ns7:buNone/>
              <ns7:defRPr sz="2250" b="1">
                <ns7:solidFill>
                  <ns7:srgbClr val="305C86"/>
                </ns7:solidFill>
                <ns7:latin typeface="Noto Sans CJK SC"/>
                <ns7:ea typeface="Noto Sans CJK SC"/>
                <ns7:cs typeface="Noto Sans CJK SC"/>
              </ns7:defRPr>
            </ns7:pPr>
            <ns7:r>
              <ns7:rPr sz="2250" b="1">
                <ns7:solidFill>
                  <ns7:srgbClr val="305C86"/>
                </ns7:solidFill>
                <ns7:latin typeface="Noto Sans CJK SC"/>
                <ns7:ea typeface="Noto Sans CJK SC"/>
                <ns7:cs typeface="Noto Sans CJK SC"/>
              </ns7:rPr>
              <ns7:t>尚缺匹配比较</ns7:t>
            </ns7:r>
          </ns7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3C0B4BD-796B-4B1E-8097-BDFB86ED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5532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0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AC1D20F-E19D-49FF-86EB-28F260F1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53200"/>
            <a:ext cx="538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8:p xmlns:ns8="http://schemas.openxmlformats.org/drawingml/2006/main">
            <ns8:pPr>
              <ns8:buNone/>
              <ns8:defRPr sz="2175" b="1">
                <ns8:solidFill>
                  <ns8:srgbClr val="183146"/>
                </ns8:solidFill>
                <ns8:latin typeface="Noto Sans CJK SC"/>
                <ns8:ea typeface="Noto Sans CJK SC"/>
                <ns8:cs typeface="Noto Sans CJK SC"/>
              </ns8:defRPr>
            </ns8:pPr>
            <ns8:r>
              <ns8:rPr sz="2175" b="1">
                <ns8:solidFill>
                  <ns8:srgbClr val="183146"/>
                </ns8:solidFill>
                <ns8:latin typeface="Noto Sans CJK SC"/>
                <ns8:ea typeface="Noto Sans CJK SC"/>
                <ns8:cs typeface="Noto Sans CJK SC"/>
              </ns8:rPr>
              <ns8:t>共享子空间与稠密FullKV</ns8:t>
            </ns8:r>
          </ns8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5DDA829-FF5D-4781-A03A-6D01418B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0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0D2F513-E3B8-4335-BC44-E5BFC4D6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532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1289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9:p xmlns:ns9="http://schemas.openxmlformats.org/drawingml/2006/main">
            <ns9:pPr>
              <ns9:buNone/>
              <ns9:defRPr sz="2250" b="1">
                <ns9:solidFill>
                  <ns9:srgbClr val="128982"/>
                </ns9:solidFill>
                <ns9:latin typeface="Noto Sans CJK SC"/>
                <ns9:ea typeface="Noto Sans CJK SC"/>
                <ns9:cs typeface="Noto Sans CJK SC"/>
              </ns9:defRPr>
            </ns9:pPr>
            <ns9:r>
              <ns9:rPr sz="2250" b="1">
                <ns9:solidFill>
                  <ns9:srgbClr val="128982"/>
                </ns9:solidFill>
                <ns9:latin typeface="Noto Sans CJK SC"/>
                <ns9:ea typeface="Noto Sans CJK SC"/>
                <ns9:cs typeface="Noto Sans CJK SC"/>
              </ns9:rPr>
              <ns9:t>文档配对质量评估</ns9:t>
            </ns9:r>
          </ns9:p>
        </p:txBody>
      </p:sp>
      <p:sp>
        <p:nvSpPr>
          <p:cNvPr id="31" name="native31">
            <a:extLst xmlns:a="http://schemas.openxmlformats.org/drawingml/2006/main">
              <a:ext uri="{FF2B5EF4-FFF2-40B4-BE49-F238E27FC236}">
                <a16:creationId xmlns:a16="http://schemas.microsoft.com/office/drawing/2014/main" id="{D6240F5B-378C-4D4E-833B-96BA7BA8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676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514690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4E3D7EA-8244-4898-B486-B9C1362C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Experiments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2AF9D2E-8021-4D6C-B03A-1D651027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>历史动态缓存：同步模型级解码计时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13908024" y="8065008"/>
            <a:ext cx="56692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12</a:t>
            </a:r>
          </a:p>
        </p:txBody>
      </p:sp>
      <p:pic xmlns:a="http://schemas.openxmlformats.org/drawingml/2006/main" xmlns:r="http://schemas.openxmlformats.org/officeDocument/2006/relationships"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011680"/>
            <a:ext cx="7315200" cy="4694830"/>
          </a:xfrm>
          <a:prstGeom prst="rect">
            <a:avLst/>
          </a:prstGeom>
        </p:spPr>
      </p:pic>
      <p:sp xmlns:a="http://schemas.openxmlformats.org/drawingml/2006/main">
        <p:nvSpPr>
          <p:cNvPr id="28" name="TextBox 27"/>
          <p:cNvSpPr txBox="1"/>
          <p:nvPr/>
        </p:nvSpPr>
        <p:spPr>
          <a:xfrm>
            <a:off x="8412480" y="2011680"/>
            <a:ext cx="6035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作者报告中位数 · 非完整请求E2E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Qwen3-8B，固定128输出词元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127个首输出后间隔，逐步同步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历史稀疏配置 α=.125 / β=.375 / γ=.625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不同于当前4/128候选；运行路径未独立核验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32K/64K/128K报告中位数之比（稀疏／稠密）：3.38 / 2.46 / 1.78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三档比值减小，但稀疏TPOT仍上升且高于稠密；汇总不能定位因果瓶颈。</a:t>
            </a:r>
          </a:p>
        </p:txBody>
      </p:sp>
    </p:spTree>
    <p:extLst>
      <p:ext uri="{BB962C8B-B14F-4D97-AF65-F5344CB8AC3E}">
        <p14:creationId xmlns:p14="http://schemas.microsoft.com/office/powerpoint/2010/main" val="5062515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native2">
            <a:extLst xmlns:a="http://schemas.openxmlformats.org/drawingml/2006/main">
              <a:ext uri="{FF2B5EF4-FFF2-40B4-BE49-F238E27FC236}">
                <a16:creationId xmlns:a16="http://schemas.microsoft.com/office/drawing/2014/main" id="{059E456C-7711-4A14-96C6-31796130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33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25" b="1">
                <a:solidFill>
                  <a:srgbClr val="32689F"/>
                </a:solidFill>
                <a:latin typeface="Noto Sans CJK SC"/>
                <a:ea typeface="Noto Sans CJK SC"/>
                <a:cs typeface="Noto Sans CJK SC"/>
              </a:rPr>
              <a:t>Results &amp; Ablation · Module Evidence</a:t>
            </a:r>
            <a:endParaRPr sz="1425"/>
          </a:p>
        </p:txBody>
      </p:sp>
      <p:sp>
        <p:nvSpPr>
          <p:cNvPr id="3" name="native3">
            <a:extLst xmlns:a="http://schemas.openxmlformats.org/drawingml/2006/main">
              <a:ext uri="{FF2B5EF4-FFF2-40B4-BE49-F238E27FC236}">
                <a16:creationId xmlns:a16="http://schemas.microsoft.com/office/drawing/2014/main" id="{7DA03151-923A-49AD-95A2-A10416EC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50" b="1">
                <a:solidFill>
                  <a:srgbClr val="193247"/>
                </a:solidFill>
                <a:latin typeface="Noto Sans CJK SC"/>
                <a:ea typeface="Noto Sans CJK SC"/>
                <a:cs typeface="Noto Sans CJK SC"/>
              </a:rPr>
              <a:t>表示、检索范围与门控的初步结果</a:t>
            </a:r>
            <a:endParaRPr sz="3150"/>
          </a:p>
        </p:txBody>
      </p:sp>
      <p:sp>
        <p:nvSpPr>
          <p:cNvPr id="4" name="native4">
            <a:extLst xmlns:a="http://schemas.openxmlformats.org/drawingml/2006/main">
              <a:ext uri="{FF2B5EF4-FFF2-40B4-BE49-F238E27FC236}">
                <a16:creationId xmlns:a16="http://schemas.microsoft.com/office/drawing/2014/main" id="{F1589893-024A-49A3-9EDA-446E948B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954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buNone/>
            </ns0:pPr>
            <ns0:r>
              <ns0:rPr sz="1875" b="0">
                <ns0:solidFill>
                  <ns0:srgbClr val="536574"/>
                </ns0:solidFill>
                <ns0:latin typeface="Noto Sans CJK SC"/>
                <ns0:ea typeface="Noto Sans CJK SC"/>
                <ns0:cs typeface="Noto Sans CJK SC"/>
              </ns0:rPr>
              <ns0:t>归档128/128保护：L2宽128、有效32；不代表当前4/128候选</ns0:t>
            </ns0:r>
          </ns0:p>
        </p:txBody>
      </p:sp>
      <p:sp>
        <p:nvSpPr>
          <p:cNvPr id="10" name="native10">
            <a:extLst xmlns:a="http://schemas.openxmlformats.org/drawingml/2006/main">
              <a:ext uri="{FF2B5EF4-FFF2-40B4-BE49-F238E27FC236}">
                <a16:creationId xmlns:a16="http://schemas.microsoft.com/office/drawing/2014/main" id="{821E9959-C820-49B1-8106-5B3DA6C7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429125" cy="4381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native20">
            <a:extLst xmlns:a="http://schemas.openxmlformats.org/drawingml/2006/main">
              <a:ext uri="{FF2B5EF4-FFF2-40B4-BE49-F238E27FC236}">
                <a16:creationId xmlns:a16="http://schemas.microsoft.com/office/drawing/2014/main" id="{296C51D9-E90D-411C-91AA-CD821BEE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78628F"/>
                </a:solidFill>
                <a:latin typeface="Noto Sans CJK SC"/>
                <a:ea typeface="Noto Sans CJK SC"/>
                <a:cs typeface="Noto Sans CJK SC"/>
              </a:rPr>
              <a:t>低频表示</a:t>
            </a:r>
            <a:endParaRPr sz="2400"/>
          </a:p>
        </p:txBody>
      </p:sp>
      <p:sp>
        <p:nvSpPr>
          <p:cNvPr id="30" name="native30">
            <a:extLst xmlns:a="http://schemas.openxmlformats.org/drawingml/2006/main">
              <a:ext uri="{FF2B5EF4-FFF2-40B4-BE49-F238E27FC236}">
                <a16:creationId xmlns:a16="http://schemas.microsoft.com/office/drawing/2014/main" id="{3A082329-626B-4AD4-B900-E4CE5189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3952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78628F"/>
                </a:solidFill>
                <a:latin typeface="Noto Sans CJK SC"/>
                <a:ea typeface="Noto Sans CJK SC"/>
                <a:cs typeface="Noto Sans CJK SC"/>
              </a:rPr>
              <a:t>47.588</a:t>
            </a:r>
            <a:endParaRPr sz="3000"/>
          </a:p>
        </p:txBody>
      </p:sp>
      <p:sp>
        <p:nvSpPr>
          <p:cNvPr id="40" name="native40">
            <a:extLst xmlns:a="http://schemas.openxmlformats.org/drawingml/2006/main">
              <a:ext uri="{FF2B5EF4-FFF2-40B4-BE49-F238E27FC236}">
                <a16:creationId xmlns:a16="http://schemas.microsoft.com/office/drawing/2014/main" id="{96357930-FAFC-4D76-8D5F-3040E5ED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3952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1:p xmlns:ns1="http://schemas.openxmlformats.org/drawingml/2006/main">
            <ns1:pPr algn="l">
              <ns1:buNone/>
            </ns1:pPr>
            <ns1:r>
              <ns1:rPr sz="1875" b="0">
                <ns1:solidFill>
                  <ns1:srgbClr val="193247"/>
                </ns1:solidFill>
                <ns1:latin typeface="Noto Sans CJK SC"/>
                <ns1:ea typeface="Noto Sans CJK SC"/>
                <ns1:cs typeface="Noto Sans CJK SC"/>
              </ns1:rPr>
              <ns1:t>五任务均值；较名义全维页评分</ns1:t>
            </ns1:r>
          </ns1:p>
          <ns2:p xmlns:ns2="http://schemas.openxmlformats.org/drawingml/2006/main">
            <ns2:pPr algn="l">
              <ns2:buNone/>
            </ns2:pPr>
            <ns2:r>
              <ns2:rPr sz="1875" b="0">
                <ns2:solidFill>
                  <ns2:srgbClr val="193247"/>
                </ns2:solidFill>
                <ns2:latin typeface="Noto Sans CJK SC"/>
                <ns2:ea typeface="Noto Sans CJK SC"/>
                <ns2:cs typeface="Noto Sans CJK SC"/>
              </ns2:rPr>
              <ns2:t>低0.322分。名义全维词元评分</ns2:t>
            </ns2:r>
          </ns2:p>
          <ns3:p xmlns:ns3="http://schemas.openxmlformats.org/drawingml/2006/main">
            <ns3:pPr algn="l">
              <ns3:buNone/>
            </ns3:pPr>
            <ns3:r>
              <ns3:rPr sz="1875" b="0">
                <ns3:solidFill>
                  <ns3:srgbClr val="193247"/>
                </ns3:solidFill>
                <ns3:latin typeface="Noto Sans CJK SC"/>
                <ns3:ea typeface="Noto Sans CJK SC"/>
                <ns3:cs typeface="Noto Sans CJK SC"/>
              </ns3:rPr>
              <ns3:t>高0.078分；配置未确认匹配，</ns3:t>
            </ns3:r>
          </ns3:p>
          <ns4:p xmlns:ns4="http://schemas.openxmlformats.org/drawingml/2006/main">
            <ns4:pPr algn="l">
              <ns4:buNone/>
            </ns4:pPr>
            <ns4:r>
              <ns4:rPr sz="1875" b="0">
                <ns4:solidFill>
                  <ns4:srgbClr val="193247"/>
                </ns4:solidFill>
                <ns4:latin typeface="Noto Sans CJK SC"/>
                <ns4:ea typeface="Noto Sans CJK SC"/>
                <ns4:cs typeface="Noto Sans CJK SC"/>
              </ns4:rPr>
              <ns4:t>不能隔离阶段效应。</ns4:t>
            </ns4:r>
          </ns4:p>
        </p:txBody>
      </p:sp>
      <p:sp>
        <p:nvSpPr>
          <p:cNvPr id="11" name="native11">
            <a:extLst xmlns:a="http://schemas.openxmlformats.org/drawingml/2006/main">
              <a:ext uri="{FF2B5EF4-FFF2-40B4-BE49-F238E27FC236}">
                <a16:creationId xmlns:a16="http://schemas.microsoft.com/office/drawing/2014/main" id="{1055319D-B2D2-4753-9687-FE6DB813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33625"/>
            <a:ext cx="4429125" cy="4381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native21">
            <a:extLst xmlns:a="http://schemas.openxmlformats.org/drawingml/2006/main">
              <a:ext uri="{FF2B5EF4-FFF2-40B4-BE49-F238E27FC236}">
                <a16:creationId xmlns:a16="http://schemas.microsoft.com/office/drawing/2014/main" id="{D90AA27F-B687-4FC9-BB10-F6E2C87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19375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2817B"/>
                </a:solidFill>
                <a:latin typeface="Noto Sans CJK SC"/>
                <a:ea typeface="Noto Sans CJK SC"/>
                <a:cs typeface="Noto Sans CJK SC"/>
              </a:rPr>
              <a:t>近远检索</a:t>
            </a:r>
            <a:endParaRPr sz="2400"/>
          </a:p>
        </p:txBody>
      </p:sp>
      <p:sp>
        <p:nvSpPr>
          <p:cNvPr id="31" name="native31">
            <a:extLst xmlns:a="http://schemas.openxmlformats.org/drawingml/2006/main">
              <a:ext uri="{FF2B5EF4-FFF2-40B4-BE49-F238E27FC236}">
                <a16:creationId xmlns:a16="http://schemas.microsoft.com/office/drawing/2014/main" id="{552C8BA4-8B27-4226-B0B6-F27E3BDB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524250"/>
            <a:ext cx="3952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2817B"/>
                </a:solidFill>
                <a:latin typeface="Noto Sans CJK SC"/>
                <a:ea typeface="Noto Sans CJK SC"/>
                <a:cs typeface="Noto Sans CJK SC"/>
              </a:rPr>
              <a:t>26.09 → 47.91</a:t>
            </a:r>
            <a:endParaRPr sz="3000"/>
          </a:p>
        </p:txBody>
      </p:sp>
      <p:sp>
        <p:nvSpPr>
          <p:cNvPr id="41" name="native41">
            <a:extLst xmlns:a="http://schemas.openxmlformats.org/drawingml/2006/main">
              <a:ext uri="{FF2B5EF4-FFF2-40B4-BE49-F238E27FC236}">
                <a16:creationId xmlns:a16="http://schemas.microsoft.com/office/drawing/2014/main" id="{16D1357F-2FA4-4472-9E6B-4B093EE6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72000"/>
            <a:ext cx="3952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5:p xmlns:ns5="http://schemas.openxmlformats.org/drawingml/2006/main">
            <ns5:pPr algn="l">
              <ns5:buNone/>
            </ns5:pPr>
            <ns5:r>
              <ns5:rPr sz="1875" b="0">
                <ns5:solidFill>
                  <ns5:srgbClr val="193247"/>
                </ns5:solidFill>
                <ns5:latin typeface="Noto Sans CJK SC"/>
                <ns5:ea typeface="Noto Sans CJK SC"/>
                <ns5:cs typeface="Noto Sans CJK SC"/>
              </ns5:rPr>
              <ns5:t>仅保护词元与中间历史检索比较，</ns5:t>
            </ns5:r>
          </ns5:p>
          <ns6:p xmlns:ns6="http://schemas.openxmlformats.org/drawingml/2006/main">
            <ns6:pPr algn="l">
              <ns6:buNone/>
            </ns6:pPr>
            <ns6:r>
              <ns6:rPr sz="1875" b="0">
                <ns6:solidFill>
                  <ns6:srgbClr val="193247"/>
                </ns6:solidFill>
                <ns6:latin typeface="Noto Sans CJK SC"/>
                <ns6:ea typeface="Noto Sans CJK SC"/>
                <ns6:cs typeface="Noto Sans CJK SC"/>
              </ns6:rPr>
              <ns6:t>预算256→1024，</ns6:t>
            </ns6:r>
          </ns6:p>
          <ns7:p xmlns:ns7="http://schemas.openxmlformats.org/drawingml/2006/main">
            <ns7:pPr algn="l">
              <ns7:buNone/>
            </ns7:pPr>
            <ns7:r>
              <ns7:rPr sz="1875" b="0">
                <ns7:solidFill>
                  <ns7:srgbClr val="193247"/>
                </ns7:solidFill>
                <ns7:latin typeface="Noto Sans CJK SC"/>
                <ns7:ea typeface="Noto Sans CJK SC"/>
                <ns7:cs typeface="Noto Sans CJK SC"/>
              </ns7:rPr>
              <ns7:t>未隔离区域分配效应。</ns7:t>
            </ns7:r>
          </ns7:p>
        </p:txBody>
      </p:sp>
      <p:sp>
        <p:nvSpPr>
          <p:cNvPr id="12" name="native12">
            <a:extLst xmlns:a="http://schemas.openxmlformats.org/drawingml/2006/main">
              <a:ext uri="{FF2B5EF4-FFF2-40B4-BE49-F238E27FC236}">
                <a16:creationId xmlns:a16="http://schemas.microsoft.com/office/drawing/2014/main" id="{5479FA12-1130-4251-9CF8-4F81FAF0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33625"/>
            <a:ext cx="4429125" cy="4381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native22">
            <a:extLst xmlns:a="http://schemas.openxmlformats.org/drawingml/2006/main">
              <a:ext uri="{FF2B5EF4-FFF2-40B4-BE49-F238E27FC236}">
                <a16:creationId xmlns:a16="http://schemas.microsoft.com/office/drawing/2014/main" id="{85AE40CD-9922-4B54-9AEA-D876473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19375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ns8:p xmlns:ns8="http://schemas.openxmlformats.org/drawingml/2006/main">
            <ns8:pPr algn="l">
              <ns8:buNone/>
            </ns8:pPr>
            <ns8:r>
              <ns8:rPr sz="2400" b="1">
                <ns8:solidFill>
                  <ns8:srgbClr val="A66328"/>
                </ns8:solidFill>
                <ns8:latin typeface="Noto Sans CJK SC"/>
                <ns8:ea typeface="Noto Sans CJK SC"/>
                <ns8:cs typeface="Noto Sans CJK SC"/>
              </ns8:rPr>
              <ns8:t>可选远区门控</ns8:t>
            </ns8:r>
          </ns8:p>
        </p:txBody>
      </p:sp>
      <p:sp>
        <p:nvSpPr>
          <p:cNvPr id="32" name="native32">
            <a:extLst xmlns:a="http://schemas.openxmlformats.org/drawingml/2006/main">
              <a:ext uri="{FF2B5EF4-FFF2-40B4-BE49-F238E27FC236}">
                <a16:creationId xmlns:a16="http://schemas.microsoft.com/office/drawing/2014/main" id="{4FB05575-8697-4E89-808C-B809689F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524250"/>
            <a:ext cx="3952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A66328"/>
                </a:solidFill>
                <a:latin typeface="Noto Sans CJK SC"/>
                <a:ea typeface="Noto Sans CJK SC"/>
                <a:cs typeface="Noto Sans CJK SC"/>
              </a:rPr>
              <a:t>3 / 5</a:t>
            </a:r>
            <a:endParaRPr sz="3000"/>
          </a:p>
        </p:txBody>
      </p:sp>
      <p:sp>
        <p:nvSpPr>
          <p:cNvPr id="42" name="native42">
            <a:extLst xmlns:a="http://schemas.openxmlformats.org/drawingml/2006/main">
              <a:ext uri="{FF2B5EF4-FFF2-40B4-BE49-F238E27FC236}">
                <a16:creationId xmlns:a16="http://schemas.microsoft.com/office/drawing/2014/main" id="{355EB030-603D-440C-98A7-BD9370DA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572000"/>
            <a:ext cx="3952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5" b="0">
                <a:solidFill>
                  <a:srgbClr val="193247"/>
                </a:solidFill>
                <a:latin typeface="Noto Sans CJK SC"/>
                <a:ea typeface="Noto Sans CJK SC"/>
                <a:cs typeface="Noto Sans CJK SC"/>
              </a:rPr>
              <a:t>阈值0.05/0.10各3项下降。</a:t>
            </a:r>
          </a:p>
          <a:p xmlns:a="http://schemas.openxmlformats.org/drawingml/2006/main">
            <a:pPr algn="l">
              <a:buNone/>
            </a:pPr>
            <a:r>
              <a:rPr sz="1875" b="0">
                <a:solidFill>
                  <a:srgbClr val="193247"/>
                </a:solidFill>
                <a:latin typeface="Noto Sans CJK SC"/>
                <a:ea typeface="Noto Sans CJK SC"/>
                <a:cs typeface="Noto Sans CJK SC"/>
              </a:rPr>
              <a:t>HotpotQA降1.05/1.26分，</a:t>
            </a:r>
          </a:p>
          <a:p xmlns:a="http://schemas.openxmlformats.org/drawingml/2006/main">
            <a:pPr algn="l">
              <a:buNone/>
            </a:pPr>
            <a:r>
              <a:rPr sz="1875" b="0">
                <a:solidFill>
                  <a:srgbClr val="193247"/>
                </a:solidFill>
                <a:latin typeface="Noto Sans CJK SC"/>
                <a:ea typeface="Noto Sans CJK SC"/>
                <a:cs typeface="Noto Sans CJK SC"/>
              </a:rPr>
              <a:t>评分配置不完整，限于此对照。</a:t>
            </a:r>
          </a:p>
        </p:txBody>
      </p:sp>
      <p:sp>
        <p:nvSpPr>
          <p:cNvPr id="61" name="native61">
            <a:extLst xmlns:a="http://schemas.openxmlformats.org/drawingml/2006/main">
              <a:ext uri="{FF2B5EF4-FFF2-40B4-BE49-F238E27FC236}">
                <a16:creationId xmlns:a16="http://schemas.microsoft.com/office/drawing/2014/main" id="{0C19CD24-F3BC-4381-A500-85081D66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676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487321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B37312D-41D6-4127-8CF9-244F54BE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176A9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176A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6A91"/>
                </a:solidFill>
                <a:latin typeface="Noto Sans CJK SC"/>
                <a:ea typeface="Noto Sans CJK SC"/>
                <a:cs typeface="Noto Sans CJK SC"/>
              </a:rPr>
              <a:t>Results &amp; Ablation</a:t>
            </a:r>
          </a:p>
        </p:txBody>
      </p:sp>
      <p:sp>
        <p:nvSpPr>
          <p:cNvPr id="34" name="native34">
            <a:extLst xmlns:a="http://schemas.openxmlformats.org/drawingml/2006/main">
              <a:ext uri="{FF2B5EF4-FFF2-40B4-BE49-F238E27FC236}">
                <a16:creationId xmlns:a16="http://schemas.microsoft.com/office/drawing/2014/main" id="{E60A07FB-ED8F-4642-97C6-9135FFF1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676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C9724A-2DF0-40AB-87AA-8C56B1A6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81075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93247"/>
                </a:solidFill>
              </a:defRPr>
            </a:defPPr>
          </a:lstStyle>
          <a:p xmlns:a="http://schemas.openxmlformats.org/drawingml/2006/main">
            <a:r>
              <a:t>保留历史128K质量负结果</a:t>
            </a:r>
          </a:p>
        </p:txBody>
      </p:sp>
      <p:pic xmlns:a="http://schemas.openxmlformats.org/drawingml/2006/main" xmlns:r="http://schemas.openxmlformats.org/officeDocument/2006/relationships"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2103120"/>
            <a:ext cx="7315200" cy="4466539"/>
          </a:xfrm>
          <a:prstGeom prst="rect">
            <a:avLst/>
          </a:prstGeom>
        </p:spPr>
      </p:pic>
      <p:sp xmlns:a="http://schemas.openxmlformats.org/drawingml/2006/main">
        <p:nvSpPr>
          <p:cNvPr id="37" name="TextBox 36"/>
          <p:cNvSpPr txBox="1"/>
          <p:nvPr/>
        </p:nvSpPr>
        <p:spPr>
          <a:xfrm>
            <a:off x="8412480" y="2011680"/>
            <a:ext cx="60350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历史128K得分：46.43 / 23.98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11任务；每任务每臂100例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报告 β=.375，K1=128，保护128/128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中间预算768；页长64，γ=.625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按已检公式：名义远区词元配额=0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代码／配置推论；实际执行未核验</a:t>
            </a:r>
          </a:p>
          <a:p>
            <a:pPr>
              <a:spcAft>
                <a:spcPts val="1400"/>
              </a:spcAft>
              <a:defRPr sz="2300">
                <a:solidFill>
                  <a:srgbClr val="243746"/>
                </a:solidFill>
                <a:latin typeface="Noto Sans CJK SC"/>
              </a:defRPr>
            </a:pPr>
            <a:r>
              <a:t>不能据此认定得分差的唯一原因；不验证当前4/128候选。</a:t>
            </a:r>
          </a:p>
        </p:txBody>
      </p:sp>
    </p:spTree>
    <p:extLst>
      <p:ext uri="{BB962C8B-B14F-4D97-AF65-F5344CB8AC3E}">
        <p14:creationId xmlns:p14="http://schemas.microsoft.com/office/powerpoint/2010/main" val="12325888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A703273-0B69-488C-948F-96DAE59F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Results &amp; Ablation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AE04170-05A8-48A6-90A5-0D3B8E86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评分降维未降低该设置下的局部耗时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F056F70-099D-4E2B-BDBC-347DD21E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0:p xmlns:ns0="http://schemas.openxmlformats.org/drawingml/2006/main">
            <ns0:pPr>
              <ns0:buNone/>
              <ns0:defRPr sz="2100" b="1">
                <ns0:solidFill>
                  <ns0:srgbClr val="305C86"/>
                </ns0:solidFill>
                <ns0:latin typeface="Noto Sans CJK SC"/>
                <ns0:ea typeface="Noto Sans CJK SC"/>
                <ns0:cs typeface="Noto Sans CJK SC"/>
              </ns0:defRPr>
            </ns0:pPr>
            <ns0:r>
              <ns0:rPr sz="2100" b="1">
                <ns0:solidFill>
                  <ns0:srgbClr val="305C86"/>
                </ns0:solidFill>
                <ns0:latin typeface="Noto Sans CJK SC"/>
                <ns0:ea typeface="Noto Sans CJK SC"/>
                <ns0:cs typeface="Noto Sans CJK SC"/>
              </ns0:rPr>
              <ns0:t>名义页／词元评分坐标数 · 合成64K · 单层、批量1、单查询 · 两轮稳态汇总（ms）</ns0:t>
            </ns0:r>
          </ns0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F961683-CCC0-447B-B329-8769D89C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1:p xmlns:ns1="http://schemas.openxmlformats.org/drawingml/2006/main">
            <ns1:pPr>
              <ns1:buNone/>
              <ns1:defRPr sz="2175" b="1">
                <ns1:solidFill>
                  <ns1:srgbClr val="183146"/>
                </ns1:solidFill>
                <ns1:latin typeface="Noto Sans CJK SC"/>
                <ns1:ea typeface="Noto Sans CJK SC"/>
                <ns1:cs typeface="Noto Sans CJK SC"/>
              </ns1:defRPr>
            </ns1:pPr>
            <ns1:r>
              <ns1:rPr sz="2175" b="1">
                <ns1:solidFill>
                  <ns1:srgbClr val="183146"/>
                </ns1:solidFill>
                <ns1:latin typeface="Noto Sans CJK SC"/>
                <ns1:ea typeface="Noto Sans CJK SC"/>
                <ns1:cs typeface="Noto Sans CJK SC"/>
              </ns1:rPr>
              <ns1:t>128 / 32</ns1:t>
            </ns1:r>
          </ns1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200B0CB-9ECD-4B6C-A977-F1DC66AD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38475"/>
            <a:ext cx="359827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5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BCC577E0-DF3C-4320-BAF6-1DF3F892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548" y="2962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5C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90D24EA-35BD-44FC-B242-C025B3E2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773" y="28003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1.3502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1C7C5B-FE7B-4A27-A818-244DEC73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2:p xmlns:ns2="http://schemas.openxmlformats.org/drawingml/2006/main">
            <ns2:pPr>
              <ns2:buNone/>
              <ns2:defRPr sz="2175" b="1">
                <ns2:solidFill>
                  <ns2:srgbClr val="183146"/>
                </ns2:solidFill>
                <ns2:latin typeface="Noto Sans CJK SC"/>
                <ns2:ea typeface="Noto Sans CJK SC"/>
                <ns2:cs typeface="Noto Sans CJK SC"/>
              </ns2:defRPr>
            </ns2:pPr>
            <ns2:r>
              <ns2:rPr sz="2175" b="1">
                <ns2:solidFill>
                  <ns2:srgbClr val="183146"/>
                </ns2:solidFill>
                <ns2:latin typeface="Noto Sans CJK SC"/>
                <ns2:ea typeface="Noto Sans CJK SC"/>
                <ns2:cs typeface="Noto Sans CJK SC"/>
              </ns2:rPr>
              <ns2:t>32 / 32</ns2:t>
            </ns2:r>
          </ns2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B3255E5-79DF-4A69-A010-1623B159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33850"/>
            <a:ext cx="382698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5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98733F16-C7BC-46B0-AC37-06937375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257" y="4057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98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A365475-4B57-48D6-BFCB-B3F5BCBF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482" y="38957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1289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289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8982"/>
                </a:solidFill>
                <a:latin typeface="Noto Sans CJK SC"/>
                <a:ea typeface="Noto Sans CJK SC"/>
                <a:cs typeface="Noto Sans CJK SC"/>
              </a:rPr>
              <a:t>1.3598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21B56CA-E8AB-4A7B-B636-ACADC061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3:p xmlns:ns3="http://schemas.openxmlformats.org/drawingml/2006/main">
            <ns3:pPr>
              <ns3:buNone/>
              <ns3:defRPr sz="2175" b="1">
                <ns3:solidFill>
                  <ns3:srgbClr val="183146"/>
                </ns3:solidFill>
                <ns3:latin typeface="Noto Sans CJK SC"/>
                <ns3:ea typeface="Noto Sans CJK SC"/>
                <ns3:cs typeface="Noto Sans CJK SC"/>
              </ns3:defRPr>
            </ns3:pPr>
            <ns3:r>
              <ns3:rPr sz="2175" b="1">
                <ns3:solidFill>
                  <ns3:srgbClr val="183146"/>
                </ns3:solidFill>
                <ns3:latin typeface="Noto Sans CJK SC"/>
                <ns3:ea typeface="Noto Sans CJK SC"/>
                <ns3:cs typeface="Noto Sans CJK SC"/>
              </ns3:rPr>
              <ns3:t>32 / 128</ns3:t>
            </ns3:r>
          </ns3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C22D97D-C946-4844-91EE-55D1F17F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630685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5D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F4DE58EC-CBF5-4071-9943-6DC7FF88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131" y="5153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5C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71827A8-9589-4F62-8241-DB3C64A0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0356" y="49911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1.4634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19D0AED-FF0F-4C9C-8058-A4073DAF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53125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B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5B8B11F-879E-4A5C-BA62-43B5F6A0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0960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1.2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2C9C195-9205-4A97-951F-5B897CCC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982" y="60960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1.3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8F1AC6D-E16B-48F5-BDED-568A4350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9839" y="60960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1.4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8E53F6E-16D9-4EEA-9024-E7DCA7CD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696" y="60960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1.5</a:t>
            </a:r>
          </a:p>
        </p:txBody>
      </p:sp>
      <p:sp>
        <p:nvSpPr>
          <p:cNvPr id="26" name="native26">
            <a:extLst xmlns:a="http://schemas.openxmlformats.org/drawingml/2006/main">
              <a:ext uri="{FF2B5EF4-FFF2-40B4-BE49-F238E27FC236}">
                <a16:creationId xmlns:a16="http://schemas.microsoft.com/office/drawing/2014/main" id="{1FC5292F-2753-4894-877D-AB6E4599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676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27" name="sampling-protocol-limitation">
            <a:extLst xmlns:a="http://schemas.openxmlformats.org/drawingml/2006/main">
              <a:ext uri="{FF2B5EF4-FFF2-40B4-BE49-F238E27FC236}">
                <a16:creationId xmlns:a16="http://schemas.microsoft.com/office/drawing/2014/main" id="{1463C72D-80DA-4F50-860C-90768A8E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526B80"/>
                </a:solidFill>
              </a:defRPr>
            </a:defPPr>
          </a:lstStyle>
          <ns4:p xmlns:ns4="http://schemas.openxmlformats.org/drawingml/2006/main">
            <ns4:pPr>
              <ns4:defRPr sz="1800">
                <ns4:solidFill>
                  <ns4:srgbClr val="526B80"/>
                </ns4:solidFill>
              </ns4:defRPr>
            </ns4:pPr>
            <ns4:r>
              <ns4:rPr sz="1800">
                <ns4:solidFill>
                  <ns4:srgbClr val="526B80"/>
                </ns4:solidFill>
              </ns4:rPr>
              <ns4:t>采样协议存在未核实差异，小幅时延差值不足以定位瓶颈。</ns4:t>
            </ns4:r>
          </ns4:p>
        </p:txBody>
      </p:sp>
    </p:spTree>
    <p:extLst>
      <p:ext uri="{BB962C8B-B14F-4D97-AF65-F5344CB8AC3E}">
        <p14:creationId xmlns:p14="http://schemas.microsoft.com/office/powerpoint/2010/main" val="531653781"/>
      </p:ext>
    </p:extLst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2"/>
          <p:cNvSpPr/>
          <p:nvPr/>
        </p:nvSpPr>
        <p:spPr>
          <a:xfrm>
            <a:off x="762000" y="266700"/>
            <a:ext cx="13335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425" b="1">
                <a:solidFill>
                  <a:srgbClr val="32689F"/>
                </a:solidFill>
                <a:latin typeface="Noto Sans CJK SC"/>
                <a:ea typeface="Noto Sans CJK SC"/>
              </a:rPr>
              <a:t>Results &amp; Ablation · Module Evidence</a:t>
            </a:r>
            <a:endParaRPr lang="zh-CN" sz="1425"/>
          </a:p>
        </p:txBody>
      </p:sp>
      <p:sp>
        <p:nvSpPr>
          <p:cNvPr id="3" name="native3"/>
          <p:cNvSpPr/>
          <p:nvPr/>
        </p:nvSpPr>
        <p:spPr>
          <a:xfrm>
            <a:off x="762000" y="762000"/>
            <a:ext cx="137160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3150" b="1" dirty="0">
                <a:solidFill>
                  <a:srgbClr val="193247"/>
                </a:solidFill>
                <a:latin typeface="Noto Sans CJK SC"/>
                <a:ea typeface="Noto Sans CJK SC"/>
              </a:rPr>
              <a:t>历史128/128保护：检索与词元预算的联合变化</a:t>
            </a:r>
          </a:p>
        </p:txBody>
      </p:sp>
      <p:sp>
        <p:nvSpPr>
          <p:cNvPr id="4" name="native4"/>
          <p:cNvSpPr/>
          <p:nvPr/>
        </p:nvSpPr>
        <p:spPr>
          <a:xfrm>
            <a:off x="762000" y="1495425"/>
            <a:ext cx="137160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75" b="0">
                <a:solidFill>
                  <a:srgbClr val="536574"/>
                </a:solidFill>
                <a:latin typeface="Noto Sans CJK SC"/>
                <a:ea typeface="Noto Sans CJK SC"/>
              </a:rPr>
              <a:t>预算256与1024的联合变化，未隔离分区贡献</a:t>
            </a:r>
          </a:p>
        </p:txBody>
      </p:sp>
      <p:sp>
        <p:nvSpPr>
          <p:cNvPr id="10" name="native10"/>
          <p:cNvSpPr/>
          <p:nvPr/>
        </p:nvSpPr>
        <p:spPr>
          <a:xfrm>
            <a:off x="762000" y="2857500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75" b="1">
                <a:solidFill>
                  <a:srgbClr val="727E87"/>
                </a:solidFill>
                <a:latin typeface="Noto Sans CJK SC"/>
                <a:ea typeface="Noto Sans CJK SC"/>
              </a:rPr>
              <a:t>前缀128 + 近期窗口128</a:t>
            </a:r>
          </a:p>
        </p:txBody>
      </p:sp>
      <p:sp>
        <p:nvSpPr>
          <p:cNvPr id="20" name="native20"/>
          <p:cNvSpPr/>
          <p:nvPr/>
        </p:nvSpPr>
        <p:spPr>
          <a:xfrm>
            <a:off x="6000750" y="2857500"/>
            <a:ext cx="3727609" cy="523875"/>
          </a:xfrm>
          <a:prstGeom prst="roundRect">
            <a:avLst/>
          </a:prstGeom>
          <a:solidFill>
            <a:srgbClr val="727E8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native30"/>
          <p:cNvSpPr/>
          <p:nvPr/>
        </p:nvSpPr>
        <p:spPr>
          <a:xfrm>
            <a:off x="9918859" y="2857500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b="1">
                <a:solidFill>
                  <a:srgbClr val="727E87"/>
                </a:solidFill>
                <a:latin typeface="Noto Sans CJK SC"/>
                <a:ea typeface="Noto Sans CJK SC"/>
              </a:rPr>
              <a:t>26.09</a:t>
            </a:r>
            <a:endParaRPr lang="zh-CN" sz="2400"/>
          </a:p>
        </p:txBody>
      </p:sp>
      <p:sp>
        <p:nvSpPr>
          <p:cNvPr id="40" name="native40"/>
          <p:cNvSpPr/>
          <p:nvPr/>
        </p:nvSpPr>
        <p:spPr>
          <a:xfrm>
            <a:off x="762000" y="340995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75" b="0">
                <a:solidFill>
                  <a:srgbClr val="536574"/>
                </a:solidFill>
                <a:latin typeface="Noto Sans CJK SC"/>
                <a:ea typeface="Noto Sans CJK SC"/>
              </a:rPr>
              <a:t>总预算256</a:t>
            </a:r>
            <a:endParaRPr lang="zh-CN" sz="1875"/>
          </a:p>
        </p:txBody>
      </p:sp>
      <p:sp>
        <p:nvSpPr>
          <p:cNvPr id="11" name="native11"/>
          <p:cNvSpPr/>
          <p:nvPr/>
        </p:nvSpPr>
        <p:spPr>
          <a:xfrm>
            <a:off x="762000" y="4667250"/>
            <a:ext cx="57150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175" b="1">
                <a:solidFill>
                  <a:srgbClr val="32689F"/>
                </a:solidFill>
                <a:latin typeface="Noto Sans CJK SC"/>
                <a:ea typeface="Noto Sans CJK SC"/>
              </a:rPr>
              <a:t>中间历史检索 + 保护集合</a:t>
            </a:r>
          </a:p>
        </p:txBody>
      </p:sp>
      <p:sp>
        <p:nvSpPr>
          <p:cNvPr id="21" name="native21"/>
          <p:cNvSpPr/>
          <p:nvPr/>
        </p:nvSpPr>
        <p:spPr>
          <a:xfrm>
            <a:off x="6000750" y="4667250"/>
            <a:ext cx="6845141" cy="523875"/>
          </a:xfrm>
          <a:prstGeom prst="roundRect">
            <a:avLst/>
          </a:prstGeom>
          <a:solidFill>
            <a:srgbClr val="32689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native31"/>
          <p:cNvSpPr/>
          <p:nvPr/>
        </p:nvSpPr>
        <p:spPr>
          <a:xfrm>
            <a:off x="13036391" y="4667250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2400" b="1">
                <a:solidFill>
                  <a:srgbClr val="32689F"/>
                </a:solidFill>
                <a:latin typeface="Noto Sans CJK SC"/>
                <a:ea typeface="Noto Sans CJK SC"/>
              </a:rPr>
              <a:t>47.91</a:t>
            </a:r>
            <a:endParaRPr lang="zh-CN" sz="2400"/>
          </a:p>
        </p:txBody>
      </p:sp>
      <p:sp>
        <p:nvSpPr>
          <p:cNvPr id="41" name="native41"/>
          <p:cNvSpPr/>
          <p:nvPr/>
        </p:nvSpPr>
        <p:spPr>
          <a:xfrm>
            <a:off x="762000" y="521970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875" b="0">
                <a:solidFill>
                  <a:srgbClr val="536574"/>
                </a:solidFill>
                <a:latin typeface="Noto Sans CJK SC"/>
                <a:ea typeface="Noto Sans CJK SC"/>
              </a:rPr>
              <a:t>总预算1024</a:t>
            </a:r>
            <a:endParaRPr lang="zh-CN" sz="1875"/>
          </a:p>
        </p:txBody>
      </p:sp>
      <p:sp>
        <p:nvSpPr>
          <p:cNvPr id="46" name="native46"/>
          <p:cNvSpPr/>
          <p:nvPr/>
        </p:nvSpPr>
        <p:spPr>
          <a:xfrm>
            <a:off x="6000750" y="5981700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75" b="0">
                <a:solidFill>
                  <a:srgbClr val="536574"/>
                </a:solidFill>
                <a:latin typeface="Noto Sans CJK SC"/>
                <a:ea typeface="Noto Sans CJK SC"/>
              </a:rPr>
              <a:t>0</a:t>
            </a:r>
            <a:endParaRPr lang="zh-CN" sz="1575"/>
          </a:p>
        </p:txBody>
      </p:sp>
      <p:sp>
        <p:nvSpPr>
          <p:cNvPr id="47" name="native47"/>
          <p:cNvSpPr/>
          <p:nvPr/>
        </p:nvSpPr>
        <p:spPr>
          <a:xfrm>
            <a:off x="9572625" y="5981700"/>
            <a:ext cx="762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75" b="0">
                <a:solidFill>
                  <a:srgbClr val="536574"/>
                </a:solidFill>
                <a:latin typeface="Noto Sans CJK SC"/>
                <a:ea typeface="Noto Sans CJK SC"/>
              </a:rPr>
              <a:t>25</a:t>
            </a:r>
            <a:endParaRPr lang="zh-CN" sz="1575"/>
          </a:p>
        </p:txBody>
      </p:sp>
      <p:sp>
        <p:nvSpPr>
          <p:cNvPr id="48" name="native48"/>
          <p:cNvSpPr/>
          <p:nvPr/>
        </p:nvSpPr>
        <p:spPr>
          <a:xfrm>
            <a:off x="13144500" y="5981700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75" b="0">
                <a:solidFill>
                  <a:srgbClr val="536574"/>
                </a:solidFill>
                <a:latin typeface="Noto Sans CJK SC"/>
                <a:ea typeface="Noto Sans CJK SC"/>
              </a:rPr>
              <a:t>50 分</a:t>
            </a:r>
            <a:endParaRPr lang="zh-CN" sz="1575"/>
          </a:p>
        </p:txBody>
      </p:sp>
      <p:sp>
        <p:nvSpPr>
          <p:cNvPr id="52" name="native52"/>
          <p:cNvSpPr/>
          <p:nvPr/>
        </p:nvSpPr>
        <p:spPr>
          <a:xfrm>
            <a:off x="13906500" y="8067675"/>
            <a:ext cx="5715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zh-CN" sz="1500" b="0">
                <a:solidFill>
                  <a:srgbClr val="536574"/>
                </a:solidFill>
                <a:latin typeface="Noto Sans CJK SC"/>
                <a:ea typeface="Noto Sans CJK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48732185"/>
      </p:ext>
    </p:extLst>
  </p:cSld>
  <p:clrMapOvr>
    <a:masterClrMapping/>
  </p:clrMapOvr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12C2174-7DD7-4C4B-8EB2-D72B4D13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38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rPr>
              <a:t>Conclusion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808165A-E631-4FD2-98FE-23D3488F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rPr>
              <a:t>表示质量与执行成本的取舍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55404CD-BAC3-4CD5-AE73-943BCE51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305C8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0:p xmlns:ns0="http://schemas.openxmlformats.org/drawingml/2006/main">
            <ns0:pPr>
              <ns0:buNone/>
              <ns0:defRPr sz="2550" b="1">
                <ns0:solidFill>
                  <ns0:srgbClr val="305C86"/>
                </ns0:solidFill>
                <ns0:latin typeface="Noto Sans CJK SC"/>
                <ns0:ea typeface="Noto Sans CJK SC"/>
                <ns0:cs typeface="Noto Sans CJK SC"/>
              </ns0:defRPr>
            </ns0:pPr>
            <ns0:r>
              <ns0:rPr sz="2550" b="1">
                <ns0:solidFill>
                  <ns0:srgbClr val="305C86"/>
                </ns0:solidFill>
                <ns0:latin typeface="Noto Sans CJK SC"/>
                <ns0:ea typeface="Noto Sans CJK SC"/>
                <ns0:cs typeface="Noto Sans CJK SC"/>
              </ns0:rPr>
              <ns0:t>共享低频评分表示</ns0:t>
            </ns0:r>
          </ns0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A351A26-0863-4631-9F5C-29544C55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1">
                <a:solidFill>
                  <a:srgbClr val="A6632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1:p xmlns:ns1="http://schemas.openxmlformats.org/drawingml/2006/main">
            <ns1:pPr>
              <ns1:buNone/>
              <ns1:defRPr sz="2550" b="1">
                <ns1:solidFill>
                  <ns1:srgbClr val="A66328"/>
                </ns1:solidFill>
                <ns1:latin typeface="Noto Sans CJK SC"/>
                <ns1:ea typeface="Noto Sans CJK SC"/>
                <ns1:cs typeface="Noto Sans CJK SC"/>
              </ns1:defRPr>
            </ns1:pPr>
            <ns1:r>
              <ns1:rPr sz="2550" b="1">
                <ns1:solidFill>
                  <ns1:srgbClr val="A66328"/>
                </ns1:solidFill>
                <ns1:latin typeface="Noto Sans CJK SC"/>
                <ns1:ea typeface="Noto Sans CJK SC"/>
                <ns1:cs typeface="Noto Sans CJK SC"/>
              </ns1:rPr>
              <ns1:t>可选远区门控</ns1:t>
            </ns1:r>
          </ns1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29D851A-2155-426F-A42B-D9BCA1AC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75" b="1">
                <a:solidFill>
                  <a:srgbClr val="78618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7861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78618C"/>
                </a:solidFill>
                <a:latin typeface="Noto Sans CJK SC"/>
                <a:ea typeface="Noto Sans CJK SC"/>
                <a:cs typeface="Noto Sans CJK SC"/>
              </a:rPr>
              <a:t>32维选择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2499D1F-9601-4FDB-B39F-55C3AA9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1947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85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B8580D3-D048-4B76-A137-10481E21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194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75" b="1">
                <a:solidFill>
                  <a:srgbClr val="1289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2:p xmlns:ns2="http://schemas.openxmlformats.org/drawingml/2006/main">
            <ns2:pPr>
              <ns2:buNone/>
              <ns2:defRPr sz="2475" b="1">
                <ns2:solidFill>
                  <ns2:srgbClr val="128982"/>
                </ns2:solidFill>
                <ns2:latin typeface="Noto Sans CJK SC"/>
                <ns2:ea typeface="Noto Sans CJK SC"/>
                <ns2:cs typeface="Noto Sans CJK SC"/>
              </ns2:defRPr>
            </ns2:pPr>
            <ns2:r>
              <ns2:rPr sz="2475" b="1">
                <ns2:solidFill>
                  <ns2:srgbClr val="128982"/>
                </ns2:solidFill>
                <ns2:latin typeface="Noto Sans CJK SC"/>
                <ns2:ea typeface="Noto Sans CJK SC"/>
                <ns2:cs typeface="Noto Sans CJK SC"/>
              </ns2:rPr>
              <ns2:t>共享词元索引</ns2:t>
            </ns2:r>
          </ns2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8D0E43F-D808-4CDC-B306-BDCC6323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00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7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D736473-920F-4D6E-B15F-C7E8040F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1831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3:p xmlns:ns3="http://schemas.openxmlformats.org/drawingml/2006/main">
            <ns3:pPr>
              <ns3:buNone/>
              <ns3:defRPr sz="2775" b="1">
                <ns3:solidFill>
                  <ns3:srgbClr val="183146"/>
                </ns3:solidFill>
                <ns3:latin typeface="Noto Sans CJK SC"/>
                <ns3:ea typeface="Noto Sans CJK SC"/>
                <ns3:cs typeface="Noto Sans CJK SC"/>
              </ns3:defRPr>
            </ns3:pPr>
            <ns3:r>
              <ns3:rPr sz="2775" b="1">
                <ns3:solidFill>
                  <ns3:srgbClr val="183146"/>
                </ns3:solidFill>
                <ns3:latin typeface="Noto Sans CJK SC"/>
                <ns3:ea typeface="Noto Sans CJK SC"/>
                <ns3:cs typeface="Noto Sans CJK SC"/>
              </ns3:rPr>
              <ns3:t>原128维 注意力</ns3:t>
            </ns3:r>
          </ns3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D85501F-47CC-4EBB-A983-359B20D1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0995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00" b="1">
                <a:solidFill>
                  <a:srgbClr val="A6632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4:p xmlns:ns4="http://schemas.openxmlformats.org/drawingml/2006/main">
            <ns4:pPr>
              <ns4:buNone/>
              <ns4:defRPr sz="2700" b="1">
                <ns4:solidFill>
                  <ns4:srgbClr val="A66328"/>
                </ns4:solidFill>
                <ns4:latin typeface="Noto Sans CJK SC"/>
                <ns4:ea typeface="Noto Sans CJK SC"/>
                <ns4:cs typeface="Noto Sans CJK SC"/>
              </ns4:defRPr>
            </ns4:pPr>
            <ns4:r>
              <ns4:rPr sz="2700" b="1">
                <ns4:solidFill>
                  <ns4:srgbClr val="A66328"/>
                </ns4:solidFill>
                <ns4:latin typeface="Noto Sans CJK SC"/>
                <ns4:ea typeface="Noto Sans CJK SC"/>
                <ns4:cs typeface="Noto Sans CJK SC"/>
              </ns4:rPr>
              <ns4:t>预填充 标定</ns4:t>
            </ns4:r>
          </ns4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C135495-B93E-4C57-BA38-71F435F1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291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00" b="0">
                <a:solidFill>
                  <a:srgbClr val="A6632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buNone/>
              <a:defRPr sz="2700" b="0">
                <a:solidFill>
                  <a:srgbClr val="A6632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0">
                <a:solidFill>
                  <a:srgbClr val="A66328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C8BF4F0-5E3C-4DB6-B72C-974C474B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09587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00" b="1">
                <a:solidFill>
                  <a:srgbClr val="A6632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5:p xmlns:ns5="http://schemas.openxmlformats.org/drawingml/2006/main">
            <ns5:pPr>
              <ns5:buNone/>
              <ns5:defRPr sz="2700" b="1">
                <ns5:solidFill>
                  <ns5:srgbClr val="A66328"/>
                </ns5:solidFill>
                <ns5:latin typeface="Noto Sans CJK SC"/>
                <ns5:ea typeface="Noto Sans CJK SC"/>
                <ns5:cs typeface="Noto Sans CJK SC"/>
              </ns5:defRPr>
            </ns5:pPr>
            <ns5:r>
              <ns5:rPr sz="2700" b="1">
                <ns5:solidFill>
                  <ns5:srgbClr val="A66328"/>
                </ns5:solidFill>
                <ns5:latin typeface="Noto Sans CJK SC"/>
                <ns5:ea typeface="Noto Sans CJK SC"/>
                <ns5:cs typeface="Noto Sans CJK SC"/>
              </ns5:rPr>
              <ns5:t>解码 复用</ns5:t>
            </ns5:r>
          </ns5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A9657CC-00A4-43B6-9C9A-1A31E636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647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6:p xmlns:ns6="http://schemas.openxmlformats.org/drawingml/2006/main">
            <ns6:pPr>
              <ns6:buNone/>
              <ns6:defRPr sz="2100" b="0">
                <ns6:solidFill>
                  <ns6:srgbClr val="536574"/>
                </ns6:solidFill>
                <ns6:latin typeface="Noto Sans CJK SC"/>
                <ns6:ea typeface="Noto Sans CJK SC"/>
                <ns6:cs typeface="Noto Sans CJK SC"/>
              </ns6:defRPr>
            </ns6:pPr>
            <ns6:r>
              <ns6:rPr sz="2100" b="0">
                <ns6:solidFill>
                  <ns6:srgbClr val="536574"/>
                </ns6:solidFill>
                <ns6:latin typeface="Noto Sans CJK SC"/>
                <ns6:ea typeface="Noto Sans CJK SC"/>
                <ns6:cs typeface="Noto Sans CJK SC"/>
              </ns6:rPr>
              <ns6:t>五任务均值47.588</ns6:t>
            </ns6:r>
          </ns6:p>
          <ns7:p xmlns:ns7="http://schemas.openxmlformats.org/drawingml/2006/main">
            <ns7:pPr>
              <ns7:buNone/>
              <ns7:defRPr sz="2100" b="0">
                <ns7:solidFill>
                  <ns7:srgbClr val="536574"/>
                </ns7:solidFill>
                <ns7:latin typeface="Noto Sans CJK SC"/>
                <ns7:ea typeface="Noto Sans CJK SC"/>
                <ns7:cs typeface="Noto Sans CJK SC"/>
              </ns7:defRPr>
            </ns7:pPr>
            <ns7:r>
              <ns7:rPr sz="2100" b="0">
                <ns7:solidFill>
                  <ns7:srgbClr val="536574"/>
                </ns7:solidFill>
                <ns7:latin typeface="Noto Sans CJK SC"/>
                <ns7:ea typeface="Noto Sans CJK SC"/>
                <ns7:cs typeface="Noto Sans CJK SC"/>
              </ns7:rPr>
              <ns7:t>配置差值不能隔离评分阶段效应</ns7:t>
            </ns7:r>
          </ns7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7F90DC7-A5F0-4E7D-B20E-5728B075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1436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ns8:p xmlns:ns8="http://schemas.openxmlformats.org/drawingml/2006/main">
            <ns8:pPr>
              <ns8:buNone/>
              <ns8:defRPr sz="2100" b="0">
                <ns8:solidFill>
                  <ns8:srgbClr val="536574"/>
                </ns8:solidFill>
                <ns8:latin typeface="Noto Sans CJK SC"/>
                <ns8:ea typeface="Noto Sans CJK SC"/>
                <ns8:cs typeface="Noto Sans CJK SC"/>
              </ns8:defRPr>
            </ns8:pPr>
            <ns8:r>
              <ns8:rPr sz="2100" b="0">
                <ns8:solidFill>
                  <ns8:srgbClr val="536574"/>
                </ns8:solidFill>
                <ns8:latin typeface="Noto Sans CJK SC"/>
                <ns8:ea typeface="Noto Sans CJK SC"/>
                <ns8:cs typeface="Noto Sans CJK SC"/>
              </ns8:rPr>
              <ns8:t>小幅均值变化掩盖逐任务损失</ns8:t>
            </ns8:r>
          </ns8:p>
          <ns9:p xmlns:ns9="http://schemas.openxmlformats.org/drawingml/2006/main">
            <ns9:pPr>
              <ns9:buNone/>
              <ns9:defRPr sz="2100" b="0">
                <ns9:solidFill>
                  <ns9:srgbClr val="536574"/>
                </ns9:solidFill>
                <ns9:latin typeface="Noto Sans CJK SC"/>
                <ns9:ea typeface="Noto Sans CJK SC"/>
                <ns9:cs typeface="Noto Sans CJK SC"/>
              </ns9:defRPr>
            </ns9:pPr>
            <ns9:r>
              <ns9:rPr sz="2100" b="0">
                <ns9:solidFill>
                  <ns9:srgbClr val="536574"/>
                </ns9:solidFill>
                <ns9:latin typeface="Noto Sans CJK SC"/>
                <ns9:ea typeface="Noto Sans CJK SC"/>
                <ns9:cs typeface="Noto Sans CJK SC"/>
              </ns9:rPr>
              <ns9:t>低预填充概率不能保证解码质量</ns9:t>
            </ns9:r>
          </ns9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D119CCA-BA34-420A-87F0-83EC0E41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native20">
            <a:extLst xmlns:a="http://schemas.openxmlformats.org/drawingml/2006/main">
              <a:ext uri="{FF2B5EF4-FFF2-40B4-BE49-F238E27FC236}">
                <a16:creationId xmlns:a16="http://schemas.microsoft.com/office/drawing/2014/main" id="{706F2BE7-7643-44EF-889C-1A1E2EBA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6767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536574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3935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4873</Words>
  <Application>Microsoft Office PowerPoint</Application>
  <DocSecurity>0</DocSecurity>
  <PresentationFormat>自定义</PresentationFormat>
  <Paragraphs>526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9" baseType="lpstr">
      <vt:lpstr>Noto Sans CJK SC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Yuanshuo Wang</cp:lastModifiedBy>
  <cp:revision>23</cp:revision>
  <dcterms:created xsi:type="dcterms:W3CDTF">2026-10-13T07:37:37Z</dcterms:created>
  <dcterms:modified xsi:type="dcterms:W3CDTF">2026-10-14T01:51:31Z</dcterms:modified>
</cp:coreProperties>
</file>