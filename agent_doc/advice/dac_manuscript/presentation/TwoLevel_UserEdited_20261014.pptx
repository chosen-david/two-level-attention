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dac_layout_decode_tpot_current_zh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dac_layout_ruler128k_current_zh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子空间</a:t>
            </a:r>
            <a:r>
              <a:rPr lang="zh-CN" altLang="en-US" sz="36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</a:t>
            </a: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的近远两级注意力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共享低维索引，保留原维注意力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共享低频坐标与区域页配额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固定词元预算下：候选访问与选择成本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均值与极值刻画不同评分目标，页注意力和另作参照。
全局TopK不提供区域容量保证。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共享32坐标映射与区域页配额协同选择，
最终在选集上使用原128维 Q / K / V。</a:t>
            </a:r>
          </a:p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观察与边界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区域预留改变远区覆盖，43/128条观测下降；历史稀疏解码更慢，当前4/128尚缺匹配质量—成本结果。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四项观察：区域选集、紧凑坐标与历史层差异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51760" y="1691640"/>
            <a:ext cx="8296259" cy="598932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22960" y="7744968"/>
            <a:ext cx="1362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43746"/>
                </a:solidFill>
                <a:latin typeface="Noto Sans CJK SC"/>
              </a:defRPr>
            </a:pPr>
            <a:r>
              <a:t>(a) 页权重排序≠词元TopK；实际1989/1989/2048词元；均值／极值同32维，参考为全维；不能证明区域分工；</a:t>
            </a:r>
            <a:br/>
            <a:r>
              <a:t>(b) 43/128条下降；(c) 随机未配对；(d) 历史代理，不是当前门控或解码保证。</a:t>
            </a:r>
          </a:p>
        </p:txBody>
      </p:sp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级联、坐标选择与量化评分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逐查询概率聚合；原维KV最终注意力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两项核心机制，一个可选扩展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共享低频RoPE坐标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同层同KV头的16完整旋转对</ns1:t>
            </ns1:r>
          </ns1:p>
          <ns2:p xmlns:ns2="http://schemas.openxmlformats.org/drawingml/2006/main">
            <ns2:pPr>
              <ns2:buNone/>
              <ns2:def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rPr>
              <ns2:t>近区 / 远区、L1 / L2共用坐标</ns2:t>
            </ns2:r>
          </ns2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共享坐标映射，不要求共享物理缓冲区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近远两级分配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固定 α / β / γ 定义区域和配额</a:t>
            </a:r>
          </a:p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最终仍用原128维 Q / K / V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区域配额保留近端与远端候选入口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预填充阶段为各输入确定逐层决策</ns4:t>
            </ns4:r>
          </ns4:p>
          <ns5:p xmlns:ns5="http://schemas.openxmlformats.org/drawingml/2006/main">
            <ns5:pPr>
              <ns5:buNone/>
              <ns5:def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解码复用，关闭远区时回填近区配额</ns5:t>
            </ns5:r>
          </ns5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总架构：共享索引与原维注意力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门控未启用的普通路径；近区不含保护滑窗，KV物理访问由后端决定</a:t>
            </a:r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grpSp>
        <p:nvGrpSpPr>
          <p:cNvPr id="5001" name="Shared indexer architecture — editable"/>
          <p:cNvGrpSpPr/>
          <p:nvPr/>
        </p:nvGrpSpPr>
        <p:grpSpPr>
          <a:xfrm>
            <a:off x="822960" y="1874520"/>
            <a:ext cx="13533120" cy="6377214"/>
            <a:chOff x="0" y="0"/>
            <a:chExt cx="9601200" cy="4524375"/>
          </a:xfrm>
        </p:grpSpPr>
        <p:sp>
          <p:nvSpPr>
            <p:cNvPr id="5002" name="R3-zh-1-text">
              <a:extLst>
                <a:ext uri="{FF2B5EF4-FFF2-40B4-BE49-F238E27FC236}">
                  <a16:creationId xmlns:a16="http://schemas.microsoft.com/office/drawing/2014/main" id="{8436A63F-3675-419C-A6E1-2883622DA55F}"/>
                </a:ext>
              </a:extLst>
            </p:cNvPr>
            <p:cNvSpPr>
              <a:spLocks noGrp="1"/>
            </p:cNvSpPr>
            <p:nvPr/>
          </p:nvSpPr>
          <p:spPr>
            <a:xfrm>
              <a:off x="406051" y="53912"/>
              <a:ext cx="921449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原始KV存储</a:t>
              </a:r>
            </a:p>
          </p:txBody>
        </p:sp>
        <p:sp>
          <p:nvSpPr>
            <p:cNvPr id="5003" name="R3-zh-2-text">
              <a:extLst>
                <a:ext uri="{FF2B5EF4-FFF2-40B4-BE49-F238E27FC236}">
                  <a16:creationId xmlns:a16="http://schemas.microsoft.com/office/drawing/2014/main" id="{E5FC2B9D-7383-4C98-B16E-91A6B81F4FE7}"/>
                </a:ext>
              </a:extLst>
            </p:cNvPr>
            <p:cNvSpPr>
              <a:spLocks noGrp="1"/>
            </p:cNvSpPr>
            <p:nvPr/>
          </p:nvSpPr>
          <p:spPr>
            <a:xfrm>
              <a:off x="4263866" y="53912"/>
              <a:ext cx="902018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共享索引器</a:t>
              </a:r>
            </a:p>
          </p:txBody>
        </p:sp>
        <p:sp>
          <p:nvSpPr>
            <p:cNvPr id="5004" name="R3-zh-3-text">
              <a:extLst>
                <a:ext uri="{FF2B5EF4-FFF2-40B4-BE49-F238E27FC236}">
                  <a16:creationId xmlns:a16="http://schemas.microsoft.com/office/drawing/2014/main" id="{FF0E6F46-61A6-42AC-9B24-D1C19E5DBA04}"/>
                </a:ext>
              </a:extLst>
            </p:cNvPr>
            <p:cNvSpPr>
              <a:spLocks noGrp="1"/>
            </p:cNvSpPr>
            <p:nvPr/>
          </p:nvSpPr>
          <p:spPr>
            <a:xfrm>
              <a:off x="8245316" y="53912"/>
              <a:ext cx="902018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最终注意力</a:t>
              </a:r>
            </a:p>
          </p:txBody>
        </p:sp>
        <p:sp>
          <p:nvSpPr>
            <p:cNvPr id="5005" name="R3-zh-4-rect">
              <a:extLst>
                <a:ext uri="{FF2B5EF4-FFF2-40B4-BE49-F238E27FC236}">
                  <a16:creationId xmlns:a16="http://schemas.microsoft.com/office/drawing/2014/main" id="{DCDE1892-7B93-4937-AC26-09FC8C24F336}"/>
                </a:ext>
              </a:extLst>
            </p:cNvPr>
            <p:cNvSpPr>
              <a:spLocks noGrp="1"/>
            </p:cNvSpPr>
            <p:nvPr/>
          </p:nvSpPr>
          <p:spPr>
            <a:xfrm>
              <a:off x="2076450" y="647700"/>
              <a:ext cx="5353050" cy="3143250"/>
            </a:xfrm>
            <a:prstGeom prst="rect">
              <a:avLst/>
            </a:prstGeom>
            <a:solidFill>
              <a:srgbClr val="FAFBFC"/>
            </a:solidFill>
            <a:ln w="9525">
              <a:solidFill>
                <a:srgbClr val="AEB9C0"/>
              </a:solidFill>
            </a:ln>
          </p:spPr>
        </p:sp>
        <p:sp>
          <p:nvSpPr>
            <p:cNvPr id="5006" name="R3-zh-5-text">
              <a:extLst>
                <a:ext uri="{FF2B5EF4-FFF2-40B4-BE49-F238E27FC236}">
                  <a16:creationId xmlns:a16="http://schemas.microsoft.com/office/drawing/2014/main" id="{06F7DE75-8929-4AF3-9B9D-F110E4BC7FC2}"/>
                </a:ext>
              </a:extLst>
            </p:cNvPr>
            <p:cNvSpPr>
              <a:spLocks noGrp="1"/>
            </p:cNvSpPr>
            <p:nvPr/>
          </p:nvSpPr>
          <p:spPr>
            <a:xfrm>
              <a:off x="114300" y="339471"/>
              <a:ext cx="209550" cy="2400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Q</a:t>
              </a:r>
            </a:p>
          </p:txBody>
        </p:sp>
        <p:sp>
          <p:nvSpPr>
            <p:cNvPr id="5007" name="R3-zh-6-polyline">
              <a:extLst>
                <a:ext uri="{FF2B5EF4-FFF2-40B4-BE49-F238E27FC236}">
                  <a16:creationId xmlns:a16="http://schemas.microsoft.com/office/drawing/2014/main" id="{16360B7B-6FA1-4332-A568-7EA848E8B5F5}"/>
                </a:ext>
              </a:extLst>
            </p:cNvPr>
            <p:cNvSpPr>
              <a:spLocks noGrp="1"/>
            </p:cNvSpPr>
            <p:nvPr/>
          </p:nvSpPr>
          <p:spPr>
            <a:xfrm>
              <a:off x="371475" y="466725"/>
              <a:ext cx="9134475" cy="2752725"/>
            </a:xfrm>
            <a:custGeom>
              <a:pathLst>
                <a:path w="9134475" h="2752725">
                  <a:moveTo>
                    <a:pt x="0" y="0"/>
                  </a:moveTo>
                  <a:lnTo>
                    <a:pt x="9134475" y="0"/>
                  </a:lnTo>
                  <a:lnTo>
                    <a:pt x="9134475" y="2600325"/>
                  </a:lnTo>
                  <a:lnTo>
                    <a:pt x="8915400" y="2600325"/>
                  </a:lnTo>
                  <a:lnTo>
                    <a:pt x="8915400" y="275272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008" name="R3-zh-6-polyline-arrow">
              <a:extLst>
                <a:ext uri="{FF2B5EF4-FFF2-40B4-BE49-F238E27FC236}">
                  <a16:creationId xmlns:a16="http://schemas.microsoft.com/office/drawing/2014/main" id="{0A022EF4-CE5B-4B4E-8377-DAEB6E4E91F6}"/>
                </a:ext>
              </a:extLst>
            </p:cNvPr>
            <p:cNvSpPr>
              <a:spLocks noGrp="1"/>
            </p:cNvSpPr>
            <p:nvPr/>
          </p:nvSpPr>
          <p:spPr>
            <a:xfrm>
              <a:off x="9264015" y="317182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09" name="R3-zh-7-text">
              <a:extLst>
                <a:ext uri="{FF2B5EF4-FFF2-40B4-BE49-F238E27FC236}">
                  <a16:creationId xmlns:a16="http://schemas.microsoft.com/office/drawing/2014/main" id="{D2E084CF-1A0A-410E-A9E1-FC2A631B698B}"/>
                </a:ext>
              </a:extLst>
            </p:cNvPr>
            <p:cNvSpPr>
              <a:spLocks noGrp="1"/>
            </p:cNvSpPr>
            <p:nvPr/>
          </p:nvSpPr>
          <p:spPr>
            <a:xfrm>
              <a:off x="8283035" y="273558"/>
              <a:ext cx="712280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原始128维</a:t>
              </a:r>
            </a:p>
          </p:txBody>
        </p:sp>
        <p:sp>
          <p:nvSpPr>
            <p:cNvPr id="5010" name="R3-zh-8-text">
              <a:extLst>
                <a:ext uri="{FF2B5EF4-FFF2-40B4-BE49-F238E27FC236}">
                  <a16:creationId xmlns:a16="http://schemas.microsoft.com/office/drawing/2014/main" id="{0E887329-B716-4850-928A-F27DB81EC8B8}"/>
                </a:ext>
              </a:extLst>
            </p:cNvPr>
            <p:cNvSpPr>
              <a:spLocks noGrp="1"/>
            </p:cNvSpPr>
            <p:nvPr/>
          </p:nvSpPr>
          <p:spPr>
            <a:xfrm>
              <a:off x="0" y="1292162"/>
              <a:ext cx="209550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K</a:t>
              </a:r>
            </a:p>
          </p:txBody>
        </p:sp>
        <p:sp>
          <p:nvSpPr>
            <p:cNvPr id="5011" name="R3-zh-9-text">
              <a:extLst>
                <a:ext uri="{FF2B5EF4-FFF2-40B4-BE49-F238E27FC236}">
                  <a16:creationId xmlns:a16="http://schemas.microsoft.com/office/drawing/2014/main" id="{671DFFB5-96C6-4A7A-901B-2BB24F7CE5AE}"/>
                </a:ext>
              </a:extLst>
            </p:cNvPr>
            <p:cNvSpPr>
              <a:spLocks noGrp="1"/>
            </p:cNvSpPr>
            <p:nvPr/>
          </p:nvSpPr>
          <p:spPr>
            <a:xfrm>
              <a:off x="1076325" y="730187"/>
              <a:ext cx="209550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V</a:t>
              </a:r>
            </a:p>
          </p:txBody>
        </p:sp>
        <p:sp>
          <p:nvSpPr>
            <p:cNvPr id="5012" name="R3-zh-10-rect">
              <a:extLst>
                <a:ext uri="{FF2B5EF4-FFF2-40B4-BE49-F238E27FC236}">
                  <a16:creationId xmlns:a16="http://schemas.microsoft.com/office/drawing/2014/main" id="{E09497EA-C9BF-4642-A452-F4DB8EA1B76D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3" name="R3-zh-11-rect">
              <a:extLst>
                <a:ext uri="{FF2B5EF4-FFF2-40B4-BE49-F238E27FC236}">
                  <a16:creationId xmlns:a16="http://schemas.microsoft.com/office/drawing/2014/main" id="{24187CF1-0A89-4FD3-9C5B-0F2B488E5842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4" name="R3-zh-12-rect">
              <a:extLst>
                <a:ext uri="{FF2B5EF4-FFF2-40B4-BE49-F238E27FC236}">
                  <a16:creationId xmlns:a16="http://schemas.microsoft.com/office/drawing/2014/main" id="{2E2450B7-3772-4385-96A7-7842A748D616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5" name="R3-zh-13-rect">
              <a:extLst>
                <a:ext uri="{FF2B5EF4-FFF2-40B4-BE49-F238E27FC236}">
                  <a16:creationId xmlns:a16="http://schemas.microsoft.com/office/drawing/2014/main" id="{05FBAF4B-20C8-4AF2-9232-924C40E59B9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6" name="R3-zh-14-rect">
              <a:extLst>
                <a:ext uri="{FF2B5EF4-FFF2-40B4-BE49-F238E27FC236}">
                  <a16:creationId xmlns:a16="http://schemas.microsoft.com/office/drawing/2014/main" id="{2F4B1768-0DEB-4CE8-82D4-5BBA945CB67D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7" name="R3-zh-15-rect">
              <a:extLst>
                <a:ext uri="{FF2B5EF4-FFF2-40B4-BE49-F238E27FC236}">
                  <a16:creationId xmlns:a16="http://schemas.microsoft.com/office/drawing/2014/main" id="{9E2EDDF4-28FE-4854-9B49-7D9C2C82F619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8" name="R3-zh-16-rect">
              <a:extLst>
                <a:ext uri="{FF2B5EF4-FFF2-40B4-BE49-F238E27FC236}">
                  <a16:creationId xmlns:a16="http://schemas.microsoft.com/office/drawing/2014/main" id="{07CD0E19-3966-4866-A679-ADFF98D19642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9" name="R3-zh-17-rect">
              <a:extLst>
                <a:ext uri="{FF2B5EF4-FFF2-40B4-BE49-F238E27FC236}">
                  <a16:creationId xmlns:a16="http://schemas.microsoft.com/office/drawing/2014/main" id="{D9DB85C2-B2AF-4B89-BF89-905F9F0CF4F6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0" name="R3-zh-18-rect">
              <a:extLst>
                <a:ext uri="{FF2B5EF4-FFF2-40B4-BE49-F238E27FC236}">
                  <a16:creationId xmlns:a16="http://schemas.microsoft.com/office/drawing/2014/main" id="{B530DDE5-32EC-4EF1-8C1E-33B68825CAD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1" name="R3-zh-19-rect">
              <a:extLst>
                <a:ext uri="{FF2B5EF4-FFF2-40B4-BE49-F238E27FC236}">
                  <a16:creationId xmlns:a16="http://schemas.microsoft.com/office/drawing/2014/main" id="{7AC5BF54-D80E-44E3-B2AA-5B79F89D63E1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2" name="R3-zh-20-rect">
              <a:extLst>
                <a:ext uri="{FF2B5EF4-FFF2-40B4-BE49-F238E27FC236}">
                  <a16:creationId xmlns:a16="http://schemas.microsoft.com/office/drawing/2014/main" id="{C9EB59E0-8FB7-4B30-9E38-5B0E8D160D87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3" name="R3-zh-21-rect">
              <a:extLst>
                <a:ext uri="{FF2B5EF4-FFF2-40B4-BE49-F238E27FC236}">
                  <a16:creationId xmlns:a16="http://schemas.microsoft.com/office/drawing/2014/main" id="{55DD5C77-958B-41A2-9A73-0B3692CA59AF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4" name="R3-zh-22-rect">
              <a:extLst>
                <a:ext uri="{FF2B5EF4-FFF2-40B4-BE49-F238E27FC236}">
                  <a16:creationId xmlns:a16="http://schemas.microsoft.com/office/drawing/2014/main" id="{4CD43444-9047-4C55-8CA8-C25BADAB5945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5" name="R3-zh-23-rect">
              <a:extLst>
                <a:ext uri="{FF2B5EF4-FFF2-40B4-BE49-F238E27FC236}">
                  <a16:creationId xmlns:a16="http://schemas.microsoft.com/office/drawing/2014/main" id="{B732F720-896C-4DBE-B7FD-915F3F5C8F2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6" name="R3-zh-24-rect">
              <a:extLst>
                <a:ext uri="{FF2B5EF4-FFF2-40B4-BE49-F238E27FC236}">
                  <a16:creationId xmlns:a16="http://schemas.microsoft.com/office/drawing/2014/main" id="{DA3C4F88-ABD7-49EB-B4FD-974020416196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7" name="R3-zh-25-rect">
              <a:extLst>
                <a:ext uri="{FF2B5EF4-FFF2-40B4-BE49-F238E27FC236}">
                  <a16:creationId xmlns:a16="http://schemas.microsoft.com/office/drawing/2014/main" id="{5FB68B1A-68C8-498C-9FA2-540C1DC414FE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8" name="R3-zh-26-rect">
              <a:extLst>
                <a:ext uri="{FF2B5EF4-FFF2-40B4-BE49-F238E27FC236}">
                  <a16:creationId xmlns:a16="http://schemas.microsoft.com/office/drawing/2014/main" id="{658C0CA4-C8A7-4E5A-A965-BCAE81976AB3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9" name="R3-zh-27-rect">
              <a:extLst>
                <a:ext uri="{FF2B5EF4-FFF2-40B4-BE49-F238E27FC236}">
                  <a16:creationId xmlns:a16="http://schemas.microsoft.com/office/drawing/2014/main" id="{293C5313-E50B-407C-8312-2F0B1B54A98F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0" name="R3-zh-28-rect">
              <a:extLst>
                <a:ext uri="{FF2B5EF4-FFF2-40B4-BE49-F238E27FC236}">
                  <a16:creationId xmlns:a16="http://schemas.microsoft.com/office/drawing/2014/main" id="{DA0B598E-B434-484D-A87F-3C4615B7AB2C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1" name="R3-zh-29-rect">
              <a:extLst>
                <a:ext uri="{FF2B5EF4-FFF2-40B4-BE49-F238E27FC236}">
                  <a16:creationId xmlns:a16="http://schemas.microsoft.com/office/drawing/2014/main" id="{497B4AFE-A23B-4505-94DE-6D30BA115504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2" name="R3-zh-30-rect">
              <a:extLst>
                <a:ext uri="{FF2B5EF4-FFF2-40B4-BE49-F238E27FC236}">
                  <a16:creationId xmlns:a16="http://schemas.microsoft.com/office/drawing/2014/main" id="{F1ADF53E-E0E0-494D-83F8-3BED948BE56A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3" name="R3-zh-31-rect">
              <a:extLst>
                <a:ext uri="{FF2B5EF4-FFF2-40B4-BE49-F238E27FC236}">
                  <a16:creationId xmlns:a16="http://schemas.microsoft.com/office/drawing/2014/main" id="{06DD169B-8D51-4FBF-9CB2-DF176FB2C5BE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4" name="R3-zh-32-rect">
              <a:extLst>
                <a:ext uri="{FF2B5EF4-FFF2-40B4-BE49-F238E27FC236}">
                  <a16:creationId xmlns:a16="http://schemas.microsoft.com/office/drawing/2014/main" id="{79F9E82A-5BD9-44D1-ACDC-A21AC538846F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5" name="R3-zh-33-rect">
              <a:extLst>
                <a:ext uri="{FF2B5EF4-FFF2-40B4-BE49-F238E27FC236}">
                  <a16:creationId xmlns:a16="http://schemas.microsoft.com/office/drawing/2014/main" id="{C3ABE13A-31DD-48B2-8C0D-02845C37184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6" name="R3-zh-34-rect">
              <a:extLst>
                <a:ext uri="{FF2B5EF4-FFF2-40B4-BE49-F238E27FC236}">
                  <a16:creationId xmlns:a16="http://schemas.microsoft.com/office/drawing/2014/main" id="{3E45AAF5-E81C-411E-9B1D-DAFD8AE50A83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7" name="R3-zh-35-rect">
              <a:extLst>
                <a:ext uri="{FF2B5EF4-FFF2-40B4-BE49-F238E27FC236}">
                  <a16:creationId xmlns:a16="http://schemas.microsoft.com/office/drawing/2014/main" id="{221A8248-8911-46EE-8622-F27056715CE1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8" name="R3-zh-36-rect">
              <a:extLst>
                <a:ext uri="{FF2B5EF4-FFF2-40B4-BE49-F238E27FC236}">
                  <a16:creationId xmlns:a16="http://schemas.microsoft.com/office/drawing/2014/main" id="{4ABA9C8A-D4C8-4B73-96F2-242C86D668AF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9" name="R3-zh-37-rect">
              <a:extLst>
                <a:ext uri="{FF2B5EF4-FFF2-40B4-BE49-F238E27FC236}">
                  <a16:creationId xmlns:a16="http://schemas.microsoft.com/office/drawing/2014/main" id="{8CB758AD-3F48-4E31-A437-D235414556F4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0" name="R3-zh-38-rect">
              <a:extLst>
                <a:ext uri="{FF2B5EF4-FFF2-40B4-BE49-F238E27FC236}">
                  <a16:creationId xmlns:a16="http://schemas.microsoft.com/office/drawing/2014/main" id="{E58163F2-B7AB-4D2A-B02C-DF2464802DC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1" name="R3-zh-39-rect">
              <a:extLst>
                <a:ext uri="{FF2B5EF4-FFF2-40B4-BE49-F238E27FC236}">
                  <a16:creationId xmlns:a16="http://schemas.microsoft.com/office/drawing/2014/main" id="{159D3D12-83A3-4A29-AF25-C3870E0390AD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2" name="R3-zh-40-rect">
              <a:extLst>
                <a:ext uri="{FF2B5EF4-FFF2-40B4-BE49-F238E27FC236}">
                  <a16:creationId xmlns:a16="http://schemas.microsoft.com/office/drawing/2014/main" id="{80FBDFBA-D797-4152-95CF-4265110EFAC0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3" name="R3-zh-41-rect">
              <a:extLst>
                <a:ext uri="{FF2B5EF4-FFF2-40B4-BE49-F238E27FC236}">
                  <a16:creationId xmlns:a16="http://schemas.microsoft.com/office/drawing/2014/main" id="{D5F25A41-9D2A-4323-95AC-88C52A00786E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4" name="R3-zh-42-rect">
              <a:extLst>
                <a:ext uri="{FF2B5EF4-FFF2-40B4-BE49-F238E27FC236}">
                  <a16:creationId xmlns:a16="http://schemas.microsoft.com/office/drawing/2014/main" id="{30BF3D7E-5B27-43A6-AE8C-021478198DB2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5" name="R3-zh-43-rect">
              <a:extLst>
                <a:ext uri="{FF2B5EF4-FFF2-40B4-BE49-F238E27FC236}">
                  <a16:creationId xmlns:a16="http://schemas.microsoft.com/office/drawing/2014/main" id="{DB7D7960-712E-4888-B7BC-03D065840D4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6" name="R3-zh-44-rect">
              <a:extLst>
                <a:ext uri="{FF2B5EF4-FFF2-40B4-BE49-F238E27FC236}">
                  <a16:creationId xmlns:a16="http://schemas.microsoft.com/office/drawing/2014/main" id="{80A823AD-34EC-478E-A132-57C70358122A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7" name="R3-zh-45-rect">
              <a:extLst>
                <a:ext uri="{FF2B5EF4-FFF2-40B4-BE49-F238E27FC236}">
                  <a16:creationId xmlns:a16="http://schemas.microsoft.com/office/drawing/2014/main" id="{361EBC46-2568-4676-8EF2-EE335AC97023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8" name="R3-zh-46-rect">
              <a:extLst>
                <a:ext uri="{FF2B5EF4-FFF2-40B4-BE49-F238E27FC236}">
                  <a16:creationId xmlns:a16="http://schemas.microsoft.com/office/drawing/2014/main" id="{1746C996-4A6F-482C-927A-80635F03A4E1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9" name="R3-zh-47-rect">
              <a:extLst>
                <a:ext uri="{FF2B5EF4-FFF2-40B4-BE49-F238E27FC236}">
                  <a16:creationId xmlns:a16="http://schemas.microsoft.com/office/drawing/2014/main" id="{4548FF2C-5170-481F-9C66-2ADAD4559BF9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0" name="R3-zh-48-rect">
              <a:extLst>
                <a:ext uri="{FF2B5EF4-FFF2-40B4-BE49-F238E27FC236}">
                  <a16:creationId xmlns:a16="http://schemas.microsoft.com/office/drawing/2014/main" id="{FDAF44D7-94DA-4D27-9ECE-38D26F0B71E4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1" name="R3-zh-49-rect">
              <a:extLst>
                <a:ext uri="{FF2B5EF4-FFF2-40B4-BE49-F238E27FC236}">
                  <a16:creationId xmlns:a16="http://schemas.microsoft.com/office/drawing/2014/main" id="{EC612661-4353-4219-AEA0-E98CFB585E83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2" name="R3-zh-50-rect">
              <a:extLst>
                <a:ext uri="{FF2B5EF4-FFF2-40B4-BE49-F238E27FC236}">
                  <a16:creationId xmlns:a16="http://schemas.microsoft.com/office/drawing/2014/main" id="{E6AA5708-5DD2-412A-BC56-4F0C24E73BD1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3" name="R3-zh-51-rect">
              <a:extLst>
                <a:ext uri="{FF2B5EF4-FFF2-40B4-BE49-F238E27FC236}">
                  <a16:creationId xmlns:a16="http://schemas.microsoft.com/office/drawing/2014/main" id="{647E857B-B9D7-42EA-8A79-DCFE7CEB9543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4" name="R3-zh-52-rect">
              <a:extLst>
                <a:ext uri="{FF2B5EF4-FFF2-40B4-BE49-F238E27FC236}">
                  <a16:creationId xmlns:a16="http://schemas.microsoft.com/office/drawing/2014/main" id="{8533BB74-475E-4CBA-A272-5A14DAF1002B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5" name="R3-zh-53-rect">
              <a:extLst>
                <a:ext uri="{FF2B5EF4-FFF2-40B4-BE49-F238E27FC236}">
                  <a16:creationId xmlns:a16="http://schemas.microsoft.com/office/drawing/2014/main" id="{C4ABB446-CA51-402F-8BEA-04D2FD95AA4D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6" name="R3-zh-54-rect">
              <a:extLst>
                <a:ext uri="{FF2B5EF4-FFF2-40B4-BE49-F238E27FC236}">
                  <a16:creationId xmlns:a16="http://schemas.microsoft.com/office/drawing/2014/main" id="{91360A6E-99A4-40B8-A3D2-63485D24355E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7" name="R3-zh-55-rect">
              <a:extLst>
                <a:ext uri="{FF2B5EF4-FFF2-40B4-BE49-F238E27FC236}">
                  <a16:creationId xmlns:a16="http://schemas.microsoft.com/office/drawing/2014/main" id="{AA50DE3A-29D3-4C58-82B7-F0CA2857AE68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8" name="R3-zh-56-rect">
              <a:extLst>
                <a:ext uri="{FF2B5EF4-FFF2-40B4-BE49-F238E27FC236}">
                  <a16:creationId xmlns:a16="http://schemas.microsoft.com/office/drawing/2014/main" id="{37F94C0E-3EF5-4987-981F-01EFBC4CF74C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9" name="R3-zh-57-rect">
              <a:extLst>
                <a:ext uri="{FF2B5EF4-FFF2-40B4-BE49-F238E27FC236}">
                  <a16:creationId xmlns:a16="http://schemas.microsoft.com/office/drawing/2014/main" id="{AC091153-67F6-43D3-B9A4-597BB7DF3D07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0" name="R3-zh-58-rect">
              <a:extLst>
                <a:ext uri="{FF2B5EF4-FFF2-40B4-BE49-F238E27FC236}">
                  <a16:creationId xmlns:a16="http://schemas.microsoft.com/office/drawing/2014/main" id="{37CFB2C9-28AF-4C65-8271-210638161BDB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1" name="R3-zh-59-rect">
              <a:extLst>
                <a:ext uri="{FF2B5EF4-FFF2-40B4-BE49-F238E27FC236}">
                  <a16:creationId xmlns:a16="http://schemas.microsoft.com/office/drawing/2014/main" id="{4D12F7E1-BD2B-4029-9DAA-4C8792658AA5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2" name="R3-zh-60-rect">
              <a:extLst>
                <a:ext uri="{FF2B5EF4-FFF2-40B4-BE49-F238E27FC236}">
                  <a16:creationId xmlns:a16="http://schemas.microsoft.com/office/drawing/2014/main" id="{F91262E1-82B0-4786-96FF-D808AC672D26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3" name="R3-zh-61-rect">
              <a:extLst>
                <a:ext uri="{FF2B5EF4-FFF2-40B4-BE49-F238E27FC236}">
                  <a16:creationId xmlns:a16="http://schemas.microsoft.com/office/drawing/2014/main" id="{920FEAF7-6044-4840-99A5-8020E7CBB9C5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4" name="R3-zh-62-rect">
              <a:extLst>
                <a:ext uri="{FF2B5EF4-FFF2-40B4-BE49-F238E27FC236}">
                  <a16:creationId xmlns:a16="http://schemas.microsoft.com/office/drawing/2014/main" id="{3617C16F-5DE0-4D2C-9DBF-A59529CEB7CF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5" name="R3-zh-63-rect">
              <a:extLst>
                <a:ext uri="{FF2B5EF4-FFF2-40B4-BE49-F238E27FC236}">
                  <a16:creationId xmlns:a16="http://schemas.microsoft.com/office/drawing/2014/main" id="{806CAAF5-DA64-49A3-A052-DB24A7D26D05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6" name="R3-zh-64-rect">
              <a:extLst>
                <a:ext uri="{FF2B5EF4-FFF2-40B4-BE49-F238E27FC236}">
                  <a16:creationId xmlns:a16="http://schemas.microsoft.com/office/drawing/2014/main" id="{899AED00-E11B-461C-97AE-062DF567E88B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7" name="R3-zh-65-rect">
              <a:extLst>
                <a:ext uri="{FF2B5EF4-FFF2-40B4-BE49-F238E27FC236}">
                  <a16:creationId xmlns:a16="http://schemas.microsoft.com/office/drawing/2014/main" id="{CFAF4396-3B76-46E2-ADCD-9D47AFE8F631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8" name="R3-zh-66-rect">
              <a:extLst>
                <a:ext uri="{FF2B5EF4-FFF2-40B4-BE49-F238E27FC236}">
                  <a16:creationId xmlns:a16="http://schemas.microsoft.com/office/drawing/2014/main" id="{3DF9A549-2C08-4980-9B62-9E6554A35423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9" name="R3-zh-67-rect">
              <a:extLst>
                <a:ext uri="{FF2B5EF4-FFF2-40B4-BE49-F238E27FC236}">
                  <a16:creationId xmlns:a16="http://schemas.microsoft.com/office/drawing/2014/main" id="{0DD1FEC9-0A23-4F26-AD90-FBC0B262D35A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0" name="R3-zh-68-rect">
              <a:extLst>
                <a:ext uri="{FF2B5EF4-FFF2-40B4-BE49-F238E27FC236}">
                  <a16:creationId xmlns:a16="http://schemas.microsoft.com/office/drawing/2014/main" id="{9F997B96-1C4D-4D4A-A47C-492DA3D5BFCC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1" name="R3-zh-69-rect">
              <a:extLst>
                <a:ext uri="{FF2B5EF4-FFF2-40B4-BE49-F238E27FC236}">
                  <a16:creationId xmlns:a16="http://schemas.microsoft.com/office/drawing/2014/main" id="{05752C7A-F400-4897-A818-6B7919B074B4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2" name="R3-zh-70-rect">
              <a:extLst>
                <a:ext uri="{FF2B5EF4-FFF2-40B4-BE49-F238E27FC236}">
                  <a16:creationId xmlns:a16="http://schemas.microsoft.com/office/drawing/2014/main" id="{82DD0519-4799-408F-81F0-719812650B98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3" name="R3-zh-71-rect">
              <a:extLst>
                <a:ext uri="{FF2B5EF4-FFF2-40B4-BE49-F238E27FC236}">
                  <a16:creationId xmlns:a16="http://schemas.microsoft.com/office/drawing/2014/main" id="{B5F59844-346C-4E62-86F6-4EEA59F7F0A2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4" name="R3-zh-72-rect">
              <a:extLst>
                <a:ext uri="{FF2B5EF4-FFF2-40B4-BE49-F238E27FC236}">
                  <a16:creationId xmlns:a16="http://schemas.microsoft.com/office/drawing/2014/main" id="{179C6F00-4260-4E08-8308-271B5B9292DC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5" name="R3-zh-73-rect">
              <a:extLst>
                <a:ext uri="{FF2B5EF4-FFF2-40B4-BE49-F238E27FC236}">
                  <a16:creationId xmlns:a16="http://schemas.microsoft.com/office/drawing/2014/main" id="{98D71385-8F1F-479D-B9EF-8588B67EBE97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6" name="R3-zh-74-rect">
              <a:extLst>
                <a:ext uri="{FF2B5EF4-FFF2-40B4-BE49-F238E27FC236}">
                  <a16:creationId xmlns:a16="http://schemas.microsoft.com/office/drawing/2014/main" id="{5762DC84-161B-430F-8F32-F28DFD2C662A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7" name="R3-zh-75-rect">
              <a:extLst>
                <a:ext uri="{FF2B5EF4-FFF2-40B4-BE49-F238E27FC236}">
                  <a16:creationId xmlns:a16="http://schemas.microsoft.com/office/drawing/2014/main" id="{5575520F-DACD-4B3E-AEDC-63BC7826289B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8" name="R3-zh-76-rect">
              <a:extLst>
                <a:ext uri="{FF2B5EF4-FFF2-40B4-BE49-F238E27FC236}">
                  <a16:creationId xmlns:a16="http://schemas.microsoft.com/office/drawing/2014/main" id="{97B7DE59-E94F-42CB-B91E-9EF173A356C4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9" name="R3-zh-77-rect">
              <a:extLst>
                <a:ext uri="{FF2B5EF4-FFF2-40B4-BE49-F238E27FC236}">
                  <a16:creationId xmlns:a16="http://schemas.microsoft.com/office/drawing/2014/main" id="{FFD99E79-2E23-422D-AAC4-B57156B2E160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0" name="R3-zh-78-rect">
              <a:extLst>
                <a:ext uri="{FF2B5EF4-FFF2-40B4-BE49-F238E27FC236}">
                  <a16:creationId xmlns:a16="http://schemas.microsoft.com/office/drawing/2014/main" id="{481EE441-0870-4B57-BB90-0852C3B76A83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1" name="R3-zh-79-rect">
              <a:extLst>
                <a:ext uri="{FF2B5EF4-FFF2-40B4-BE49-F238E27FC236}">
                  <a16:creationId xmlns:a16="http://schemas.microsoft.com/office/drawing/2014/main" id="{134B2CDF-7703-4566-85C1-5BC0169528AC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2" name="R3-zh-80-rect">
              <a:extLst>
                <a:ext uri="{FF2B5EF4-FFF2-40B4-BE49-F238E27FC236}">
                  <a16:creationId xmlns:a16="http://schemas.microsoft.com/office/drawing/2014/main" id="{BC179B9E-9112-485B-9EB3-38051390DA52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3" name="R3-zh-81-rect">
              <a:extLst>
                <a:ext uri="{FF2B5EF4-FFF2-40B4-BE49-F238E27FC236}">
                  <a16:creationId xmlns:a16="http://schemas.microsoft.com/office/drawing/2014/main" id="{B57C335E-8A98-4C1D-AD09-86BBDF8413E9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4" name="R3-zh-82-rect">
              <a:extLst>
                <a:ext uri="{FF2B5EF4-FFF2-40B4-BE49-F238E27FC236}">
                  <a16:creationId xmlns:a16="http://schemas.microsoft.com/office/drawing/2014/main" id="{9B4EF74A-B02F-4E13-AA75-F22A2716BC45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5" name="R3-zh-83-rect">
              <a:extLst>
                <a:ext uri="{FF2B5EF4-FFF2-40B4-BE49-F238E27FC236}">
                  <a16:creationId xmlns:a16="http://schemas.microsoft.com/office/drawing/2014/main" id="{EF53CB19-6F49-4888-89B9-D8CABC2C282E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6" name="R3-zh-84-rect">
              <a:extLst>
                <a:ext uri="{FF2B5EF4-FFF2-40B4-BE49-F238E27FC236}">
                  <a16:creationId xmlns:a16="http://schemas.microsoft.com/office/drawing/2014/main" id="{6C60C98D-EE8D-4F30-BB24-61E7C69B7D52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7" name="R3-zh-85-rect">
              <a:extLst>
                <a:ext uri="{FF2B5EF4-FFF2-40B4-BE49-F238E27FC236}">
                  <a16:creationId xmlns:a16="http://schemas.microsoft.com/office/drawing/2014/main" id="{20E25815-3281-4A70-B641-2593CC1288DE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8" name="R3-zh-86-rect">
              <a:extLst>
                <a:ext uri="{FF2B5EF4-FFF2-40B4-BE49-F238E27FC236}">
                  <a16:creationId xmlns:a16="http://schemas.microsoft.com/office/drawing/2014/main" id="{3CBB306A-C5CB-4A91-9699-8C76330FE94B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9" name="R3-zh-87-rect">
              <a:extLst>
                <a:ext uri="{FF2B5EF4-FFF2-40B4-BE49-F238E27FC236}">
                  <a16:creationId xmlns:a16="http://schemas.microsoft.com/office/drawing/2014/main" id="{815CFBD9-AA27-45EE-AC5D-FB3B5CDAFE70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0" name="R3-zh-88-rect">
              <a:extLst>
                <a:ext uri="{FF2B5EF4-FFF2-40B4-BE49-F238E27FC236}">
                  <a16:creationId xmlns:a16="http://schemas.microsoft.com/office/drawing/2014/main" id="{CC56D938-6170-4F2A-B8AF-A641E455E428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1" name="R3-zh-89-rect">
              <a:extLst>
                <a:ext uri="{FF2B5EF4-FFF2-40B4-BE49-F238E27FC236}">
                  <a16:creationId xmlns:a16="http://schemas.microsoft.com/office/drawing/2014/main" id="{8E444C2B-11A8-43E0-A250-BF4E349260E4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2" name="R3-zh-90-text">
              <a:extLst>
                <a:ext uri="{FF2B5EF4-FFF2-40B4-BE49-F238E27FC236}">
                  <a16:creationId xmlns:a16="http://schemas.microsoft.com/office/drawing/2014/main" id="{22670D4C-287A-4564-949E-38A015AB21CF}"/>
                </a:ext>
              </a:extLst>
            </p:cNvPr>
            <p:cNvSpPr>
              <a:spLocks noGrp="1"/>
            </p:cNvSpPr>
            <p:nvPr/>
          </p:nvSpPr>
          <p:spPr>
            <a:xfrm>
              <a:off x="304514" y="1997583"/>
              <a:ext cx="104832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token × 128维</a:t>
              </a:r>
            </a:p>
          </p:txBody>
        </p:sp>
        <p:sp>
          <p:nvSpPr>
            <p:cNvPr id="5093" name="R3-zh-91-text">
              <a:extLst>
                <a:ext uri="{FF2B5EF4-FFF2-40B4-BE49-F238E27FC236}">
                  <a16:creationId xmlns:a16="http://schemas.microsoft.com/office/drawing/2014/main" id="{762DFF37-9744-4A26-AD30-77A112C9A0BF}"/>
                </a:ext>
              </a:extLst>
            </p:cNvPr>
            <p:cNvSpPr>
              <a:spLocks noGrp="1"/>
            </p:cNvSpPr>
            <p:nvPr/>
          </p:nvSpPr>
          <p:spPr>
            <a:xfrm>
              <a:off x="382524" y="2216658"/>
              <a:ext cx="89230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缓存保持原维</a:t>
              </a:r>
            </a:p>
          </p:txBody>
        </p:sp>
        <p:sp>
          <p:nvSpPr>
            <p:cNvPr id="5094" name="R3-zh-92-polyline">
              <a:extLst>
                <a:ext uri="{FF2B5EF4-FFF2-40B4-BE49-F238E27FC236}">
                  <a16:creationId xmlns:a16="http://schemas.microsoft.com/office/drawing/2014/main" id="{7C9533D7-F118-4C64-B45F-AD854B097493}"/>
                </a:ext>
              </a:extLst>
            </p:cNvPr>
            <p:cNvSpPr>
              <a:spLocks noGrp="1"/>
            </p:cNvSpPr>
            <p:nvPr/>
          </p:nvSpPr>
          <p:spPr>
            <a:xfrm>
              <a:off x="476250" y="695325"/>
              <a:ext cx="1800225" cy="447675"/>
            </a:xfrm>
            <a:custGeom>
              <a:pathLst>
                <a:path w="1800225" h="447675">
                  <a:moveTo>
                    <a:pt x="0" y="266700"/>
                  </a:moveTo>
                  <a:lnTo>
                    <a:pt x="0" y="0"/>
                  </a:lnTo>
                  <a:lnTo>
                    <a:pt x="1171575" y="0"/>
                  </a:lnTo>
                  <a:lnTo>
                    <a:pt x="1171575" y="447675"/>
                  </a:lnTo>
                  <a:lnTo>
                    <a:pt x="1800225" y="447675"/>
                  </a:lnTo>
                </a:path>
              </a:pathLst>
            </a:custGeom>
            <a:noFill/>
            <a:ln w="13335">
              <a:solidFill>
                <a:srgbClr val="424A50"/>
              </a:solidFill>
              <a:prstDash val="solid"/>
            </a:ln>
          </p:spPr>
        </p:sp>
        <p:sp>
          <p:nvSpPr>
            <p:cNvPr id="5095" name="R3-zh-92-polyline-arrow">
              <a:extLst>
                <a:ext uri="{FF2B5EF4-FFF2-40B4-BE49-F238E27FC236}">
                  <a16:creationId xmlns:a16="http://schemas.microsoft.com/office/drawing/2014/main" id="{84E980FB-BF6C-4BAA-8B92-F3508E342F14}"/>
                </a:ext>
              </a:extLst>
            </p:cNvPr>
            <p:cNvSpPr>
              <a:spLocks noGrp="1"/>
            </p:cNvSpPr>
            <p:nvPr/>
          </p:nvSpPr>
          <p:spPr>
            <a:xfrm>
              <a:off x="2228850" y="1120140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96" name="R3-zh-93-polyline">
              <a:extLst>
                <a:ext uri="{FF2B5EF4-FFF2-40B4-BE49-F238E27FC236}">
                  <a16:creationId xmlns:a16="http://schemas.microsoft.com/office/drawing/2014/main" id="{50A8AEBD-112F-4937-AD9B-870565022EF2}"/>
                </a:ext>
              </a:extLst>
            </p:cNvPr>
            <p:cNvSpPr>
              <a:spLocks noGrp="1"/>
            </p:cNvSpPr>
            <p:nvPr/>
          </p:nvSpPr>
          <p:spPr>
            <a:xfrm>
              <a:off x="1876425" y="466725"/>
              <a:ext cx="400050" cy="466725"/>
            </a:xfrm>
            <a:custGeom>
              <a:pathLst>
                <a:path w="400050" h="466725">
                  <a:moveTo>
                    <a:pt x="0" y="0"/>
                  </a:moveTo>
                  <a:lnTo>
                    <a:pt x="0" y="466725"/>
                  </a:lnTo>
                  <a:lnTo>
                    <a:pt x="400050" y="46672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097" name="R3-zh-93-polyline-arrow">
              <a:extLst>
                <a:ext uri="{FF2B5EF4-FFF2-40B4-BE49-F238E27FC236}">
                  <a16:creationId xmlns:a16="http://schemas.microsoft.com/office/drawing/2014/main" id="{2D265DEF-623A-4C41-9390-8220697F885D}"/>
                </a:ext>
              </a:extLst>
            </p:cNvPr>
            <p:cNvSpPr>
              <a:spLocks noGrp="1"/>
            </p:cNvSpPr>
            <p:nvPr/>
          </p:nvSpPr>
          <p:spPr>
            <a:xfrm>
              <a:off x="2228850" y="910590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98" name="R3-zh-94-text">
              <a:extLst>
                <a:ext uri="{FF2B5EF4-FFF2-40B4-BE49-F238E27FC236}">
                  <a16:creationId xmlns:a16="http://schemas.microsoft.com/office/drawing/2014/main" id="{494B2A8B-2A74-4ADD-88ED-F09DC1A2C260}"/>
                </a:ext>
              </a:extLst>
            </p:cNvPr>
            <p:cNvSpPr>
              <a:spLocks noGrp="1"/>
            </p:cNvSpPr>
            <p:nvPr/>
          </p:nvSpPr>
          <p:spPr>
            <a:xfrm>
              <a:off x="2361438" y="720852"/>
              <a:ext cx="1182624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共享32坐标表示</a:t>
              </a:r>
            </a:p>
          </p:txBody>
        </p:sp>
        <p:sp>
          <p:nvSpPr>
            <p:cNvPr id="5099" name="R3-zh-95-rect">
              <a:extLst>
                <a:ext uri="{FF2B5EF4-FFF2-40B4-BE49-F238E27FC236}">
                  <a16:creationId xmlns:a16="http://schemas.microsoft.com/office/drawing/2014/main" id="{343AEEF0-E598-40EC-BCE9-EFEDBA042C33}"/>
                </a:ext>
              </a:extLst>
            </p:cNvPr>
            <p:cNvSpPr>
              <a:spLocks noGrp="1"/>
            </p:cNvSpPr>
            <p:nvPr/>
          </p:nvSpPr>
          <p:spPr>
            <a:xfrm>
              <a:off x="240030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0" name="R3-zh-96-rect">
              <a:extLst>
                <a:ext uri="{FF2B5EF4-FFF2-40B4-BE49-F238E27FC236}">
                  <a16:creationId xmlns:a16="http://schemas.microsoft.com/office/drawing/2014/main" id="{2EACB1A7-D78D-4FD1-B6C4-E808EA93B7EB}"/>
                </a:ext>
              </a:extLst>
            </p:cNvPr>
            <p:cNvSpPr>
              <a:spLocks noGrp="1"/>
            </p:cNvSpPr>
            <p:nvPr/>
          </p:nvSpPr>
          <p:spPr>
            <a:xfrm>
              <a:off x="252412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1" name="R3-zh-97-rect">
              <a:extLst>
                <a:ext uri="{FF2B5EF4-FFF2-40B4-BE49-F238E27FC236}">
                  <a16:creationId xmlns:a16="http://schemas.microsoft.com/office/drawing/2014/main" id="{99284100-622D-44EA-9CFF-94BB800E4FD2}"/>
                </a:ext>
              </a:extLst>
            </p:cNvPr>
            <p:cNvSpPr>
              <a:spLocks noGrp="1"/>
            </p:cNvSpPr>
            <p:nvPr/>
          </p:nvSpPr>
          <p:spPr>
            <a:xfrm>
              <a:off x="264795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2" name="R3-zh-98-rect">
              <a:extLst>
                <a:ext uri="{FF2B5EF4-FFF2-40B4-BE49-F238E27FC236}">
                  <a16:creationId xmlns:a16="http://schemas.microsoft.com/office/drawing/2014/main" id="{D02498DA-B8E8-4E04-98CB-A966A3FBD693}"/>
                </a:ext>
              </a:extLst>
            </p:cNvPr>
            <p:cNvSpPr>
              <a:spLocks noGrp="1"/>
            </p:cNvSpPr>
            <p:nvPr/>
          </p:nvSpPr>
          <p:spPr>
            <a:xfrm>
              <a:off x="277177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3" name="R3-zh-99-rect">
              <a:extLst>
                <a:ext uri="{FF2B5EF4-FFF2-40B4-BE49-F238E27FC236}">
                  <a16:creationId xmlns:a16="http://schemas.microsoft.com/office/drawing/2014/main" id="{4879BF1A-0F83-4241-9FE3-C7440A4A25C5}"/>
                </a:ext>
              </a:extLst>
            </p:cNvPr>
            <p:cNvSpPr>
              <a:spLocks noGrp="1"/>
            </p:cNvSpPr>
            <p:nvPr/>
          </p:nvSpPr>
          <p:spPr>
            <a:xfrm>
              <a:off x="289560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4" name="R3-zh-100-rect">
              <a:extLst>
                <a:ext uri="{FF2B5EF4-FFF2-40B4-BE49-F238E27FC236}">
                  <a16:creationId xmlns:a16="http://schemas.microsoft.com/office/drawing/2014/main" id="{D9D48AA1-94B0-4845-B883-3075391E2538}"/>
                </a:ext>
              </a:extLst>
            </p:cNvPr>
            <p:cNvSpPr>
              <a:spLocks noGrp="1"/>
            </p:cNvSpPr>
            <p:nvPr/>
          </p:nvSpPr>
          <p:spPr>
            <a:xfrm>
              <a:off x="301942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5" name="R3-zh-101-rect">
              <a:extLst>
                <a:ext uri="{FF2B5EF4-FFF2-40B4-BE49-F238E27FC236}">
                  <a16:creationId xmlns:a16="http://schemas.microsoft.com/office/drawing/2014/main" id="{DE64E6B7-0B68-4A24-B4E2-64C6F1BE2DF5}"/>
                </a:ext>
              </a:extLst>
            </p:cNvPr>
            <p:cNvSpPr>
              <a:spLocks noGrp="1"/>
            </p:cNvSpPr>
            <p:nvPr/>
          </p:nvSpPr>
          <p:spPr>
            <a:xfrm>
              <a:off x="3143250" y="1000125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06" name="R3-zh-102-rect">
              <a:extLst>
                <a:ext uri="{FF2B5EF4-FFF2-40B4-BE49-F238E27FC236}">
                  <a16:creationId xmlns:a16="http://schemas.microsoft.com/office/drawing/2014/main" id="{150E6759-26D0-4253-836C-B720A6978833}"/>
                </a:ext>
              </a:extLst>
            </p:cNvPr>
            <p:cNvSpPr>
              <a:spLocks noGrp="1"/>
            </p:cNvSpPr>
            <p:nvPr/>
          </p:nvSpPr>
          <p:spPr>
            <a:xfrm>
              <a:off x="3267075" y="1000125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07" name="R3-zh-103-rect">
              <a:extLst>
                <a:ext uri="{FF2B5EF4-FFF2-40B4-BE49-F238E27FC236}">
                  <a16:creationId xmlns:a16="http://schemas.microsoft.com/office/drawing/2014/main" id="{9F8F277D-42E5-49C5-9B79-11DB6F08AE3A}"/>
                </a:ext>
              </a:extLst>
            </p:cNvPr>
            <p:cNvSpPr>
              <a:spLocks noGrp="1"/>
            </p:cNvSpPr>
            <p:nvPr/>
          </p:nvSpPr>
          <p:spPr>
            <a:xfrm>
              <a:off x="240030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8" name="R3-zh-104-rect">
              <a:extLst>
                <a:ext uri="{FF2B5EF4-FFF2-40B4-BE49-F238E27FC236}">
                  <a16:creationId xmlns:a16="http://schemas.microsoft.com/office/drawing/2014/main" id="{C7C2FA88-F2BE-4AF7-AF85-F6C25A02C5D0}"/>
                </a:ext>
              </a:extLst>
            </p:cNvPr>
            <p:cNvSpPr>
              <a:spLocks noGrp="1"/>
            </p:cNvSpPr>
            <p:nvPr/>
          </p:nvSpPr>
          <p:spPr>
            <a:xfrm>
              <a:off x="252412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9" name="R3-zh-105-rect">
              <a:extLst>
                <a:ext uri="{FF2B5EF4-FFF2-40B4-BE49-F238E27FC236}">
                  <a16:creationId xmlns:a16="http://schemas.microsoft.com/office/drawing/2014/main" id="{FB33DE6A-3E41-4944-9144-201F821ADE82}"/>
                </a:ext>
              </a:extLst>
            </p:cNvPr>
            <p:cNvSpPr>
              <a:spLocks noGrp="1"/>
            </p:cNvSpPr>
            <p:nvPr/>
          </p:nvSpPr>
          <p:spPr>
            <a:xfrm>
              <a:off x="264795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0" name="R3-zh-106-rect">
              <a:extLst>
                <a:ext uri="{FF2B5EF4-FFF2-40B4-BE49-F238E27FC236}">
                  <a16:creationId xmlns:a16="http://schemas.microsoft.com/office/drawing/2014/main" id="{80A79A24-01B8-43CF-8120-5AFB55E28368}"/>
                </a:ext>
              </a:extLst>
            </p:cNvPr>
            <p:cNvSpPr>
              <a:spLocks noGrp="1"/>
            </p:cNvSpPr>
            <p:nvPr/>
          </p:nvSpPr>
          <p:spPr>
            <a:xfrm>
              <a:off x="277177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1" name="R3-zh-107-rect">
              <a:extLst>
                <a:ext uri="{FF2B5EF4-FFF2-40B4-BE49-F238E27FC236}">
                  <a16:creationId xmlns:a16="http://schemas.microsoft.com/office/drawing/2014/main" id="{714E0699-072F-4926-A8C6-5710CCF236DF}"/>
                </a:ext>
              </a:extLst>
            </p:cNvPr>
            <p:cNvSpPr>
              <a:spLocks noGrp="1"/>
            </p:cNvSpPr>
            <p:nvPr/>
          </p:nvSpPr>
          <p:spPr>
            <a:xfrm>
              <a:off x="289560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2" name="R3-zh-108-rect">
              <a:extLst>
                <a:ext uri="{FF2B5EF4-FFF2-40B4-BE49-F238E27FC236}">
                  <a16:creationId xmlns:a16="http://schemas.microsoft.com/office/drawing/2014/main" id="{C61D3E16-6A87-4EB8-9913-AE211E9E4748}"/>
                </a:ext>
              </a:extLst>
            </p:cNvPr>
            <p:cNvSpPr>
              <a:spLocks noGrp="1"/>
            </p:cNvSpPr>
            <p:nvPr/>
          </p:nvSpPr>
          <p:spPr>
            <a:xfrm>
              <a:off x="301942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3" name="R3-zh-109-rect">
              <a:extLst>
                <a:ext uri="{FF2B5EF4-FFF2-40B4-BE49-F238E27FC236}">
                  <a16:creationId xmlns:a16="http://schemas.microsoft.com/office/drawing/2014/main" id="{D64D5B4B-9D4F-455B-83EC-85757F13C887}"/>
                </a:ext>
              </a:extLst>
            </p:cNvPr>
            <p:cNvSpPr>
              <a:spLocks noGrp="1"/>
            </p:cNvSpPr>
            <p:nvPr/>
          </p:nvSpPr>
          <p:spPr>
            <a:xfrm>
              <a:off x="3143250" y="1200150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14" name="R3-zh-110-rect">
              <a:extLst>
                <a:ext uri="{FF2B5EF4-FFF2-40B4-BE49-F238E27FC236}">
                  <a16:creationId xmlns:a16="http://schemas.microsoft.com/office/drawing/2014/main" id="{9CE50274-9E9F-497D-A5D3-6C42880FF990}"/>
                </a:ext>
              </a:extLst>
            </p:cNvPr>
            <p:cNvSpPr>
              <a:spLocks noGrp="1"/>
            </p:cNvSpPr>
            <p:nvPr/>
          </p:nvSpPr>
          <p:spPr>
            <a:xfrm>
              <a:off x="3267075" y="1200150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15" name="R3-zh-111-polyline">
              <a:extLst>
                <a:ext uri="{FF2B5EF4-FFF2-40B4-BE49-F238E27FC236}">
                  <a16:creationId xmlns:a16="http://schemas.microsoft.com/office/drawing/2014/main" id="{31B4E87C-9371-4B5F-8DA6-D0E4F322BBE1}"/>
                </a:ext>
              </a:extLst>
            </p:cNvPr>
            <p:cNvSpPr>
              <a:spLocks noGrp="1"/>
            </p:cNvSpPr>
            <p:nvPr/>
          </p:nvSpPr>
          <p:spPr>
            <a:xfrm>
              <a:off x="3190875" y="1095375"/>
              <a:ext cx="9525" cy="104775"/>
            </a:xfrm>
            <a:custGeom>
              <a:pathLst>
                <a:path w="9525" h="104775">
                  <a:moveTo>
                    <a:pt x="0" y="0"/>
                  </a:moveTo>
                  <a:lnTo>
                    <a:pt x="0" y="104775"/>
                  </a:lnTo>
                </a:path>
              </a:pathLst>
            </a:custGeom>
            <a:noFill/>
            <a:ln w="7620">
              <a:solidFill>
                <a:srgbClr val="424A50"/>
              </a:solidFill>
              <a:prstDash val="solid"/>
            </a:ln>
          </p:spPr>
        </p:sp>
        <p:sp>
          <p:nvSpPr>
            <p:cNvPr id="5116" name="R3-zh-112-polyline">
              <a:extLst>
                <a:ext uri="{FF2B5EF4-FFF2-40B4-BE49-F238E27FC236}">
                  <a16:creationId xmlns:a16="http://schemas.microsoft.com/office/drawing/2014/main" id="{89E5C7AF-485A-47E5-8825-FB5A44D22788}"/>
                </a:ext>
              </a:extLst>
            </p:cNvPr>
            <p:cNvSpPr>
              <a:spLocks noGrp="1"/>
            </p:cNvSpPr>
            <p:nvPr/>
          </p:nvSpPr>
          <p:spPr>
            <a:xfrm>
              <a:off x="3314700" y="1095375"/>
              <a:ext cx="9525" cy="104775"/>
            </a:xfrm>
            <a:custGeom>
              <a:pathLst>
                <a:path w="9525" h="104775">
                  <a:moveTo>
                    <a:pt x="0" y="0"/>
                  </a:moveTo>
                  <a:lnTo>
                    <a:pt x="0" y="104775"/>
                  </a:lnTo>
                </a:path>
              </a:pathLst>
            </a:custGeom>
            <a:noFill/>
            <a:ln w="7620">
              <a:solidFill>
                <a:srgbClr val="424A50"/>
              </a:solidFill>
              <a:prstDash val="solid"/>
            </a:ln>
          </p:spPr>
        </p:sp>
        <p:sp>
          <p:nvSpPr>
            <p:cNvPr id="5117" name="R3-zh-113-text">
              <a:extLst>
                <a:ext uri="{FF2B5EF4-FFF2-40B4-BE49-F238E27FC236}">
                  <a16:creationId xmlns:a16="http://schemas.microsoft.com/office/drawing/2014/main" id="{C6729CB7-58AA-4E02-9B5E-D69439EA05A1}"/>
                </a:ext>
              </a:extLst>
            </p:cNvPr>
            <p:cNvSpPr>
              <a:spLocks noGrp="1"/>
            </p:cNvSpPr>
            <p:nvPr/>
          </p:nvSpPr>
          <p:spPr>
            <a:xfrm>
              <a:off x="2387156" y="1340549"/>
              <a:ext cx="1131189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16对完整RoPE坐标</a:t>
              </a:r>
            </a:p>
          </p:txBody>
        </p:sp>
        <p:sp>
          <p:nvSpPr>
            <p:cNvPr id="5118" name="R3-zh-114-text">
              <a:extLst>
                <a:ext uri="{FF2B5EF4-FFF2-40B4-BE49-F238E27FC236}">
                  <a16:creationId xmlns:a16="http://schemas.microsoft.com/office/drawing/2014/main" id="{02E8D129-85CA-40E7-9CF1-124BE6CC0F91}"/>
                </a:ext>
              </a:extLst>
            </p:cNvPr>
            <p:cNvSpPr>
              <a:spLocks noGrp="1"/>
            </p:cNvSpPr>
            <p:nvPr/>
          </p:nvSpPr>
          <p:spPr>
            <a:xfrm>
              <a:off x="4369308" y="739902"/>
              <a:ext cx="976884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L1 · 页预算</a:t>
              </a:r>
            </a:p>
          </p:txBody>
        </p:sp>
        <p:sp>
          <p:nvSpPr>
            <p:cNvPr id="5119" name="R3-zh-115-text">
              <a:extLst>
                <a:ext uri="{FF2B5EF4-FFF2-40B4-BE49-F238E27FC236}">
                  <a16:creationId xmlns:a16="http://schemas.microsoft.com/office/drawing/2014/main" id="{C32345D4-B639-4185-99EC-A5404D5B4676}"/>
                </a:ext>
              </a:extLst>
            </p:cNvPr>
            <p:cNvSpPr>
              <a:spLocks noGrp="1"/>
            </p:cNvSpPr>
            <p:nvPr/>
          </p:nvSpPr>
          <p:spPr>
            <a:xfrm>
              <a:off x="4225862" y="987362"/>
              <a:ext cx="406527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近区</a:t>
              </a:r>
            </a:p>
          </p:txBody>
        </p:sp>
        <p:sp>
          <p:nvSpPr>
            <p:cNvPr id="5120" name="R3-zh-116-text">
              <a:extLst>
                <a:ext uri="{FF2B5EF4-FFF2-40B4-BE49-F238E27FC236}">
                  <a16:creationId xmlns:a16="http://schemas.microsoft.com/office/drawing/2014/main" id="{FF76D77C-12A2-42EA-9564-6C0FA2284260}"/>
                </a:ext>
              </a:extLst>
            </p:cNvPr>
            <p:cNvSpPr>
              <a:spLocks noGrp="1"/>
            </p:cNvSpPr>
            <p:nvPr/>
          </p:nvSpPr>
          <p:spPr>
            <a:xfrm>
              <a:off x="6111812" y="987362"/>
              <a:ext cx="406527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远区</a:t>
              </a:r>
            </a:p>
          </p:txBody>
        </p:sp>
        <p:sp>
          <p:nvSpPr>
            <p:cNvPr id="5121" name="R3-zh-117-polyline">
              <a:extLst>
                <a:ext uri="{FF2B5EF4-FFF2-40B4-BE49-F238E27FC236}">
                  <a16:creationId xmlns:a16="http://schemas.microsoft.com/office/drawing/2014/main" id="{06533083-85C4-4537-A916-C8ED20E9F44B}"/>
                </a:ext>
              </a:extLst>
            </p:cNvPr>
            <p:cNvSpPr>
              <a:spLocks noGrp="1"/>
            </p:cNvSpPr>
            <p:nvPr/>
          </p:nvSpPr>
          <p:spPr>
            <a:xfrm>
              <a:off x="3467100" y="1095375"/>
              <a:ext cx="476250" cy="342900"/>
            </a:xfrm>
            <a:custGeom>
              <a:pathLst>
                <a:path w="476250" h="342900">
                  <a:moveTo>
                    <a:pt x="0" y="0"/>
                  </a:moveTo>
                  <a:lnTo>
                    <a:pt x="314325" y="0"/>
                  </a:lnTo>
                  <a:lnTo>
                    <a:pt x="314325" y="342900"/>
                  </a:lnTo>
                  <a:lnTo>
                    <a:pt x="476250" y="34290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22" name="R3-zh-117-polyline-arrow">
              <a:extLst>
                <a:ext uri="{FF2B5EF4-FFF2-40B4-BE49-F238E27FC236}">
                  <a16:creationId xmlns:a16="http://schemas.microsoft.com/office/drawing/2014/main" id="{050BC48A-B1D8-413C-AC93-E6C474621B96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1415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23" name="R3-zh-118-polyline">
              <a:extLst>
                <a:ext uri="{FF2B5EF4-FFF2-40B4-BE49-F238E27FC236}">
                  <a16:creationId xmlns:a16="http://schemas.microsoft.com/office/drawing/2014/main" id="{86283A2B-7606-4068-8287-4D32E3DC3500}"/>
                </a:ext>
              </a:extLst>
            </p:cNvPr>
            <p:cNvSpPr>
              <a:spLocks noGrp="1"/>
            </p:cNvSpPr>
            <p:nvPr/>
          </p:nvSpPr>
          <p:spPr>
            <a:xfrm>
              <a:off x="3781425" y="971550"/>
              <a:ext cx="2038350" cy="466725"/>
            </a:xfrm>
            <a:custGeom>
              <a:pathLst>
                <a:path w="2038350" h="466725">
                  <a:moveTo>
                    <a:pt x="0" y="123825"/>
                  </a:moveTo>
                  <a:lnTo>
                    <a:pt x="0" y="0"/>
                  </a:lnTo>
                  <a:lnTo>
                    <a:pt x="1895475" y="0"/>
                  </a:lnTo>
                  <a:lnTo>
                    <a:pt x="1895475" y="466725"/>
                  </a:lnTo>
                  <a:lnTo>
                    <a:pt x="2038350" y="46672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24" name="R3-zh-118-polyline-arrow">
              <a:extLst>
                <a:ext uri="{FF2B5EF4-FFF2-40B4-BE49-F238E27FC236}">
                  <a16:creationId xmlns:a16="http://schemas.microsoft.com/office/drawing/2014/main" id="{0F093FF2-A275-4F68-8108-E9063435764D}"/>
                </a:ext>
              </a:extLst>
            </p:cNvPr>
            <p:cNvSpPr>
              <a:spLocks noGrp="1"/>
            </p:cNvSpPr>
            <p:nvPr/>
          </p:nvSpPr>
          <p:spPr>
            <a:xfrm>
              <a:off x="5772150" y="1415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25" name="R3-zh-119-rect">
              <a:extLst>
                <a:ext uri="{FF2B5EF4-FFF2-40B4-BE49-F238E27FC236}">
                  <a16:creationId xmlns:a16="http://schemas.microsoft.com/office/drawing/2014/main" id="{93F01F6C-D4BA-41B7-A6FB-6A48CB335FD4}"/>
                </a:ext>
              </a:extLst>
            </p:cNvPr>
            <p:cNvSpPr>
              <a:spLocks noGrp="1"/>
            </p:cNvSpPr>
            <p:nvPr/>
          </p:nvSpPr>
          <p:spPr>
            <a:xfrm>
              <a:off x="394335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26" name="R3-zh-120-polyline">
              <a:extLst>
                <a:ext uri="{FF2B5EF4-FFF2-40B4-BE49-F238E27FC236}">
                  <a16:creationId xmlns:a16="http://schemas.microsoft.com/office/drawing/2014/main" id="{E6A922B4-39D5-4F81-A892-F8306CC54056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7" name="R3-zh-121-polyline">
              <a:extLst>
                <a:ext uri="{FF2B5EF4-FFF2-40B4-BE49-F238E27FC236}">
                  <a16:creationId xmlns:a16="http://schemas.microsoft.com/office/drawing/2014/main" id="{18801370-D52A-4B04-BA77-069A1059E3AF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8" name="R3-zh-122-polyline">
              <a:extLst>
                <a:ext uri="{FF2B5EF4-FFF2-40B4-BE49-F238E27FC236}">
                  <a16:creationId xmlns:a16="http://schemas.microsoft.com/office/drawing/2014/main" id="{EA0F5DC5-C5B3-48C5-BF4E-694995E544FE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9" name="R3-zh-123-rect">
              <a:extLst>
                <a:ext uri="{FF2B5EF4-FFF2-40B4-BE49-F238E27FC236}">
                  <a16:creationId xmlns:a16="http://schemas.microsoft.com/office/drawing/2014/main" id="{5F0B08CD-F3D6-453C-A6FF-554B4E11B548}"/>
                </a:ext>
              </a:extLst>
            </p:cNvPr>
            <p:cNvSpPr>
              <a:spLocks noGrp="1"/>
            </p:cNvSpPr>
            <p:nvPr/>
          </p:nvSpPr>
          <p:spPr>
            <a:xfrm>
              <a:off x="421957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30" name="R3-zh-124-polyline">
              <a:extLst>
                <a:ext uri="{FF2B5EF4-FFF2-40B4-BE49-F238E27FC236}">
                  <a16:creationId xmlns:a16="http://schemas.microsoft.com/office/drawing/2014/main" id="{06A7567A-C024-4A6E-AA1B-B81B81D5EB99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1" name="R3-zh-125-polyline">
              <a:extLst>
                <a:ext uri="{FF2B5EF4-FFF2-40B4-BE49-F238E27FC236}">
                  <a16:creationId xmlns:a16="http://schemas.microsoft.com/office/drawing/2014/main" id="{E082FDA4-CB41-40D1-A7A6-CC6FFC67F2E6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2" name="R3-zh-126-polyline">
              <a:extLst>
                <a:ext uri="{FF2B5EF4-FFF2-40B4-BE49-F238E27FC236}">
                  <a16:creationId xmlns:a16="http://schemas.microsoft.com/office/drawing/2014/main" id="{3A444E82-98FA-4BF3-B10B-E2BC33232A71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3" name="R3-zh-127-rect">
              <a:extLst>
                <a:ext uri="{FF2B5EF4-FFF2-40B4-BE49-F238E27FC236}">
                  <a16:creationId xmlns:a16="http://schemas.microsoft.com/office/drawing/2014/main" id="{333C3ACB-EB1C-4201-9BBC-A25616ED0058}"/>
                </a:ext>
              </a:extLst>
            </p:cNvPr>
            <p:cNvSpPr>
              <a:spLocks noGrp="1"/>
            </p:cNvSpPr>
            <p:nvPr/>
          </p:nvSpPr>
          <p:spPr>
            <a:xfrm>
              <a:off x="449580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34" name="R3-zh-128-polyline">
              <a:extLst>
                <a:ext uri="{FF2B5EF4-FFF2-40B4-BE49-F238E27FC236}">
                  <a16:creationId xmlns:a16="http://schemas.microsoft.com/office/drawing/2014/main" id="{EF0327CA-1860-4DA5-8E02-9D57E903AE4D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5" name="R3-zh-129-polyline">
              <a:extLst>
                <a:ext uri="{FF2B5EF4-FFF2-40B4-BE49-F238E27FC236}">
                  <a16:creationId xmlns:a16="http://schemas.microsoft.com/office/drawing/2014/main" id="{3E4DAE1F-A0BB-4F6A-8C7F-2FEEA445F04B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6" name="R3-zh-130-polyline">
              <a:extLst>
                <a:ext uri="{FF2B5EF4-FFF2-40B4-BE49-F238E27FC236}">
                  <a16:creationId xmlns:a16="http://schemas.microsoft.com/office/drawing/2014/main" id="{0B5ECEAC-E1C5-4042-9999-A3A09E71D42B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7" name="R3-zh-131-rect">
              <a:extLst>
                <a:ext uri="{FF2B5EF4-FFF2-40B4-BE49-F238E27FC236}">
                  <a16:creationId xmlns:a16="http://schemas.microsoft.com/office/drawing/2014/main" id="{3AAF348A-9EC4-47AF-8988-9E3F1B45297D}"/>
                </a:ext>
              </a:extLst>
            </p:cNvPr>
            <p:cNvSpPr>
              <a:spLocks noGrp="1"/>
            </p:cNvSpPr>
            <p:nvPr/>
          </p:nvSpPr>
          <p:spPr>
            <a:xfrm>
              <a:off x="477202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38" name="R3-zh-132-polyline">
              <a:extLst>
                <a:ext uri="{FF2B5EF4-FFF2-40B4-BE49-F238E27FC236}">
                  <a16:creationId xmlns:a16="http://schemas.microsoft.com/office/drawing/2014/main" id="{03A0242B-795C-4D75-AD69-21F1F5382D4B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9" name="R3-zh-133-polyline">
              <a:extLst>
                <a:ext uri="{FF2B5EF4-FFF2-40B4-BE49-F238E27FC236}">
                  <a16:creationId xmlns:a16="http://schemas.microsoft.com/office/drawing/2014/main" id="{6215F088-DAF7-4E83-AA0F-E462FE621BB2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0" name="R3-zh-134-polyline">
              <a:extLst>
                <a:ext uri="{FF2B5EF4-FFF2-40B4-BE49-F238E27FC236}">
                  <a16:creationId xmlns:a16="http://schemas.microsoft.com/office/drawing/2014/main" id="{4A353F07-3CFC-4CD9-8896-C2FEF0187D09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1" name="R3-zh-135-rect">
              <a:extLst>
                <a:ext uri="{FF2B5EF4-FFF2-40B4-BE49-F238E27FC236}">
                  <a16:creationId xmlns:a16="http://schemas.microsoft.com/office/drawing/2014/main" id="{2FBFF225-C637-407D-8A3C-7F9E0E59F6DC}"/>
                </a:ext>
              </a:extLst>
            </p:cNvPr>
            <p:cNvSpPr>
              <a:spLocks noGrp="1"/>
            </p:cNvSpPr>
            <p:nvPr/>
          </p:nvSpPr>
          <p:spPr>
            <a:xfrm>
              <a:off x="581977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42" name="R3-zh-136-polyline">
              <a:extLst>
                <a:ext uri="{FF2B5EF4-FFF2-40B4-BE49-F238E27FC236}">
                  <a16:creationId xmlns:a16="http://schemas.microsoft.com/office/drawing/2014/main" id="{C9B91A7D-7D84-4A52-874B-CCFE49A332CE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3" name="R3-zh-137-polyline">
              <a:extLst>
                <a:ext uri="{FF2B5EF4-FFF2-40B4-BE49-F238E27FC236}">
                  <a16:creationId xmlns:a16="http://schemas.microsoft.com/office/drawing/2014/main" id="{E4B7A50D-8BFA-43EC-80EC-D32EB8690821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4" name="R3-zh-138-polyline">
              <a:extLst>
                <a:ext uri="{FF2B5EF4-FFF2-40B4-BE49-F238E27FC236}">
                  <a16:creationId xmlns:a16="http://schemas.microsoft.com/office/drawing/2014/main" id="{9A937375-898B-4AF5-9CA2-0F0C842514BD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5" name="R3-zh-139-rect">
              <a:extLst>
                <a:ext uri="{FF2B5EF4-FFF2-40B4-BE49-F238E27FC236}">
                  <a16:creationId xmlns:a16="http://schemas.microsoft.com/office/drawing/2014/main" id="{27D6DC40-7F1D-42A4-B10E-A701DDD2A1D2}"/>
                </a:ext>
              </a:extLst>
            </p:cNvPr>
            <p:cNvSpPr>
              <a:spLocks noGrp="1"/>
            </p:cNvSpPr>
            <p:nvPr/>
          </p:nvSpPr>
          <p:spPr>
            <a:xfrm>
              <a:off x="609600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46" name="R3-zh-140-polyline">
              <a:extLst>
                <a:ext uri="{FF2B5EF4-FFF2-40B4-BE49-F238E27FC236}">
                  <a16:creationId xmlns:a16="http://schemas.microsoft.com/office/drawing/2014/main" id="{9C1EF6C0-6000-447E-84C1-998E79CA1E28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7" name="R3-zh-141-polyline">
              <a:extLst>
                <a:ext uri="{FF2B5EF4-FFF2-40B4-BE49-F238E27FC236}">
                  <a16:creationId xmlns:a16="http://schemas.microsoft.com/office/drawing/2014/main" id="{B7E0DBE0-5A9F-4902-8777-1285067FCDDF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8" name="R3-zh-142-polyline">
              <a:extLst>
                <a:ext uri="{FF2B5EF4-FFF2-40B4-BE49-F238E27FC236}">
                  <a16:creationId xmlns:a16="http://schemas.microsoft.com/office/drawing/2014/main" id="{C891FE4D-F21D-4E92-AF32-E4F93727AFFB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9" name="R3-zh-143-rect">
              <a:extLst>
                <a:ext uri="{FF2B5EF4-FFF2-40B4-BE49-F238E27FC236}">
                  <a16:creationId xmlns:a16="http://schemas.microsoft.com/office/drawing/2014/main" id="{DAA5EDA7-96E1-4407-8BE9-C57FEC4135BB}"/>
                </a:ext>
              </a:extLst>
            </p:cNvPr>
            <p:cNvSpPr>
              <a:spLocks noGrp="1"/>
            </p:cNvSpPr>
            <p:nvPr/>
          </p:nvSpPr>
          <p:spPr>
            <a:xfrm>
              <a:off x="637222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50" name="R3-zh-144-polyline">
              <a:extLst>
                <a:ext uri="{FF2B5EF4-FFF2-40B4-BE49-F238E27FC236}">
                  <a16:creationId xmlns:a16="http://schemas.microsoft.com/office/drawing/2014/main" id="{AA354094-57D1-43BA-8357-786B894B8659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1" name="R3-zh-145-polyline">
              <a:extLst>
                <a:ext uri="{FF2B5EF4-FFF2-40B4-BE49-F238E27FC236}">
                  <a16:creationId xmlns:a16="http://schemas.microsoft.com/office/drawing/2014/main" id="{22CAE100-D235-4709-9125-288EAF88B0F6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2" name="R3-zh-146-polyline">
              <a:extLst>
                <a:ext uri="{FF2B5EF4-FFF2-40B4-BE49-F238E27FC236}">
                  <a16:creationId xmlns:a16="http://schemas.microsoft.com/office/drawing/2014/main" id="{2359CAF2-CD0D-4D43-8A1A-D47F1711C68B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3" name="R3-zh-147-rect">
              <a:extLst>
                <a:ext uri="{FF2B5EF4-FFF2-40B4-BE49-F238E27FC236}">
                  <a16:creationId xmlns:a16="http://schemas.microsoft.com/office/drawing/2014/main" id="{9DECE9F2-BAF9-472E-9B1C-B0E3E9A41E4A}"/>
                </a:ext>
              </a:extLst>
            </p:cNvPr>
            <p:cNvSpPr>
              <a:spLocks noGrp="1"/>
            </p:cNvSpPr>
            <p:nvPr/>
          </p:nvSpPr>
          <p:spPr>
            <a:xfrm>
              <a:off x="664845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54" name="R3-zh-148-polyline">
              <a:extLst>
                <a:ext uri="{FF2B5EF4-FFF2-40B4-BE49-F238E27FC236}">
                  <a16:creationId xmlns:a16="http://schemas.microsoft.com/office/drawing/2014/main" id="{05A2FF47-6EB5-4B1A-8CF6-14BF1ECC1B4D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5" name="R3-zh-149-polyline">
              <a:extLst>
                <a:ext uri="{FF2B5EF4-FFF2-40B4-BE49-F238E27FC236}">
                  <a16:creationId xmlns:a16="http://schemas.microsoft.com/office/drawing/2014/main" id="{6D12CB0D-7085-442E-914A-7511F77AD269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6" name="R3-zh-150-polyline">
              <a:extLst>
                <a:ext uri="{FF2B5EF4-FFF2-40B4-BE49-F238E27FC236}">
                  <a16:creationId xmlns:a16="http://schemas.microsoft.com/office/drawing/2014/main" id="{1615FA8A-A97B-4269-9D32-199C92E9741D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7" name="R3-zh-151-text">
              <a:extLst>
                <a:ext uri="{FF2B5EF4-FFF2-40B4-BE49-F238E27FC236}">
                  <a16:creationId xmlns:a16="http://schemas.microsoft.com/office/drawing/2014/main" id="{369B8213-BB15-4C17-BE24-7EC7BBF21CC5}"/>
                </a:ext>
              </a:extLst>
            </p:cNvPr>
            <p:cNvSpPr>
              <a:spLocks noGrp="1"/>
            </p:cNvSpPr>
            <p:nvPr/>
          </p:nvSpPr>
          <p:spPr>
            <a:xfrm>
              <a:off x="4098608" y="1740408"/>
              <a:ext cx="756285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均值键打分</a:t>
              </a:r>
            </a:p>
          </p:txBody>
        </p:sp>
        <p:sp>
          <p:nvSpPr>
            <p:cNvPr id="5158" name="R3-zh-152-text">
              <a:extLst>
                <a:ext uri="{FF2B5EF4-FFF2-40B4-BE49-F238E27FC236}">
                  <a16:creationId xmlns:a16="http://schemas.microsoft.com/office/drawing/2014/main" id="{492AC1D5-C4E0-4BDC-B867-6554E2F45C7E}"/>
                </a:ext>
              </a:extLst>
            </p:cNvPr>
            <p:cNvSpPr>
              <a:spLocks noGrp="1"/>
            </p:cNvSpPr>
            <p:nvPr/>
          </p:nvSpPr>
          <p:spPr>
            <a:xfrm>
              <a:off x="5916549" y="1740408"/>
              <a:ext cx="89230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符号感知极值</a:t>
              </a:r>
            </a:p>
          </p:txBody>
        </p:sp>
        <p:sp>
          <p:nvSpPr>
            <p:cNvPr id="5159" name="R3-zh-153-text">
              <a:extLst>
                <a:ext uri="{FF2B5EF4-FFF2-40B4-BE49-F238E27FC236}">
                  <a16:creationId xmlns:a16="http://schemas.microsoft.com/office/drawing/2014/main" id="{9A57548C-B874-48D6-BF9E-716C3699A3BF}"/>
                </a:ext>
              </a:extLst>
            </p:cNvPr>
            <p:cNvSpPr>
              <a:spLocks noGrp="1"/>
            </p:cNvSpPr>
            <p:nvPr/>
          </p:nvSpPr>
          <p:spPr>
            <a:xfrm>
              <a:off x="3748564" y="1940433"/>
              <a:ext cx="145637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组均值 → TopK(P_n)</a:t>
              </a:r>
            </a:p>
          </p:txBody>
        </p:sp>
        <p:sp>
          <p:nvSpPr>
            <p:cNvPr id="5160" name="R3-zh-154-text">
              <a:extLst>
                <a:ext uri="{FF2B5EF4-FFF2-40B4-BE49-F238E27FC236}">
                  <a16:creationId xmlns:a16="http://schemas.microsoft.com/office/drawing/2014/main" id="{8523B38A-C31D-473F-8F16-0EADE4DB8706}"/>
                </a:ext>
              </a:extLst>
            </p:cNvPr>
            <p:cNvSpPr>
              <a:spLocks noGrp="1"/>
            </p:cNvSpPr>
            <p:nvPr/>
          </p:nvSpPr>
          <p:spPr>
            <a:xfrm>
              <a:off x="5634514" y="1940433"/>
              <a:ext cx="145637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组均值 → TopK(P_f)</a:t>
              </a:r>
            </a:p>
          </p:txBody>
        </p:sp>
        <p:sp>
          <p:nvSpPr>
            <p:cNvPr id="5161" name="R3-zh-155-polyline">
              <a:extLst>
                <a:ext uri="{FF2B5EF4-FFF2-40B4-BE49-F238E27FC236}">
                  <a16:creationId xmlns:a16="http://schemas.microsoft.com/office/drawing/2014/main" id="{BA8C4095-7F53-442C-9E4A-1E228CB338DC}"/>
                </a:ext>
              </a:extLst>
            </p:cNvPr>
            <p:cNvSpPr>
              <a:spLocks noGrp="1"/>
            </p:cNvSpPr>
            <p:nvPr/>
          </p:nvSpPr>
          <p:spPr>
            <a:xfrm>
              <a:off x="4476750" y="2152650"/>
              <a:ext cx="590550" cy="180975"/>
            </a:xfrm>
            <a:custGeom>
              <a:pathLst>
                <a:path w="590550" h="180975">
                  <a:moveTo>
                    <a:pt x="0" y="0"/>
                  </a:moveTo>
                  <a:lnTo>
                    <a:pt x="0" y="180975"/>
                  </a:lnTo>
                  <a:lnTo>
                    <a:pt x="590550" y="1809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62" name="R3-zh-155-polyline-arrow">
              <a:extLst>
                <a:ext uri="{FF2B5EF4-FFF2-40B4-BE49-F238E27FC236}">
                  <a16:creationId xmlns:a16="http://schemas.microsoft.com/office/drawing/2014/main" id="{5A20638B-DE5B-499B-9E8B-A6E0127196D6}"/>
                </a:ext>
              </a:extLst>
            </p:cNvPr>
            <p:cNvSpPr>
              <a:spLocks noGrp="1"/>
            </p:cNvSpPr>
            <p:nvPr/>
          </p:nvSpPr>
          <p:spPr>
            <a:xfrm>
              <a:off x="5019675" y="23107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63" name="R3-zh-156-polyline">
              <a:extLst>
                <a:ext uri="{FF2B5EF4-FFF2-40B4-BE49-F238E27FC236}">
                  <a16:creationId xmlns:a16="http://schemas.microsoft.com/office/drawing/2014/main" id="{A111A5FA-A2B2-4565-875B-12FF2386A02E}"/>
                </a:ext>
              </a:extLst>
            </p:cNvPr>
            <p:cNvSpPr>
              <a:spLocks noGrp="1"/>
            </p:cNvSpPr>
            <p:nvPr/>
          </p:nvSpPr>
          <p:spPr>
            <a:xfrm>
              <a:off x="5667375" y="2152650"/>
              <a:ext cx="695325" cy="180975"/>
            </a:xfrm>
            <a:custGeom>
              <a:pathLst>
                <a:path w="695325" h="180975">
                  <a:moveTo>
                    <a:pt x="695325" y="0"/>
                  </a:moveTo>
                  <a:lnTo>
                    <a:pt x="695325" y="180975"/>
                  </a:lnTo>
                  <a:lnTo>
                    <a:pt x="0" y="1809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64" name="R3-zh-156-polyline-arrow">
              <a:extLst>
                <a:ext uri="{FF2B5EF4-FFF2-40B4-BE49-F238E27FC236}">
                  <a16:creationId xmlns:a16="http://schemas.microsoft.com/office/drawing/2014/main" id="{683D6C9C-20B5-4968-BDF9-0EF8EC070C75}"/>
                </a:ext>
              </a:extLst>
            </p:cNvPr>
            <p:cNvSpPr>
              <a:spLocks noGrp="1"/>
            </p:cNvSpPr>
            <p:nvPr/>
          </p:nvSpPr>
          <p:spPr>
            <a:xfrm>
              <a:off x="5667375" y="2310765"/>
              <a:ext cx="47625" cy="45720"/>
            </a:xfrm>
            <a:custGeom>
              <a:pathLst>
                <a:path w="47625" h="45720">
                  <a:moveTo>
                    <a:pt x="0" y="22860"/>
                  </a:moveTo>
                  <a:lnTo>
                    <a:pt x="47625" y="45720"/>
                  </a:lnTo>
                  <a:lnTo>
                    <a:pt x="47625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65" name="R3-zh-157-rect">
              <a:extLst>
                <a:ext uri="{FF2B5EF4-FFF2-40B4-BE49-F238E27FC236}">
                  <a16:creationId xmlns:a16="http://schemas.microsoft.com/office/drawing/2014/main" id="{C39BF332-F169-41AA-9394-4B9E40CEB889}"/>
                </a:ext>
              </a:extLst>
            </p:cNvPr>
            <p:cNvSpPr>
              <a:spLocks noGrp="1"/>
            </p:cNvSpPr>
            <p:nvPr/>
          </p:nvSpPr>
          <p:spPr>
            <a:xfrm>
              <a:off x="50673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66" name="R3-zh-158-rect">
              <a:extLst>
                <a:ext uri="{FF2B5EF4-FFF2-40B4-BE49-F238E27FC236}">
                  <a16:creationId xmlns:a16="http://schemas.microsoft.com/office/drawing/2014/main" id="{A221B949-765A-40AF-9F65-2CC7C86AA1CA}"/>
                </a:ext>
              </a:extLst>
            </p:cNvPr>
            <p:cNvSpPr>
              <a:spLocks noGrp="1"/>
            </p:cNvSpPr>
            <p:nvPr/>
          </p:nvSpPr>
          <p:spPr>
            <a:xfrm>
              <a:off x="51435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67" name="R3-zh-159-rect">
              <a:extLst>
                <a:ext uri="{FF2B5EF4-FFF2-40B4-BE49-F238E27FC236}">
                  <a16:creationId xmlns:a16="http://schemas.microsoft.com/office/drawing/2014/main" id="{B89510BB-24F3-4D7B-A7E0-7B35F45990EF}"/>
                </a:ext>
              </a:extLst>
            </p:cNvPr>
            <p:cNvSpPr>
              <a:spLocks noGrp="1"/>
            </p:cNvSpPr>
            <p:nvPr/>
          </p:nvSpPr>
          <p:spPr>
            <a:xfrm>
              <a:off x="52197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68" name="R3-zh-160-rect">
              <a:extLst>
                <a:ext uri="{FF2B5EF4-FFF2-40B4-BE49-F238E27FC236}">
                  <a16:creationId xmlns:a16="http://schemas.microsoft.com/office/drawing/2014/main" id="{905757F8-8BC8-4A6B-BB89-59173B2B6EAF}"/>
                </a:ext>
              </a:extLst>
            </p:cNvPr>
            <p:cNvSpPr>
              <a:spLocks noGrp="1"/>
            </p:cNvSpPr>
            <p:nvPr/>
          </p:nvSpPr>
          <p:spPr>
            <a:xfrm>
              <a:off x="52959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69" name="R3-zh-161-rect">
              <a:extLst>
                <a:ext uri="{FF2B5EF4-FFF2-40B4-BE49-F238E27FC236}">
                  <a16:creationId xmlns:a16="http://schemas.microsoft.com/office/drawing/2014/main" id="{0F9E2EB7-8427-47E1-A72A-F59562CC562C}"/>
                </a:ext>
              </a:extLst>
            </p:cNvPr>
            <p:cNvSpPr>
              <a:spLocks noGrp="1"/>
            </p:cNvSpPr>
            <p:nvPr/>
          </p:nvSpPr>
          <p:spPr>
            <a:xfrm>
              <a:off x="53721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70" name="R3-zh-162-rect">
              <a:extLst>
                <a:ext uri="{FF2B5EF4-FFF2-40B4-BE49-F238E27FC236}">
                  <a16:creationId xmlns:a16="http://schemas.microsoft.com/office/drawing/2014/main" id="{BF13846D-82CA-448C-87D6-33ADE2C620D1}"/>
                </a:ext>
              </a:extLst>
            </p:cNvPr>
            <p:cNvSpPr>
              <a:spLocks noGrp="1"/>
            </p:cNvSpPr>
            <p:nvPr/>
          </p:nvSpPr>
          <p:spPr>
            <a:xfrm>
              <a:off x="54483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71" name="R3-zh-163-rect">
              <a:extLst>
                <a:ext uri="{FF2B5EF4-FFF2-40B4-BE49-F238E27FC236}">
                  <a16:creationId xmlns:a16="http://schemas.microsoft.com/office/drawing/2014/main" id="{37BBE0B0-3F48-4BC5-A26A-B4881196BF4E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72" name="R3-zh-164-rect">
              <a:extLst>
                <a:ext uri="{FF2B5EF4-FFF2-40B4-BE49-F238E27FC236}">
                  <a16:creationId xmlns:a16="http://schemas.microsoft.com/office/drawing/2014/main" id="{A870E8CB-895F-4553-A964-16C67753C129}"/>
                </a:ext>
              </a:extLst>
            </p:cNvPr>
            <p:cNvSpPr>
              <a:spLocks noGrp="1"/>
            </p:cNvSpPr>
            <p:nvPr/>
          </p:nvSpPr>
          <p:spPr>
            <a:xfrm>
              <a:off x="56007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73" name="R3-zh-165-text">
              <a:extLst>
                <a:ext uri="{FF2B5EF4-FFF2-40B4-BE49-F238E27FC236}">
                  <a16:creationId xmlns:a16="http://schemas.microsoft.com/office/drawing/2014/main" id="{2BB9FAA2-EA0F-421C-9131-8DD1BE1099B3}"/>
                </a:ext>
              </a:extLst>
            </p:cNvPr>
            <p:cNvSpPr>
              <a:spLocks noGrp="1"/>
            </p:cNvSpPr>
            <p:nvPr/>
          </p:nvSpPr>
          <p:spPr>
            <a:xfrm>
              <a:off x="4984433" y="2464308"/>
              <a:ext cx="756285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共享页掩码</a:t>
              </a:r>
            </a:p>
          </p:txBody>
        </p:sp>
        <p:sp>
          <p:nvSpPr>
            <p:cNvPr id="5174" name="R3-zh-166-text">
              <a:extLst>
                <a:ext uri="{FF2B5EF4-FFF2-40B4-BE49-F238E27FC236}">
                  <a16:creationId xmlns:a16="http://schemas.microsoft.com/office/drawing/2014/main" id="{008BDF24-8E93-4BA3-B68E-B3B26E5A27C5}"/>
                </a:ext>
              </a:extLst>
            </p:cNvPr>
            <p:cNvSpPr>
              <a:spLocks noGrp="1"/>
            </p:cNvSpPr>
            <p:nvPr/>
          </p:nvSpPr>
          <p:spPr>
            <a:xfrm>
              <a:off x="4993577" y="2655189"/>
              <a:ext cx="737997" cy="16002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实色 = 保留</a:t>
              </a:r>
            </a:p>
          </p:txBody>
        </p:sp>
        <p:sp>
          <p:nvSpPr>
            <p:cNvPr id="5175" name="R3-zh-167-polyline">
              <a:extLst>
                <a:ext uri="{FF2B5EF4-FFF2-40B4-BE49-F238E27FC236}">
                  <a16:creationId xmlns:a16="http://schemas.microsoft.com/office/drawing/2014/main" id="{DCD26B91-8870-4A6E-99F1-D4AE34B84A9F}"/>
                </a:ext>
              </a:extLst>
            </p:cNvPr>
            <p:cNvSpPr>
              <a:spLocks noGrp="1"/>
            </p:cNvSpPr>
            <p:nvPr/>
          </p:nvSpPr>
          <p:spPr>
            <a:xfrm>
              <a:off x="2952750" y="1533525"/>
              <a:ext cx="9525" cy="1247775"/>
            </a:xfrm>
            <a:custGeom>
              <a:pathLst>
                <a:path w="9525" h="1247775">
                  <a:moveTo>
                    <a:pt x="0" y="0"/>
                  </a:moveTo>
                  <a:lnTo>
                    <a:pt x="0" y="12477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76" name="R3-zh-167-polyline-arrow">
              <a:extLst>
                <a:ext uri="{FF2B5EF4-FFF2-40B4-BE49-F238E27FC236}">
                  <a16:creationId xmlns:a16="http://schemas.microsoft.com/office/drawing/2014/main" id="{0081B6B6-3977-41DA-B0A8-0615B21E5B59}"/>
                </a:ext>
              </a:extLst>
            </p:cNvPr>
            <p:cNvSpPr>
              <a:spLocks noGrp="1"/>
            </p:cNvSpPr>
            <p:nvPr/>
          </p:nvSpPr>
          <p:spPr>
            <a:xfrm>
              <a:off x="2929890" y="273367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77" name="R3-zh-168-text">
              <a:extLst>
                <a:ext uri="{FF2B5EF4-FFF2-40B4-BE49-F238E27FC236}">
                  <a16:creationId xmlns:a16="http://schemas.microsoft.com/office/drawing/2014/main" id="{0DA2E3FE-93C9-4429-AD22-0718F8B32C7E}"/>
                </a:ext>
              </a:extLst>
            </p:cNvPr>
            <p:cNvSpPr>
              <a:spLocks noGrp="1"/>
            </p:cNvSpPr>
            <p:nvPr/>
          </p:nvSpPr>
          <p:spPr>
            <a:xfrm>
              <a:off x="2248138" y="2797493"/>
              <a:ext cx="1409224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L2 · 全历史logits</a:t>
              </a:r>
            </a:p>
          </p:txBody>
        </p:sp>
        <p:sp>
          <p:nvSpPr>
            <p:cNvPr id="5178" name="R3-zh-169-text">
              <a:extLst>
                <a:ext uri="{FF2B5EF4-FFF2-40B4-BE49-F238E27FC236}">
                  <a16:creationId xmlns:a16="http://schemas.microsoft.com/office/drawing/2014/main" id="{50608302-3006-451E-8E40-396C23C4F5B3}"/>
                </a:ext>
              </a:extLst>
            </p:cNvPr>
            <p:cNvSpPr>
              <a:spLocks noGrp="1"/>
            </p:cNvSpPr>
            <p:nvPr/>
          </p:nvSpPr>
          <p:spPr>
            <a:xfrm>
              <a:off x="2337006" y="3007424"/>
              <a:ext cx="1231487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浮点QDQ · 1/√128</a:t>
              </a:r>
            </a:p>
          </p:txBody>
        </p:sp>
        <p:sp>
          <p:nvSpPr>
            <p:cNvPr id="5179" name="R3-zh-170-polyline">
              <a:extLst>
                <a:ext uri="{FF2B5EF4-FFF2-40B4-BE49-F238E27FC236}">
                  <a16:creationId xmlns:a16="http://schemas.microsoft.com/office/drawing/2014/main" id="{83E80924-7253-4E00-BD24-9D107B3E7D2E}"/>
                </a:ext>
              </a:extLst>
            </p:cNvPr>
            <p:cNvSpPr>
              <a:spLocks noGrp="1"/>
            </p:cNvSpPr>
            <p:nvPr/>
          </p:nvSpPr>
          <p:spPr>
            <a:xfrm>
              <a:off x="3762375" y="2943225"/>
              <a:ext cx="285750" cy="9525"/>
            </a:xfrm>
            <a:custGeom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0" name="R3-zh-170-polyline-arrow">
              <a:extLst>
                <a:ext uri="{FF2B5EF4-FFF2-40B4-BE49-F238E27FC236}">
                  <a16:creationId xmlns:a16="http://schemas.microsoft.com/office/drawing/2014/main" id="{4853E0AF-F86C-47B0-B240-02D3175534F1}"/>
                </a:ext>
              </a:extLst>
            </p:cNvPr>
            <p:cNvSpPr>
              <a:spLocks noGrp="1"/>
            </p:cNvSpPr>
            <p:nvPr/>
          </p:nvSpPr>
          <p:spPr>
            <a:xfrm>
              <a:off x="4000500" y="29203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1" name="R3-zh-171-text">
              <a:extLst>
                <a:ext uri="{FF2B5EF4-FFF2-40B4-BE49-F238E27FC236}">
                  <a16:creationId xmlns:a16="http://schemas.microsoft.com/office/drawing/2014/main" id="{29A75793-0C93-4C2F-AB1C-22D9C7AEB631}"/>
                </a:ext>
              </a:extLst>
            </p:cNvPr>
            <p:cNvSpPr>
              <a:spLocks noGrp="1"/>
            </p:cNvSpPr>
            <p:nvPr/>
          </p:nvSpPr>
          <p:spPr>
            <a:xfrm>
              <a:off x="4172236" y="2845308"/>
              <a:ext cx="2304478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掩码 → 逐Q softmax → KV组均值</a:t>
              </a:r>
            </a:p>
          </p:txBody>
        </p:sp>
        <p:sp>
          <p:nvSpPr>
            <p:cNvPr id="5182" name="R3-zh-172-polyline">
              <a:extLst>
                <a:ext uri="{FF2B5EF4-FFF2-40B4-BE49-F238E27FC236}">
                  <a16:creationId xmlns:a16="http://schemas.microsoft.com/office/drawing/2014/main" id="{F5872D7B-8415-4A75-B708-7AC13BD53905}"/>
                </a:ext>
              </a:extLst>
            </p:cNvPr>
            <p:cNvSpPr>
              <a:spLocks noGrp="1"/>
            </p:cNvSpPr>
            <p:nvPr/>
          </p:nvSpPr>
          <p:spPr>
            <a:xfrm>
              <a:off x="4095750" y="2409825"/>
              <a:ext cx="1266825" cy="438150"/>
            </a:xfrm>
            <a:custGeom>
              <a:pathLst>
                <a:path w="1266825" h="438150">
                  <a:moveTo>
                    <a:pt x="1266825" y="0"/>
                  </a:moveTo>
                  <a:lnTo>
                    <a:pt x="1266825" y="47625"/>
                  </a:lnTo>
                  <a:lnTo>
                    <a:pt x="0" y="47625"/>
                  </a:lnTo>
                  <a:lnTo>
                    <a:pt x="0" y="43815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3" name="R3-zh-172-polyline-arrow">
              <a:extLst>
                <a:ext uri="{FF2B5EF4-FFF2-40B4-BE49-F238E27FC236}">
                  <a16:creationId xmlns:a16="http://schemas.microsoft.com/office/drawing/2014/main" id="{4AE7C712-8530-47AE-9C5B-75B3831B9635}"/>
                </a:ext>
              </a:extLst>
            </p:cNvPr>
            <p:cNvSpPr>
              <a:spLocks noGrp="1"/>
            </p:cNvSpPr>
            <p:nvPr/>
          </p:nvSpPr>
          <p:spPr>
            <a:xfrm>
              <a:off x="4072890" y="2800350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4" name="R3-zh-173-polyline">
              <a:extLst>
                <a:ext uri="{FF2B5EF4-FFF2-40B4-BE49-F238E27FC236}">
                  <a16:creationId xmlns:a16="http://schemas.microsoft.com/office/drawing/2014/main" id="{5FD4CD1A-AEB2-4468-BE6F-307D570802AD}"/>
                </a:ext>
              </a:extLst>
            </p:cNvPr>
            <p:cNvSpPr>
              <a:spLocks noGrp="1"/>
            </p:cNvSpPr>
            <p:nvPr/>
          </p:nvSpPr>
          <p:spPr>
            <a:xfrm>
              <a:off x="5324475" y="3057525"/>
              <a:ext cx="9525" cy="190500"/>
            </a:xfrm>
            <a:custGeom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5" name="R3-zh-173-polyline-arrow">
              <a:extLst>
                <a:ext uri="{FF2B5EF4-FFF2-40B4-BE49-F238E27FC236}">
                  <a16:creationId xmlns:a16="http://schemas.microsoft.com/office/drawing/2014/main" id="{9EA985D1-4F17-481E-8F14-09A444405E07}"/>
                </a:ext>
              </a:extLst>
            </p:cNvPr>
            <p:cNvSpPr>
              <a:spLocks noGrp="1"/>
            </p:cNvSpPr>
            <p:nvPr/>
          </p:nvSpPr>
          <p:spPr>
            <a:xfrm>
              <a:off x="5301615" y="3200400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6" name="R3-zh-174-text">
              <a:extLst>
                <a:ext uri="{FF2B5EF4-FFF2-40B4-BE49-F238E27FC236}">
                  <a16:creationId xmlns:a16="http://schemas.microsoft.com/office/drawing/2014/main" id="{F6F77D4F-1278-4A5B-B7BF-7FA8ADBE08E7}"/>
                </a:ext>
              </a:extLst>
            </p:cNvPr>
            <p:cNvSpPr>
              <a:spLocks noGrp="1"/>
            </p:cNvSpPr>
            <p:nvPr/>
          </p:nvSpPr>
          <p:spPr>
            <a:xfrm>
              <a:off x="4262247" y="3254502"/>
              <a:ext cx="2124456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分区token TopK(k_n, k_f)</a:t>
              </a:r>
            </a:p>
          </p:txBody>
        </p:sp>
        <p:sp>
          <p:nvSpPr>
            <p:cNvPr id="5187" name="R3-zh-175-text">
              <a:extLst>
                <a:ext uri="{FF2B5EF4-FFF2-40B4-BE49-F238E27FC236}">
                  <a16:creationId xmlns:a16="http://schemas.microsoft.com/office/drawing/2014/main" id="{E0BD4592-1778-4DE4-A324-E2A4F1D25637}"/>
                </a:ext>
              </a:extLst>
            </p:cNvPr>
            <p:cNvSpPr>
              <a:spLocks noGrp="1"/>
            </p:cNvSpPr>
            <p:nvPr/>
          </p:nvSpPr>
          <p:spPr>
            <a:xfrm>
              <a:off x="2422589" y="3426333"/>
              <a:ext cx="106032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前缀 ∪ 滑窗ID</a:t>
              </a:r>
            </a:p>
          </p:txBody>
        </p:sp>
        <p:sp>
          <p:nvSpPr>
            <p:cNvPr id="5188" name="R3-zh-176-polyline">
              <a:extLst>
                <a:ext uri="{FF2B5EF4-FFF2-40B4-BE49-F238E27FC236}">
                  <a16:creationId xmlns:a16="http://schemas.microsoft.com/office/drawing/2014/main" id="{860BE6B6-DF86-4E36-9AF4-90093484AE77}"/>
                </a:ext>
              </a:extLst>
            </p:cNvPr>
            <p:cNvSpPr>
              <a:spLocks noGrp="1"/>
            </p:cNvSpPr>
            <p:nvPr/>
          </p:nvSpPr>
          <p:spPr>
            <a:xfrm>
              <a:off x="3781425" y="3495675"/>
              <a:ext cx="2867025" cy="161925"/>
            </a:xfrm>
            <a:custGeom>
              <a:pathLst>
                <a:path w="2867025" h="161925">
                  <a:moveTo>
                    <a:pt x="0" y="28575"/>
                  </a:moveTo>
                  <a:lnTo>
                    <a:pt x="552450" y="28575"/>
                  </a:lnTo>
                  <a:lnTo>
                    <a:pt x="552450" y="161925"/>
                  </a:lnTo>
                  <a:lnTo>
                    <a:pt x="2867025" y="161925"/>
                  </a:lnTo>
                  <a:lnTo>
                    <a:pt x="286702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9" name="R3-zh-176-polyline-arrow">
              <a:extLst>
                <a:ext uri="{FF2B5EF4-FFF2-40B4-BE49-F238E27FC236}">
                  <a16:creationId xmlns:a16="http://schemas.microsoft.com/office/drawing/2014/main" id="{CD0C548B-741B-4007-906B-1EEB9EDA60B3}"/>
                </a:ext>
              </a:extLst>
            </p:cNvPr>
            <p:cNvSpPr>
              <a:spLocks noGrp="1"/>
            </p:cNvSpPr>
            <p:nvPr/>
          </p:nvSpPr>
          <p:spPr>
            <a:xfrm>
              <a:off x="6625590" y="3495675"/>
              <a:ext cx="45720" cy="47625"/>
            </a:xfrm>
            <a:custGeom>
              <a:pathLst>
                <a:path w="45720" h="47625">
                  <a:moveTo>
                    <a:pt x="22860" y="0"/>
                  </a:moveTo>
                  <a:lnTo>
                    <a:pt x="0" y="47625"/>
                  </a:lnTo>
                  <a:lnTo>
                    <a:pt x="45720" y="47625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0" name="R3-zh-177-polyline">
              <a:extLst>
                <a:ext uri="{FF2B5EF4-FFF2-40B4-BE49-F238E27FC236}">
                  <a16:creationId xmlns:a16="http://schemas.microsoft.com/office/drawing/2014/main" id="{1FFB77A2-CFEF-4678-BCFC-7B449B215888}"/>
                </a:ext>
              </a:extLst>
            </p:cNvPr>
            <p:cNvSpPr>
              <a:spLocks noGrp="1"/>
            </p:cNvSpPr>
            <p:nvPr/>
          </p:nvSpPr>
          <p:spPr>
            <a:xfrm>
              <a:off x="6457950" y="3343275"/>
              <a:ext cx="142875" cy="9525"/>
            </a:xfrm>
            <a:custGeom>
              <a:pathLst>
                <a:path w="142875" h="9525">
                  <a:moveTo>
                    <a:pt x="0" y="0"/>
                  </a:moveTo>
                  <a:lnTo>
                    <a:pt x="14287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91" name="R3-zh-177-polyline-arrow">
              <a:extLst>
                <a:ext uri="{FF2B5EF4-FFF2-40B4-BE49-F238E27FC236}">
                  <a16:creationId xmlns:a16="http://schemas.microsoft.com/office/drawing/2014/main" id="{A39BA2B7-A68F-4096-A270-ED3FB650205E}"/>
                </a:ext>
              </a:extLst>
            </p:cNvPr>
            <p:cNvSpPr>
              <a:spLocks noGrp="1"/>
            </p:cNvSpPr>
            <p:nvPr/>
          </p:nvSpPr>
          <p:spPr>
            <a:xfrm>
              <a:off x="6553200" y="3320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2" name="R3-zh-178-text">
              <a:extLst>
                <a:ext uri="{FF2B5EF4-FFF2-40B4-BE49-F238E27FC236}">
                  <a16:creationId xmlns:a16="http://schemas.microsoft.com/office/drawing/2014/main" id="{B426F7B1-A75C-4177-97F0-659D5A324927}"/>
                </a:ext>
              </a:extLst>
            </p:cNvPr>
            <p:cNvSpPr>
              <a:spLocks noGrp="1"/>
            </p:cNvSpPr>
            <p:nvPr/>
          </p:nvSpPr>
          <p:spPr>
            <a:xfrm>
              <a:off x="6643116" y="3254883"/>
              <a:ext cx="620268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合并去重</a:t>
              </a:r>
            </a:p>
          </p:txBody>
        </p:sp>
        <p:sp>
          <p:nvSpPr>
            <p:cNvPr id="5193" name="R3-zh-179-text">
              <a:extLst>
                <a:ext uri="{FF2B5EF4-FFF2-40B4-BE49-F238E27FC236}">
                  <a16:creationId xmlns:a16="http://schemas.microsoft.com/office/drawing/2014/main" id="{EA4C5C30-F01F-44F5-B107-B32DD6281BD7}"/>
                </a:ext>
              </a:extLst>
            </p:cNvPr>
            <p:cNvSpPr>
              <a:spLocks noGrp="1"/>
            </p:cNvSpPr>
            <p:nvPr/>
          </p:nvSpPr>
          <p:spPr>
            <a:xfrm>
              <a:off x="6569678" y="3464624"/>
              <a:ext cx="767143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|IDs| ≤ K</a:t>
              </a:r>
            </a:p>
          </p:txBody>
        </p:sp>
        <p:sp>
          <p:nvSpPr>
            <p:cNvPr id="5194" name="R3-zh-180-polyline">
              <a:extLst>
                <a:ext uri="{FF2B5EF4-FFF2-40B4-BE49-F238E27FC236}">
                  <a16:creationId xmlns:a16="http://schemas.microsoft.com/office/drawing/2014/main" id="{29499C2A-452D-4379-B8CD-0771332A62ED}"/>
                </a:ext>
              </a:extLst>
            </p:cNvPr>
            <p:cNvSpPr>
              <a:spLocks noGrp="1"/>
            </p:cNvSpPr>
            <p:nvPr/>
          </p:nvSpPr>
          <p:spPr>
            <a:xfrm>
              <a:off x="7419975" y="1971675"/>
              <a:ext cx="561975" cy="1371600"/>
            </a:xfrm>
            <a:custGeom>
              <a:pathLst>
                <a:path w="561975" h="1371600">
                  <a:moveTo>
                    <a:pt x="0" y="1371600"/>
                  </a:moveTo>
                  <a:lnTo>
                    <a:pt x="266700" y="1371600"/>
                  </a:lnTo>
                  <a:lnTo>
                    <a:pt x="266700" y="0"/>
                  </a:lnTo>
                  <a:lnTo>
                    <a:pt x="56197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95" name="R3-zh-180-polyline-arrow">
              <a:extLst>
                <a:ext uri="{FF2B5EF4-FFF2-40B4-BE49-F238E27FC236}">
                  <a16:creationId xmlns:a16="http://schemas.microsoft.com/office/drawing/2014/main" id="{BA288E65-173D-480B-B398-894A7BAC4DE1}"/>
                </a:ext>
              </a:extLst>
            </p:cNvPr>
            <p:cNvSpPr>
              <a:spLocks noGrp="1"/>
            </p:cNvSpPr>
            <p:nvPr/>
          </p:nvSpPr>
          <p:spPr>
            <a:xfrm>
              <a:off x="7934325" y="19488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6" name="R3-zh-181-text">
              <a:extLst>
                <a:ext uri="{FF2B5EF4-FFF2-40B4-BE49-F238E27FC236}">
                  <a16:creationId xmlns:a16="http://schemas.microsoft.com/office/drawing/2014/main" id="{1CAC85C0-ABA9-4850-9643-1A8B6A8EBEE1}"/>
                </a:ext>
              </a:extLst>
            </p:cNvPr>
            <p:cNvSpPr>
              <a:spLocks noGrp="1"/>
            </p:cNvSpPr>
            <p:nvPr/>
          </p:nvSpPr>
          <p:spPr>
            <a:xfrm>
              <a:off x="7654195" y="1712024"/>
              <a:ext cx="217361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ID</a:t>
              </a:r>
            </a:p>
          </p:txBody>
        </p:sp>
        <p:sp>
          <p:nvSpPr>
            <p:cNvPr id="5197" name="R3-zh-182-rect">
              <a:extLst>
                <a:ext uri="{FF2B5EF4-FFF2-40B4-BE49-F238E27FC236}">
                  <a16:creationId xmlns:a16="http://schemas.microsoft.com/office/drawing/2014/main" id="{AD9ECAA2-7496-4505-B39B-F03C2683DA90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1809750"/>
              <a:ext cx="1419225" cy="100012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88949D"/>
              </a:solidFill>
            </a:ln>
          </p:spPr>
        </p:sp>
        <p:sp>
          <p:nvSpPr>
            <p:cNvPr id="5198" name="R3-zh-183-text">
              <a:extLst>
                <a:ext uri="{FF2B5EF4-FFF2-40B4-BE49-F238E27FC236}">
                  <a16:creationId xmlns:a16="http://schemas.microsoft.com/office/drawing/2014/main" id="{1B92A9E6-3152-4A9D-87C1-382C8E219E9A}"/>
                </a:ext>
              </a:extLst>
            </p:cNvPr>
            <p:cNvSpPr>
              <a:spLocks noGrp="1"/>
            </p:cNvSpPr>
            <p:nvPr/>
          </p:nvSpPr>
          <p:spPr>
            <a:xfrm>
              <a:off x="8124111" y="1873568"/>
              <a:ext cx="1049179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所选K/V支持集</a:t>
              </a:r>
            </a:p>
          </p:txBody>
        </p:sp>
        <p:sp>
          <p:nvSpPr>
            <p:cNvPr id="5199" name="R3-zh-184-rect">
              <a:extLst>
                <a:ext uri="{FF2B5EF4-FFF2-40B4-BE49-F238E27FC236}">
                  <a16:creationId xmlns:a16="http://schemas.microsoft.com/office/drawing/2014/main" id="{5E250ACC-FDA6-469A-8823-F2A130F30270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0" name="R3-zh-185-rect">
              <a:extLst>
                <a:ext uri="{FF2B5EF4-FFF2-40B4-BE49-F238E27FC236}">
                  <a16:creationId xmlns:a16="http://schemas.microsoft.com/office/drawing/2014/main" id="{0C5FCD38-BBD2-43F2-B4DF-54E54E2FD3BE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1" name="R3-zh-186-rect">
              <a:extLst>
                <a:ext uri="{FF2B5EF4-FFF2-40B4-BE49-F238E27FC236}">
                  <a16:creationId xmlns:a16="http://schemas.microsoft.com/office/drawing/2014/main" id="{D4E06A39-7906-4C1B-8528-6D264482D24B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2" name="R3-zh-187-rect">
              <a:extLst>
                <a:ext uri="{FF2B5EF4-FFF2-40B4-BE49-F238E27FC236}">
                  <a16:creationId xmlns:a16="http://schemas.microsoft.com/office/drawing/2014/main" id="{112F5B52-E134-4598-8887-094246BEB2FC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3" name="R3-zh-188-rect">
              <a:extLst>
                <a:ext uri="{FF2B5EF4-FFF2-40B4-BE49-F238E27FC236}">
                  <a16:creationId xmlns:a16="http://schemas.microsoft.com/office/drawing/2014/main" id="{D2E5EC3B-4BE8-4B9C-A2F2-D5E0BC934EC6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4" name="R3-zh-189-rect">
              <a:extLst>
                <a:ext uri="{FF2B5EF4-FFF2-40B4-BE49-F238E27FC236}">
                  <a16:creationId xmlns:a16="http://schemas.microsoft.com/office/drawing/2014/main" id="{3CDB4166-5286-4B74-A00D-72B92B3FFCE2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5" name="R3-zh-190-rect">
              <a:extLst>
                <a:ext uri="{FF2B5EF4-FFF2-40B4-BE49-F238E27FC236}">
                  <a16:creationId xmlns:a16="http://schemas.microsoft.com/office/drawing/2014/main" id="{AF0E98F0-8C10-4BAC-9328-25A9C7A8167E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6" name="R3-zh-191-rect">
              <a:extLst>
                <a:ext uri="{FF2B5EF4-FFF2-40B4-BE49-F238E27FC236}">
                  <a16:creationId xmlns:a16="http://schemas.microsoft.com/office/drawing/2014/main" id="{2152FAF3-6EB6-49E7-A483-D4BFDE510E3C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7" name="R3-zh-192-rect">
              <a:extLst>
                <a:ext uri="{FF2B5EF4-FFF2-40B4-BE49-F238E27FC236}">
                  <a16:creationId xmlns:a16="http://schemas.microsoft.com/office/drawing/2014/main" id="{3DDDE0D2-66CB-415C-A9B3-670414CC0CEF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8" name="R3-zh-193-rect">
              <a:extLst>
                <a:ext uri="{FF2B5EF4-FFF2-40B4-BE49-F238E27FC236}">
                  <a16:creationId xmlns:a16="http://schemas.microsoft.com/office/drawing/2014/main" id="{D5A67BFF-E745-46AE-9CD5-BAB6426BFBCD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9" name="R3-zh-194-rect">
              <a:extLst>
                <a:ext uri="{FF2B5EF4-FFF2-40B4-BE49-F238E27FC236}">
                  <a16:creationId xmlns:a16="http://schemas.microsoft.com/office/drawing/2014/main" id="{4BA47C2E-3604-4C38-A441-817A5137B6AF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0" name="R3-zh-195-rect">
              <a:extLst>
                <a:ext uri="{FF2B5EF4-FFF2-40B4-BE49-F238E27FC236}">
                  <a16:creationId xmlns:a16="http://schemas.microsoft.com/office/drawing/2014/main" id="{0AFDDF25-DD0C-42A4-9824-571B7617ED72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1" name="R3-zh-196-rect">
              <a:extLst>
                <a:ext uri="{FF2B5EF4-FFF2-40B4-BE49-F238E27FC236}">
                  <a16:creationId xmlns:a16="http://schemas.microsoft.com/office/drawing/2014/main" id="{9D776A1F-9568-4D13-8DBC-22EF88168B6E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2" name="R3-zh-197-rect">
              <a:extLst>
                <a:ext uri="{FF2B5EF4-FFF2-40B4-BE49-F238E27FC236}">
                  <a16:creationId xmlns:a16="http://schemas.microsoft.com/office/drawing/2014/main" id="{BDBDE1C0-F683-4B16-8408-D57244F236A4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3" name="R3-zh-198-rect">
              <a:extLst>
                <a:ext uri="{FF2B5EF4-FFF2-40B4-BE49-F238E27FC236}">
                  <a16:creationId xmlns:a16="http://schemas.microsoft.com/office/drawing/2014/main" id="{45CFEB4E-BE26-45FD-AAE5-D92436963FA8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4" name="R3-zh-199-rect">
              <a:extLst>
                <a:ext uri="{FF2B5EF4-FFF2-40B4-BE49-F238E27FC236}">
                  <a16:creationId xmlns:a16="http://schemas.microsoft.com/office/drawing/2014/main" id="{E8C5FF1C-8962-483E-BEE5-ADB9243C59B2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5" name="R3-zh-200-rect">
              <a:extLst>
                <a:ext uri="{FF2B5EF4-FFF2-40B4-BE49-F238E27FC236}">
                  <a16:creationId xmlns:a16="http://schemas.microsoft.com/office/drawing/2014/main" id="{BCAEAAD5-3730-44EB-BC69-DF58FDC2EB2A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6" name="R3-zh-201-rect">
              <a:extLst>
                <a:ext uri="{FF2B5EF4-FFF2-40B4-BE49-F238E27FC236}">
                  <a16:creationId xmlns:a16="http://schemas.microsoft.com/office/drawing/2014/main" id="{3821B01C-5101-4EA3-813B-936E9DA75EE6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7" name="R3-zh-202-rect">
              <a:extLst>
                <a:ext uri="{FF2B5EF4-FFF2-40B4-BE49-F238E27FC236}">
                  <a16:creationId xmlns:a16="http://schemas.microsoft.com/office/drawing/2014/main" id="{A78BA368-3C9B-4AB3-8AEF-ED5DFE9549C1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8" name="R3-zh-203-rect">
              <a:extLst>
                <a:ext uri="{FF2B5EF4-FFF2-40B4-BE49-F238E27FC236}">
                  <a16:creationId xmlns:a16="http://schemas.microsoft.com/office/drawing/2014/main" id="{B9C3802A-3331-4310-9244-845ABBB35238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9" name="R3-zh-204-rect">
              <a:extLst>
                <a:ext uri="{FF2B5EF4-FFF2-40B4-BE49-F238E27FC236}">
                  <a16:creationId xmlns:a16="http://schemas.microsoft.com/office/drawing/2014/main" id="{F5F77CCA-FF51-4139-9E22-0DA31E10F6AA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0" name="R3-zh-205-rect">
              <a:extLst>
                <a:ext uri="{FF2B5EF4-FFF2-40B4-BE49-F238E27FC236}">
                  <a16:creationId xmlns:a16="http://schemas.microsoft.com/office/drawing/2014/main" id="{117F0EF9-63C8-4DC9-B233-8E24B9C91622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1" name="R3-zh-206-rect">
              <a:extLst>
                <a:ext uri="{FF2B5EF4-FFF2-40B4-BE49-F238E27FC236}">
                  <a16:creationId xmlns:a16="http://schemas.microsoft.com/office/drawing/2014/main" id="{47F7DC80-D32B-4D6B-99F9-0DB6E390C76A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2" name="R3-zh-207-rect">
              <a:extLst>
                <a:ext uri="{FF2B5EF4-FFF2-40B4-BE49-F238E27FC236}">
                  <a16:creationId xmlns:a16="http://schemas.microsoft.com/office/drawing/2014/main" id="{8B057486-0DDD-4ABA-8C3D-466A83510484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3" name="R3-zh-208-rect">
              <a:extLst>
                <a:ext uri="{FF2B5EF4-FFF2-40B4-BE49-F238E27FC236}">
                  <a16:creationId xmlns:a16="http://schemas.microsoft.com/office/drawing/2014/main" id="{FF882B13-3970-44F1-B0D7-DDA3679960D6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4" name="R3-zh-209-rect">
              <a:extLst>
                <a:ext uri="{FF2B5EF4-FFF2-40B4-BE49-F238E27FC236}">
                  <a16:creationId xmlns:a16="http://schemas.microsoft.com/office/drawing/2014/main" id="{B6B52A13-ACC0-4820-B87E-3BB0BF092D21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5" name="R3-zh-210-rect">
              <a:extLst>
                <a:ext uri="{FF2B5EF4-FFF2-40B4-BE49-F238E27FC236}">
                  <a16:creationId xmlns:a16="http://schemas.microsoft.com/office/drawing/2014/main" id="{12568314-56CA-4583-A086-2A0BFA2FE6D7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6" name="R3-zh-211-rect">
              <a:extLst>
                <a:ext uri="{FF2B5EF4-FFF2-40B4-BE49-F238E27FC236}">
                  <a16:creationId xmlns:a16="http://schemas.microsoft.com/office/drawing/2014/main" id="{F4020872-F3F9-4649-93F4-BF4E7BD79907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7" name="R3-zh-212-rect">
              <a:extLst>
                <a:ext uri="{FF2B5EF4-FFF2-40B4-BE49-F238E27FC236}">
                  <a16:creationId xmlns:a16="http://schemas.microsoft.com/office/drawing/2014/main" id="{83673C7B-7629-44CD-863C-21265A6D438E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8" name="R3-zh-213-rect">
              <a:extLst>
                <a:ext uri="{FF2B5EF4-FFF2-40B4-BE49-F238E27FC236}">
                  <a16:creationId xmlns:a16="http://schemas.microsoft.com/office/drawing/2014/main" id="{D8D275CE-937F-43F4-88DE-D23B9AAD4E8C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9" name="R3-zh-214-text">
              <a:extLst>
                <a:ext uri="{FF2B5EF4-FFF2-40B4-BE49-F238E27FC236}">
                  <a16:creationId xmlns:a16="http://schemas.microsoft.com/office/drawing/2014/main" id="{48AAC740-5CFE-4D13-8CAE-64B6E1EFB81B}"/>
                </a:ext>
              </a:extLst>
            </p:cNvPr>
            <p:cNvSpPr>
              <a:spLocks noGrp="1"/>
            </p:cNvSpPr>
            <p:nvPr/>
          </p:nvSpPr>
          <p:spPr>
            <a:xfrm>
              <a:off x="8248650" y="2502027"/>
              <a:ext cx="209550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K</a:t>
              </a:r>
            </a:p>
          </p:txBody>
        </p:sp>
        <p:sp>
          <p:nvSpPr>
            <p:cNvPr id="5230" name="R3-zh-215-text">
              <a:extLst>
                <a:ext uri="{FF2B5EF4-FFF2-40B4-BE49-F238E27FC236}">
                  <a16:creationId xmlns:a16="http://schemas.microsoft.com/office/drawing/2014/main" id="{92668516-3F69-43BC-9FF6-5A3AF892064C}"/>
                </a:ext>
              </a:extLst>
            </p:cNvPr>
            <p:cNvSpPr>
              <a:spLocks noGrp="1"/>
            </p:cNvSpPr>
            <p:nvPr/>
          </p:nvSpPr>
          <p:spPr>
            <a:xfrm>
              <a:off x="8848725" y="2502027"/>
              <a:ext cx="209550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V</a:t>
              </a:r>
            </a:p>
          </p:txBody>
        </p:sp>
        <p:sp>
          <p:nvSpPr>
            <p:cNvPr id="5231" name="R3-zh-216-polyline">
              <a:extLst>
                <a:ext uri="{FF2B5EF4-FFF2-40B4-BE49-F238E27FC236}">
                  <a16:creationId xmlns:a16="http://schemas.microsoft.com/office/drawing/2014/main" id="{FA662589-86CF-4DAA-9400-10750B2AEABD}"/>
                </a:ext>
              </a:extLst>
            </p:cNvPr>
            <p:cNvSpPr>
              <a:spLocks noGrp="1"/>
            </p:cNvSpPr>
            <p:nvPr/>
          </p:nvSpPr>
          <p:spPr>
            <a:xfrm>
              <a:off x="828675" y="2428875"/>
              <a:ext cx="7153275" cy="1590675"/>
            </a:xfrm>
            <a:custGeom>
              <a:pathLst>
                <a:path w="7153275" h="1590675">
                  <a:moveTo>
                    <a:pt x="0" y="0"/>
                  </a:moveTo>
                  <a:lnTo>
                    <a:pt x="0" y="1590675"/>
                  </a:lnTo>
                  <a:lnTo>
                    <a:pt x="6991350" y="1590675"/>
                  </a:lnTo>
                  <a:lnTo>
                    <a:pt x="6991350" y="190500"/>
                  </a:lnTo>
                  <a:lnTo>
                    <a:pt x="7153275" y="190500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2" name="R3-zh-216-polyline-arrow">
              <a:extLst>
                <a:ext uri="{FF2B5EF4-FFF2-40B4-BE49-F238E27FC236}">
                  <a16:creationId xmlns:a16="http://schemas.microsoft.com/office/drawing/2014/main" id="{1CFEE1DF-D6EB-4D51-AE27-B3ECE7E93D40}"/>
                </a:ext>
              </a:extLst>
            </p:cNvPr>
            <p:cNvSpPr>
              <a:spLocks noGrp="1"/>
            </p:cNvSpPr>
            <p:nvPr/>
          </p:nvSpPr>
          <p:spPr>
            <a:xfrm>
              <a:off x="7934325" y="25965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33" name="R3-zh-217-text">
              <a:extLst>
                <a:ext uri="{FF2B5EF4-FFF2-40B4-BE49-F238E27FC236}">
                  <a16:creationId xmlns:a16="http://schemas.microsoft.com/office/drawing/2014/main" id="{71214488-D58C-4E9B-A842-A50572866A41}"/>
                </a:ext>
              </a:extLst>
            </p:cNvPr>
            <p:cNvSpPr>
              <a:spLocks noGrp="1"/>
            </p:cNvSpPr>
            <p:nvPr/>
          </p:nvSpPr>
          <p:spPr>
            <a:xfrm>
              <a:off x="3711607" y="4064508"/>
              <a:ext cx="1168337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原始K/V · 128维</a:t>
              </a:r>
            </a:p>
          </p:txBody>
        </p:sp>
        <p:sp>
          <p:nvSpPr>
            <p:cNvPr id="5234" name="R3-zh-218-polyline">
              <a:extLst>
                <a:ext uri="{FF2B5EF4-FFF2-40B4-BE49-F238E27FC236}">
                  <a16:creationId xmlns:a16="http://schemas.microsoft.com/office/drawing/2014/main" id="{360C8A47-5B08-4362-BB89-D93CC1BFF0A1}"/>
                </a:ext>
              </a:extLst>
            </p:cNvPr>
            <p:cNvSpPr>
              <a:spLocks noGrp="1"/>
            </p:cNvSpPr>
            <p:nvPr/>
          </p:nvSpPr>
          <p:spPr>
            <a:xfrm>
              <a:off x="8353425" y="2809875"/>
              <a:ext cx="200025" cy="409575"/>
            </a:xfrm>
            <a:custGeom>
              <a:pathLst>
                <a:path w="200025" h="409575">
                  <a:moveTo>
                    <a:pt x="0" y="0"/>
                  </a:moveTo>
                  <a:lnTo>
                    <a:pt x="0" y="238125"/>
                  </a:lnTo>
                  <a:lnTo>
                    <a:pt x="200025" y="238125"/>
                  </a:lnTo>
                  <a:lnTo>
                    <a:pt x="200025" y="40957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5" name="R3-zh-218-polyline-arrow">
              <a:extLst>
                <a:ext uri="{FF2B5EF4-FFF2-40B4-BE49-F238E27FC236}">
                  <a16:creationId xmlns:a16="http://schemas.microsoft.com/office/drawing/2014/main" id="{119FCB01-BC8D-4D75-91D4-F8E05749BAF1}"/>
                </a:ext>
              </a:extLst>
            </p:cNvPr>
            <p:cNvSpPr>
              <a:spLocks noGrp="1"/>
            </p:cNvSpPr>
            <p:nvPr/>
          </p:nvSpPr>
          <p:spPr>
            <a:xfrm>
              <a:off x="8530590" y="317182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36" name="R3-zh-219-polyline">
              <a:extLst>
                <a:ext uri="{FF2B5EF4-FFF2-40B4-BE49-F238E27FC236}">
                  <a16:creationId xmlns:a16="http://schemas.microsoft.com/office/drawing/2014/main" id="{08ACCAEC-317E-404B-A88E-AE8B9A4F53A2}"/>
                </a:ext>
              </a:extLst>
            </p:cNvPr>
            <p:cNvSpPr>
              <a:spLocks noGrp="1"/>
            </p:cNvSpPr>
            <p:nvPr/>
          </p:nvSpPr>
          <p:spPr>
            <a:xfrm>
              <a:off x="8553450" y="2809875"/>
              <a:ext cx="400050" cy="238125"/>
            </a:xfrm>
            <a:custGeom>
              <a:pathLst>
                <a:path w="400050" h="238125">
                  <a:moveTo>
                    <a:pt x="400050" y="0"/>
                  </a:moveTo>
                  <a:lnTo>
                    <a:pt x="400050" y="238125"/>
                  </a:lnTo>
                  <a:lnTo>
                    <a:pt x="0" y="23812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7" name="R3-zh-220-rect">
              <a:extLst>
                <a:ext uri="{FF2B5EF4-FFF2-40B4-BE49-F238E27FC236}">
                  <a16:creationId xmlns:a16="http://schemas.microsoft.com/office/drawing/2014/main" id="{7861F695-65AC-4E17-BFF0-49D98591EFA8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3219450"/>
              <a:ext cx="1419225" cy="533400"/>
            </a:xfrm>
            <a:prstGeom prst="rect">
              <a:avLst/>
            </a:prstGeom>
            <a:solidFill>
              <a:srgbClr val="EDF2F5"/>
            </a:solidFill>
            <a:ln w="11430">
              <a:solidFill>
                <a:srgbClr val="424A50"/>
              </a:solidFill>
            </a:ln>
          </p:spPr>
        </p:sp>
        <p:sp>
          <p:nvSpPr>
            <p:cNvPr id="5238" name="R3-zh-221-text">
              <a:extLst>
                <a:ext uri="{FF2B5EF4-FFF2-40B4-BE49-F238E27FC236}">
                  <a16:creationId xmlns:a16="http://schemas.microsoft.com/office/drawing/2014/main" id="{84281B36-FAEC-4B4E-8F5A-D626C3BA1870}"/>
                </a:ext>
              </a:extLst>
            </p:cNvPr>
            <p:cNvSpPr>
              <a:spLocks noGrp="1"/>
            </p:cNvSpPr>
            <p:nvPr/>
          </p:nvSpPr>
          <p:spPr>
            <a:xfrm>
              <a:off x="7912608" y="3292983"/>
              <a:ext cx="1548384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QKᵀ → softmax → V</a:t>
              </a:r>
            </a:p>
          </p:txBody>
        </p:sp>
        <p:sp>
          <p:nvSpPr>
            <p:cNvPr id="5239" name="R3-zh-222-text">
              <a:extLst>
                <a:ext uri="{FF2B5EF4-FFF2-40B4-BE49-F238E27FC236}">
                  <a16:creationId xmlns:a16="http://schemas.microsoft.com/office/drawing/2014/main" id="{AA97A68E-954A-4893-9DA1-B52F8BACD134}"/>
                </a:ext>
              </a:extLst>
            </p:cNvPr>
            <p:cNvSpPr>
              <a:spLocks noGrp="1"/>
            </p:cNvSpPr>
            <p:nvPr/>
          </p:nvSpPr>
          <p:spPr>
            <a:xfrm>
              <a:off x="8330660" y="3493008"/>
              <a:ext cx="712280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原始128维</a:t>
              </a:r>
            </a:p>
          </p:txBody>
        </p:sp>
        <p:sp>
          <p:nvSpPr>
            <p:cNvPr id="5240" name="R3-zh-223-polyline">
              <a:extLst>
                <a:ext uri="{FF2B5EF4-FFF2-40B4-BE49-F238E27FC236}">
                  <a16:creationId xmlns:a16="http://schemas.microsoft.com/office/drawing/2014/main" id="{7BD23CD0-3534-4C27-B65E-13A304042A65}"/>
                </a:ext>
              </a:extLst>
            </p:cNvPr>
            <p:cNvSpPr>
              <a:spLocks noGrp="1"/>
            </p:cNvSpPr>
            <p:nvPr/>
          </p:nvSpPr>
          <p:spPr>
            <a:xfrm>
              <a:off x="9401175" y="3476625"/>
              <a:ext cx="171450" cy="9525"/>
            </a:xfrm>
            <a:custGeom>
              <a:pathLst>
                <a:path w="171450" h="9525">
                  <a:moveTo>
                    <a:pt x="0" y="0"/>
                  </a:moveTo>
                  <a:lnTo>
                    <a:pt x="171450" y="0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41" name="R3-zh-223-polyline-arrow">
              <a:extLst>
                <a:ext uri="{FF2B5EF4-FFF2-40B4-BE49-F238E27FC236}">
                  <a16:creationId xmlns:a16="http://schemas.microsoft.com/office/drawing/2014/main" id="{4C5D184C-940F-4E59-8D3A-9DC43BDF2223}"/>
                </a:ext>
              </a:extLst>
            </p:cNvPr>
            <p:cNvSpPr>
              <a:spLocks noGrp="1"/>
            </p:cNvSpPr>
            <p:nvPr/>
          </p:nvSpPr>
          <p:spPr>
            <a:xfrm>
              <a:off x="9525000" y="34537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42" name="R3-zh-224-text">
              <a:extLst>
                <a:ext uri="{FF2B5EF4-FFF2-40B4-BE49-F238E27FC236}">
                  <a16:creationId xmlns:a16="http://schemas.microsoft.com/office/drawing/2014/main" id="{A62DE08F-E186-4B27-82D5-4C47D20153F2}"/>
                </a:ext>
              </a:extLst>
            </p:cNvPr>
            <p:cNvSpPr>
              <a:spLocks noGrp="1"/>
            </p:cNvSpPr>
            <p:nvPr/>
          </p:nvSpPr>
          <p:spPr>
            <a:xfrm>
              <a:off x="9382125" y="3711321"/>
              <a:ext cx="209550" cy="2400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低频子空间：16个完整旋转对，共32维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16完整旋转对，两级共用；L2用浮点16级量化–反量化，最终为原维注意力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近远两级筛选：位置、页预算与词元预算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4/128候选充足示例；摘要按完整物理页计算，远区可重复选中至多4个前缀词元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365760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702945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10715625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895350" y="1963293"/>
            <a:ext cx="2743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a  共享 RoPE32</a:t>
            </a:r>
            <a:endParaRPr lang="zh-CN" sz="1800"/>
          </a:p>
        </p:txBody>
      </p:sp>
      <p:sp>
        <p:nvSpPr>
          <p:cNvPr id="26" name="native26"/>
          <p:cNvSpPr/>
          <p:nvPr/>
        </p:nvSpPr>
        <p:spPr>
          <a:xfrm>
            <a:off x="3867150" y="19632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b  L1：区域页筛选</a:t>
            </a:r>
            <a:endParaRPr lang="zh-CN" sz="1800"/>
          </a:p>
        </p:txBody>
      </p:sp>
      <p:sp>
        <p:nvSpPr>
          <p:cNvPr id="27" name="native27"/>
          <p:cNvSpPr/>
          <p:nvPr/>
        </p:nvSpPr>
        <p:spPr>
          <a:xfrm>
            <a:off x="7239000" y="1963293"/>
            <a:ext cx="3886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c  L2：区域 词元 筛选</a:t>
            </a:r>
          </a:p>
        </p:txBody>
      </p:sp>
      <p:sp>
        <p:nvSpPr>
          <p:cNvPr id="28" name="native28"/>
          <p:cNvSpPr/>
          <p:nvPr/>
        </p:nvSpPr>
        <p:spPr>
          <a:xfrm>
            <a:off x="10944225" y="1963293"/>
            <a:ext cx="18288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d  原维注意力</a:t>
            </a:r>
            <a:endParaRPr lang="zh-CN" sz="1800"/>
          </a:p>
        </p:txBody>
      </p:sp>
      <p:sp>
        <p:nvSpPr>
          <p:cNvPr id="29" name="native29"/>
          <p:cNvSpPr/>
          <p:nvPr/>
        </p:nvSpPr>
        <p:spPr>
          <a:xfrm>
            <a:off x="895350" y="23622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895350" y="247269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RoPE 后：4Q / 1 KV 组</a:t>
            </a:r>
            <a:endParaRPr lang="zh-CN" sz="1500"/>
          </a:p>
        </p:txBody>
      </p:sp>
      <p:sp>
        <p:nvSpPr>
          <p:cNvPr id="31" name="native31"/>
          <p:cNvSpPr/>
          <p:nvPr/>
        </p:nvSpPr>
        <p:spPr>
          <a:xfrm>
            <a:off x="923925" y="2928747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75"/>
          </a:p>
        </p:txBody>
      </p:sp>
      <p:sp>
        <p:nvSpPr>
          <p:cNvPr id="32" name="native32"/>
          <p:cNvSpPr/>
          <p:nvPr/>
        </p:nvSpPr>
        <p:spPr>
          <a:xfrm>
            <a:off x="12287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14954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native34"/>
          <p:cNvSpPr/>
          <p:nvPr/>
        </p:nvSpPr>
        <p:spPr>
          <a:xfrm>
            <a:off x="17621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native35"/>
          <p:cNvSpPr/>
          <p:nvPr/>
        </p:nvSpPr>
        <p:spPr>
          <a:xfrm>
            <a:off x="20288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native36"/>
          <p:cNvSpPr/>
          <p:nvPr/>
        </p:nvSpPr>
        <p:spPr>
          <a:xfrm>
            <a:off x="22955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25622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28289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30956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2287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4954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7621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288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955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5622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8289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30956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2287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4954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7621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0288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22955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5622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8289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30956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2287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4954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7621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0288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2955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5622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8289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30956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923925" y="390982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575"/>
          </a:p>
        </p:txBody>
      </p:sp>
      <p:sp>
        <p:nvSpPr>
          <p:cNvPr id="65" name="native65"/>
          <p:cNvSpPr/>
          <p:nvPr/>
        </p:nvSpPr>
        <p:spPr>
          <a:xfrm>
            <a:off x="12287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4954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621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0288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2955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5622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8289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30956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12287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14954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621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0288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2955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622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8289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30956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2287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14954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17621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0288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955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5622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8289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30956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954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7621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20288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2955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5622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8289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0956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12287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4954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7621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288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955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5622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8289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0956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12287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4954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17621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0288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2955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5622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289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0956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2143125" y="2876550"/>
            <a:ext cx="1066800" cy="85725"/>
          </a:xfrm>
          <a:custGeom>
            <a:avLst/>
            <a:gdLst/>
            <a:ahLst/>
            <a:cxnLst/>
            <a:rect l="0" t="0" r="r" b="b"/>
            <a:pathLst>
              <a:path w="1066800" h="85725" fill="none">
                <a:moveTo>
                  <a:pt x="0" y="85725"/>
                </a:moveTo>
                <a:lnTo>
                  <a:pt x="0" y="0"/>
                </a:lnTo>
                <a:lnTo>
                  <a:pt x="1066800" y="0"/>
                </a:lnTo>
                <a:lnTo>
                  <a:pt x="1066800" y="85725"/>
                </a:lnTo>
              </a:path>
            </a:pathLst>
          </a:custGeom>
          <a:noFill/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1266825" y="35916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0…63</a:t>
            </a:r>
            <a:endParaRPr lang="zh-CN" sz="1200"/>
          </a:p>
        </p:txBody>
      </p:sp>
      <p:sp>
        <p:nvSpPr>
          <p:cNvPr id="115" name="native115"/>
          <p:cNvSpPr/>
          <p:nvPr/>
        </p:nvSpPr>
        <p:spPr>
          <a:xfrm>
            <a:off x="2409825" y="3591687"/>
            <a:ext cx="9144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64…127</a:t>
            </a:r>
            <a:endParaRPr lang="zh-CN" sz="1200"/>
          </a:p>
        </p:txBody>
      </p:sp>
      <p:sp>
        <p:nvSpPr>
          <p:cNvPr id="116" name="native116"/>
          <p:cNvSpPr/>
          <p:nvPr/>
        </p:nvSpPr>
        <p:spPr>
          <a:xfrm>
            <a:off x="628650" y="49229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[48…63] ∪ [112…127]</a:t>
            </a:r>
            <a:endParaRPr lang="zh-CN" sz="1350"/>
          </a:p>
        </p:txBody>
      </p:sp>
      <p:sp>
        <p:nvSpPr>
          <p:cNvPr id="117" name="native117"/>
          <p:cNvSpPr/>
          <p:nvPr/>
        </p:nvSpPr>
        <p:spPr>
          <a:xfrm>
            <a:off x="990600" y="5150358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16 对完整 RoPE 坐标</a:t>
            </a:r>
            <a:endParaRPr lang="zh-CN" sz="1425"/>
          </a:p>
        </p:txBody>
      </p:sp>
      <p:sp>
        <p:nvSpPr>
          <p:cNvPr id="118" name="native118"/>
          <p:cNvSpPr/>
          <p:nvPr/>
        </p:nvSpPr>
        <p:spPr>
          <a:xfrm>
            <a:off x="2238375" y="5467350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1000125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4 × 32</a:t>
            </a:r>
            <a:endParaRPr lang="zh-CN" sz="1350"/>
          </a:p>
        </p:txBody>
      </p:sp>
      <p:sp>
        <p:nvSpPr>
          <p:cNvPr id="120" name="native120"/>
          <p:cNvSpPr/>
          <p:nvPr/>
        </p:nvSpPr>
        <p:spPr>
          <a:xfrm>
            <a:off x="2343150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 × 32</a:t>
            </a:r>
            <a:endParaRPr lang="zh-CN" sz="1350"/>
          </a:p>
        </p:txBody>
      </p:sp>
      <p:sp>
        <p:nvSpPr>
          <p:cNvPr id="121" name="native121"/>
          <p:cNvSpPr/>
          <p:nvPr/>
        </p:nvSpPr>
        <p:spPr>
          <a:xfrm>
            <a:off x="11620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13430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15240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17049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11620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13430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5240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17049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11620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13430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15240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17049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11620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3430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15240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17049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25146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26955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28765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0575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25146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26955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28765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0575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25146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26955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28765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0575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25146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26955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28765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0575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251460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269557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287655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305752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251460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269557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287655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305752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1071562" y="6550533"/>
            <a:ext cx="9048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q₁…q₄</a:t>
            </a:r>
            <a:endParaRPr lang="zh-CN" sz="1425"/>
          </a:p>
        </p:txBody>
      </p:sp>
      <p:sp>
        <p:nvSpPr>
          <p:cNvPr id="162" name="native162"/>
          <p:cNvSpPr/>
          <p:nvPr/>
        </p:nvSpPr>
        <p:spPr>
          <a:xfrm>
            <a:off x="2428875" y="67303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Kₛ</a:t>
            </a:r>
            <a:endParaRPr lang="zh-CN" sz="1500"/>
          </a:p>
        </p:txBody>
      </p:sp>
      <p:sp>
        <p:nvSpPr>
          <p:cNvPr id="163" name="native163"/>
          <p:cNvSpPr/>
          <p:nvPr/>
        </p:nvSpPr>
        <p:spPr>
          <a:xfrm>
            <a:off x="3371850" y="2800350"/>
            <a:ext cx="447675" cy="3409950"/>
          </a:xfrm>
          <a:custGeom>
            <a:avLst/>
            <a:gdLst/>
            <a:ahLst/>
            <a:cxnLst/>
            <a:rect l="0" t="0" r="r" b="b"/>
            <a:pathLst>
              <a:path w="447675" h="3409950" fill="none">
                <a:moveTo>
                  <a:pt x="0" y="3409950"/>
                </a:moveTo>
                <a:lnTo>
                  <a:pt x="171450" y="3409950"/>
                </a:lnTo>
                <a:lnTo>
                  <a:pt x="171450" y="0"/>
                </a:lnTo>
                <a:lnTo>
                  <a:pt x="447675" y="0"/>
                </a:lnTo>
              </a:path>
            </a:pathLst>
          </a:custGeom>
          <a:noFill/>
          <a:ln w="15716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3867150" y="2483358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按位置划分未保护中间历史</a:t>
            </a:r>
            <a:endParaRPr lang="zh-CN" sz="1425"/>
          </a:p>
        </p:txBody>
      </p:sp>
      <p:sp>
        <p:nvSpPr>
          <p:cNvPr id="165" name="native165"/>
          <p:cNvSpPr/>
          <p:nvPr/>
        </p:nvSpPr>
        <p:spPr>
          <a:xfrm>
            <a:off x="386715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360045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67" name="native167"/>
          <p:cNvSpPr/>
          <p:nvPr/>
        </p:nvSpPr>
        <p:spPr>
          <a:xfrm>
            <a:off x="4219575" y="2867025"/>
            <a:ext cx="1571625" cy="2667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76762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69" name="native169"/>
          <p:cNvSpPr/>
          <p:nvPr/>
        </p:nvSpPr>
        <p:spPr>
          <a:xfrm>
            <a:off x="5819775" y="2867025"/>
            <a:ext cx="666750" cy="2667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724525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171" name="native171"/>
          <p:cNvSpPr/>
          <p:nvPr/>
        </p:nvSpPr>
        <p:spPr>
          <a:xfrm>
            <a:off x="651510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624840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73" name="native173"/>
          <p:cNvSpPr/>
          <p:nvPr/>
        </p:nvSpPr>
        <p:spPr>
          <a:xfrm>
            <a:off x="4219575" y="3190875"/>
            <a:ext cx="2266950" cy="57150"/>
          </a:xfrm>
          <a:custGeom>
            <a:avLst/>
            <a:gdLst/>
            <a:ahLst/>
            <a:cxnLst/>
            <a:rect l="0" t="0" r="r" b="b"/>
            <a:pathLst>
              <a:path w="2266950" h="57150" fill="none">
                <a:moveTo>
                  <a:pt x="0" y="0"/>
                </a:moveTo>
                <a:lnTo>
                  <a:pt x="0" y="57150"/>
                </a:lnTo>
                <a:lnTo>
                  <a:pt x="2266950" y="57150"/>
                </a:lnTo>
                <a:lnTo>
                  <a:pt x="2266950" y="0"/>
                </a:lnTo>
              </a:path>
            </a:pathLst>
          </a:custGeom>
          <a:noFill/>
          <a:ln w="10478">
            <a:solidFill>
              <a:srgbClr val="52677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3552825" y="3256026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|Mₜ| = S − |Pₜ|</a:t>
            </a:r>
          </a:p>
        </p:txBody>
      </p:sp>
      <p:sp>
        <p:nvSpPr>
          <p:cNvPr id="175" name="native175"/>
          <p:cNvSpPr/>
          <p:nvPr/>
        </p:nvSpPr>
        <p:spPr>
          <a:xfrm>
            <a:off x="3867150" y="35132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α=.25 定边界；页对齐，近区≥64</a:t>
            </a:r>
          </a:p>
        </p:txBody>
      </p:sp>
      <p:sp>
        <p:nvSpPr>
          <p:cNvPr id="176" name="native176"/>
          <p:cNvSpPr/>
          <p:nvPr/>
        </p:nvSpPr>
        <p:spPr>
          <a:xfrm>
            <a:off x="3867150" y="3760851"/>
            <a:ext cx="29146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近区L2∩P=∅；|Pₜ|=132示例</a:t>
            </a:r>
          </a:p>
        </p:txBody>
      </p:sp>
      <p:sp>
        <p:nvSpPr>
          <p:cNvPr id="177" name="native177"/>
          <p:cNvSpPr/>
          <p:nvPr/>
        </p:nvSpPr>
        <p:spPr>
          <a:xfrm>
            <a:off x="3867150" y="4056126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每 Q 页分 → 组内 均值 → TopK</a:t>
            </a:r>
          </a:p>
        </p:txBody>
      </p:sp>
      <p:sp>
        <p:nvSpPr>
          <p:cNvPr id="178" name="native178"/>
          <p:cNvSpPr/>
          <p:nvPr/>
        </p:nvSpPr>
        <p:spPr>
          <a:xfrm>
            <a:off x="3867150" y="43300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· 极值</a:t>
            </a:r>
          </a:p>
        </p:txBody>
      </p:sp>
      <p:sp>
        <p:nvSpPr>
          <p:cNvPr id="179" name="native179"/>
          <p:cNvSpPr/>
          <p:nvPr/>
        </p:nvSpPr>
        <p:spPr>
          <a:xfrm>
            <a:off x="3924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971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4095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219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3971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4095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4219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4495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4543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4667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4791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4543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4667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4791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067300" y="4667250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511492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5238750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536257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511492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5238750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536257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5638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5686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5810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5934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5686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5810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5934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210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6257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6381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6505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6257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6381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6505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4852988" y="5033772"/>
            <a:ext cx="10001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2817B"/>
                </a:solidFill>
                <a:latin typeface="Noto Sans CJK SC"/>
                <a:ea typeface="Noto Sans CJK SC"/>
              </a:rPr>
              <a:t>112 页</a:t>
            </a:r>
            <a:endParaRPr lang="zh-CN" sz="1575"/>
          </a:p>
        </p:txBody>
      </p:sp>
      <p:sp>
        <p:nvSpPr>
          <p:cNvPr id="215" name="native215"/>
          <p:cNvSpPr/>
          <p:nvPr/>
        </p:nvSpPr>
        <p:spPr>
          <a:xfrm>
            <a:off x="3867150" y="536829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· 均值</a:t>
            </a:r>
          </a:p>
        </p:txBody>
      </p:sp>
      <p:sp>
        <p:nvSpPr>
          <p:cNvPr id="216" name="native216"/>
          <p:cNvSpPr/>
          <p:nvPr/>
        </p:nvSpPr>
        <p:spPr>
          <a:xfrm>
            <a:off x="3924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3971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4095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4219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3971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4095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4219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4495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4543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4667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4791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4543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4667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4791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5067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5114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5238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5362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5114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5238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5362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5638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5686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5810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5934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5686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5810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5934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6210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6257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6381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6505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6257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6381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6505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4924425" y="606247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32689F"/>
                </a:solidFill>
                <a:latin typeface="Noto Sans CJK SC"/>
                <a:ea typeface="Noto Sans CJK SC"/>
              </a:rPr>
              <a:t>16 页</a:t>
            </a:r>
            <a:endParaRPr lang="zh-CN" sz="1575"/>
          </a:p>
        </p:txBody>
      </p:sp>
      <p:sp>
        <p:nvSpPr>
          <p:cNvPr id="252" name="native252"/>
          <p:cNvSpPr/>
          <p:nvPr/>
        </p:nvSpPr>
        <p:spPr>
          <a:xfrm>
            <a:off x="6172200" y="5200650"/>
            <a:ext cx="647700" cy="1409700"/>
          </a:xfrm>
          <a:custGeom>
            <a:avLst/>
            <a:gdLst/>
            <a:ahLst/>
            <a:cxnLst/>
            <a:rect l="0" t="0" r="r" b="b"/>
            <a:pathLst>
              <a:path w="647700" h="1409700" fill="none">
                <a:moveTo>
                  <a:pt x="0" y="0"/>
                </a:moveTo>
                <a:lnTo>
                  <a:pt x="647700" y="0"/>
                </a:lnTo>
                <a:lnTo>
                  <a:pt x="647700" y="1409700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6172200" y="6219825"/>
            <a:ext cx="495300" cy="390525"/>
          </a:xfrm>
          <a:custGeom>
            <a:avLst/>
            <a:gdLst/>
            <a:ahLst/>
            <a:cxnLst/>
            <a:rect l="0" t="0" r="r" b="b"/>
            <a:pathLst>
              <a:path w="495300" h="390525" fill="none">
                <a:moveTo>
                  <a:pt x="0" y="0"/>
                </a:moveTo>
                <a:lnTo>
                  <a:pt x="495300" y="0"/>
                </a:lnTo>
                <a:lnTo>
                  <a:pt x="495300" y="390525"/>
                </a:lnTo>
              </a:path>
            </a:pathLst>
          </a:custGeom>
          <a:noFill/>
          <a:ln w="1524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3867150" y="639813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 候选页 掩码</a:t>
            </a:r>
          </a:p>
        </p:txBody>
      </p:sp>
      <p:sp>
        <p:nvSpPr>
          <p:cNvPr id="255" name="native255"/>
          <p:cNvSpPr/>
          <p:nvPr/>
        </p:nvSpPr>
        <p:spPr>
          <a:xfrm>
            <a:off x="386715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403193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419671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436149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452628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469106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485584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5020628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5185410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535019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5514975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567975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584454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600932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617410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6338888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6503670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666845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6867525" y="4505325"/>
            <a:ext cx="342900" cy="2305050"/>
          </a:xfrm>
          <a:custGeom>
            <a:avLst/>
            <a:gdLst/>
            <a:ahLst/>
            <a:cxnLst/>
            <a:rect l="0" t="0" r="r" b="b"/>
            <a:pathLst>
              <a:path w="342900" h="2305050" fill="none">
                <a:moveTo>
                  <a:pt x="0" y="2305050"/>
                </a:moveTo>
                <a:lnTo>
                  <a:pt x="76200" y="2305050"/>
                </a:lnTo>
                <a:lnTo>
                  <a:pt x="76200" y="0"/>
                </a:lnTo>
                <a:lnTo>
                  <a:pt x="342900" y="0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39000" y="2472690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普通 L2：32 维全 S 评分</a:t>
            </a:r>
            <a:endParaRPr lang="zh-CN" sz="1500"/>
          </a:p>
        </p:txBody>
      </p:sp>
      <p:sp>
        <p:nvSpPr>
          <p:cNvPr id="275" name="native275"/>
          <p:cNvSpPr/>
          <p:nvPr/>
        </p:nvSpPr>
        <p:spPr>
          <a:xfrm>
            <a:off x="9667875" y="27153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</a:t>
            </a:r>
            <a:endParaRPr lang="zh-CN" sz="1200"/>
          </a:p>
        </p:txBody>
      </p:sp>
      <p:sp>
        <p:nvSpPr>
          <p:cNvPr id="276" name="native276"/>
          <p:cNvSpPr/>
          <p:nvPr/>
        </p:nvSpPr>
        <p:spPr>
          <a:xfrm>
            <a:off x="7239000" y="297256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200"/>
          </a:p>
        </p:txBody>
      </p:sp>
      <p:sp>
        <p:nvSpPr>
          <p:cNvPr id="277" name="native277"/>
          <p:cNvSpPr/>
          <p:nvPr/>
        </p:nvSpPr>
        <p:spPr>
          <a:xfrm>
            <a:off x="75438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71048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87717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80438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821055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837723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85439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8710612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88773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90439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9210675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93773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954405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971073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8774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1004411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1021080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103774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7239000" y="31916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200"/>
          </a:p>
        </p:txBody>
      </p:sp>
      <p:sp>
        <p:nvSpPr>
          <p:cNvPr id="296" name="native296"/>
          <p:cNvSpPr/>
          <p:nvPr/>
        </p:nvSpPr>
        <p:spPr>
          <a:xfrm>
            <a:off x="754380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7710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78771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804386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821055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83772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543925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871061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88773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9043988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92106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937736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954405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7107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87742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1004411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102108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10377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239000" y="34107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200"/>
          </a:p>
        </p:txBody>
      </p:sp>
      <p:sp>
        <p:nvSpPr>
          <p:cNvPr id="315" name="native315"/>
          <p:cNvSpPr/>
          <p:nvPr/>
        </p:nvSpPr>
        <p:spPr>
          <a:xfrm>
            <a:off x="7543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04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87717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804386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82105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837723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854392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87106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877300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90439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921067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9377362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95440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971073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987742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00441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0210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037748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7239000" y="36297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200"/>
          </a:p>
        </p:txBody>
      </p:sp>
      <p:sp>
        <p:nvSpPr>
          <p:cNvPr id="334" name="native334"/>
          <p:cNvSpPr/>
          <p:nvPr/>
        </p:nvSpPr>
        <p:spPr>
          <a:xfrm>
            <a:off x="75438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771048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787717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80438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821055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837723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85439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8710612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88773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0439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210675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773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54405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71073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8774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004411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1021080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03774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544050" y="3800094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[4, S]</a:t>
            </a:r>
            <a:endParaRPr lang="zh-CN" sz="1275"/>
          </a:p>
        </p:txBody>
      </p:sp>
      <p:sp>
        <p:nvSpPr>
          <p:cNvPr id="353" name="native353"/>
          <p:cNvSpPr/>
          <p:nvPr/>
        </p:nvSpPr>
        <p:spPr>
          <a:xfrm>
            <a:off x="8982075" y="395287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7239000" y="41109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加 L1 掩码</a:t>
            </a:r>
          </a:p>
        </p:txBody>
      </p:sp>
      <p:sp>
        <p:nvSpPr>
          <p:cNvPr id="355" name="native355"/>
          <p:cNvSpPr/>
          <p:nvPr/>
        </p:nvSpPr>
        <p:spPr>
          <a:xfrm>
            <a:off x="754380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77104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787717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788670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0438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0533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2105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37723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5439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5534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710612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77300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886825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90439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210675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3773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3868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5440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71073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72026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8774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8869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10044112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10210800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1037748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1038701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8982075" y="466725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7239000" y="486460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每 Q softmax</a:t>
            </a:r>
            <a:endParaRPr lang="zh-CN" sz="1425"/>
          </a:p>
        </p:txBody>
      </p:sp>
      <p:sp>
        <p:nvSpPr>
          <p:cNvPr id="383" name="native383"/>
          <p:cNvSpPr/>
          <p:nvPr/>
        </p:nvSpPr>
        <p:spPr>
          <a:xfrm>
            <a:off x="8872538" y="4864608"/>
            <a:ext cx="12668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组内 均值</a:t>
            </a:r>
          </a:p>
        </p:txBody>
      </p:sp>
      <p:sp>
        <p:nvSpPr>
          <p:cNvPr id="384" name="native384"/>
          <p:cNvSpPr/>
          <p:nvPr/>
        </p:nvSpPr>
        <p:spPr>
          <a:xfrm>
            <a:off x="739140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755332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7715250" y="51911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7877175" y="51911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8039100" y="51911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8201025" y="51911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36295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2487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739140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755332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7715250" y="53435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7877175" y="53435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039100" y="53435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201025" y="53435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36295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52487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739140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755332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7715250" y="54959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7877175" y="54959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8039100" y="54959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8201025" y="54959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836295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852487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739140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755332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7715250" y="56483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7877175" y="56483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8039100" y="56483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8201025" y="56483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836295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852487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8743950" y="5448300"/>
            <a:ext cx="352425" cy="952"/>
          </a:xfrm>
          <a:custGeom>
            <a:avLst/>
            <a:gdLst/>
            <a:ahLst/>
            <a:cxnLst/>
            <a:rect l="0" t="0" r="r" b="b"/>
            <a:pathLst>
              <a:path w="352425" h="952" fill="none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2392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4011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5631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7250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8869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100488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102108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103727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9839325" y="557212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7239000" y="57397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区域 词元 TopK</a:t>
            </a:r>
          </a:p>
        </p:txBody>
      </p:sp>
      <p:sp>
        <p:nvSpPr>
          <p:cNvPr id="427" name="native427"/>
          <p:cNvSpPr/>
          <p:nvPr/>
        </p:nvSpPr>
        <p:spPr>
          <a:xfrm>
            <a:off x="7239000" y="6019419"/>
            <a:ext cx="51816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= min(892, ⌊γ·16·64⌋) = 640</a:t>
            </a:r>
          </a:p>
        </p:txBody>
      </p:sp>
      <p:sp>
        <p:nvSpPr>
          <p:cNvPr id="428" name="native428"/>
          <p:cNvSpPr/>
          <p:nvPr/>
        </p:nvSpPr>
        <p:spPr>
          <a:xfrm>
            <a:off x="7239000" y="62564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 = 892 − 640 = 252</a:t>
            </a:r>
          </a:p>
        </p:txBody>
      </p:sp>
      <p:sp>
        <p:nvSpPr>
          <p:cNvPr id="429" name="native429"/>
          <p:cNvSpPr/>
          <p:nvPr/>
        </p:nvSpPr>
        <p:spPr>
          <a:xfrm>
            <a:off x="726757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7467600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766762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78676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80676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82677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84677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86677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88677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0678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2678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4678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6678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8679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100679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102679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6757988" y="6757797"/>
            <a:ext cx="42005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区域名义槽位：892</a:t>
            </a:r>
          </a:p>
        </p:txBody>
      </p:sp>
      <p:sp>
        <p:nvSpPr>
          <p:cNvPr id="446" name="native446"/>
          <p:cNvSpPr/>
          <p:nvPr/>
        </p:nvSpPr>
        <p:spPr>
          <a:xfrm>
            <a:off x="10944225" y="2483358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原始 128 维 Q / K / V 保留</a:t>
            </a:r>
            <a:endParaRPr lang="zh-CN" sz="1425"/>
          </a:p>
        </p:txBody>
      </p:sp>
      <p:sp>
        <p:nvSpPr>
          <p:cNvPr id="447" name="native447"/>
          <p:cNvSpPr/>
          <p:nvPr/>
        </p:nvSpPr>
        <p:spPr>
          <a:xfrm>
            <a:off x="112585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K</a:t>
            </a:r>
            <a:endParaRPr lang="zh-CN" sz="1350"/>
          </a:p>
        </p:txBody>
      </p:sp>
      <p:sp>
        <p:nvSpPr>
          <p:cNvPr id="448" name="native448"/>
          <p:cNvSpPr/>
          <p:nvPr/>
        </p:nvSpPr>
        <p:spPr>
          <a:xfrm>
            <a:off x="129730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V</a:t>
            </a:r>
            <a:endParaRPr lang="zh-CN" sz="1350"/>
          </a:p>
        </p:txBody>
      </p:sp>
      <p:sp>
        <p:nvSpPr>
          <p:cNvPr id="449" name="native449"/>
          <p:cNvSpPr/>
          <p:nvPr/>
        </p:nvSpPr>
        <p:spPr>
          <a:xfrm>
            <a:off x="109918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111633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113347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115062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116776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118491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120205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121920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123634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109918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111633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113347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115062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116776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118491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120205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121920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123634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109918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111633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113347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115062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116776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118491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120205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121920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123634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109918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111633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113347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115062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116776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118491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120205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121920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123634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109918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111633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113347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115062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116776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118491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120205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121920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123634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109918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111633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113347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115062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116776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118491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120205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121920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123634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109918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111633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113347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115062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116776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118491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120205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121920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123634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126968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128682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130397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132111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133826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135540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137255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138969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140684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126968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128682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130397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132111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133826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135540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137255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138969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140684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126968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128682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130397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132111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133826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135540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137255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138969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140684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126968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128682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130397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132111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133826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135540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137255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138969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140684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126968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128682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130397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132111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133826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135540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137255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138969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140684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126968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128682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130397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132111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133826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135540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137255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138969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140684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126968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128682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130397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132111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133826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135540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137255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138969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140684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11696700" y="4019550"/>
            <a:ext cx="2590800" cy="1352550"/>
          </a:xfrm>
          <a:custGeom>
            <a:avLst/>
            <a:gdLst/>
            <a:ahLst/>
            <a:cxnLst/>
            <a:rect l="0" t="0" r="r" b="b"/>
            <a:pathLst>
              <a:path w="2590800" h="1352550" fill="none">
                <a:moveTo>
                  <a:pt x="0" y="0"/>
                </a:moveTo>
                <a:lnTo>
                  <a:pt x="0" y="66675"/>
                </a:lnTo>
                <a:lnTo>
                  <a:pt x="2590800" y="66675"/>
                </a:lnTo>
                <a:lnTo>
                  <a:pt x="2590800" y="1352550"/>
                </a:lnTo>
                <a:lnTo>
                  <a:pt x="2333625" y="13525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13401675" y="4019550"/>
            <a:ext cx="952" cy="66675"/>
          </a:xfrm>
          <a:custGeom>
            <a:avLst/>
            <a:gdLst/>
            <a:ahLst/>
            <a:cxnLst/>
            <a:rect l="0" t="0" r="r" b="b"/>
            <a:pathLst>
              <a:path w="952" h="66675" fill="none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11125200" y="4248150"/>
            <a:ext cx="2943225" cy="29527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10782300" y="42550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前缀4 ∪ 近期窗口128</a:t>
            </a:r>
          </a:p>
        </p:txBody>
      </p:sp>
      <p:sp>
        <p:nvSpPr>
          <p:cNvPr id="579" name="native579"/>
          <p:cNvSpPr/>
          <p:nvPr/>
        </p:nvSpPr>
        <p:spPr>
          <a:xfrm>
            <a:off x="12592050" y="4562475"/>
            <a:ext cx="952" cy="142875"/>
          </a:xfrm>
          <a:custGeom>
            <a:avLst/>
            <a:gdLst/>
            <a:ahLst/>
            <a:cxnLst/>
            <a:rect l="0" t="0" r="r" b="b"/>
            <a:pathLst>
              <a:path w="952" h="142875" fill="none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15240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10944225" y="4752975"/>
            <a:ext cx="3257550" cy="438150"/>
          </a:xfrm>
          <a:prstGeom prst="roundRect">
            <a:avLst/>
          </a:prstGeom>
          <a:solidFill>
            <a:srgbClr val="F5F7F9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10772775" y="47384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75"/>
          </a:p>
        </p:txBody>
      </p:sp>
      <p:sp>
        <p:nvSpPr>
          <p:cNvPr id="582" name="native582"/>
          <p:cNvSpPr/>
          <p:nvPr/>
        </p:nvSpPr>
        <p:spPr>
          <a:xfrm>
            <a:off x="10515600" y="4982337"/>
            <a:ext cx="4114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名义1024 = 252 + 640 + 132</a:t>
            </a:r>
          </a:p>
        </p:txBody>
      </p:sp>
      <p:sp>
        <p:nvSpPr>
          <p:cNvPr id="583" name="native583"/>
          <p:cNvSpPr/>
          <p:nvPr/>
        </p:nvSpPr>
        <p:spPr>
          <a:xfrm>
            <a:off x="10487025" y="4962525"/>
            <a:ext cx="419100" cy="1704975"/>
          </a:xfrm>
          <a:custGeom>
            <a:avLst/>
            <a:gdLst/>
            <a:ahLst/>
            <a:cxnLst/>
            <a:rect l="0" t="0" r="r" b="b"/>
            <a:pathLst>
              <a:path w="419100" h="1704975" fill="none">
                <a:moveTo>
                  <a:pt x="0" y="1704975"/>
                </a:moveTo>
                <a:lnTo>
                  <a:pt x="142875" y="1704975"/>
                </a:lnTo>
                <a:lnTo>
                  <a:pt x="142875" y="0"/>
                </a:lnTo>
                <a:lnTo>
                  <a:pt x="419100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4" name="native584"/>
          <p:cNvSpPr/>
          <p:nvPr/>
        </p:nvSpPr>
        <p:spPr>
          <a:xfrm>
            <a:off x="12573000" y="5200650"/>
            <a:ext cx="952" cy="85725"/>
          </a:xfrm>
          <a:custGeom>
            <a:avLst/>
            <a:gdLst/>
            <a:ahLst/>
            <a:cxnLst/>
            <a:rect l="0" t="0" r="r" b="b"/>
            <a:pathLst>
              <a:path w="952" h="85725" fill="none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10763250" y="52837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 Sₕ 读取原始 K / V</a:t>
            </a:r>
          </a:p>
        </p:txBody>
      </p:sp>
      <p:sp>
        <p:nvSpPr>
          <p:cNvPr id="586" name="native586"/>
          <p:cNvSpPr/>
          <p:nvPr/>
        </p:nvSpPr>
        <p:spPr>
          <a:xfrm>
            <a:off x="12573000" y="55816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7" name="native587"/>
          <p:cNvSpPr/>
          <p:nvPr/>
        </p:nvSpPr>
        <p:spPr>
          <a:xfrm>
            <a:off x="10991850" y="57801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350"/>
          </a:p>
        </p:txBody>
      </p:sp>
      <p:sp>
        <p:nvSpPr>
          <p:cNvPr id="588" name="native588"/>
          <p:cNvSpPr/>
          <p:nvPr/>
        </p:nvSpPr>
        <p:spPr>
          <a:xfrm>
            <a:off x="11287125" y="584835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9" name="native589"/>
          <p:cNvSpPr/>
          <p:nvPr/>
        </p:nvSpPr>
        <p:spPr>
          <a:xfrm>
            <a:off x="11572875" y="589597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11858625" y="579120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11472862" y="578129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2" name="native592"/>
          <p:cNvSpPr/>
          <p:nvPr/>
        </p:nvSpPr>
        <p:spPr>
          <a:xfrm>
            <a:off x="13544550" y="589597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3" name="native593"/>
          <p:cNvSpPr/>
          <p:nvPr/>
        </p:nvSpPr>
        <p:spPr>
          <a:xfrm>
            <a:off x="13906500" y="57706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350"/>
          </a:p>
        </p:txBody>
      </p:sp>
      <p:sp>
        <p:nvSpPr>
          <p:cNvPr id="594" name="native594"/>
          <p:cNvSpPr/>
          <p:nvPr/>
        </p:nvSpPr>
        <p:spPr>
          <a:xfrm>
            <a:off x="10991850" y="60754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350"/>
          </a:p>
        </p:txBody>
      </p:sp>
      <p:sp>
        <p:nvSpPr>
          <p:cNvPr id="595" name="native595"/>
          <p:cNvSpPr/>
          <p:nvPr/>
        </p:nvSpPr>
        <p:spPr>
          <a:xfrm>
            <a:off x="11287125" y="614362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1572875" y="619125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1858625" y="608647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native598"/>
          <p:cNvSpPr/>
          <p:nvPr/>
        </p:nvSpPr>
        <p:spPr>
          <a:xfrm>
            <a:off x="11472862" y="607656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9" name="native599"/>
          <p:cNvSpPr/>
          <p:nvPr/>
        </p:nvSpPr>
        <p:spPr>
          <a:xfrm>
            <a:off x="13544550" y="619125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3906500" y="60659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350"/>
          </a:p>
        </p:txBody>
      </p:sp>
      <p:sp>
        <p:nvSpPr>
          <p:cNvPr id="601" name="native601"/>
          <p:cNvSpPr/>
          <p:nvPr/>
        </p:nvSpPr>
        <p:spPr>
          <a:xfrm>
            <a:off x="10991850" y="63707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350"/>
          </a:p>
        </p:txBody>
      </p:sp>
      <p:sp>
        <p:nvSpPr>
          <p:cNvPr id="602" name="native602"/>
          <p:cNvSpPr/>
          <p:nvPr/>
        </p:nvSpPr>
        <p:spPr>
          <a:xfrm>
            <a:off x="11287125" y="643890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1572875" y="648652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1858625" y="638175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1472862" y="637184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06" name="native606"/>
          <p:cNvSpPr/>
          <p:nvPr/>
        </p:nvSpPr>
        <p:spPr>
          <a:xfrm>
            <a:off x="13544550" y="648652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7" name="native607"/>
          <p:cNvSpPr/>
          <p:nvPr/>
        </p:nvSpPr>
        <p:spPr>
          <a:xfrm>
            <a:off x="13906500" y="63611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350"/>
          </a:p>
        </p:txBody>
      </p:sp>
      <p:sp>
        <p:nvSpPr>
          <p:cNvPr id="608" name="native608"/>
          <p:cNvSpPr/>
          <p:nvPr/>
        </p:nvSpPr>
        <p:spPr>
          <a:xfrm>
            <a:off x="10991850" y="66659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350"/>
          </a:p>
        </p:txBody>
      </p:sp>
      <p:sp>
        <p:nvSpPr>
          <p:cNvPr id="609" name="native609"/>
          <p:cNvSpPr/>
          <p:nvPr/>
        </p:nvSpPr>
        <p:spPr>
          <a:xfrm>
            <a:off x="11287125" y="673417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1572875" y="678180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1858625" y="667702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1472862" y="666711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13" name="native613"/>
          <p:cNvSpPr/>
          <p:nvPr/>
        </p:nvSpPr>
        <p:spPr>
          <a:xfrm>
            <a:off x="13544550" y="678180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4" name="native614"/>
          <p:cNvSpPr/>
          <p:nvPr/>
        </p:nvSpPr>
        <p:spPr>
          <a:xfrm>
            <a:off x="13906500" y="66564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350"/>
          </a:p>
        </p:txBody>
      </p:sp>
      <p:sp>
        <p:nvSpPr>
          <p:cNvPr id="615" name="native615"/>
          <p:cNvSpPr/>
          <p:nvPr/>
        </p:nvSpPr>
        <p:spPr>
          <a:xfrm>
            <a:off x="895350" y="70866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6" name="native616"/>
          <p:cNvSpPr/>
          <p:nvPr/>
        </p:nvSpPr>
        <p:spPr>
          <a:xfrm>
            <a:off x="895350" y="7172325"/>
            <a:ext cx="2686050" cy="257175"/>
          </a:xfrm>
          <a:prstGeom prst="round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609600" y="71708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L1 / L2 复用同一 RoPE32</a:t>
            </a:r>
            <a:endParaRPr lang="zh-CN" sz="1350"/>
          </a:p>
        </p:txBody>
      </p:sp>
      <p:sp>
        <p:nvSpPr>
          <p:cNvPr id="618" name="native618"/>
          <p:cNvSpPr/>
          <p:nvPr/>
        </p:nvSpPr>
        <p:spPr>
          <a:xfrm>
            <a:off x="3867150" y="7161276"/>
            <a:ext cx="5657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K₁=128；β=.125 → 近区16 / 远区112 页</a:t>
            </a:r>
          </a:p>
        </p:txBody>
      </p:sp>
      <p:sp>
        <p:nvSpPr>
          <p:cNvPr id="619" name="native619"/>
          <p:cNvSpPr/>
          <p:nvPr/>
        </p:nvSpPr>
        <p:spPr>
          <a:xfrm>
            <a:off x="10944225" y="7123176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4Q共享词元索引，各自计算</a:t>
            </a:r>
          </a:p>
        </p:txBody>
      </p:sp>
      <p:sp>
        <p:nvSpPr>
          <p:cNvPr id="620" name="native620"/>
          <p:cNvSpPr/>
          <p:nvPr/>
        </p:nvSpPr>
        <p:spPr>
          <a:xfrm>
            <a:off x="10944225" y="73613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最终 注意力 权重</a:t>
            </a:r>
          </a:p>
        </p:txBody>
      </p:sp>
      <p:sp>
        <p:nvSpPr>
          <p:cNvPr id="624" name="native62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远区门控：从预填充观测到解码逐层复用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门控默认关闭；标定区域与跳过页边界不同，统计量是代理（补充S5）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547872" y="4626864"/>
            <a:ext cx="950976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>
                <a:solidFill>
                  <a:srgbClr val="7B6598"/>
                </a:solidFill>
                <a:latin typeface="Noto Sans CJK SC"/>
              </a:rPr>
              <a:t>远区注意力</a:t>
            </a:r>
            <a:br/>
            <a:r>
              <a:rPr sz="1000">
                <a:solidFill>
                  <a:srgbClr val="7B6598"/>
                </a:solidFill>
                <a:latin typeface="Noto Sans CJK SC"/>
              </a:rPr>
              <a:t>代理统计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标定区注意力求和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OFF：跳过远区点积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k=0；L2跳过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GQA：组共享选择，各查询头独立计算注意力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分区TopK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Q1：缩小评分宽度能否保留任务质量？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共享子空间臂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关联代码：L2宽128／有效32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固定任务集AVG
逐任务解释差异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Qwen3-8B，固定128输出词元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127个首输出后间隔，逐步同步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α=.125 / β=.375 / 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不同于当前4/128候选；</a:t>
            </a:r>
            <a:br/>
            <a:r>
              <a:t>运行路径未独立核验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32K/64K/128K稀疏／稠密中位数比：</a:t>
            </a:r>
            <a:br/>
            <a:r>
              <a:t>3.38 / 2.46 / 1.78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三档比值减小，但稀疏TPOT仍上升且高于稠密；汇总不能定位因果瓶颈。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区域访问与门控：证据支持到哪里？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左栏共享子空间臂：关联代码128/128保护，L2宽128／有效32；非当前4/128候选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五任务均值；相对名义全维页评分
低0.322分，相对名义全维词元评分
低0.078分；配置未确认匹配，
不能隔离阶段效应。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/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/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/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47.876 / 47.692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965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阈值.05/.10；参考AVG 47.910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AVG变化 −.034 / −.218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各3项下降；Hotpot降1.05/1.26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逐任务仅诊断，AVG为主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配置/配对/成本缺失；不证非劣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 xmlns:a="http://schemas.openxmlformats.org/drawingml/2006/main">
        <p:nvSpPr>
          <p:cNvPr id="2" name="TextBox 1"/>
          <p:cNvSpPr txBox="1"/>
          <p:nvPr/>
        </p:nvSpPr>
        <p:spPr>
          <a:xfrm>
            <a:off x="777240" y="27432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6E9E"/>
                </a:solidFill>
                <a:latin typeface="Noto Sans CJK SC"/>
              </a:defRPr>
            </a:pPr>
            <a:r>
              <a:t>Results &amp; Ablation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3898880" y="818387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93449"/>
                </a:solidFill>
                <a:latin typeface="Noto Sans CJK SC"/>
              </a:defRPr>
            </a:pPr>
            <a:r>
              <a:t>14</a:t>
            </a:r>
          </a:p>
        </p:txBody>
      </p:sp>
      <p:sp xmlns:a="http://schemas.openxmlformats.org/drawingml/2006/main">
        <p:nvSpPr>
          <p:cNvPr id="4" name="TextBox 3"/>
          <p:cNvSpPr txBox="1"/>
          <p:nvPr/>
        </p:nvSpPr>
        <p:spPr>
          <a:xfrm>
            <a:off x="777240" y="841248"/>
            <a:ext cx="1371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93449"/>
                </a:solidFill>
                <a:latin typeface="Noto Sans CJK SC"/>
              </a:defRPr>
            </a:pPr>
            <a:r>
              <a:t>RULER 32K：方法配置与稠密 FullKV 的 AVG</a:t>
            </a:r>
          </a:p>
        </p:txBody>
      </p:sp>
      <p:pic xmlns:a="http://schemas.openxmlformats.org/drawingml/2006/main" xmlns:r="http://schemas.openxmlformats.org/officeDocument/2006/relationships">
        <p:nvPicPr>
          <p:cNvPr id="5" name="Picture 4" descr="ruler32k_avg_compact_z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91640"/>
            <a:ext cx="13716000" cy="4056845"/>
          </a:xfrm>
          <a:prstGeom prst="rect">
            <a:avLst/>
          </a:prstGeom>
        </p:spPr>
      </p:pic>
      <p:sp xmlns:a="http://schemas.openxmlformats.org/drawingml/2006/main">
        <p:nvSpPr>
          <p:cNvPr id="6" name="TextBox 5"/>
          <p:cNvSpPr txBox="1"/>
          <p:nvPr/>
        </p:nvSpPr>
        <p:spPr>
          <a:xfrm>
            <a:off x="868680" y="5897880"/>
            <a:ext cx="13533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193449"/>
                </a:solidFill>
                <a:latin typeface="Noto Sans CJK SC"/>
              </a:defRPr>
            </a:pPr>
            <a:r>
              <a:t>11任务 × 100例／任务／臂；均跨机。8B β=.0625，32B β=.125。</a:t>
            </a:r>
          </a:p>
          <a:p>
            <a:pPr>
              <a:spcAft>
                <a:spcPts val="500"/>
              </a:spcAft>
              <a:defRPr sz="1800" b="0">
                <a:solidFill>
                  <a:srgbClr val="193449"/>
                </a:solidFill>
                <a:latin typeface="Noto Sans CJK SC"/>
              </a:defRPr>
            </a:pPr>
            <a:r>
              <a:t>报告：K=1024、页长64、K₁=128、前缀4／近期128、cmp4；门控与实际评分维数未核。</a:t>
            </a:r>
          </a:p>
          <a:p>
            <a:pPr>
              <a:spcAft>
                <a:spcPts val="500"/>
              </a:spcAft>
              <a:defRPr sz="1800" b="0">
                <a:solidFill>
                  <a:srgbClr val="193449"/>
                </a:solidFill>
                <a:latin typeface="Noto Sans CJK SC"/>
              </a:defRPr>
            </a:pPr>
            <a:r>
              <a:t>不同配置的描述性汇总，不证明非劣、机制归因或匹配质量—完整请求成本收益。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868680" y="7360920"/>
            <a:ext cx="1335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55555"/>
                </a:solidFill>
                <a:latin typeface="Noto Sans CJK SC"/>
              </a:defRPr>
            </a:pPr>
            <a:r>
              <a:t>保留历史负例：128K FullKV 46.43／稀疏23.98（−22.45）；旧128/128保护配置，不验证当前4/128。</a:t>
            </a:r>
          </a:p>
        </p:txBody>
      </p:sp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共享子空间评分未显示一致计时优势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987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相对名义页评分，两轮慢0.0237／快0.0046 ms，汇总仍较高。原始样本缺失、协议差异未解，不能认定等价或定位瓶颈。未与质量配对，未测完整请求成本。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7432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6E9E"/>
                </a:solidFill>
                <a:latin typeface="Noto Sans CJK SC"/>
              </a:defRPr>
            </a:pPr>
            <a:r>
              <a:t>Results &amp; Ablation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898880" y="818387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93449"/>
                </a:solidFill>
                <a:latin typeface="Noto Sans CJK SC"/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371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93449"/>
                </a:solidFill>
                <a:latin typeface="Noto Sans CJK SC"/>
              </a:defRPr>
            </a:pPr>
            <a:r>
              <a:t>逐任务差异解释 AVG，不另设逐项零损门槛</a:t>
            </a:r>
          </a:p>
        </p:txBody>
      </p:sp>
      <p:pic>
        <p:nvPicPr>
          <p:cNvPr id="5" name="Picture 4" descr="ruler32k_comparison_z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417320"/>
            <a:ext cx="10972800" cy="69545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8211312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55555"/>
                </a:solidFill>
                <a:latin typeface="Noto Sans CJK SC"/>
              </a:defRPr>
            </a:pPr>
            <a:r>
              <a:t>两组均跨机；β分别为.0625／.125；门控与实际维数未核。主文与补充保留来源及比较边界。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评分表示、区域访问与执行成本的取舍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保留远区页，不保证留有远区词元配额
当前4/128尚缺匹配质量—成本验证</ns6:t>
            </ns6:r>
          </ns6:p>
          <ns7:p xmlns:ns7="http://schemas.openxmlformats.org/drawingml/2006/main">
            <ns7:pPr>
              <ns7:buNone/>
              <ns7:def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rPr>
              <ns7:t/>
            </ns7:r>
          </ns7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门控默认关闭；历史任务存在损失
预填充统计不保证解码需求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/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