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scientific candidate, not confirmed champion. Low-frequency RoPE32 sharedtwolevel, original128final注意力. Dprime default-off implementation/calibrationexists, matchedgenerationquality andfullcost notaccepted. No newempirical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可选远区门控：已有默认关闭实现，匹配精度与完整成本仍待验证 实现ing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Scientific abstract for presentation. E134quality47.588vs47.910 -0.322 fromauthorarchivedsummaries, notgatequality. DprimeE137default-offcodeandcalibrationnotacceptance. Underlyingtrace/sourceIDs retained onlyinnotesandevidence. Staticbestm均值dual32/refillmainline.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Conceptual selection flow, not performance result. Retain original KV for later queries; protected 词元 are not part of this 中间历史-region candidate sketch. L2 cannot restore unselected L1 中间历史 pages. Actual current ordinary L2 computes full-S logits before 掩码ing.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保护集合独立保留。任务质量、选择器成本与完整请求时间分别评价。示意数量非比例。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Baseline integration/status is not reproduction. AsyncTLS arXiv2604.07815v1 §§4.1–4.2 source verified; official implementation not obtained. Do not combine quality and efficiency from unmatched paths. FullKV comparison missing for the reported representation configurations. Broader low-dimensional/two-stage literature remains in paper/history.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比较条件：相同质量评估协议、词元预算定义、设备及完整计时范围。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Candidate contributions, not novelty certification. AsyncTLS v1 already describes GQA shared two-stage selection and per-查询 softmax then group aggregation. Other dynamic alpha/beta/gamma calculator remains paused. Dprime is now default-off code/calibration, not confirmed generation quality or end-to-end acceleration.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GQA共享、两级TopK与概率均值已有先例。贡献取决于具体差异及匹配验证。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固定源码4056260e155eefd37cdb9ba16b7fa6a098dd95af，sparse_attn/indexer/tli_indexer.py L283–315,L561–571,L620–637,L1206–1221,L1650–1665,L2058–2086。共享选择表示不替代最终全维QKV；D′可选且不作为本页已证收益。</a:t>
            </a:r>
          </a:p>
          <a:p>
            <a:r>
              <a:t>来源：当前Library R53 PPT v46，按2026-10-13用户指定论文结构重组。新候选及E134结果不等于最终验收。 Dprime overlay is a conditional default-off control from 预填充 per-input layer calibration to 远区 branch in 解码, not a validated quality or speed improvement. Base608 native objects retained without movement. Source fixed b787a372 and E137 evidence Libraryv50.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 tli_indexer.py L283–315,L561–571,L620–637；sparse_attn/arguments.py L86–100。坐标说明只适用所述D128 RoPE布局。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/>
            </a:r>
          </a:p>
          <a:p>
            <a:r>
              <a:t>量化 / 反量化后仍为浮点；不表示 packed INT4 或 KV 容量节省。</a:t>
            </a:r>
          </a:p>
          <a:p>
            <a:r>
              <a:t>固定 近均值／远极值：tail / c4 / l2 共用此视图与设置。坐标条按实际 64 + 64 维绘制；K 的行数为示意。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4056260e源码tli_indexer.py L1206–1221,L1650–1665,L2058–2086。近区=16×64×.625=640；中间历史预算768，远区128。alpha不是整个S的四分之一。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 35ad8… / 近均值／远极值：α=.25，β=.125，γ=.625。</a:t>
            </a:r>
          </a:p>
          <a:p>
            <a:r>
              <a:t>¹ 正常长序列、保护不重叠且候选充足；非数量比例。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Fixed code ea0e4aa, tree b787a372. E137 default-off Qwen3 per-input calibration, rows default256 configurable; Llama dynamic registration explicitly rejected at35ad8f76. The current input/layer table is implementation intention; batch/chunk production state coverage remains unvalidated. 预填充30/解码22/intersection13 at eps.05 are saved16-input×36-layer scalar classifications, not independent576samples, not quality nor future-词元 guarantees. At35ad8f76 the constructor rejects dynamic/static combinations; Qwen freezes pending decisions on the first 解码-path call, which may consume question 词元; Llama dynamic registration is rejected. Earlier override behavior is historical. Actual production flags, lifecycle and input-state isolation remain unverified. No future 词元 or answers may enter calibration beyond causal 预填充 state. Current refill priority remains; no new experiment run. Historical E129 mixed policies/implementation, not matched evidence for this gate. Future uncertainty/drift fallback is not claimed implemented.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余量补足</a:t>
            </a:r>
          </a:p>
          <a:p>
            <a:r>
              <a:t>短路条件：best/m均值，α、β&gt;0，有效长度且 远区 非空；Qwen batch=1 解码。动态＋静态 skip 组合及 Llama 动态配置均拒绝。</a:t>
            </a:r>
          </a:p>
          <a:p>
            <a:r>
              <a:t>仍有 prepare / 量化、repeat / float、S 宽缓冲与 softmax 成本。功能默认未启用；图中 OFF 为启用后的层决策。</a:t>
            </a:r>
          </a:p>
          <a:p>
            <a:r>
              <a:t>普通 ON：L2 全 S 评分后再加 L1 掩码；图示配额需候选充足，近区 不足不回补 远区。ε 为标定阈值，不保证质量。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AsyncTLS: https://arxiv.org/pdf/2604.07815v1 §4.1 pp5–6，v1 2026-04-09。L1组sum（固定组大小时与均值排序等价）；L2每Q softmax后组均值；最终full-dimensional QKV。当前实现4056260e静态核查。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每个KV组共享选集，四个查询仍独立计算注意力</a:t>
            </a:r>
          </a:p>
          <a:p>
            <a:r>
              <a:t>Qwen3-8B：32Q / 8KV，每组4Q（B1 解码）。当前普通L2先全S评分；组内选集共享不等于全部kernel共享加载。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E134representationmatrix three authorreportedfive-task均值s, no全维稀疏对照cell. NotFullKVandnomatchedcompletee2eclaim. Gate远区启用/offrefill/offnorefillcontrols remainrequired; refillprimary. Screeningandindependentconfirmationseparate. Thisprotocolslideauthorizesnonewruns.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同输入、保护集合、评分协议与预算定义。质量、TTFT、TPOT及完整请求成本一起验收。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 definitions only. TTFTentrytofirst词元, TPOTfirsttolast/Nlater, requestE2Eentrytocallcompletion. Not assertinggenerationendsatlast词元returnoroverlappedstageadditivity. Gatebuild chargedtoTTFT andlookup/maintenance/refilltoactualphase. No measuredtiming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阶段可能重叠，不能直接相加；cold 与维护峰值不能被稳态 median 隐藏。时间轴仅示意。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固定4056260e，E134质量归档及root独立摘要复算。三组不是同一参数全部穷举结论。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方法设置：低频双32 + 近区/远区；gate为默认关闭扩展。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exp/trace/results/e134_perf_reverdict.json at fixed4056260e; new implementation2c393c5615a66554729ccd00202a45c173582f2f. Locally recomputed midpoint medians of the two archived round summaries: 1.35025/1.35980/1.46335 ms. These arithmetic values are not new measurements or verified sums of stage medians. Historical c400956 values 1.55445/1.69650/1.60020 ms are retained only as archived records, without endorsing a stage-sum interpretation; they are not displayed as current data. Record steps60/warmup40/steady20 conflicts with harness total100/steady60; no raw timing obtained. No end-to-end measured speedup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作者归档、摘要算术复核。无全维稀疏对照，无样本级配对CI；小差值不能判噪声或等价。共享子空间→名义全维词元评分是名义上的L2配置对比；关联源码与模式标签不能证明实际执行为仅改变L2的单因素实验。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newresults. Lowfrequencycandidate dual32original128注意力; E134reportedmacro -0.322 versus名义全维页评分notFullKV. Default-offgateimplementation/calibrationnotvalidatedqualityorcost. Refillprimary, threecontrolsrequired; otherdynamicABGpaused. Exactlimits近区correspondingresultsandappendix.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合成 QKV，B1 / q1 / 64K / 单层；长上下文下质量与完整请求成本仍待匹配验证，结果可能有利或不利。</a:t>
            </a:r>
          </a:p>
          <a:p>
            <a:r>
              <a:t>当前仅为作者归档局部计时。不是完整层或请求E2E，也未与上述质量作业形成共同配置验收。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固定词元预算下：候选访问与选择成本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有用词元所在页一旦被排除，精筛无法恢复；检索本身也有成本。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共享32坐标映射与区域页配额协同选择，
最终在选集上使用原128维 Q / K / V。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证据与范围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历史128/128配置五任务均值47.588；不是当前紧凑4/128候选的匹配质量—成本验证。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稠密参考：距离密度与整箱捕获诊断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1920240"/>
            <a:ext cx="6583680" cy="5404513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7863840" y="2011680"/>
            <a:ext cx="64922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 · 归档128/128保护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密度：MuSiQue样本1 / 层24 / q9996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每有效词元平均注意力权重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四条源序列，128条相关查询／层观测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注意力保留率：远0.6759，近0.9315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各区选中权重和／该区总权重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每观测同一全局整箱选集≤2048中间词元；不是K1024方法选集、最优上界或任务质量。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页到词元的级联稀疏选择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相关工作的级联选择先例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两项核心机制，一个可选扩展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共享坐标映射，不要求共享物理缓冲区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总架构：低频索引与可选远区门控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原维Q/K/V始终保留；图示正常远区启用，OFF只回填L2近端预算</a:t>
            </a:r>
          </a:p>
        </p:txBody>
      </p:sp>
      <p:sp>
        <p:nvSpPr>
          <p:cNvPr id="22" name="native22"/>
          <p:cNvSpPr/>
          <p:nvPr/>
        </p:nvSpPr>
        <p:spPr>
          <a:xfrm>
            <a:off x="1398634" y="1912766"/>
            <a:ext cx="7571535" cy="367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7" b="1">
                <a:solidFill>
                  <a:srgbClr val="A66328"/>
                </a:solidFill>
                <a:latin typeface="Noto Sans CJK SC"/>
                <a:ea typeface="Noto Sans CJK SC"/>
              </a:rPr>
              <a:t>远区控制：预填充标定，在解码入口固定，后续复用</a:t>
            </a:r>
          </a:p>
        </p:txBody>
      </p:sp>
      <p:sp>
        <p:nvSpPr>
          <p:cNvPr id="23" name="native23"/>
          <p:cNvSpPr/>
          <p:nvPr/>
        </p:nvSpPr>
        <p:spPr>
          <a:xfrm>
            <a:off x="1398634" y="2346232"/>
            <a:ext cx="2470897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4310763" y="2346232"/>
            <a:ext cx="2162035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6887555" y="2321220"/>
            <a:ext cx="1764926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1575127" y="2381530"/>
            <a:ext cx="3088621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>
                <a:solidFill>
                  <a:srgbClr val="A66328"/>
                </a:solidFill>
                <a:latin typeface="Noto Sans CJK SC"/>
                <a:ea typeface="Noto Sans CJK SC"/>
              </a:rPr>
              <a:t>预填充：原维 Q/K</a:t>
            </a:r>
          </a:p>
        </p:txBody>
      </p:sp>
      <p:sp>
        <p:nvSpPr>
          <p:cNvPr id="27" name="native27"/>
          <p:cNvSpPr/>
          <p:nvPr/>
        </p:nvSpPr>
        <p:spPr>
          <a:xfrm>
            <a:off x="1575127" y="2737692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193247"/>
                </a:solidFill>
                <a:latin typeface="Noto Sans CJK SC"/>
                <a:ea typeface="Noto Sans CJK SC"/>
              </a:rPr>
              <a:t>默认末≤256个查询</a:t>
            </a:r>
          </a:p>
        </p:txBody>
      </p:sp>
      <p:sp>
        <p:nvSpPr>
          <p:cNvPr id="28" name="native28"/>
          <p:cNvSpPr/>
          <p:nvPr/>
        </p:nvSpPr>
        <p:spPr>
          <a:xfrm>
            <a:off x="4487256" y="2381530"/>
            <a:ext cx="3309237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暂存决策 → 固定状态</a:t>
            </a:r>
          </a:p>
        </p:txBody>
      </p:sp>
      <p:sp>
        <p:nvSpPr>
          <p:cNvPr id="29" name="native29"/>
          <p:cNvSpPr/>
          <p:nvPr/>
        </p:nvSpPr>
        <p:spPr>
          <a:xfrm>
            <a:off x="4487256" y="2737692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193247"/>
                </a:solidFill>
                <a:latin typeface="Noto Sans CJK SC"/>
                <a:ea typeface="Noto Sans CJK SC"/>
              </a:rPr>
              <a:t>当前输入 / 当前层</a:t>
            </a:r>
            <a:endParaRPr lang="zh-CN" sz="1529"/>
          </a:p>
        </p:txBody>
      </p:sp>
      <p:sp>
        <p:nvSpPr>
          <p:cNvPr id="30" name="native30"/>
          <p:cNvSpPr/>
          <p:nvPr/>
        </p:nvSpPr>
        <p:spPr>
          <a:xfrm>
            <a:off x="7090523" y="2416828"/>
            <a:ext cx="1764926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解码开关</a:t>
            </a:r>
          </a:p>
        </p:txBody>
      </p:sp>
      <p:sp>
        <p:nvSpPr>
          <p:cNvPr id="31" name="native31"/>
          <p:cNvSpPr/>
          <p:nvPr/>
        </p:nvSpPr>
        <p:spPr>
          <a:xfrm>
            <a:off x="7128026" y="2723573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 dirty="0">
                <a:solidFill>
                  <a:srgbClr val="193247"/>
                </a:solidFill>
                <a:latin typeface="Noto Sans CJK SC"/>
                <a:ea typeface="Noto Sans CJK SC"/>
              </a:rPr>
              <a:t>ON / OFF</a:t>
            </a:r>
            <a:endParaRPr lang="zh-CN" sz="1598" dirty="0"/>
          </a:p>
        </p:txBody>
      </p:sp>
      <p:sp>
        <p:nvSpPr>
          <p:cNvPr id="32" name="native32"/>
          <p:cNvSpPr/>
          <p:nvPr/>
        </p:nvSpPr>
        <p:spPr>
          <a:xfrm>
            <a:off x="3896005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6499272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5DBAED5D-37DB-849E-1CCF-489658760DCA}"/>
              </a:ext>
            </a:extLst>
          </p:cNvPr>
          <p:cNvGrpSpPr/>
          <p:nvPr/>
        </p:nvGrpSpPr>
        <p:grpSpPr>
          <a:xfrm>
            <a:off x="9181960" y="2116438"/>
            <a:ext cx="5250656" cy="467706"/>
            <a:chOff x="9190785" y="2284459"/>
            <a:chExt cx="5250656" cy="467706"/>
          </a:xfrm>
        </p:grpSpPr>
        <p:sp>
          <p:nvSpPr>
            <p:cNvPr id="34" name="native34"/>
            <p:cNvSpPr/>
            <p:nvPr/>
          </p:nvSpPr>
          <p:spPr>
            <a:xfrm>
              <a:off x="9190785" y="2284459"/>
              <a:ext cx="4632932" cy="467706"/>
            </a:xfrm>
            <a:prstGeom prst="roundRect">
              <a:avLst/>
            </a:prstGeom>
            <a:solidFill>
              <a:srgbClr val="EAF6F3"/>
            </a:solidFill>
            <a:ln w="15884">
              <a:solidFill>
                <a:srgbClr val="12817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native35"/>
            <p:cNvSpPr/>
            <p:nvPr/>
          </p:nvSpPr>
          <p:spPr>
            <a:xfrm>
              <a:off x="9367277" y="2393489"/>
              <a:ext cx="5074164" cy="35298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lang="zh-CN" sz="1737" b="1" dirty="0">
                  <a:solidFill>
                    <a:srgbClr val="12817B"/>
                  </a:solidFill>
                  <a:latin typeface="Noto Sans CJK SC"/>
                  <a:ea typeface="Noto Sans CJK SC"/>
                </a:rPr>
                <a:t>ON：远区 L1 + 远区 L2 正常参与</a:t>
              </a:r>
            </a:p>
          </p:txBody>
        </p:sp>
      </p:grpSp>
      <p:sp>
        <p:nvSpPr>
          <p:cNvPr id="36" name="native36"/>
          <p:cNvSpPr/>
          <p:nvPr/>
        </p:nvSpPr>
        <p:spPr>
          <a:xfrm>
            <a:off x="9168723" y="2816782"/>
            <a:ext cx="4632932" cy="732444"/>
          </a:xfrm>
          <a:prstGeom prst="roundRect">
            <a:avLst/>
          </a:prstGeom>
          <a:solidFill>
            <a:srgbClr val="ECF2F8"/>
          </a:solidFill>
          <a:ln w="15884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9367277" y="2912067"/>
            <a:ext cx="4235824" cy="33886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68" b="1" dirty="0">
                <a:solidFill>
                  <a:srgbClr val="32689F"/>
                </a:solidFill>
                <a:latin typeface="Noto Sans CJK SC"/>
                <a:ea typeface="Noto Sans CJK SC"/>
              </a:rPr>
              <a:t>OFF：跳过两级 远区 点积 / 选取</a:t>
            </a:r>
          </a:p>
        </p:txBody>
      </p:sp>
      <p:sp>
        <p:nvSpPr>
          <p:cNvPr id="38" name="native38"/>
          <p:cNvSpPr/>
          <p:nvPr/>
        </p:nvSpPr>
        <p:spPr>
          <a:xfrm>
            <a:off x="9367277" y="3223047"/>
            <a:ext cx="407698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32689F"/>
                </a:solidFill>
                <a:latin typeface="Noto Sans CJK SC"/>
                <a:ea typeface="Noto Sans CJK SC"/>
              </a:rPr>
              <a:t>仅 L2 剩余预算回填合法 近区 候选</a:t>
            </a:r>
          </a:p>
        </p:txBody>
      </p:sp>
      <p:sp>
        <p:nvSpPr>
          <p:cNvPr id="39" name="native39"/>
          <p:cNvSpPr/>
          <p:nvPr/>
        </p:nvSpPr>
        <p:spPr>
          <a:xfrm>
            <a:off x="8696605" y="2346232"/>
            <a:ext cx="335336" cy="247090"/>
          </a:xfrm>
          <a:custGeom>
            <a:avLst/>
            <a:gdLst/>
            <a:ahLst/>
            <a:cxnLst/>
            <a:rect l="0" t="0" r="r" b="b"/>
            <a:pathLst>
              <a:path w="457200" h="85725" fill="none">
                <a:moveTo>
                  <a:pt x="0" y="85725"/>
                </a:moveTo>
                <a:lnTo>
                  <a:pt x="4572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8696605" y="2955131"/>
            <a:ext cx="423582" cy="211791"/>
          </a:xfrm>
          <a:custGeom>
            <a:avLst/>
            <a:gdLst/>
            <a:ahLst/>
            <a:cxnLst/>
            <a:rect l="0" t="0" r="r" b="b"/>
            <a:pathLst>
              <a:path w="457200" h="228600" fill="none">
                <a:moveTo>
                  <a:pt x="0" y="0"/>
                </a:moveTo>
                <a:lnTo>
                  <a:pt x="457200" y="22860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98634" y="3346592"/>
            <a:ext cx="446526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门控默认不启用 · 固定区域配额路径</a:t>
            </a:r>
          </a:p>
        </p:txBody>
      </p:sp>
      <p:sp>
        <p:nvSpPr>
          <p:cNvPr id="42" name="native42"/>
          <p:cNvSpPr/>
          <p:nvPr/>
        </p:nvSpPr>
        <p:spPr>
          <a:xfrm>
            <a:off x="1398634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原始 Q / K / V</a:t>
            </a:r>
            <a:endParaRPr lang="zh-CN" sz="1876"/>
          </a:p>
        </p:txBody>
      </p:sp>
      <p:sp>
        <p:nvSpPr>
          <p:cNvPr id="43" name="native43"/>
          <p:cNvSpPr/>
          <p:nvPr/>
        </p:nvSpPr>
        <p:spPr>
          <a:xfrm>
            <a:off x="3543020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共享低频32</a:t>
            </a:r>
            <a:endParaRPr lang="zh-CN" sz="1876"/>
          </a:p>
        </p:txBody>
      </p:sp>
      <p:sp>
        <p:nvSpPr>
          <p:cNvPr id="44" name="native44"/>
          <p:cNvSpPr/>
          <p:nvPr/>
        </p:nvSpPr>
        <p:spPr>
          <a:xfrm>
            <a:off x="5607984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L1：页粗筛</a:t>
            </a:r>
            <a:endParaRPr lang="zh-CN" sz="1876"/>
          </a:p>
        </p:txBody>
      </p:sp>
      <p:sp>
        <p:nvSpPr>
          <p:cNvPr id="45" name="native45"/>
          <p:cNvSpPr/>
          <p:nvPr/>
        </p:nvSpPr>
        <p:spPr>
          <a:xfrm>
            <a:off x="8581885" y="3756055"/>
            <a:ext cx="238265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L2：词元精筛</a:t>
            </a:r>
          </a:p>
        </p:txBody>
      </p:sp>
      <p:sp>
        <p:nvSpPr>
          <p:cNvPr id="46" name="native46"/>
          <p:cNvSpPr/>
          <p:nvPr/>
        </p:nvSpPr>
        <p:spPr>
          <a:xfrm>
            <a:off x="11944070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原维 注意力</a:t>
            </a:r>
          </a:p>
        </p:txBody>
      </p:sp>
      <p:sp>
        <p:nvSpPr>
          <p:cNvPr id="47" name="native47"/>
          <p:cNvSpPr/>
          <p:nvPr/>
        </p:nvSpPr>
        <p:spPr>
          <a:xfrm>
            <a:off x="1398634" y="4128807"/>
            <a:ext cx="12416258" cy="882"/>
          </a:xfrm>
          <a:custGeom>
            <a:avLst/>
            <a:gdLst/>
            <a:ahLst/>
            <a:cxnLst/>
            <a:rect l="0" t="0" r="r" b="b"/>
            <a:pathLst>
              <a:path w="13401675" h="952" fill="none">
                <a:moveTo>
                  <a:pt x="0" y="0"/>
                </a:moveTo>
                <a:lnTo>
                  <a:pt x="13401675" y="0"/>
                </a:lnTo>
              </a:path>
            </a:pathLst>
          </a:custGeom>
          <a:noFill/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425108" y="4158458"/>
            <a:ext cx="1358993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同层、同KV组</a:t>
            </a:r>
            <a:endParaRPr lang="zh-CN" sz="1529"/>
          </a:p>
        </p:txBody>
      </p:sp>
      <p:sp>
        <p:nvSpPr>
          <p:cNvPr id="49" name="native49"/>
          <p:cNvSpPr/>
          <p:nvPr/>
        </p:nvSpPr>
        <p:spPr>
          <a:xfrm>
            <a:off x="1425108" y="443096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4Q / 1K / 1V</a:t>
            </a:r>
            <a:endParaRPr lang="zh-CN" sz="1598"/>
          </a:p>
        </p:txBody>
      </p:sp>
      <p:sp>
        <p:nvSpPr>
          <p:cNvPr id="50" name="native50"/>
          <p:cNvSpPr/>
          <p:nvPr/>
        </p:nvSpPr>
        <p:spPr>
          <a:xfrm>
            <a:off x="1425108" y="4766299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98"/>
          </a:p>
        </p:txBody>
      </p:sp>
      <p:sp>
        <p:nvSpPr>
          <p:cNvPr id="51" name="native51"/>
          <p:cNvSpPr/>
          <p:nvPr/>
        </p:nvSpPr>
        <p:spPr>
          <a:xfrm>
            <a:off x="172514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901638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07813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243111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2607609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78410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72514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01638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7813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43111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607609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78410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2514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901638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07813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43111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607609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78410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2514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1901638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07813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43111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07609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8410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425108" y="5534042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K/V</a:t>
            </a:r>
            <a:endParaRPr lang="zh-CN" sz="1598"/>
          </a:p>
        </p:txBody>
      </p:sp>
      <p:sp>
        <p:nvSpPr>
          <p:cNvPr id="92" name="native92"/>
          <p:cNvSpPr/>
          <p:nvPr/>
        </p:nvSpPr>
        <p:spPr>
          <a:xfrm>
            <a:off x="1919287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95780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227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48765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25258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801751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297824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919287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95780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7227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448765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625258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2801751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297824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919287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2095780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27227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448765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625258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01751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297824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1919287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2095780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227227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2448765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2625258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2801751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297824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1919287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2095780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227227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2448765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2625258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2801751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297824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919287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2095780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227227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2448765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2625258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2801751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297824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425108" y="6540050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27E87"/>
                </a:solidFill>
                <a:latin typeface="Noto Sans CJK SC"/>
                <a:ea typeface="Noto Sans CJK SC"/>
              </a:rPr>
              <a:t>始终保留 D=128</a:t>
            </a:r>
            <a:endParaRPr lang="zh-CN" sz="1598"/>
          </a:p>
        </p:txBody>
      </p:sp>
      <p:sp>
        <p:nvSpPr>
          <p:cNvPr id="135" name="native135"/>
          <p:cNvSpPr/>
          <p:nvPr/>
        </p:nvSpPr>
        <p:spPr>
          <a:xfrm>
            <a:off x="3154736" y="5108342"/>
            <a:ext cx="273564" cy="882"/>
          </a:xfrm>
          <a:custGeom>
            <a:avLst/>
            <a:gdLst/>
            <a:ahLst/>
            <a:cxnLst/>
            <a:rect l="0" t="0" r="r" b="b"/>
            <a:pathLst>
              <a:path w="295275" h="952" fill="none">
                <a:moveTo>
                  <a:pt x="0" y="0"/>
                </a:moveTo>
                <a:lnTo>
                  <a:pt x="295275" y="0"/>
                </a:lnTo>
              </a:path>
            </a:pathLst>
          </a:custGeom>
          <a:noFill/>
          <a:ln w="17649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3587143" y="4175048"/>
            <a:ext cx="18266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16完整RoPE对</a:t>
            </a:r>
            <a:endParaRPr lang="zh-CN" sz="1598"/>
          </a:p>
        </p:txBody>
      </p:sp>
      <p:sp>
        <p:nvSpPr>
          <p:cNvPr id="137" name="native137"/>
          <p:cNvSpPr/>
          <p:nvPr/>
        </p:nvSpPr>
        <p:spPr>
          <a:xfrm>
            <a:off x="3587143" y="4486028"/>
            <a:ext cx="1482538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Q各自取对应坐标</a:t>
            </a:r>
            <a:endParaRPr lang="zh-CN" sz="1459"/>
          </a:p>
        </p:txBody>
      </p:sp>
      <p:sp>
        <p:nvSpPr>
          <p:cNvPr id="138" name="native138"/>
          <p:cNvSpPr/>
          <p:nvPr/>
        </p:nvSpPr>
        <p:spPr>
          <a:xfrm>
            <a:off x="3587143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4 × 32</a:t>
            </a:r>
            <a:endParaRPr lang="zh-CN" sz="1598"/>
          </a:p>
        </p:txBody>
      </p:sp>
      <p:sp>
        <p:nvSpPr>
          <p:cNvPr id="139" name="native139"/>
          <p:cNvSpPr/>
          <p:nvPr/>
        </p:nvSpPr>
        <p:spPr>
          <a:xfrm>
            <a:off x="366656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86070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05484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248990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366656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86070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05484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248990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366656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86070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05484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248990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366656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86070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05484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248990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487256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S × 32</a:t>
            </a:r>
            <a:endParaRPr lang="zh-CN" sz="1598"/>
          </a:p>
        </p:txBody>
      </p:sp>
      <p:sp>
        <p:nvSpPr>
          <p:cNvPr id="156" name="native156"/>
          <p:cNvSpPr/>
          <p:nvPr/>
        </p:nvSpPr>
        <p:spPr>
          <a:xfrm>
            <a:off x="4540203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73434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2848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512262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4540203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473434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492848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2262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4540203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473434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492848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2262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40203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473434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492848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12262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4540203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4734345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4928487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122629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4540203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4734345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4928487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122629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587143" y="610764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L1 / L2 共用视图</a:t>
            </a:r>
            <a:endParaRPr lang="zh-CN" sz="1598"/>
          </a:p>
        </p:txBody>
      </p:sp>
      <p:sp>
        <p:nvSpPr>
          <p:cNvPr id="183" name="native183"/>
          <p:cNvSpPr/>
          <p:nvPr/>
        </p:nvSpPr>
        <p:spPr>
          <a:xfrm>
            <a:off x="5643282" y="4290828"/>
            <a:ext cx="291212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中间区分 远区 / 近区</a:t>
            </a:r>
          </a:p>
        </p:txBody>
      </p:sp>
      <p:sp>
        <p:nvSpPr>
          <p:cNvPr id="185" name="native185"/>
          <p:cNvSpPr/>
          <p:nvPr/>
        </p:nvSpPr>
        <p:spPr>
          <a:xfrm>
            <a:off x="6675764" y="5487801"/>
            <a:ext cx="1941419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 dirty="0">
                <a:solidFill>
                  <a:srgbClr val="A66328"/>
                </a:solidFill>
                <a:latin typeface="Noto Sans CJK SC"/>
                <a:ea typeface="Noto Sans CJK SC"/>
              </a:rPr>
              <a:t/>
            </a:r>
          </a:p>
        </p:txBody>
      </p:sp>
      <p:sp>
        <p:nvSpPr>
          <p:cNvPr id="186" name="native186"/>
          <p:cNvSpPr/>
          <p:nvPr/>
        </p:nvSpPr>
        <p:spPr>
          <a:xfrm>
            <a:off x="5643282" y="4722176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远区：极值</a:t>
            </a:r>
          </a:p>
        </p:txBody>
      </p:sp>
      <p:sp>
        <p:nvSpPr>
          <p:cNvPr id="187" name="native187"/>
          <p:cNvSpPr/>
          <p:nvPr/>
        </p:nvSpPr>
        <p:spPr>
          <a:xfrm>
            <a:off x="5660932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5705055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5802126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589919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5705055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5802126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89919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6163936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620805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305130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402201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20805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305130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402201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666940" y="5081868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6711063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6808134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6905205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6711063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6808134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905205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169944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21406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11138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0820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21406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311138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40820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5643282" y="5463445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12817B"/>
                </a:solidFill>
                <a:latin typeface="Noto Sans CJK SC"/>
                <a:ea typeface="Noto Sans CJK SC"/>
              </a:rPr>
              <a:t>TopK 112 页</a:t>
            </a:r>
            <a:endParaRPr lang="zh-CN" sz="1598"/>
          </a:p>
        </p:txBody>
      </p:sp>
      <p:sp>
        <p:nvSpPr>
          <p:cNvPr id="216" name="native216"/>
          <p:cNvSpPr/>
          <p:nvPr/>
        </p:nvSpPr>
        <p:spPr>
          <a:xfrm>
            <a:off x="5643282" y="5869378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近区：均值</a:t>
            </a:r>
          </a:p>
        </p:txBody>
      </p:sp>
      <p:sp>
        <p:nvSpPr>
          <p:cNvPr id="217" name="native217"/>
          <p:cNvSpPr/>
          <p:nvPr/>
        </p:nvSpPr>
        <p:spPr>
          <a:xfrm>
            <a:off x="5660932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570505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5802126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5899197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570505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5802126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5899197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6163936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620805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6305130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6402201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620805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305130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402201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666940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711063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808134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0520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6711063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6808134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690520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9944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14067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311138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40820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214067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11138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0820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5643282" y="6620531"/>
            <a:ext cx="2717987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32689F"/>
                </a:solidFill>
                <a:latin typeface="Noto Sans CJK SC"/>
                <a:ea typeface="Noto Sans CJK SC"/>
              </a:rPr>
              <a:t>TopK 16 页（不扩张）</a:t>
            </a:r>
            <a:endParaRPr lang="zh-CN" sz="1529"/>
          </a:p>
        </p:txBody>
      </p:sp>
      <p:sp>
        <p:nvSpPr>
          <p:cNvPr id="246" name="native246"/>
          <p:cNvSpPr/>
          <p:nvPr/>
        </p:nvSpPr>
        <p:spPr>
          <a:xfrm>
            <a:off x="5643282" y="6920568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逐Q评分 → 组均值</a:t>
            </a:r>
            <a:endParaRPr lang="zh-CN" sz="1529"/>
          </a:p>
        </p:txBody>
      </p:sp>
      <p:sp>
        <p:nvSpPr>
          <p:cNvPr id="247" name="native247"/>
          <p:cNvSpPr/>
          <p:nvPr/>
        </p:nvSpPr>
        <p:spPr>
          <a:xfrm>
            <a:off x="8096530" y="4914200"/>
            <a:ext cx="441232" cy="476530"/>
          </a:xfrm>
          <a:custGeom>
            <a:avLst/>
            <a:gdLst/>
            <a:ahLst/>
            <a:cxnLst/>
            <a:rect l="0" t="0" r="r" b="b"/>
            <a:pathLst>
              <a:path w="476250" h="514350" fill="none">
                <a:moveTo>
                  <a:pt x="0" y="514350"/>
                </a:moveTo>
                <a:lnTo>
                  <a:pt x="314325" y="514350"/>
                </a:lnTo>
                <a:lnTo>
                  <a:pt x="3143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8096530" y="5161289"/>
            <a:ext cx="441232" cy="1376643"/>
          </a:xfrm>
          <a:custGeom>
            <a:avLst/>
            <a:gdLst/>
            <a:ahLst/>
            <a:cxnLst/>
            <a:rect l="0" t="0" r="r" b="b"/>
            <a:pathLst>
              <a:path w="476250" h="1485900" fill="none">
                <a:moveTo>
                  <a:pt x="0" y="1485900"/>
                </a:moveTo>
                <a:lnTo>
                  <a:pt x="200025" y="1485900"/>
                </a:lnTo>
                <a:lnTo>
                  <a:pt x="2000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8608359" y="4280944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ON：全 S 低维评分</a:t>
            </a:r>
            <a:endParaRPr lang="zh-CN" sz="1598"/>
          </a:p>
        </p:txBody>
      </p:sp>
      <p:sp>
        <p:nvSpPr>
          <p:cNvPr id="250" name="native250"/>
          <p:cNvSpPr/>
          <p:nvPr/>
        </p:nvSpPr>
        <p:spPr>
          <a:xfrm>
            <a:off x="8608359" y="4654755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390"/>
          </a:p>
        </p:txBody>
      </p:sp>
      <p:sp>
        <p:nvSpPr>
          <p:cNvPr id="251" name="native251"/>
          <p:cNvSpPr/>
          <p:nvPr/>
        </p:nvSpPr>
        <p:spPr>
          <a:xfrm>
            <a:off x="8908396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9111363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93143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95172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97202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99232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01261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03291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10532129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10735095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0938062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1141028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8608359" y="4840073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390"/>
          </a:p>
        </p:txBody>
      </p:sp>
      <p:sp>
        <p:nvSpPr>
          <p:cNvPr id="264" name="native264"/>
          <p:cNvSpPr/>
          <p:nvPr/>
        </p:nvSpPr>
        <p:spPr>
          <a:xfrm>
            <a:off x="8908396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9111363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93143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95172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97202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99232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101261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103291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10532129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0735095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10938062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11141028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8608359" y="5025390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390"/>
          </a:p>
        </p:txBody>
      </p:sp>
      <p:sp>
        <p:nvSpPr>
          <p:cNvPr id="277" name="native277"/>
          <p:cNvSpPr/>
          <p:nvPr/>
        </p:nvSpPr>
        <p:spPr>
          <a:xfrm>
            <a:off x="8908396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9111363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93143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95172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97202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99232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101261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103291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10532129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10735095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10938062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11141028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8608359" y="5210707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390"/>
          </a:p>
        </p:txBody>
      </p:sp>
      <p:sp>
        <p:nvSpPr>
          <p:cNvPr id="290" name="native290"/>
          <p:cNvSpPr/>
          <p:nvPr/>
        </p:nvSpPr>
        <p:spPr>
          <a:xfrm>
            <a:off x="8908396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111363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93143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95172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97202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99232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101261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103291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10532129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10735095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10938062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11141028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608359" y="5473328"/>
            <a:ext cx="3882838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L1 掩码 → 逐Q softmax</a:t>
            </a:r>
          </a:p>
        </p:txBody>
      </p:sp>
      <p:sp>
        <p:nvSpPr>
          <p:cNvPr id="303" name="native303"/>
          <p:cNvSpPr/>
          <p:nvPr/>
        </p:nvSpPr>
        <p:spPr>
          <a:xfrm>
            <a:off x="8608359" y="5773366"/>
            <a:ext cx="155313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→ GQA组均值</a:t>
            </a:r>
            <a:endParaRPr lang="zh-CN" sz="1529"/>
          </a:p>
        </p:txBody>
      </p:sp>
      <p:sp>
        <p:nvSpPr>
          <p:cNvPr id="306" name="native306"/>
          <p:cNvSpPr/>
          <p:nvPr/>
        </p:nvSpPr>
        <p:spPr>
          <a:xfrm>
            <a:off x="8608359" y="6178240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远区名义配额：252</a:t>
            </a:r>
          </a:p>
        </p:txBody>
      </p:sp>
      <p:sp>
        <p:nvSpPr>
          <p:cNvPr id="307" name="native307"/>
          <p:cNvSpPr/>
          <p:nvPr/>
        </p:nvSpPr>
        <p:spPr>
          <a:xfrm>
            <a:off x="8608359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8828975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049590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270206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8608359" y="6884211"/>
            <a:ext cx="26385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 TopK：640</a:t>
            </a:r>
          </a:p>
        </p:txBody>
      </p:sp>
      <p:sp>
        <p:nvSpPr>
          <p:cNvPr id="312" name="native312"/>
          <p:cNvSpPr/>
          <p:nvPr/>
        </p:nvSpPr>
        <p:spPr>
          <a:xfrm>
            <a:off x="860835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8828975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9049590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9270206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9490822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9711438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9932054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1015266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10200000" y="7111533"/>
            <a:ext cx="1900000" cy="343279"/>
          </a:xfrm>
          <a:prstGeom prst="roundRect">
            <a:avLst/>
          </a:prstGeom>
          <a:solidFill>
            <a:srgbClr val="EEF4FA"/>
          </a:solidFill>
          <a:ln w="1147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10223267" y="7164128"/>
            <a:ext cx="1800225" cy="2400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仅L2：近区≤892</a:t>
            </a:r>
          </a:p>
        </p:txBody>
      </p:sp>
      <p:sp>
        <p:nvSpPr>
          <p:cNvPr id="322" name="native322"/>
          <p:cNvSpPr/>
          <p:nvPr/>
        </p:nvSpPr>
        <p:spPr>
          <a:xfrm>
            <a:off x="10364461" y="7288026"/>
            <a:ext cx="70597" cy="882"/>
          </a:xfrm>
          <a:custGeom>
            <a:avLst/>
            <a:gdLst/>
            <a:ahLst/>
            <a:cxnLst/>
            <a:rect l="0" t="0" r="r" b="b"/>
            <a:pathLst>
              <a:path w="76200" h="952" fill="none">
                <a:moveTo>
                  <a:pt x="76200" y="0"/>
                </a:moveTo>
                <a:lnTo>
                  <a:pt x="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11467540" y="6687951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11944070" y="4202581"/>
            <a:ext cx="349455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29"/>
          </a:p>
        </p:txBody>
      </p:sp>
      <p:sp>
        <p:nvSpPr>
          <p:cNvPr id="325" name="native325"/>
          <p:cNvSpPr/>
          <p:nvPr/>
        </p:nvSpPr>
        <p:spPr>
          <a:xfrm>
            <a:off x="11944070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12164686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12385301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12605917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12826533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3047149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3267765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3488381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11944070" y="4907493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按词元索引读取原始KV</a:t>
            </a:r>
          </a:p>
        </p:txBody>
      </p:sp>
      <p:sp>
        <p:nvSpPr>
          <p:cNvPr id="334" name="native334"/>
          <p:cNvSpPr/>
          <p:nvPr/>
        </p:nvSpPr>
        <p:spPr>
          <a:xfrm>
            <a:off x="11944070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529"/>
          </a:p>
        </p:txBody>
      </p:sp>
      <p:sp>
        <p:nvSpPr>
          <p:cNvPr id="335" name="native335"/>
          <p:cNvSpPr/>
          <p:nvPr/>
        </p:nvSpPr>
        <p:spPr>
          <a:xfrm>
            <a:off x="12252932" y="5567222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12508846" y="5461327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12503804" y="5447913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38" name="native338"/>
          <p:cNvSpPr/>
          <p:nvPr/>
        </p:nvSpPr>
        <p:spPr>
          <a:xfrm>
            <a:off x="13391310" y="5567222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13576627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529"/>
          </a:p>
        </p:txBody>
      </p:sp>
      <p:sp>
        <p:nvSpPr>
          <p:cNvPr id="340" name="native340"/>
          <p:cNvSpPr/>
          <p:nvPr/>
        </p:nvSpPr>
        <p:spPr>
          <a:xfrm>
            <a:off x="11944070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529"/>
          </a:p>
        </p:txBody>
      </p:sp>
      <p:sp>
        <p:nvSpPr>
          <p:cNvPr id="341" name="native341"/>
          <p:cNvSpPr/>
          <p:nvPr/>
        </p:nvSpPr>
        <p:spPr>
          <a:xfrm>
            <a:off x="12252932" y="5990805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12508846" y="5884909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12503804" y="5871496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44" name="native344"/>
          <p:cNvSpPr/>
          <p:nvPr/>
        </p:nvSpPr>
        <p:spPr>
          <a:xfrm>
            <a:off x="13391310" y="5990805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13576627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529"/>
          </a:p>
        </p:txBody>
      </p:sp>
      <p:sp>
        <p:nvSpPr>
          <p:cNvPr id="346" name="native346"/>
          <p:cNvSpPr/>
          <p:nvPr/>
        </p:nvSpPr>
        <p:spPr>
          <a:xfrm>
            <a:off x="11944070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529"/>
          </a:p>
        </p:txBody>
      </p:sp>
      <p:sp>
        <p:nvSpPr>
          <p:cNvPr id="347" name="native347"/>
          <p:cNvSpPr/>
          <p:nvPr/>
        </p:nvSpPr>
        <p:spPr>
          <a:xfrm>
            <a:off x="12252932" y="6414387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12508846" y="6308492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2503804" y="6295078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0" name="native350"/>
          <p:cNvSpPr/>
          <p:nvPr/>
        </p:nvSpPr>
        <p:spPr>
          <a:xfrm>
            <a:off x="13391310" y="6414387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3576627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529"/>
          </a:p>
        </p:txBody>
      </p:sp>
      <p:sp>
        <p:nvSpPr>
          <p:cNvPr id="352" name="native352"/>
          <p:cNvSpPr/>
          <p:nvPr/>
        </p:nvSpPr>
        <p:spPr>
          <a:xfrm>
            <a:off x="11944070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529"/>
          </a:p>
        </p:txBody>
      </p:sp>
      <p:sp>
        <p:nvSpPr>
          <p:cNvPr id="353" name="native353"/>
          <p:cNvSpPr/>
          <p:nvPr/>
        </p:nvSpPr>
        <p:spPr>
          <a:xfrm>
            <a:off x="12252932" y="6837969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12508846" y="6732074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12503804" y="6718660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6" name="native356"/>
          <p:cNvSpPr/>
          <p:nvPr/>
        </p:nvSpPr>
        <p:spPr>
          <a:xfrm>
            <a:off x="13391310" y="6837969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13576627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529"/>
          </a:p>
        </p:txBody>
      </p:sp>
      <p:sp>
        <p:nvSpPr>
          <p:cNvPr id="358" name="native358"/>
          <p:cNvSpPr/>
          <p:nvPr/>
        </p:nvSpPr>
        <p:spPr>
          <a:xfrm>
            <a:off x="11469057" y="7674236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526777"/>
                </a:solidFill>
                <a:latin typeface="Noto Sans CJK SC"/>
                <a:ea typeface="Noto Sans CJK SC"/>
              </a:rPr>
              <a:t>每Q独立注意力</a:t>
            </a:r>
          </a:p>
        </p:txBody>
      </p:sp>
      <p:sp>
        <p:nvSpPr>
          <p:cNvPr id="359" name="native359"/>
          <p:cNvSpPr/>
          <p:nvPr/>
        </p:nvSpPr>
        <p:spPr>
          <a:xfrm>
            <a:off x="1928112" y="6837969"/>
            <a:ext cx="10889596" cy="785392"/>
          </a:xfrm>
          <a:custGeom>
            <a:avLst/>
            <a:gdLst/>
            <a:ahLst/>
            <a:cxnLst/>
            <a:rect l="0" t="0" r="r" b="b"/>
            <a:pathLst>
              <a:path w="11753850" h="847725" fill="none">
                <a:moveTo>
                  <a:pt x="0" y="0"/>
                </a:moveTo>
                <a:lnTo>
                  <a:pt x="0" y="847725"/>
                </a:lnTo>
                <a:lnTo>
                  <a:pt x="11753850" y="847725"/>
                </a:lnTo>
                <a:lnTo>
                  <a:pt x="11753850" y="333375"/>
                </a:lnTo>
              </a:path>
            </a:pathLst>
          </a:custGeom>
          <a:noFill/>
          <a:ln w="20297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4972610" y="7608889"/>
            <a:ext cx="8736386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727E87"/>
                </a:solidFill>
                <a:latin typeface="Noto Sans CJK SC"/>
                <a:ea typeface="Noto Sans CJK SC"/>
              </a:rPr>
              <a:t>原128维 Q / K / V 旁路；前缀4与近期窗口128始终保留</a:t>
            </a:r>
          </a:p>
        </p:txBody>
      </p:sp>
      <p:sp>
        <p:nvSpPr>
          <p:cNvPr id="361" name="native361"/>
          <p:cNvSpPr/>
          <p:nvPr/>
        </p:nvSpPr>
        <p:spPr>
          <a:xfrm>
            <a:off x="7514105" y="3219870"/>
            <a:ext cx="273563" cy="1535839"/>
          </a:xfrm>
          <a:custGeom>
            <a:avLst/>
            <a:gdLst/>
            <a:ahLst/>
            <a:cxnLst/>
            <a:rect l="0" t="0" r="r" b="b"/>
            <a:pathLst>
              <a:path w="180975" h="1533525" fill="none">
                <a:moveTo>
                  <a:pt x="180975" y="0"/>
                </a:moveTo>
                <a:lnTo>
                  <a:pt x="180975" y="609600"/>
                </a:lnTo>
                <a:lnTo>
                  <a:pt x="0" y="609600"/>
                </a:lnTo>
                <a:lnTo>
                  <a:pt x="0" y="1533525"/>
                </a:lnTo>
              </a:path>
            </a:pathLst>
          </a:custGeom>
          <a:noFill/>
          <a:ln w="18532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11839699" y="3250933"/>
            <a:ext cx="2142861" cy="4076142"/>
          </a:xfrm>
          <a:custGeom>
            <a:avLst/>
            <a:gdLst/>
            <a:ahLst/>
            <a:cxnLst/>
            <a:rect l="0" t="0" r="r" b="b"/>
            <a:pathLst>
              <a:path w="3000375" h="4200525" fill="none">
                <a:moveTo>
                  <a:pt x="2857500" y="0"/>
                </a:moveTo>
                <a:lnTo>
                  <a:pt x="3000375" y="0"/>
                </a:lnTo>
                <a:lnTo>
                  <a:pt x="3000375" y="4200525"/>
                </a:lnTo>
                <a:lnTo>
                  <a:pt x="0" y="4200525"/>
                </a:lnTo>
                <a:lnTo>
                  <a:pt x="0" y="4162425"/>
                </a:lnTo>
              </a:path>
            </a:pathLst>
          </a:custGeom>
          <a:noFill/>
          <a:ln w="18532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6" name="native25">
            <a:extLst>
              <a:ext uri="{FF2B5EF4-FFF2-40B4-BE49-F238E27FC236}">
                <a16:creationId xmlns:a16="http://schemas.microsoft.com/office/drawing/2014/main" id="{4173D861-D281-DAD9-CE01-6CD498370A85}"/>
              </a:ext>
            </a:extLst>
          </p:cNvPr>
          <p:cNvSpPr/>
          <p:nvPr/>
        </p:nvSpPr>
        <p:spPr>
          <a:xfrm>
            <a:off x="8419605" y="6127668"/>
            <a:ext cx="2220685" cy="782007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native25">
            <a:extLst>
              <a:ext uri="{FF2B5EF4-FFF2-40B4-BE49-F238E27FC236}">
                <a16:creationId xmlns:a16="http://schemas.microsoft.com/office/drawing/2014/main" id="{30CF3A24-37EB-0852-AF67-8B4EDDEF07A0}"/>
              </a:ext>
            </a:extLst>
          </p:cNvPr>
          <p:cNvSpPr/>
          <p:nvPr/>
        </p:nvSpPr>
        <p:spPr>
          <a:xfrm>
            <a:off x="5474525" y="4699937"/>
            <a:ext cx="2635500" cy="1052073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native25">
            <a:extLst>
              <a:ext uri="{FF2B5EF4-FFF2-40B4-BE49-F238E27FC236}">
                <a16:creationId xmlns:a16="http://schemas.microsoft.com/office/drawing/2014/main" id="{16FFEE5C-DC20-5EEC-D183-349375E30F5C}"/>
              </a:ext>
            </a:extLst>
          </p:cNvPr>
          <p:cNvSpPr/>
          <p:nvPr/>
        </p:nvSpPr>
        <p:spPr>
          <a:xfrm>
            <a:off x="9031941" y="4632458"/>
            <a:ext cx="1489597" cy="806441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16完整旋转对，两级共用；浮点16级量化–反量化，原128维注意力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候选充足的4/128示例；远区可重复选中至多4个前缀词元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门控默认不启用；固定区域配额、有效历史长度路径；质量与成本尚未验证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权重总和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远区注意力权重求和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Q1：现有得分能否验证紧凑评分？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归档评分实现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L2张量宽128／有效32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文档配对质量评估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32K/64K/128K报告中位数之比（稀疏／稠密）：3.38 / 2.46 / 1.78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归档128/128保护：L2宽128、有效32；不代表当前4/128候选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五任务均值；较名义全维页评分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>低0.322分。名义全维词元评分</ns2:t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>高0.078分；配置未确认匹配，</ns3:t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>不能隔离阶段效应。</ns4:t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3 / 5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阈值0.05/0.10各3项下降。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HotpotQA降1.05/1.26分，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评分配置不完整，限于此对照。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B37312D-41D6-4127-8CF9-244F54BE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34" name="native34">
            <a:extLst xmlns:a="http://schemas.openxmlformats.org/drawingml/2006/main">
              <a:ext uri="{FF2B5EF4-FFF2-40B4-BE49-F238E27FC236}">
                <a16:creationId xmlns:a16="http://schemas.microsoft.com/office/drawing/2014/main" id="{E60A07FB-ED8F-4642-97C6-9135FFF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C9724A-2DF0-40AB-87AA-8C56B1A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r>
              <a:t>保留历史128K质量负结果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2103120"/>
            <a:ext cx="7315200" cy="4466539"/>
          </a:xfrm>
          <a:prstGeom prst="rect">
            <a:avLst/>
          </a:prstGeom>
        </p:spPr>
      </p:pic>
      <p:sp xmlns:a="http://schemas.openxmlformats.org/drawingml/2006/main">
        <p:nvSpPr>
          <p:cNvPr id="37" name="TextBox 36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历史128K得分：46.43 / 23.98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11任务；每任务每臂100例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报告 β=.375，K1=128，保护128/128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中间预算768；页长64，γ=.625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按已检公式：名义远区词元配额=0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代码／配置推论；实际执行未核验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不能据此认定得分差的唯一原因；不验证当前4/128候选。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评分降维未降低该设置下的局部耗时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采样协议存在未核实差异，小幅时延差值不足以定位瓶颈。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Results &amp; Ablation · Module Evidence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620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150" b="1" dirty="0">
                <a:solidFill>
                  <a:srgbClr val="193247"/>
                </a:solidFill>
                <a:latin typeface="Noto Sans CJK SC"/>
                <a:ea typeface="Noto Sans CJK SC"/>
              </a:rPr>
              <a:t>历史128/128保护：检索与词元预算的联合变化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495425"/>
            <a:ext cx="13716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预算256与1024的联合变化，未隔离分区贡献</a:t>
            </a:r>
          </a:p>
        </p:txBody>
      </p:sp>
      <p:sp>
        <p:nvSpPr>
          <p:cNvPr id="10" name="native10"/>
          <p:cNvSpPr/>
          <p:nvPr/>
        </p:nvSpPr>
        <p:spPr>
          <a:xfrm>
            <a:off x="762000" y="285750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727E87"/>
                </a:solidFill>
                <a:latin typeface="Noto Sans CJK SC"/>
                <a:ea typeface="Noto Sans CJK SC"/>
              </a:rPr>
              <a:t>前缀128 + 近期窗口128</a:t>
            </a:r>
          </a:p>
        </p:txBody>
      </p:sp>
      <p:sp>
        <p:nvSpPr>
          <p:cNvPr id="20" name="native20"/>
          <p:cNvSpPr/>
          <p:nvPr/>
        </p:nvSpPr>
        <p:spPr>
          <a:xfrm>
            <a:off x="6000750" y="2857500"/>
            <a:ext cx="3727609" cy="523875"/>
          </a:xfrm>
          <a:prstGeom prst="roundRect">
            <a:avLst/>
          </a:prstGeom>
          <a:solidFill>
            <a:srgbClr val="727E87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9918859" y="285750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727E87"/>
                </a:solidFill>
                <a:latin typeface="Noto Sans CJK SC"/>
                <a:ea typeface="Noto Sans CJK SC"/>
              </a:rPr>
              <a:t>26.09</a:t>
            </a:r>
            <a:endParaRPr lang="zh-CN" sz="2400"/>
          </a:p>
        </p:txBody>
      </p:sp>
      <p:sp>
        <p:nvSpPr>
          <p:cNvPr id="40" name="native40"/>
          <p:cNvSpPr/>
          <p:nvPr/>
        </p:nvSpPr>
        <p:spPr>
          <a:xfrm>
            <a:off x="762000" y="3409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总预算256</a:t>
            </a:r>
            <a:endParaRPr lang="zh-CN" sz="1875"/>
          </a:p>
        </p:txBody>
      </p:sp>
      <p:sp>
        <p:nvSpPr>
          <p:cNvPr id="11" name="native11"/>
          <p:cNvSpPr/>
          <p:nvPr/>
        </p:nvSpPr>
        <p:spPr>
          <a:xfrm>
            <a:off x="762000" y="4667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32689F"/>
                </a:solidFill>
                <a:latin typeface="Noto Sans CJK SC"/>
                <a:ea typeface="Noto Sans CJK SC"/>
              </a:rPr>
              <a:t>中间历史检索 + 保护集合</a:t>
            </a:r>
          </a:p>
        </p:txBody>
      </p:sp>
      <p:sp>
        <p:nvSpPr>
          <p:cNvPr id="21" name="native21"/>
          <p:cNvSpPr/>
          <p:nvPr/>
        </p:nvSpPr>
        <p:spPr>
          <a:xfrm>
            <a:off x="6000750" y="4667250"/>
            <a:ext cx="6845141" cy="523875"/>
          </a:xfrm>
          <a:prstGeom prst="roundRect">
            <a:avLst/>
          </a:prstGeom>
          <a:solidFill>
            <a:srgbClr val="32689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13036391" y="466725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32689F"/>
                </a:solidFill>
                <a:latin typeface="Noto Sans CJK SC"/>
                <a:ea typeface="Noto Sans CJK SC"/>
              </a:rPr>
              <a:t>47.91</a:t>
            </a:r>
            <a:endParaRPr lang="zh-CN" sz="2400"/>
          </a:p>
        </p:txBody>
      </p:sp>
      <p:sp>
        <p:nvSpPr>
          <p:cNvPr id="41" name="native41"/>
          <p:cNvSpPr/>
          <p:nvPr/>
        </p:nvSpPr>
        <p:spPr>
          <a:xfrm>
            <a:off x="762000" y="521970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总预算1024</a:t>
            </a:r>
            <a:endParaRPr lang="zh-CN" sz="1875"/>
          </a:p>
        </p:txBody>
      </p:sp>
      <p:sp>
        <p:nvSpPr>
          <p:cNvPr id="46" name="native46"/>
          <p:cNvSpPr/>
          <p:nvPr/>
        </p:nvSpPr>
        <p:spPr>
          <a:xfrm>
            <a:off x="6000750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0</a:t>
            </a:r>
            <a:endParaRPr lang="zh-CN" sz="1575"/>
          </a:p>
        </p:txBody>
      </p:sp>
      <p:sp>
        <p:nvSpPr>
          <p:cNvPr id="47" name="native47"/>
          <p:cNvSpPr/>
          <p:nvPr/>
        </p:nvSpPr>
        <p:spPr>
          <a:xfrm>
            <a:off x="9572625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25</a:t>
            </a:r>
            <a:endParaRPr lang="zh-CN" sz="1575"/>
          </a:p>
        </p:txBody>
      </p:sp>
      <p:sp>
        <p:nvSpPr>
          <p:cNvPr id="48" name="native48"/>
          <p:cNvSpPr/>
          <p:nvPr/>
        </p:nvSpPr>
        <p:spPr>
          <a:xfrm>
            <a:off x="13144500" y="59817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50 分</a:t>
            </a:r>
            <a:endParaRPr lang="zh-CN" sz="1575"/>
          </a:p>
        </p:txBody>
      </p:sp>
      <p:sp>
        <p:nvSpPr>
          <p:cNvPr id="52" name="native5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候选访问与选择成本仍需匹配验证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表示与分配机制已具体化
当前4/128候选仍缺匹配质量—成本验证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/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