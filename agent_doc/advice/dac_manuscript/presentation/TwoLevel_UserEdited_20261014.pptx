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低频共享表示与近远分区的稀疏注意力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页粗筛排除的历史，后续词元精筛无法恢复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L1 / L2共享低频RoPE32视图，分区筛页与词元，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按组共享选集后用原128维 Q / K / 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V完成注意力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初步结果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Qwen3-8B五任务均值47.588，较名义全维页评分配置低0.322分。差值仅作描述，不能隔离阶段效应。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两级筛选的质量与成本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7F80460-C7A8-45AD-88E1-2206D2AE2C08}"/>
              </a:ext>
            </a:extLst>
          </p:cNvPr>
          <p:cNvSpPr>
            <a:spLocks noGrp="1"/>
          </p:cNvSpPr>
          <p:nvPr/>
        </p:nvSpPr>
        <p:spPr>
          <a:xfrm>
            <a:off x="857250" y="2047875"/>
            <a:ext cx="2952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历史 KV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06F45C-3C9E-4A16-99D8-797543AE189E}"/>
              </a:ext>
            </a:extLst>
          </p:cNvPr>
          <p:cNvSpPr>
            <a:spLocks noGrp="1"/>
          </p:cNvSpPr>
          <p:nvPr/>
        </p:nvSpPr>
        <p:spPr>
          <a:xfrm>
            <a:off x="5524500" y="2047875"/>
            <a:ext cx="3429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L1：页候选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F7B77E-EADE-4B7C-87FA-E0D6622E249A}"/>
              </a:ext>
            </a:extLst>
          </p:cNvPr>
          <p:cNvSpPr>
            <a:spLocks noGrp="1"/>
          </p:cNvSpPr>
          <p:nvPr/>
        </p:nvSpPr>
        <p:spPr>
          <a:xfrm>
            <a:off x="10287000" y="2047875"/>
            <a:ext cx="4095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L2：词元 候选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8E9678-FDC4-48D5-8DA1-11DA6784932F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AFA9ACF-2507-4A7C-9157-3095A3540C0B}"/>
              </a:ext>
            </a:extLst>
          </p:cNvPr>
          <p:cNvSpPr>
            <a:spLocks noGrp="1"/>
          </p:cNvSpPr>
          <p:nvPr/>
        </p:nvSpPr>
        <p:spPr>
          <a:xfrm>
            <a:off x="12001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F33C827-7880-4888-A6DB-0DE18DAC7174}"/>
              </a:ext>
            </a:extLst>
          </p:cNvPr>
          <p:cNvSpPr>
            <a:spLocks noGrp="1"/>
          </p:cNvSpPr>
          <p:nvPr/>
        </p:nvSpPr>
        <p:spPr>
          <a:xfrm>
            <a:off x="15430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8C8E642-96EC-4C6E-A306-8EB051FCFF52}"/>
              </a:ext>
            </a:extLst>
          </p:cNvPr>
          <p:cNvSpPr>
            <a:spLocks noGrp="1"/>
          </p:cNvSpPr>
          <p:nvPr/>
        </p:nvSpPr>
        <p:spPr>
          <a:xfrm>
            <a:off x="18859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592204-268E-43B1-AAF3-D263362F0B01}"/>
              </a:ext>
            </a:extLst>
          </p:cNvPr>
          <p:cNvSpPr>
            <a:spLocks noGrp="1"/>
          </p:cNvSpPr>
          <p:nvPr/>
        </p:nvSpPr>
        <p:spPr>
          <a:xfrm>
            <a:off x="22288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040173-5396-439C-9011-98936DABBEB1}"/>
              </a:ext>
            </a:extLst>
          </p:cNvPr>
          <p:cNvSpPr>
            <a:spLocks noGrp="1"/>
          </p:cNvSpPr>
          <p:nvPr/>
        </p:nvSpPr>
        <p:spPr>
          <a:xfrm>
            <a:off x="25717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93118BB-C5B8-422A-B796-98927E01FAC6}"/>
              </a:ext>
            </a:extLst>
          </p:cNvPr>
          <p:cNvSpPr>
            <a:spLocks noGrp="1"/>
          </p:cNvSpPr>
          <p:nvPr/>
        </p:nvSpPr>
        <p:spPr>
          <a:xfrm>
            <a:off x="29146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DCA8A2C-1F61-4E89-8820-09248B365B34}"/>
              </a:ext>
            </a:extLst>
          </p:cNvPr>
          <p:cNvSpPr>
            <a:spLocks noGrp="1"/>
          </p:cNvSpPr>
          <p:nvPr/>
        </p:nvSpPr>
        <p:spPr>
          <a:xfrm>
            <a:off x="32575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FBFD7AD-79E3-4203-8516-A56BDD7D30AA}"/>
              </a:ext>
            </a:extLst>
          </p:cNvPr>
          <p:cNvSpPr>
            <a:spLocks noGrp="1"/>
          </p:cNvSpPr>
          <p:nvPr/>
        </p:nvSpPr>
        <p:spPr>
          <a:xfrm>
            <a:off x="36004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C0FC4D5-D2EF-4E83-88A7-975F45234A0B}"/>
              </a:ext>
            </a:extLst>
          </p:cNvPr>
          <p:cNvSpPr>
            <a:spLocks noGrp="1"/>
          </p:cNvSpPr>
          <p:nvPr/>
        </p:nvSpPr>
        <p:spPr>
          <a:xfrm>
            <a:off x="3943350" y="276225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139B676-B2DF-48EE-8549-7E41D894C4F1}"/>
              </a:ext>
            </a:extLst>
          </p:cNvPr>
          <p:cNvSpPr>
            <a:spLocks noGrp="1"/>
          </p:cNvSpPr>
          <p:nvPr/>
        </p:nvSpPr>
        <p:spPr>
          <a:xfrm>
            <a:off x="8572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ED200A5-D4B2-4640-9BFD-EF3172CD748F}"/>
              </a:ext>
            </a:extLst>
          </p:cNvPr>
          <p:cNvSpPr>
            <a:spLocks noGrp="1"/>
          </p:cNvSpPr>
          <p:nvPr/>
        </p:nvSpPr>
        <p:spPr>
          <a:xfrm>
            <a:off x="12001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6213219-F39E-4449-A428-0DFA7054319F}"/>
              </a:ext>
            </a:extLst>
          </p:cNvPr>
          <p:cNvSpPr>
            <a:spLocks noGrp="1"/>
          </p:cNvSpPr>
          <p:nvPr/>
        </p:nvSpPr>
        <p:spPr>
          <a:xfrm>
            <a:off x="15430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CDCEA8E-BC7B-474D-B46A-A15F640EED32}"/>
              </a:ext>
            </a:extLst>
          </p:cNvPr>
          <p:cNvSpPr>
            <a:spLocks noGrp="1"/>
          </p:cNvSpPr>
          <p:nvPr/>
        </p:nvSpPr>
        <p:spPr>
          <a:xfrm>
            <a:off x="18859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F6395D0-0892-4F6E-A7BC-91A791CF353D}"/>
              </a:ext>
            </a:extLst>
          </p:cNvPr>
          <p:cNvSpPr>
            <a:spLocks noGrp="1"/>
          </p:cNvSpPr>
          <p:nvPr/>
        </p:nvSpPr>
        <p:spPr>
          <a:xfrm>
            <a:off x="22288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36173E-3D42-4247-AEB9-E3B276CF2FA6}"/>
              </a:ext>
            </a:extLst>
          </p:cNvPr>
          <p:cNvSpPr>
            <a:spLocks noGrp="1"/>
          </p:cNvSpPr>
          <p:nvPr/>
        </p:nvSpPr>
        <p:spPr>
          <a:xfrm>
            <a:off x="25717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F114C09-A14B-491C-B2F9-A67345D5B9D4}"/>
              </a:ext>
            </a:extLst>
          </p:cNvPr>
          <p:cNvSpPr>
            <a:spLocks noGrp="1"/>
          </p:cNvSpPr>
          <p:nvPr/>
        </p:nvSpPr>
        <p:spPr>
          <a:xfrm>
            <a:off x="29146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1F50EC2-2F1B-4EA2-9041-936BCAFBC881}"/>
              </a:ext>
            </a:extLst>
          </p:cNvPr>
          <p:cNvSpPr>
            <a:spLocks noGrp="1"/>
          </p:cNvSpPr>
          <p:nvPr/>
        </p:nvSpPr>
        <p:spPr>
          <a:xfrm>
            <a:off x="32575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32087A9-5A7B-4AE2-A398-A61D4EC39D88}"/>
              </a:ext>
            </a:extLst>
          </p:cNvPr>
          <p:cNvSpPr>
            <a:spLocks noGrp="1"/>
          </p:cNvSpPr>
          <p:nvPr/>
        </p:nvSpPr>
        <p:spPr>
          <a:xfrm>
            <a:off x="36004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7B0E416-B692-44FB-8D50-056265F2E5C3}"/>
              </a:ext>
            </a:extLst>
          </p:cNvPr>
          <p:cNvSpPr>
            <a:spLocks noGrp="1"/>
          </p:cNvSpPr>
          <p:nvPr/>
        </p:nvSpPr>
        <p:spPr>
          <a:xfrm>
            <a:off x="3943350" y="317182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04B1E40-DA52-4BBB-813D-6F88343BF3A0}"/>
              </a:ext>
            </a:extLst>
          </p:cNvPr>
          <p:cNvSpPr>
            <a:spLocks noGrp="1"/>
          </p:cNvSpPr>
          <p:nvPr/>
        </p:nvSpPr>
        <p:spPr>
          <a:xfrm>
            <a:off x="8572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1D213F2-A0A7-47A9-BC7C-AC30771EF556}"/>
              </a:ext>
            </a:extLst>
          </p:cNvPr>
          <p:cNvSpPr>
            <a:spLocks noGrp="1"/>
          </p:cNvSpPr>
          <p:nvPr/>
        </p:nvSpPr>
        <p:spPr>
          <a:xfrm>
            <a:off x="12001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0678448-9DC2-4823-98A7-A3550A8C8F1F}"/>
              </a:ext>
            </a:extLst>
          </p:cNvPr>
          <p:cNvSpPr>
            <a:spLocks noGrp="1"/>
          </p:cNvSpPr>
          <p:nvPr/>
        </p:nvSpPr>
        <p:spPr>
          <a:xfrm>
            <a:off x="15430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E6193D0-21AA-49BD-87EA-5C8D4B8FAFE0}"/>
              </a:ext>
            </a:extLst>
          </p:cNvPr>
          <p:cNvSpPr>
            <a:spLocks noGrp="1"/>
          </p:cNvSpPr>
          <p:nvPr/>
        </p:nvSpPr>
        <p:spPr>
          <a:xfrm>
            <a:off x="18859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D322173-0825-4EBA-8E38-725E30D85707}"/>
              </a:ext>
            </a:extLst>
          </p:cNvPr>
          <p:cNvSpPr>
            <a:spLocks noGrp="1"/>
          </p:cNvSpPr>
          <p:nvPr/>
        </p:nvSpPr>
        <p:spPr>
          <a:xfrm>
            <a:off x="22288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A4E0583-8867-4BA1-98A6-6BDE2B128094}"/>
              </a:ext>
            </a:extLst>
          </p:cNvPr>
          <p:cNvSpPr>
            <a:spLocks noGrp="1"/>
          </p:cNvSpPr>
          <p:nvPr/>
        </p:nvSpPr>
        <p:spPr>
          <a:xfrm>
            <a:off x="25717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B42991C-A8F1-4DE0-849C-46B98F1366CD}"/>
              </a:ext>
            </a:extLst>
          </p:cNvPr>
          <p:cNvSpPr>
            <a:spLocks noGrp="1"/>
          </p:cNvSpPr>
          <p:nvPr/>
        </p:nvSpPr>
        <p:spPr>
          <a:xfrm>
            <a:off x="29146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2E48EB6-6817-4209-A391-C533F57BB2F7}"/>
              </a:ext>
            </a:extLst>
          </p:cNvPr>
          <p:cNvSpPr>
            <a:spLocks noGrp="1"/>
          </p:cNvSpPr>
          <p:nvPr/>
        </p:nvSpPr>
        <p:spPr>
          <a:xfrm>
            <a:off x="32575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9577DFD-0715-4919-BC7D-ED83CE492B47}"/>
              </a:ext>
            </a:extLst>
          </p:cNvPr>
          <p:cNvSpPr>
            <a:spLocks noGrp="1"/>
          </p:cNvSpPr>
          <p:nvPr/>
        </p:nvSpPr>
        <p:spPr>
          <a:xfrm>
            <a:off x="36004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6B50ABF-170D-4641-A842-6318A5A067A4}"/>
              </a:ext>
            </a:extLst>
          </p:cNvPr>
          <p:cNvSpPr>
            <a:spLocks noGrp="1"/>
          </p:cNvSpPr>
          <p:nvPr/>
        </p:nvSpPr>
        <p:spPr>
          <a:xfrm>
            <a:off x="3943350" y="3581400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DFF6C80-0749-4A68-A31C-9B8484C6E50A}"/>
              </a:ext>
            </a:extLst>
          </p:cNvPr>
          <p:cNvSpPr>
            <a:spLocks noGrp="1"/>
          </p:cNvSpPr>
          <p:nvPr/>
        </p:nvSpPr>
        <p:spPr>
          <a:xfrm>
            <a:off x="8572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029D41A-5E66-43AA-941F-366A9CCEE2A9}"/>
              </a:ext>
            </a:extLst>
          </p:cNvPr>
          <p:cNvSpPr>
            <a:spLocks noGrp="1"/>
          </p:cNvSpPr>
          <p:nvPr/>
        </p:nvSpPr>
        <p:spPr>
          <a:xfrm>
            <a:off x="12001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6B5032B-E854-49A1-8AC6-4639872DC1B3}"/>
              </a:ext>
            </a:extLst>
          </p:cNvPr>
          <p:cNvSpPr>
            <a:spLocks noGrp="1"/>
          </p:cNvSpPr>
          <p:nvPr/>
        </p:nvSpPr>
        <p:spPr>
          <a:xfrm>
            <a:off x="15430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5FB14E-439D-4BB7-9645-B4C8010D9816}"/>
              </a:ext>
            </a:extLst>
          </p:cNvPr>
          <p:cNvSpPr>
            <a:spLocks noGrp="1"/>
          </p:cNvSpPr>
          <p:nvPr/>
        </p:nvSpPr>
        <p:spPr>
          <a:xfrm>
            <a:off x="18859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930E81D-DA7A-4372-B4CD-8A67DD21DF4C}"/>
              </a:ext>
            </a:extLst>
          </p:cNvPr>
          <p:cNvSpPr>
            <a:spLocks noGrp="1"/>
          </p:cNvSpPr>
          <p:nvPr/>
        </p:nvSpPr>
        <p:spPr>
          <a:xfrm>
            <a:off x="22288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F6CAB3F-97C8-4B68-A677-3730194C5DDE}"/>
              </a:ext>
            </a:extLst>
          </p:cNvPr>
          <p:cNvSpPr>
            <a:spLocks noGrp="1"/>
          </p:cNvSpPr>
          <p:nvPr/>
        </p:nvSpPr>
        <p:spPr>
          <a:xfrm>
            <a:off x="25717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A5F4258-980C-45AF-B1FB-54924B07764A}"/>
              </a:ext>
            </a:extLst>
          </p:cNvPr>
          <p:cNvSpPr>
            <a:spLocks noGrp="1"/>
          </p:cNvSpPr>
          <p:nvPr/>
        </p:nvSpPr>
        <p:spPr>
          <a:xfrm>
            <a:off x="29146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9E3BA98-037C-4825-AEB7-64D166766F91}"/>
              </a:ext>
            </a:extLst>
          </p:cNvPr>
          <p:cNvSpPr>
            <a:spLocks noGrp="1"/>
          </p:cNvSpPr>
          <p:nvPr/>
        </p:nvSpPr>
        <p:spPr>
          <a:xfrm>
            <a:off x="32575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99468A7-4ADE-41DA-98D8-E516A2024612}"/>
              </a:ext>
            </a:extLst>
          </p:cNvPr>
          <p:cNvSpPr>
            <a:spLocks noGrp="1"/>
          </p:cNvSpPr>
          <p:nvPr/>
        </p:nvSpPr>
        <p:spPr>
          <a:xfrm>
            <a:off x="36004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AD6E657-93FE-498D-AE5A-37E6ADDFE8D7}"/>
              </a:ext>
            </a:extLst>
          </p:cNvPr>
          <p:cNvSpPr>
            <a:spLocks noGrp="1"/>
          </p:cNvSpPr>
          <p:nvPr/>
        </p:nvSpPr>
        <p:spPr>
          <a:xfrm>
            <a:off x="3943350" y="3990975"/>
            <a:ext cx="295275" cy="266700"/>
          </a:xfrm>
          <a:prstGeom prst="rect">
            <a:avLst/>
          </a:prstGeom>
          <a:solidFill>
            <a:srgbClr val="A9B6B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97D0FE9-4E67-4B75-8127-A50D66301276}"/>
              </a:ext>
            </a:extLst>
          </p:cNvPr>
          <p:cNvSpPr>
            <a:spLocks noGrp="1"/>
          </p:cNvSpPr>
          <p:nvPr/>
        </p:nvSpPr>
        <p:spPr>
          <a:xfrm>
            <a:off x="5619750" y="276225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5C7119F-6EB3-4011-B983-C70D57074A10}"/>
              </a:ext>
            </a:extLst>
          </p:cNvPr>
          <p:cNvSpPr>
            <a:spLocks noGrp="1"/>
          </p:cNvSpPr>
          <p:nvPr/>
        </p:nvSpPr>
        <p:spPr>
          <a:xfrm>
            <a:off x="5962650" y="276225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A212E5F-B2D3-4D65-96CD-471DE7070398}"/>
              </a:ext>
            </a:extLst>
          </p:cNvPr>
          <p:cNvSpPr>
            <a:spLocks noGrp="1"/>
          </p:cNvSpPr>
          <p:nvPr/>
        </p:nvSpPr>
        <p:spPr>
          <a:xfrm>
            <a:off x="6305550" y="276225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44E4363C-DBA1-41D0-BF3F-AE2736089139}"/>
              </a:ext>
            </a:extLst>
          </p:cNvPr>
          <p:cNvSpPr>
            <a:spLocks noGrp="1"/>
          </p:cNvSpPr>
          <p:nvPr/>
        </p:nvSpPr>
        <p:spPr>
          <a:xfrm>
            <a:off x="6648450" y="276225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59ACE99-AAD7-4D1C-ACF2-E7F34FDFF37F}"/>
              </a:ext>
            </a:extLst>
          </p:cNvPr>
          <p:cNvSpPr>
            <a:spLocks noGrp="1"/>
          </p:cNvSpPr>
          <p:nvPr/>
        </p:nvSpPr>
        <p:spPr>
          <a:xfrm>
            <a:off x="6991350" y="276225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BFD55D3-04CF-4753-8667-AE33BB5FC532}"/>
              </a:ext>
            </a:extLst>
          </p:cNvPr>
          <p:cNvSpPr>
            <a:spLocks noGrp="1"/>
          </p:cNvSpPr>
          <p:nvPr/>
        </p:nvSpPr>
        <p:spPr>
          <a:xfrm>
            <a:off x="7334250" y="276225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89F3166-16E9-4899-BE33-888C709740F9}"/>
              </a:ext>
            </a:extLst>
          </p:cNvPr>
          <p:cNvSpPr>
            <a:spLocks noGrp="1"/>
          </p:cNvSpPr>
          <p:nvPr/>
        </p:nvSpPr>
        <p:spPr>
          <a:xfrm>
            <a:off x="5619750" y="317182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ADC9FE0-14DF-4C35-BB24-4D58440BE5A1}"/>
              </a:ext>
            </a:extLst>
          </p:cNvPr>
          <p:cNvSpPr>
            <a:spLocks noGrp="1"/>
          </p:cNvSpPr>
          <p:nvPr/>
        </p:nvSpPr>
        <p:spPr>
          <a:xfrm>
            <a:off x="5962650" y="317182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489049C-264A-4601-820A-39D770005254}"/>
              </a:ext>
            </a:extLst>
          </p:cNvPr>
          <p:cNvSpPr>
            <a:spLocks noGrp="1"/>
          </p:cNvSpPr>
          <p:nvPr/>
        </p:nvSpPr>
        <p:spPr>
          <a:xfrm>
            <a:off x="6305550" y="317182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35435C6-0BEC-44D3-8096-7616D8FEC485}"/>
              </a:ext>
            </a:extLst>
          </p:cNvPr>
          <p:cNvSpPr>
            <a:spLocks noGrp="1"/>
          </p:cNvSpPr>
          <p:nvPr/>
        </p:nvSpPr>
        <p:spPr>
          <a:xfrm>
            <a:off x="6648450" y="317182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0B23D312-CB17-488D-BF4B-6FD96BE6D4E8}"/>
              </a:ext>
            </a:extLst>
          </p:cNvPr>
          <p:cNvSpPr>
            <a:spLocks noGrp="1"/>
          </p:cNvSpPr>
          <p:nvPr/>
        </p:nvSpPr>
        <p:spPr>
          <a:xfrm>
            <a:off x="6991350" y="317182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05C8D5A-76A8-4E66-9D35-B6D7DBD92DAA}"/>
              </a:ext>
            </a:extLst>
          </p:cNvPr>
          <p:cNvSpPr>
            <a:spLocks noGrp="1"/>
          </p:cNvSpPr>
          <p:nvPr/>
        </p:nvSpPr>
        <p:spPr>
          <a:xfrm>
            <a:off x="7334250" y="317182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8E9429CC-695A-4CB1-914B-A89A742D5C58}"/>
              </a:ext>
            </a:extLst>
          </p:cNvPr>
          <p:cNvSpPr>
            <a:spLocks noGrp="1"/>
          </p:cNvSpPr>
          <p:nvPr/>
        </p:nvSpPr>
        <p:spPr>
          <a:xfrm>
            <a:off x="5619750" y="358140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2C1D9C6-71AA-435B-94CA-A3E8EDDA900B}"/>
              </a:ext>
            </a:extLst>
          </p:cNvPr>
          <p:cNvSpPr>
            <a:spLocks noGrp="1"/>
          </p:cNvSpPr>
          <p:nvPr/>
        </p:nvSpPr>
        <p:spPr>
          <a:xfrm>
            <a:off x="5962650" y="358140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079FAC4-64F3-4C31-AC3F-63A06D3F0768}"/>
              </a:ext>
            </a:extLst>
          </p:cNvPr>
          <p:cNvSpPr>
            <a:spLocks noGrp="1"/>
          </p:cNvSpPr>
          <p:nvPr/>
        </p:nvSpPr>
        <p:spPr>
          <a:xfrm>
            <a:off x="6305550" y="358140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A1E7DEBD-5A93-4D54-9016-FFEFBC00C41B}"/>
              </a:ext>
            </a:extLst>
          </p:cNvPr>
          <p:cNvSpPr>
            <a:spLocks noGrp="1"/>
          </p:cNvSpPr>
          <p:nvPr/>
        </p:nvSpPr>
        <p:spPr>
          <a:xfrm>
            <a:off x="6648450" y="358140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6B7224FD-A830-45F6-8283-52F60F5CDB13}"/>
              </a:ext>
            </a:extLst>
          </p:cNvPr>
          <p:cNvSpPr>
            <a:spLocks noGrp="1"/>
          </p:cNvSpPr>
          <p:nvPr/>
        </p:nvSpPr>
        <p:spPr>
          <a:xfrm>
            <a:off x="6991350" y="358140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59ABD4B4-5649-4690-92CA-2F41B10AD1D3}"/>
              </a:ext>
            </a:extLst>
          </p:cNvPr>
          <p:cNvSpPr>
            <a:spLocks noGrp="1"/>
          </p:cNvSpPr>
          <p:nvPr/>
        </p:nvSpPr>
        <p:spPr>
          <a:xfrm>
            <a:off x="7334250" y="3581400"/>
            <a:ext cx="295275" cy="266700"/>
          </a:xfrm>
          <a:prstGeom prst="rect">
            <a:avLst/>
          </a:prstGeom>
          <a:solidFill>
            <a:srgbClr val="D4DF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51D23D36-0278-4866-BEF5-D8151F9D2A08}"/>
              </a:ext>
            </a:extLst>
          </p:cNvPr>
          <p:cNvSpPr>
            <a:spLocks noGrp="1"/>
          </p:cNvSpPr>
          <p:nvPr/>
        </p:nvSpPr>
        <p:spPr>
          <a:xfrm>
            <a:off x="5619750" y="399097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8477BC76-0456-407F-B024-989585635A64}"/>
              </a:ext>
            </a:extLst>
          </p:cNvPr>
          <p:cNvSpPr>
            <a:spLocks noGrp="1"/>
          </p:cNvSpPr>
          <p:nvPr/>
        </p:nvSpPr>
        <p:spPr>
          <a:xfrm>
            <a:off x="5962650" y="399097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54EA40D5-C925-4702-AF25-8FDA8CE8521F}"/>
              </a:ext>
            </a:extLst>
          </p:cNvPr>
          <p:cNvSpPr>
            <a:spLocks noGrp="1"/>
          </p:cNvSpPr>
          <p:nvPr/>
        </p:nvSpPr>
        <p:spPr>
          <a:xfrm>
            <a:off x="6305550" y="399097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40D2779E-C5B9-49C6-B0D1-B4063F650A22}"/>
              </a:ext>
            </a:extLst>
          </p:cNvPr>
          <p:cNvSpPr>
            <a:spLocks noGrp="1"/>
          </p:cNvSpPr>
          <p:nvPr/>
        </p:nvSpPr>
        <p:spPr>
          <a:xfrm>
            <a:off x="6648450" y="399097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D1A064D-1FFF-46A1-B89E-300DF43DAE00}"/>
              </a:ext>
            </a:extLst>
          </p:cNvPr>
          <p:cNvSpPr>
            <a:spLocks noGrp="1"/>
          </p:cNvSpPr>
          <p:nvPr/>
        </p:nvSpPr>
        <p:spPr>
          <a:xfrm>
            <a:off x="6991350" y="399097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E73211E2-5902-41E3-9E11-C20593F53D27}"/>
              </a:ext>
            </a:extLst>
          </p:cNvPr>
          <p:cNvSpPr>
            <a:spLocks noGrp="1"/>
          </p:cNvSpPr>
          <p:nvPr/>
        </p:nvSpPr>
        <p:spPr>
          <a:xfrm>
            <a:off x="7334250" y="3990975"/>
            <a:ext cx="295275" cy="266700"/>
          </a:xfrm>
          <a:prstGeom prst="rect">
            <a:avLst/>
          </a:prstGeom>
          <a:solidFill>
            <a:srgbClr val="305C8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2FA42DE9-6F68-49BF-A8EF-46C6FBED73B5}"/>
              </a:ext>
            </a:extLst>
          </p:cNvPr>
          <p:cNvSpPr>
            <a:spLocks noGrp="1"/>
          </p:cNvSpPr>
          <p:nvPr/>
        </p:nvSpPr>
        <p:spPr>
          <a:xfrm>
            <a:off x="10477500" y="2762250"/>
            <a:ext cx="295275" cy="266700"/>
          </a:xfrm>
          <a:prstGeom prst="rect">
            <a:avLst/>
          </a:prstGeom>
          <a:solidFill>
            <a:srgbClr val="CFE5E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713D9837-0CBD-406B-A856-D7C62EDC3C98}"/>
              </a:ext>
            </a:extLst>
          </p:cNvPr>
          <p:cNvSpPr>
            <a:spLocks noGrp="1"/>
          </p:cNvSpPr>
          <p:nvPr/>
        </p:nvSpPr>
        <p:spPr>
          <a:xfrm>
            <a:off x="10820400" y="2762250"/>
            <a:ext cx="295275" cy="266700"/>
          </a:xfrm>
          <a:prstGeom prst="rect">
            <a:avLst/>
          </a:prstGeom>
          <a:solidFill>
            <a:srgbClr val="CFE5E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E02D7DC-0F9B-41BF-BFA6-9FEC280BD86D}"/>
              </a:ext>
            </a:extLst>
          </p:cNvPr>
          <p:cNvSpPr>
            <a:spLocks noGrp="1"/>
          </p:cNvSpPr>
          <p:nvPr/>
        </p:nvSpPr>
        <p:spPr>
          <a:xfrm>
            <a:off x="11163300" y="2762250"/>
            <a:ext cx="295275" cy="266700"/>
          </a:xfrm>
          <a:prstGeom prst="rect">
            <a:avLst/>
          </a:prstGeom>
          <a:solidFill>
            <a:srgbClr val="CFE5E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0066F71C-CC4B-401F-8756-EFFDA2EB87A8}"/>
              </a:ext>
            </a:extLst>
          </p:cNvPr>
          <p:cNvSpPr>
            <a:spLocks noGrp="1"/>
          </p:cNvSpPr>
          <p:nvPr/>
        </p:nvSpPr>
        <p:spPr>
          <a:xfrm>
            <a:off x="11506200" y="2762250"/>
            <a:ext cx="295275" cy="266700"/>
          </a:xfrm>
          <a:prstGeom prst="rect">
            <a:avLst/>
          </a:prstGeom>
          <a:solidFill>
            <a:srgbClr val="CFE5E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005539B-423D-4A3C-AE6D-F4B044F6223F}"/>
              </a:ext>
            </a:extLst>
          </p:cNvPr>
          <p:cNvSpPr>
            <a:spLocks noGrp="1"/>
          </p:cNvSpPr>
          <p:nvPr/>
        </p:nvSpPr>
        <p:spPr>
          <a:xfrm>
            <a:off x="10477500" y="3171825"/>
            <a:ext cx="295275" cy="266700"/>
          </a:xfrm>
          <a:prstGeom prst="rect">
            <a:avLst/>
          </a:prstGeom>
          <a:solidFill>
            <a:srgbClr val="12898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E44284F6-3CD2-4051-A985-F2FB0D0C109F}"/>
              </a:ext>
            </a:extLst>
          </p:cNvPr>
          <p:cNvSpPr>
            <a:spLocks noGrp="1"/>
          </p:cNvSpPr>
          <p:nvPr/>
        </p:nvSpPr>
        <p:spPr>
          <a:xfrm>
            <a:off x="10820400" y="3171825"/>
            <a:ext cx="295275" cy="266700"/>
          </a:xfrm>
          <a:prstGeom prst="rect">
            <a:avLst/>
          </a:prstGeom>
          <a:solidFill>
            <a:srgbClr val="12898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6627669D-434E-45A2-A403-C3D4860F3ADE}"/>
              </a:ext>
            </a:extLst>
          </p:cNvPr>
          <p:cNvSpPr>
            <a:spLocks noGrp="1"/>
          </p:cNvSpPr>
          <p:nvPr/>
        </p:nvSpPr>
        <p:spPr>
          <a:xfrm>
            <a:off x="11163300" y="3171825"/>
            <a:ext cx="295275" cy="266700"/>
          </a:xfrm>
          <a:prstGeom prst="rect">
            <a:avLst/>
          </a:prstGeom>
          <a:solidFill>
            <a:srgbClr val="12898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6E2D967-AA8E-460D-8084-41C98B610EAA}"/>
              </a:ext>
            </a:extLst>
          </p:cNvPr>
          <p:cNvSpPr>
            <a:spLocks noGrp="1"/>
          </p:cNvSpPr>
          <p:nvPr/>
        </p:nvSpPr>
        <p:spPr>
          <a:xfrm>
            <a:off x="11506200" y="3171825"/>
            <a:ext cx="295275" cy="266700"/>
          </a:xfrm>
          <a:prstGeom prst="rect">
            <a:avLst/>
          </a:prstGeom>
          <a:solidFill>
            <a:srgbClr val="12898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6767948-23B9-435A-A860-98E42D8341A6}"/>
              </a:ext>
            </a:extLst>
          </p:cNvPr>
          <p:cNvSpPr>
            <a:spLocks noGrp="1"/>
          </p:cNvSpPr>
          <p:nvPr/>
        </p:nvSpPr>
        <p:spPr>
          <a:xfrm>
            <a:off x="10477500" y="3581400"/>
            <a:ext cx="295275" cy="266700"/>
          </a:xfrm>
          <a:prstGeom prst="rect">
            <a:avLst/>
          </a:prstGeom>
          <a:solidFill>
            <a:srgbClr val="CFE5E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0B73050-3ADC-4EF5-8FFF-4BCE1FC3F1C7}"/>
              </a:ext>
            </a:extLst>
          </p:cNvPr>
          <p:cNvSpPr>
            <a:spLocks noGrp="1"/>
          </p:cNvSpPr>
          <p:nvPr/>
        </p:nvSpPr>
        <p:spPr>
          <a:xfrm>
            <a:off x="10820400" y="3581400"/>
            <a:ext cx="295275" cy="266700"/>
          </a:xfrm>
          <a:prstGeom prst="rect">
            <a:avLst/>
          </a:prstGeom>
          <a:solidFill>
            <a:srgbClr val="CFE5E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48E5FA8-96B7-490F-AC8A-8178B5D13CDF}"/>
              </a:ext>
            </a:extLst>
          </p:cNvPr>
          <p:cNvSpPr>
            <a:spLocks noGrp="1"/>
          </p:cNvSpPr>
          <p:nvPr/>
        </p:nvSpPr>
        <p:spPr>
          <a:xfrm>
            <a:off x="11163300" y="3581400"/>
            <a:ext cx="295275" cy="266700"/>
          </a:xfrm>
          <a:prstGeom prst="rect">
            <a:avLst/>
          </a:prstGeom>
          <a:solidFill>
            <a:srgbClr val="CFE5E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A6F4F00D-34F6-4155-B197-06DCA8A10EFC}"/>
              </a:ext>
            </a:extLst>
          </p:cNvPr>
          <p:cNvSpPr>
            <a:spLocks noGrp="1"/>
          </p:cNvSpPr>
          <p:nvPr/>
        </p:nvSpPr>
        <p:spPr>
          <a:xfrm>
            <a:off x="11506200" y="3581400"/>
            <a:ext cx="295275" cy="266700"/>
          </a:xfrm>
          <a:prstGeom prst="rect">
            <a:avLst/>
          </a:prstGeom>
          <a:solidFill>
            <a:srgbClr val="CFE5E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C7DA7ECC-5A2C-4906-BD3B-A6E3F5AE6B37}"/>
              </a:ext>
            </a:extLst>
          </p:cNvPr>
          <p:cNvSpPr>
            <a:spLocks noGrp="1"/>
          </p:cNvSpPr>
          <p:nvPr/>
        </p:nvSpPr>
        <p:spPr>
          <a:xfrm>
            <a:off x="10477500" y="3990975"/>
            <a:ext cx="295275" cy="266700"/>
          </a:xfrm>
          <a:prstGeom prst="rect">
            <a:avLst/>
          </a:prstGeom>
          <a:solidFill>
            <a:srgbClr val="12898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60D976A8-E2E7-4ACD-B4E1-BEDD0C050CD2}"/>
              </a:ext>
            </a:extLst>
          </p:cNvPr>
          <p:cNvSpPr>
            <a:spLocks noGrp="1"/>
          </p:cNvSpPr>
          <p:nvPr/>
        </p:nvSpPr>
        <p:spPr>
          <a:xfrm>
            <a:off x="10820400" y="3990975"/>
            <a:ext cx="295275" cy="266700"/>
          </a:xfrm>
          <a:prstGeom prst="rect">
            <a:avLst/>
          </a:prstGeom>
          <a:solidFill>
            <a:srgbClr val="12898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AEE67895-9DC4-4C2D-A237-E1B8FDF9CF24}"/>
              </a:ext>
            </a:extLst>
          </p:cNvPr>
          <p:cNvSpPr>
            <a:spLocks noGrp="1"/>
          </p:cNvSpPr>
          <p:nvPr/>
        </p:nvSpPr>
        <p:spPr>
          <a:xfrm>
            <a:off x="11163300" y="3990975"/>
            <a:ext cx="295275" cy="266700"/>
          </a:xfrm>
          <a:prstGeom prst="rect">
            <a:avLst/>
          </a:prstGeom>
          <a:solidFill>
            <a:srgbClr val="12898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B27FBF84-0165-482D-AFF1-5F63A17AC33A}"/>
              </a:ext>
            </a:extLst>
          </p:cNvPr>
          <p:cNvSpPr>
            <a:spLocks noGrp="1"/>
          </p:cNvSpPr>
          <p:nvPr/>
        </p:nvSpPr>
        <p:spPr>
          <a:xfrm>
            <a:off x="11506200" y="3990975"/>
            <a:ext cx="295275" cy="266700"/>
          </a:xfrm>
          <a:prstGeom prst="rect">
            <a:avLst/>
          </a:prstGeom>
          <a:solidFill>
            <a:srgbClr val="12898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F34D4326-0FF9-4F85-8751-4475DFAE5D9A}"/>
              </a:ext>
            </a:extLst>
          </p:cNvPr>
          <p:cNvSpPr>
            <a:spLocks noGrp="1"/>
          </p:cNvSpPr>
          <p:nvPr/>
        </p:nvSpPr>
        <p:spPr>
          <a:xfrm>
            <a:off x="4524375" y="3286125"/>
            <a:ext cx="6667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4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4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7BA1FF0-5509-4B68-86B9-1335A935E989}"/>
              </a:ext>
            </a:extLst>
          </p:cNvPr>
          <p:cNvSpPr>
            <a:spLocks noGrp="1"/>
          </p:cNvSpPr>
          <p:nvPr/>
        </p:nvSpPr>
        <p:spPr>
          <a:xfrm>
            <a:off x="9286875" y="3286125"/>
            <a:ext cx="6667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4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4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D27AC87C-9875-4E81-99E6-F1EE4F6330A7}"/>
              </a:ext>
            </a:extLst>
          </p:cNvPr>
          <p:cNvSpPr>
            <a:spLocks noGrp="1"/>
          </p:cNvSpPr>
          <p:nvPr/>
        </p:nvSpPr>
        <p:spPr>
          <a:xfrm>
            <a:off x="857250" y="4695825"/>
            <a:ext cx="3619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访问大量历史 K / V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B5735CC-D024-4DDB-9543-06FA3789A5B7}"/>
              </a:ext>
            </a:extLst>
          </p:cNvPr>
          <p:cNvSpPr>
            <a:spLocks noGrp="1"/>
          </p:cNvSpPr>
          <p:nvPr/>
        </p:nvSpPr>
        <p:spPr>
          <a:xfrm>
            <a:off x="5434012" y="4705351"/>
            <a:ext cx="4095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dirty="0" err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重要页一旦漏掉，后级无法补回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9A6E970-4BD9-4D70-A99E-49DFF7A96C06}"/>
              </a:ext>
            </a:extLst>
          </p:cNvPr>
          <p:cNvSpPr>
            <a:spLocks noGrp="1"/>
          </p:cNvSpPr>
          <p:nvPr/>
        </p:nvSpPr>
        <p:spPr>
          <a:xfrm>
            <a:off x="10287000" y="4695825"/>
            <a:ext cx="41910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选定后读取原维 KV</a:t>
            </a:r>
          </a:p>
          <a:p>
            <a:pPr>
              <a:defRPr sz="20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完成最终 注意力</a:t>
            </a:r>
          </a:p>
        </p:txBody>
      </p:sp>
      <p:sp>
        <p:nvSpPr>
          <p:cNvPr id="98" name="native98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3</a:t>
            </a:r>
          </a:p>
        </p:txBody>
      </p:sp>
      <p:sp>
        <p:nvSpPr>
          <p:cNvPr id="99" name="">
            <a:extLst>
              <a:ext uri="{FF2B5EF4-FFF2-40B4-BE49-F238E27FC236}">
                <a16:creationId xmlns:a16="http://schemas.microsoft.com/office/drawing/2014/main" id="{D1C25EAA-2E2D-4E6B-AABB-93CFC68E6F91}"/>
              </a:ext>
            </a:extLst>
          </p:cNvPr>
          <p:cNvSpPr>
            <a:spLocks noGrp="1"/>
          </p:cNvSpPr>
          <p:nvPr/>
        </p:nvSpPr>
        <p:spPr>
          <a:xfrm>
            <a:off x="762000" y="6286500"/>
            <a:ext cx="6667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AAB9C4"/>
            </a:solidFill>
          </a:ln>
        </p:spPr>
      </p:sp>
      <p:sp>
        <p:nvSpPr>
          <p:cNvPr id="100" name="">
            <a:extLst>
              <a:ext uri="{FF2B5EF4-FFF2-40B4-BE49-F238E27FC236}">
                <a16:creationId xmlns:a16="http://schemas.microsoft.com/office/drawing/2014/main" id="{0783E65D-C917-4698-AA9A-27DBBD903891}"/>
              </a:ext>
            </a:extLst>
          </p:cNvPr>
          <p:cNvSpPr>
            <a:spLocks noGrp="1"/>
          </p:cNvSpPr>
          <p:nvPr/>
        </p:nvSpPr>
        <p:spPr>
          <a:xfrm>
            <a:off x="933450" y="6381750"/>
            <a:ext cx="6334125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193247"/>
                </a:solidFill>
              </a:defRPr>
            </a:defPPr>
          </a:lstStyle>
          <a:p>
            <a:pPr>
              <a:defRPr sz="2025" b="1">
                <a:solidFill>
                  <a:srgbClr val="193247"/>
                </a:solidFill>
              </a:defRPr>
            </a:pPr>
            <a:r>
              <a:rPr sz="2025" b="1">
                <a:solidFill>
                  <a:srgbClr val="193247"/>
                </a:solidFill>
              </a:rPr>
              <a:t>Qwen3-8B：稠密注意力距离密度</a:t>
            </a:r>
          </a:p>
        </p:txBody>
      </p:sp>
      <p:sp>
        <p:nvSpPr>
          <p:cNvPr id="101" name="">
            <a:extLst>
              <a:ext uri="{FF2B5EF4-FFF2-40B4-BE49-F238E27FC236}">
                <a16:creationId xmlns:a16="http://schemas.microsoft.com/office/drawing/2014/main" id="{2F01E7B9-4CDD-4C74-B3C9-BF22B3B1B93F}"/>
              </a:ext>
            </a:extLst>
          </p:cNvPr>
          <p:cNvSpPr>
            <a:spLocks noGrp="1"/>
          </p:cNvSpPr>
          <p:nvPr/>
        </p:nvSpPr>
        <p:spPr>
          <a:xfrm>
            <a:off x="933450" y="6724650"/>
            <a:ext cx="6334125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A66328"/>
                </a:solidFill>
              </a:defRPr>
            </a:defPPr>
          </a:lstStyle>
          <a:p>
            <a:pPr>
              <a:defRPr sz="1875" b="1">
                <a:solidFill>
                  <a:srgbClr val="A66328"/>
                </a:solidFill>
              </a:defRPr>
            </a:pPr>
            <a:r>
              <a:rPr sz="1875" b="1">
                <a:solidFill>
                  <a:srgbClr val="A66328"/>
                </a:solidFill>
              </a:rPr>
              <a:t>尚未测量</a:t>
            </a:r>
          </a:p>
        </p:txBody>
      </p:sp>
      <p:sp>
        <p:nvSpPr>
          <p:cNvPr id="102" name="">
            <a:extLst>
              <a:ext uri="{FF2B5EF4-FFF2-40B4-BE49-F238E27FC236}">
                <a16:creationId xmlns:a16="http://schemas.microsoft.com/office/drawing/2014/main" id="{25D5E39F-7641-4843-B20C-80040D5ED3E3}"/>
              </a:ext>
            </a:extLst>
          </p:cNvPr>
          <p:cNvSpPr>
            <a:spLocks noGrp="1"/>
          </p:cNvSpPr>
          <p:nvPr/>
        </p:nvSpPr>
        <p:spPr>
          <a:xfrm>
            <a:off x="933450" y="7067550"/>
            <a:ext cx="6334125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0">
                <a:solidFill>
                  <a:srgbClr val="193247"/>
                </a:solidFill>
              </a:defRPr>
            </a:defPPr>
          </a:lstStyle>
          <a:p>
            <a:pPr>
              <a:defRPr sz="1650" b="0">
                <a:solidFill>
                  <a:srgbClr val="193247"/>
                </a:solidFill>
              </a:defRPr>
            </a:pPr>
            <a:r>
              <a:rPr sz="1650" b="0">
                <a:solidFill>
                  <a:srgbClr val="193247"/>
                </a:solidFill>
              </a:rPr>
              <a:t>64-词元距离箱：概率质量／有效词元数</a:t>
            </a:r>
          </a:p>
          <a:p>
            <a:pPr>
              <a:defRPr sz="1650" b="0">
                <a:solidFill>
                  <a:srgbClr val="193247"/>
                </a:solidFill>
              </a:defRPr>
            </a:pPr>
            <a:r>
              <a:rPr sz="1650" b="0">
                <a:solidFill>
                  <a:srgbClr val="193247"/>
                </a:solidFill>
              </a:rPr>
              <a:t>128/128保护去重单列；逐头softmax后组内平均</a:t>
            </a:r>
          </a:p>
        </p:txBody>
      </p:sp>
      <p:sp>
        <p:nvSpPr>
          <p:cNvPr id="103" name="">
            <a:extLst>
              <a:ext uri="{FF2B5EF4-FFF2-40B4-BE49-F238E27FC236}">
                <a16:creationId xmlns:a16="http://schemas.microsoft.com/office/drawing/2014/main" id="{747E859B-FD98-4D02-B7B9-8F2E96235704}"/>
              </a:ext>
            </a:extLst>
          </p:cNvPr>
          <p:cNvSpPr>
            <a:spLocks noGrp="1"/>
          </p:cNvSpPr>
          <p:nvPr/>
        </p:nvSpPr>
        <p:spPr>
          <a:xfrm>
            <a:off x="7810500" y="6286500"/>
            <a:ext cx="6667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AAB9C4"/>
            </a:solidFill>
          </a:ln>
        </p:spPr>
      </p:sp>
      <p:sp>
        <p:nvSpPr>
          <p:cNvPr id="104" name="">
            <a:extLst>
              <a:ext uri="{FF2B5EF4-FFF2-40B4-BE49-F238E27FC236}">
                <a16:creationId xmlns:a16="http://schemas.microsoft.com/office/drawing/2014/main" id="{EB0B8474-4B0A-4810-8122-465C62F970FD}"/>
              </a:ext>
            </a:extLst>
          </p:cNvPr>
          <p:cNvSpPr>
            <a:spLocks noGrp="1"/>
          </p:cNvSpPr>
          <p:nvPr/>
        </p:nvSpPr>
        <p:spPr>
          <a:xfrm>
            <a:off x="7981950" y="6381750"/>
            <a:ext cx="6334125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193247"/>
                </a:solidFill>
              </a:defRPr>
            </a:defPPr>
          </a:lstStyle>
          <a:p>
            <a:pPr>
              <a:defRPr sz="2025" b="1">
                <a:solidFill>
                  <a:srgbClr val="193247"/>
                </a:solidFill>
              </a:defRPr>
            </a:pPr>
            <a:r>
              <a:rPr sz="2025" b="1">
                <a:solidFill>
                  <a:srgbClr val="193247"/>
                </a:solidFill>
              </a:rPr>
              <a:t>近／远区：词元与页的集中程度</a:t>
            </a:r>
          </a:p>
        </p:txBody>
      </p:sp>
      <p:sp>
        <p:nvSpPr>
          <p:cNvPr id="105" name="">
            <a:extLst>
              <a:ext uri="{FF2B5EF4-FFF2-40B4-BE49-F238E27FC236}">
                <a16:creationId xmlns:a16="http://schemas.microsoft.com/office/drawing/2014/main" id="{C0F4CB17-2535-41AB-89FA-90F7B8FC7FAC}"/>
              </a:ext>
            </a:extLst>
          </p:cNvPr>
          <p:cNvSpPr>
            <a:spLocks noGrp="1"/>
          </p:cNvSpPr>
          <p:nvPr/>
        </p:nvSpPr>
        <p:spPr>
          <a:xfrm>
            <a:off x="7981950" y="6724650"/>
            <a:ext cx="6334125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A66328"/>
                </a:solidFill>
              </a:defRPr>
            </a:defPPr>
          </a:lstStyle>
          <a:p>
            <a:pPr>
              <a:defRPr sz="1875" b="1">
                <a:solidFill>
                  <a:srgbClr val="A66328"/>
                </a:solidFill>
              </a:defRPr>
            </a:pPr>
            <a:r>
              <a:rPr sz="1875" b="1">
                <a:solidFill>
                  <a:srgbClr val="A66328"/>
                </a:solidFill>
              </a:rPr>
              <a:t>尚未测量</a:t>
            </a:r>
          </a:p>
        </p:txBody>
      </p:sp>
      <p:sp>
        <p:nvSpPr>
          <p:cNvPr id="106" name="">
            <a:extLst>
              <a:ext uri="{FF2B5EF4-FFF2-40B4-BE49-F238E27FC236}">
                <a16:creationId xmlns:a16="http://schemas.microsoft.com/office/drawing/2014/main" id="{E27547D7-0963-411F-94E0-AFFEA3D0B45C}"/>
              </a:ext>
            </a:extLst>
          </p:cNvPr>
          <p:cNvSpPr>
            <a:spLocks noGrp="1"/>
          </p:cNvSpPr>
          <p:nvPr/>
        </p:nvSpPr>
        <p:spPr>
          <a:xfrm>
            <a:off x="7981950" y="7067550"/>
            <a:ext cx="6334125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0">
                <a:solidFill>
                  <a:srgbClr val="193247"/>
                </a:solidFill>
              </a:defRPr>
            </a:defPPr>
          </a:lstStyle>
          <a:p>
            <a:pPr>
              <a:defRPr sz="1650" b="0">
                <a:solidFill>
                  <a:srgbClr val="193247"/>
                </a:solidFill>
              </a:defRPr>
            </a:pPr>
            <a:r>
              <a:rPr sz="1650" b="0">
                <a:solidFill>
                  <a:srgbClr val="193247"/>
                </a:solidFill>
              </a:rPr>
              <a:t>覆盖区域90%质量的最小词元／64词元页比例</a:t>
            </a:r>
          </a:p>
          <a:p>
            <a:pPr>
              <a:defRPr sz="1650" b="0">
                <a:solidFill>
                  <a:srgbClr val="193247"/>
                </a:solidFill>
              </a:defRPr>
            </a:pPr>
            <a:r>
              <a:rPr sz="1650" b="0">
                <a:solidFill>
                  <a:srgbClr val="193247"/>
                </a:solidFill>
              </a:rPr>
              <a:t>同时报告区域概率质量；含不完整页；不代表选择器召回率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组共享的两级候选选择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全维页评分、校准精筛通道与异步执行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共享表示、区域容量与远端控制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同一坐标视图服务页筛选与词元精筛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371850" y="464781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远区概率质量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 概率求和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三种名义配置的描述性比较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完整请求与解码成本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40645EC-9D6D-471B-9A3A-321588A4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1323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A196515-2D4B-4321-B06C-ADA90D33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71825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F897824-AB8B-4D74-8E77-C9F15EC2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19375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请求进入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934E10C-C5F4-49E7-B512-C61BD085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171825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DB15AAF-77CC-400A-A04F-C5D52F36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19375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18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18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首 词元 返回</ns0:t>
            </ns0:r>
          </ns0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E9AB231-218B-4766-A4C3-98A698BC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3171825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A1B1050-3948-4494-B95A-20DBABA6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619375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18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18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末 词元 返回</ns1:t>
            </ns1:r>
          </ns1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0B5DE343-EE1E-4125-BBC2-01E81315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3171825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65E8CCB-B961-4F00-BCD3-5E224FB3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2619375"/>
            <a:ext cx="1381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调用完成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987F8FC-031A-4583-9378-2846F12D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5000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D3A02BA-BE63-4D1A-8F0D-DC37D27F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714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18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18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TTFT：含全部首 词元 前准备</ns2:t>
            </ns2:r>
          </ns2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93C40A8-E9C1-4404-885A-FF95B6B7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848100"/>
            <a:ext cx="5953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9F1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394AF011-5568-4201-9C32-25B70C88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86200"/>
            <a:ext cx="581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7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1725" b="1">
                <ns3:solidFill>
                  <ns3:srgbClr val="305C8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1725" b="1">
                <ns3:solidFill>
                  <ns3:srgbClr val="305C86"/>
                </ns3:solidFill>
                <ns3:latin typeface="Noto Sans CJK SC"/>
                <ns3:ea typeface="Noto Sans CJK SC"/>
                <ns3:cs typeface="Noto Sans CJK SC"/>
              </ns3:rPr>
              <ns3:t>后续 词元 区间 / 后续 词元 数 = TPOT</ns3:t>
            </ns3:r>
          </ns3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AFCCD7F-6D27-472F-9208-DCFECFAE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323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618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414ED9BA-F96F-4F95-9AE5-F6CC6BB7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62525"/>
            <a:ext cx="733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完整请求：入口至调用完成</a:t>
            </a:r>
          </a:p>
        </p:txBody>
      </p:sp>
      <p:sp>
        <p:nvSpPr>
          <p:cNvPr id="24" name="native24">
            <a:extLst xmlns:a="http://schemas.openxmlformats.org/drawingml/2006/main">
              <a:ext uri="{FF2B5EF4-FFF2-40B4-BE49-F238E27FC236}">
                <a16:creationId xmlns:a16="http://schemas.microsoft.com/office/drawing/2014/main" id="{61748E17-7AFF-4EE9-A28D-63C0B399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54B39E-11ED-468A-A03D-8332BD61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666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AB9C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E0E6B6-DA09-4AC8-BF93-2845CE78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38175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193247"/>
                </a:solidFill>
              </a:defRPr>
            </a:pPr>
            <a:r>
              <a:rPr sz="2025" b="1">
                <a:solidFill>
                  <a:srgbClr val="193247"/>
                </a:solidFill>
              </a:rPr>
              <a:t>完整请求成本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3325F2-E54B-4EE9-BAC3-56B5DA8D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724650"/>
            <a:ext cx="633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A66328"/>
                </a:solidFill>
              </a:defRPr>
            </a:defPPr>
          </a:lstStyle>
          <ns4:p xmlns:ns4="http://schemas.openxmlformats.org/drawingml/2006/main">
            <ns4:pPr>
              <ns4:buNone/>
              <ns4:defRPr sz="1875" b="1">
                <ns4:solidFill>
                  <ns4:srgbClr val="A66328"/>
                </ns4:solidFill>
              </ns4:defRPr>
            </ns4:pPr>
            <ns4:r>
              <ns4:rPr sz="1875" b="1">
                <ns4:solidFill>
                  <ns4:srgbClr val="A66328"/>
                </ns4:solidFill>
              </ns4:rPr>
              <ns4:t>尚无匹配测量</ns4:t>
            </ns4:r>
          </ns4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E7C164-3AC9-4CD9-AF52-63FC9041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067550"/>
            <a:ext cx="6334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93247"/>
                </a:solidFill>
              </a:defRPr>
            </a:defPPr>
          </a:lstStyle>
          <ns5:p xmlns:ns5="http://schemas.openxmlformats.org/drawingml/2006/main">
            <ns5:pPr>
              <ns5:buNone/>
              <ns5:defRPr sz="1650" b="0">
                <ns5:solidFill>
                  <ns5:srgbClr val="193247"/>
                </ns5:solidFill>
              </ns5:defRPr>
            </ns5:pPr>
            <ns5:r>
              <ns5:rPr sz="1650" b="0">
                <ns5:solidFill>
                  <ns5:srgbClr val="193247"/>
                </ns5:solidFill>
              </ns5:rPr>
              <ns5:t>输入长度（词元）× 请求实际经过时间（ms）</ns5:t>
            </ns5:r>
          </ns5:p>
          <ns6:p xmlns:ns6="http://schemas.openxmlformats.org/drawingml/2006/main">
            <ns6:pPr>
              <ns6:buNone/>
              <ns6:defRPr sz="1650" b="0">
                <ns6:solidFill>
                  <ns6:srgbClr val="193247"/>
                </ns6:solidFill>
              </ns6:defRPr>
            </ns6:pPr>
            <ns6:r>
              <ns6:rPr sz="1650" b="0">
                <ns6:solidFill>
                  <ns6:srgbClr val="193247"/>
                </ns6:solidFill>
              </ns6:rPr>
              <ns6:t>包含准备／维护／标定／选择／注意力／同步</ns6:t>
            </ns6:r>
          </ns6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5838D9-49AB-4B20-909C-62AAE912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286500"/>
            <a:ext cx="666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AB9C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AE18CB-B64F-4E8B-9A3C-E34A97F9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38175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193247"/>
                </a:solidFill>
              </a:defRPr>
            </a:pPr>
            <a:r>
              <a:rPr sz="2025" b="1">
                <a:solidFill>
                  <a:srgbClr val="193247"/>
                </a:solidFill>
              </a:rPr>
              <a:t>解码词元成本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18635D-0B17-40FB-AEF4-CB3CBCDC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724650"/>
            <a:ext cx="633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A66328"/>
                </a:solidFill>
              </a:defRPr>
            </a:defPPr>
          </a:lstStyle>
          <ns7:p xmlns:ns7="http://schemas.openxmlformats.org/drawingml/2006/main">
            <ns7:pPr>
              <ns7:buNone/>
              <ns7:defRPr sz="1875" b="1">
                <ns7:solidFill>
                  <ns7:srgbClr val="A66328"/>
                </ns7:solidFill>
              </ns7:defRPr>
            </ns7:pPr>
            <ns7:r>
              <ns7:rPr sz="1875" b="1">
                <ns7:solidFill>
                  <ns7:srgbClr val="A66328"/>
                </ns7:solidFill>
              </ns7:rPr>
              <ns7:t>尚无匹配测量</ns7:t>
            </ns7:r>
          </ns7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1ACB54-1F68-46BA-B9D9-16D56904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067550"/>
            <a:ext cx="6334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93247"/>
                </a:solidFill>
              </a:defRPr>
            </a:defPPr>
          </a:lstStyle>
          <ns8:p xmlns:ns8="http://schemas.openxmlformats.org/drawingml/2006/main">
            <ns8:pPr>
              <ns8:buNone/>
              <ns8:defRPr sz="1650" b="0">
                <ns8:solidFill>
                  <ns8:srgbClr val="193247"/>
                </ns8:solidFill>
              </ns8:defRPr>
            </ns8:pPr>
            <ns8:r>
              <ns8:rPr sz="1650" b="0">
                <ns8:solidFill>
                  <ns8:srgbClr val="193247"/>
                </ns8:solidFill>
              </ns8:rPr>
              <ns8:t>输入长度（词元）× 每输出词元时间（ms）</ns8:t>
            </ns8:r>
          </ns8:p>
          <ns9:p xmlns:ns9="http://schemas.openxmlformats.org/drawingml/2006/main">
            <ns9:pPr>
              <ns9:buNone/>
              <ns9:defRPr sz="1650" b="0">
                <ns9:solidFill>
                  <ns9:srgbClr val="193247"/>
                </ns9:solidFill>
              </ns9:defRPr>
            </ns9:pPr>
            <ns9:r>
              <ns9:rPr sz="1650" b="0">
                <ns9:solidFill>
                  <ns9:srgbClr val="193247"/>
                </ns9:solidFill>
              </ns9:rPr>
              <ns9:t>最终去重K对齐；L1页配额与相关成本另行报告</ns9:t>
            </ns9:r>
          </ns9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表示、检索范围与门控的初步结果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ns0:p xmlns:ns0="http://schemas.openxmlformats.org/drawingml/2006/main">
            <ns0:pPr>
              <ns0:buNone/>
              <ns0:defRPr sz="3375" b="1">
                <ns0:solidFill>
                  <ns0:srgbClr val="193247"/>
                </ns0:solidFill>
              </ns0:defRPr>
            </ns0:pPr>
            <ns0:r>
              <ns0:rPr sz="3375" b="1">
                <ns0:solidFill>
                  <ns0:srgbClr val="193247"/>
                </ns0:solidFill>
              </ns0:rPr>
              <ns0:t>共享子空间配置相对FullKV的质量比较</ns0:t>
            </ns0:r>
          </ns0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196375-331F-4A1D-B125-85105651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78628F"/>
                </a:solidFill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78628F"/>
                </a:solidFill>
              </a:defRPr>
            </a:pPr>
            <a:r>
              <a:rPr sz="1875" b="0">
                <a:solidFill>
                  <a:srgbClr val="78628F"/>
                </a:solidFill>
              </a:rPr>
              <a:t>当前方法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97BDDF-51BC-4EBE-8CFA-F1939E4C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5524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125" b="1">
                <a:solidFill>
                  <a:srgbClr val="78628F"/>
                </a:solidFill>
              </a:defRPr>
            </a:defPPr>
          </a:lstStyle>
          <ns1:p xmlns:ns1="http://schemas.openxmlformats.org/drawingml/2006/main">
            <ns1:pPr>
              <ns1:buNone/>
              <ns1:defRPr sz="4125" b="1">
                <ns1:solidFill>
                  <ns1:srgbClr val="78628F"/>
                </ns1:solidFill>
              </ns1:defRPr>
            </ns1:pPr>
            <ns1:r>
              <ns1:rPr sz="4125" b="1">
                <ns1:solidFill>
                  <ns1:srgbClr val="78628F"/>
                </ns1:solidFill>
              </ns1:rPr>
              <ns1:t>共享子空间</ns1:t>
            </ns1:r>
          </ns1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3D9CB9-AEAD-4E1A-9872-73CAB36C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93247"/>
                </a:solidFill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193247"/>
                </a:solidFill>
              </a:defRPr>
            </a:pPr>
            <a:r>
              <a:rPr sz="2250" b="0">
                <a:solidFill>
                  <a:srgbClr val="193247"/>
                </a:solidFill>
              </a:rPr>
              <a:t>L1 / L2 共用低频 32 维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AA820C-31E0-41E5-AC32-F667B1BE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526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36777"/>
                </a:solidFill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777"/>
                </a:solidFill>
              </a:defRPr>
            </a:pPr>
            <a:r>
              <a:rPr sz="1875" b="0">
                <a:solidFill>
                  <a:srgbClr val="536777"/>
                </a:solidFill>
              </a:rPr>
              <a:t>匹配参考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61DC74-8A90-4942-ADB8-16EDFF38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90800"/>
            <a:ext cx="5524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193247"/>
                </a:solidFill>
              </a:defRPr>
            </a:defPPr>
          </a:lstStyle>
          <ns2:p xmlns:ns2="http://schemas.openxmlformats.org/drawingml/2006/main">
            <ns2:pPr>
              <ns2:buNone/>
              <ns2:defRPr sz="3675" b="1">
                <ns2:solidFill>
                  <ns2:srgbClr val="193247"/>
                </ns2:solidFill>
              </ns2:defRPr>
            </ns2:pPr>
            <ns2:r>
              <ns2:rPr sz="3675" b="1">
                <ns2:solidFill>
                  <ns2:srgbClr val="193247"/>
                </ns2:solidFill>
              </ns2:rPr>
              <ns2:t>稠密 FullKV</ns2:t>
            </ns2:r>
          </ns2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AEBF92-7121-487C-806B-B255CA7E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623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93247"/>
                </a:solidFill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193247"/>
                </a:solidFill>
              </a:defRPr>
            </a:pPr>
            <a:r>
              <a:rPr sz="2100" b="0">
                <a:solidFill>
                  <a:srgbClr val="193247"/>
                </a:solidFill>
              </a:rPr>
              <a:t>相同输入、生成协议与评分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1FABC71-2316-4884-9420-C43C6F68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131445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DD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93A0CB-926F-4BB2-864B-4C8D6E3C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314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93247"/>
                </a:solidFill>
              </a:defRPr>
            </a:defPPr>
          </a:lstStyle>
          <ns3:p xmlns:ns3="http://schemas.openxmlformats.org/drawingml/2006/main">
            <ns3:pPr>
              <ns3:buNone/>
              <ns3:defRPr sz="2700" b="1">
                <ns3:solidFill>
                  <ns3:srgbClr val="193247"/>
                </ns3:solidFill>
              </ns3:defRPr>
            </ns3:pPr>
            <ns3:r>
              <ns3:rPr sz="2700" b="1">
                <ns3:solidFill>
                  <ns3:srgbClr val="193247"/>
                </ns3:solidFill>
              </ns3:rPr>
              <ns3:t>Δ质量 = 共享子空间 − 稠密 FullKV</ns3:t>
            </ns3:r>
          </ns3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410AAE3-EB2D-422F-ABC9-5C28D4E4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62525"/>
            <a:ext cx="1314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A66328"/>
                </a:solidFill>
              </a:defRPr>
            </a:defPPr>
          </a:lstStyle>
          <ns4:p xmlns:ns4="http://schemas.openxmlformats.org/drawingml/2006/main">
            <ns4:pPr>
              <ns4:buNone/>
              <ns4:defRPr sz="2550" b="1">
                <ns4:solidFill>
                  <ns4:srgbClr val="A66328"/>
                </ns4:solidFill>
              </ns4:defRPr>
            </ns4:pPr>
            <ns4:r>
              <ns4:rPr sz="2550" b="1">
                <ns4:solidFill>
                  <ns4:srgbClr val="A66328"/>
                </ns4:solidFill>
              </ns4:rPr>
              <ns4:t>尚缺匹配测量与文档配对不确定性估计</ns4:t>
            </ns4:r>
          </ns4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1CD1E6-1744-408A-9024-62C25441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91175"/>
            <a:ext cx="1314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36777"/>
                </a:solidFill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777"/>
                </a:solidFill>
              </a:defRPr>
            </a:pPr>
            <a:r>
              <a:rPr sz="2025" b="0">
                <a:solidFill>
                  <a:srgbClr val="536777"/>
                </a:solidFill>
              </a:rPr>
              <a:t>相同输入上的逐任务差值与文档配对不确定性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CCDE6B-9C20-43CF-AFDD-5B40A33B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137160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DD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6CBD35-D8BC-4657-B6BA-7D15FC86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43675"/>
            <a:ext cx="1371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536777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536777"/>
                </a:solidFill>
              </a:defRPr>
            </a:pPr>
            <a:r>
              <a:rPr sz="1950" b="1">
                <a:solidFill>
                  <a:srgbClr val="536777"/>
                </a:solidFill>
              </a:rPr>
              <a:t>早期实现：五任务初步均值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D44BC5-5AF9-4BD7-B3A3-91C4F6CD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2945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78628F"/>
                </a:solidFill>
              </a:defRPr>
            </a:defPPr>
          </a:lstStyle>
          <ns5:p xmlns:ns5="http://schemas.openxmlformats.org/drawingml/2006/main">
            <ns5:pPr>
              <ns5:buNone/>
              <ns5:defRPr sz="2175" b="1">
                <ns5:solidFill>
                  <ns5:srgbClr val="78628F"/>
                </ns5:solidFill>
              </ns5:defRPr>
            </ns5:pPr>
            <ns5:r>
              <ns5:rPr sz="2175" b="1">
                <ns5:solidFill>
                  <ns5:srgbClr val="78628F"/>
                </ns5:solidFill>
              </ns5:rPr>
              <ns5:t>共享子空间  47.588</ns5:t>
            </ns5:r>
          </ns5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DAA758-DAE7-4E04-9142-7C9C165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702945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93247"/>
                </a:solidFill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193247"/>
                </ns6:solidFill>
              </ns6:defRPr>
            </ns6:pPr>
            <ns6:r>
              <ns6:rPr sz="2100" b="0">
                <ns6:solidFill>
                  <ns6:srgbClr val="193247"/>
                </ns6:solidFill>
              </ns6:rPr>
              <ns6:t>名义全维页评分  47.910</ns6:t>
            </ns6:r>
          </ns6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29D8BF-F4A2-4A00-9218-8490AB76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702945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93247"/>
                </a:solidFill>
              </a:defRPr>
            </a:defPPr>
          </a:lstStyle>
          <ns7:p xmlns:ns7="http://schemas.openxmlformats.org/drawingml/2006/main">
            <ns7:pPr>
              <ns7:buNone/>
              <ns7:defRPr sz="2100" b="0">
                <ns7:solidFill>
                  <ns7:srgbClr val="193247"/>
                </ns7:solidFill>
              </ns7:defRPr>
            </ns7:pPr>
            <ns7:r>
              <ns7:rPr sz="2100" b="0">
                <ns7:solidFill>
                  <ns7:srgbClr val="193247"/>
                </ns7:solidFill>
              </ns7:rPr>
              <ns7:t>名义全维词元评分  47.666</ns7:t>
            </ns7:r>
          </ns7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30BACFB-4A44-4366-AC4E-94A53ACE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10475"/>
            <a:ext cx="1371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36777"/>
                </a:solidFill>
              </a:defRPr>
            </a:defPPr>
          </a:lstStyle>
          <ns8:p xmlns:ns8="http://schemas.openxmlformats.org/drawingml/2006/main">
            <ns8:pPr>
              <ns8:buNone/>
              <ns8:defRPr sz="1875" b="0">
                <ns8:solidFill>
                  <ns8:srgbClr val="536777"/>
                </ns8:solidFill>
              </ns8:defRPr>
            </ns8:pPr>
            <ns8:r>
              <ns8:rPr sz="1875" b="0">
                <ns8:solidFill>
                  <ns8:srgbClr val="536777"/>
                </ns8:solidFill>
              </ns8:rPr>
              <ns8:t>归档配置得分，不代表当前4/128候选；尚缺匹配稠密FullKV比较</ns8:t>
            </ns8:r>
          </ns8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表示质量与执行成本的取舍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五任务均值47.588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>配置差值不能隔离评分阶段效应</ns7:t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小幅均值变化掩盖逐任务损失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>低预填充概率不能保证解码质量</ns9:t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